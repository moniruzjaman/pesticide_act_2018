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0" y="0"/>
            <a:ext cx="4114800" cy="5143500"/>
          </a:xfrm>
          <a:prstGeom prst="rect">
            <a:avLst/>
          </a:prstGeom>
          <a:solidFill>
            <a:srgbClr val="FAF6EE"/>
          </a:solidFill>
          <a:ln/>
        </p:spPr>
        <p:txBody>
          <a:bodyPr wrap="square" rtlCol="0" anchor="ctr"/>
          <a:lstStyle/>
          <a:p>
            <a:pPr indent="0" marL="0">
              <a:buNone/>
            </a:pPr>
            <a:endParaRPr lang="en-US" dirty="0"/>
          </a:p>
        </p:txBody>
      </p:sp>
      <p:sp>
        <p:nvSpPr>
          <p:cNvPr id="3" name="Text 1"/>
          <p:cNvSpPr/>
          <p:nvPr/>
        </p:nvSpPr>
        <p:spPr>
          <a:xfrm>
            <a:off x="457200" y="645840"/>
            <a:ext cx="2384977"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খুচরা বিক্রেতার ফিল্ড গাইড</a:t>
            </a:r>
            <a:endParaRPr lang="en-US" sz="1350" dirty="0"/>
          </a:p>
        </p:txBody>
      </p:sp>
      <p:sp>
        <p:nvSpPr>
          <p:cNvPr id="4" name="Text 2"/>
          <p:cNvSpPr/>
          <p:nvPr/>
        </p:nvSpPr>
        <p:spPr>
          <a:xfrm>
            <a:off x="3000375" y="257175"/>
            <a:ext cx="857250" cy="857250"/>
          </a:xfrm>
          <a:prstGeom prst="rect">
            <a:avLst/>
          </a:prstGeom>
          <a:noFill/>
          <a:ln/>
        </p:spPr>
        <p:txBody>
          <a:bodyPr wrap="none" lIns="0" tIns="0" rIns="0" bIns="0" rtlCol="0" anchor="ctr"/>
          <a:lstStyle/>
          <a:p>
            <a:pPr algn="ctr" indent="0" marL="0">
              <a:buNone/>
            </a:pPr>
            <a:r>
              <a:rPr lang="en-US" sz="4800" dirty="0">
                <a:solidFill>
                  <a:srgbClr val="1E4D3B"/>
                </a:solidFill>
                <a:latin typeface="Segoe UI Symbol" pitchFamily="34" charset="0"/>
                <a:ea typeface="Segoe UI Symbol" pitchFamily="34" charset="-122"/>
                <a:cs typeface="Segoe UI Symbol" pitchFamily="34" charset="-120"/>
              </a:rPr>
              <a:t>✿</a:t>
            </a:r>
            <a:endParaRPr lang="en-US" sz="4800" dirty="0"/>
          </a:p>
        </p:txBody>
      </p:sp>
      <p:sp>
        <p:nvSpPr>
          <p:cNvPr id="5" name="Text 3"/>
          <p:cNvSpPr/>
          <p:nvPr/>
        </p:nvSpPr>
        <p:spPr>
          <a:xfrm>
            <a:off x="457200" y="1140098"/>
            <a:ext cx="3257550" cy="1263613"/>
          </a:xfrm>
          <a:prstGeom prst="rect">
            <a:avLst/>
          </a:prstGeom>
          <a:noFill/>
          <a:ln/>
        </p:spPr>
        <p:txBody>
          <a:bodyPr wrap="none" lIns="0" tIns="0" rIns="0" bIns="0" rtlCol="0" anchor="t"/>
          <a:lstStyle/>
          <a:p>
            <a:pPr algn="l" indent="0" marL="0">
              <a:lnSpc>
                <a:spcPts val="4607"/>
              </a:lnSpc>
              <a:buNone/>
            </a:pPr>
            <a:r>
              <a:rPr lang="en-US" sz="4388" b="1" spc="-66" kern="0" dirty="0">
                <a:solidFill>
                  <a:srgbClr val="14342A"/>
                </a:solidFill>
                <a:latin typeface="Tinos" pitchFamily="34" charset="0"/>
                <a:ea typeface="Tinos" pitchFamily="34" charset="-122"/>
                <a:cs typeface="Tinos" pitchFamily="34" charset="-120"/>
              </a:rPr>
              <a:t>বালাইনাশক</a:t>
            </a:r>
            <a:endParaRPr lang="en-US" sz="4388" dirty="0"/>
          </a:p>
          <a:p>
            <a:pPr algn="l" indent="0" marL="0">
              <a:lnSpc>
                <a:spcPts val="4607"/>
              </a:lnSpc>
              <a:buNone/>
            </a:pPr>
            <a:r>
              <a:rPr lang="en-US" sz="4388" b="1" spc="-66" kern="0" dirty="0">
                <a:solidFill>
                  <a:srgbClr val="14342A"/>
                </a:solidFill>
                <a:latin typeface="Tinos" pitchFamily="34" charset="0"/>
                <a:ea typeface="Tinos" pitchFamily="34" charset="-122"/>
                <a:cs typeface="Tinos" pitchFamily="34" charset="-120"/>
              </a:rPr>
              <a:t>আইন, </a:t>
            </a:r>
            <a:pPr algn="l" indent="0" marL="0">
              <a:lnSpc>
                <a:spcPts val="4607"/>
              </a:lnSpc>
              <a:buNone/>
            </a:pPr>
            <a:r>
              <a:rPr lang="en-US" sz="4388" b="1" spc="-66" kern="0" dirty="0">
                <a:solidFill>
                  <a:srgbClr val="9A6E1E"/>
                </a:solidFill>
                <a:latin typeface="Carlito" pitchFamily="34" charset="0"/>
                <a:ea typeface="Carlito" pitchFamily="34" charset="-122"/>
                <a:cs typeface="Carlito" pitchFamily="34" charset="-120"/>
              </a:rPr>
              <a:t>২০১৮</a:t>
            </a:r>
            <a:endParaRPr lang="en-US" sz="4388" dirty="0"/>
          </a:p>
        </p:txBody>
      </p:sp>
      <p:sp>
        <p:nvSpPr>
          <p:cNvPr id="6" name="Shape 4"/>
          <p:cNvSpPr/>
          <p:nvPr/>
        </p:nvSpPr>
        <p:spPr>
          <a:xfrm>
            <a:off x="457200" y="2492276"/>
            <a:ext cx="457200" cy="0"/>
          </a:xfrm>
          <a:prstGeom prst="line">
            <a:avLst/>
          </a:prstGeom>
          <a:noFill/>
          <a:ln w="7144">
            <a:solidFill>
              <a:srgbClr val="1A1A1A"/>
            </a:solidFill>
            <a:prstDash val="solid"/>
          </a:ln>
        </p:spPr>
        <p:txBody>
          <a:bodyPr/>
          <a:p/>
        </p:txBody>
      </p:sp>
      <p:sp>
        <p:nvSpPr>
          <p:cNvPr id="7" name="Text 5"/>
          <p:cNvSpPr/>
          <p:nvPr/>
        </p:nvSpPr>
        <p:spPr>
          <a:xfrm>
            <a:off x="457200" y="2617291"/>
            <a:ext cx="3257550" cy="865796"/>
          </a:xfrm>
          <a:prstGeom prst="rect">
            <a:avLst/>
          </a:prstGeom>
          <a:noFill/>
          <a:ln/>
        </p:spPr>
        <p:txBody>
          <a:bodyPr wrap="square" lIns="0" tIns="0" rIns="0" bIns="0" rtlCol="0" anchor="t"/>
          <a:lstStyle/>
          <a:p>
            <a:pPr algn="l" indent="0" marL="0">
              <a:lnSpc>
                <a:spcPts val="3157"/>
              </a:lnSpc>
              <a:buNone/>
            </a:pPr>
            <a:r>
              <a:rPr lang="en-US" sz="2588" dirty="0">
                <a:solidFill>
                  <a:srgbClr val="1E4D3B"/>
                </a:solidFill>
                <a:latin typeface="Tinos" pitchFamily="34" charset="0"/>
                <a:ea typeface="Tinos" pitchFamily="34" charset="-122"/>
                <a:cs typeface="Tinos" pitchFamily="34" charset="-120"/>
              </a:rPr>
              <a:t>খুচরা বিক্রেতার সমন্বিত ফিল্ড গাইড ও আইনগত নির্দেশিকা</a:t>
            </a:r>
            <a:endParaRPr lang="en-US" sz="2588" dirty="0"/>
          </a:p>
        </p:txBody>
      </p:sp>
      <p:sp>
        <p:nvSpPr>
          <p:cNvPr id="8" name="Text 6"/>
          <p:cNvSpPr/>
          <p:nvPr/>
        </p:nvSpPr>
        <p:spPr>
          <a:xfrm>
            <a:off x="457200" y="3561829"/>
            <a:ext cx="3257550" cy="394924"/>
          </a:xfrm>
          <a:prstGeom prst="rect">
            <a:avLst/>
          </a:prstGeom>
          <a:noFill/>
          <a:ln/>
        </p:spPr>
        <p:txBody>
          <a:bodyPr wrap="square" lIns="0" tIns="0" rIns="0" bIns="0" rtlCol="0" anchor="t"/>
          <a:lstStyle/>
          <a:p>
            <a:pPr algn="l" indent="0" marL="0">
              <a:lnSpc>
                <a:spcPts val="1440"/>
              </a:lnSpc>
              <a:buNone/>
            </a:pPr>
            <a:r>
              <a:rPr lang="en-US" sz="900" dirty="0">
                <a:solidFill>
                  <a:srgbClr val="1A1A1A"/>
                </a:solidFill>
                <a:latin typeface="Carlito" pitchFamily="34" charset="0"/>
                <a:ea typeface="Carlito" pitchFamily="34" charset="-122"/>
                <a:cs typeface="Carlito" pitchFamily="34" charset="-120"/>
              </a:rPr>
              <a:t>ভেজাল বালাইনাশক শনাক্তকরণ, আইনি বিধান, এবং নৈতিক ব্যবসায়িক অনুশীলন — ৪৭টি স্লাইডে সমন্বিত প্রশিক্ষণ ডেক</a:t>
            </a:r>
            <a:endParaRPr lang="en-US" sz="900" dirty="0"/>
          </a:p>
        </p:txBody>
      </p:sp>
      <p:sp>
        <p:nvSpPr>
          <p:cNvPr id="9" name="Text 7"/>
          <p:cNvSpPr/>
          <p:nvPr/>
        </p:nvSpPr>
        <p:spPr>
          <a:xfrm>
            <a:off x="457200" y="4553471"/>
            <a:ext cx="2139218" cy="132829"/>
          </a:xfrm>
          <a:prstGeom prst="rect">
            <a:avLst/>
          </a:prstGeom>
          <a:noFill/>
          <a:ln/>
        </p:spPr>
        <p:txBody>
          <a:bodyPr wrap="none" lIns="0" tIns="0" rIns="0" bIns="0" rtlCol="0" anchor="t"/>
          <a:lstStyle/>
          <a:p>
            <a:pPr algn="l" indent="0" marL="0">
              <a:lnSpc>
                <a:spcPts val="1046"/>
              </a:lnSpc>
              <a:buNone/>
            </a:pPr>
            <a:r>
              <a:rPr lang="en-US" sz="800" spc="122" kern="0" dirty="0">
                <a:solidFill>
                  <a:srgbClr val="6B6B6B"/>
                </a:solidFill>
                <a:latin typeface="Carlito" pitchFamily="34" charset="0"/>
                <a:ea typeface="Carlito" pitchFamily="34" charset="-122"/>
                <a:cs typeface="Carlito" pitchFamily="34" charset="-120"/>
              </a:rPr>
              <a:t>প্রশিক্ষণ সংস্করণ · ২০২৬</a:t>
            </a:r>
            <a:endParaRPr lang="en-US" sz="800" dirty="0"/>
          </a:p>
        </p:txBody>
      </p:sp>
      <p:sp>
        <p:nvSpPr>
          <p:cNvPr id="10" name="Text 8"/>
          <p:cNvSpPr/>
          <p:nvPr/>
        </p:nvSpPr>
        <p:spPr>
          <a:xfrm>
            <a:off x="2610706" y="4555592"/>
            <a:ext cx="128588" cy="128588"/>
          </a:xfrm>
          <a:prstGeom prst="rect">
            <a:avLst/>
          </a:prstGeom>
          <a:noFill/>
          <a:ln/>
        </p:spPr>
        <p:txBody>
          <a:bodyPr wrap="none" lIns="0" tIns="0" rIns="0" bIns="0" rtlCol="0" anchor="ctr"/>
          <a:lstStyle/>
          <a:p>
            <a:pPr algn="ctr" indent="0" marL="0">
              <a:buNone/>
            </a:pPr>
            <a:r>
              <a:rPr lang="en-US" sz="1266" dirty="0">
                <a:solidFill>
                  <a:srgbClr val="C7912C"/>
                </a:solidFill>
                <a:latin typeface="Segoe UI Symbol" pitchFamily="34" charset="0"/>
                <a:ea typeface="Segoe UI Symbol" pitchFamily="34" charset="-122"/>
                <a:cs typeface="Segoe UI Symbol" pitchFamily="34" charset="-120"/>
              </a:rPr>
              <a:t>✓</a:t>
            </a:r>
            <a:endParaRPr lang="en-US" sz="1266" dirty="0"/>
          </a:p>
        </p:txBody>
      </p:sp>
      <p:sp>
        <p:nvSpPr>
          <p:cNvPr id="11" name="Text 9"/>
          <p:cNvSpPr/>
          <p:nvPr/>
        </p:nvSpPr>
        <p:spPr>
          <a:xfrm>
            <a:off x="2796443" y="4558940"/>
            <a:ext cx="918307" cy="127360"/>
          </a:xfrm>
          <a:prstGeom prst="rect">
            <a:avLst/>
          </a:prstGeom>
          <a:noFill/>
          <a:ln/>
        </p:spPr>
        <p:txBody>
          <a:bodyPr wrap="none" lIns="0" tIns="0" rIns="0" bIns="0" rtlCol="0" anchor="t"/>
          <a:lstStyle/>
          <a:p>
            <a:pPr algn="l" indent="0" marL="0">
              <a:lnSpc>
                <a:spcPts val="959"/>
              </a:lnSpc>
              <a:buNone/>
            </a:pPr>
            <a:r>
              <a:rPr lang="en-US" sz="619" b="1" spc="87" kern="0" dirty="0">
                <a:solidFill>
                  <a:srgbClr val="1E4D3B"/>
                </a:solidFill>
                <a:latin typeface="Carlito" pitchFamily="34" charset="0"/>
                <a:ea typeface="Carlito" pitchFamily="34" charset="-122"/>
                <a:cs typeface="Carlito" pitchFamily="34" charset="-120"/>
              </a:rPr>
              <a:t>GOVT FIELD GUIDE</a:t>
            </a:r>
            <a:endParaRPr lang="en-US" sz="619" dirty="0"/>
          </a:p>
        </p:txBody>
      </p:sp>
      <p:pic>
        <p:nvPicPr>
          <p:cNvPr id="12" name="Image 0" descr="/tmp/h2p-fit-1789050392760-u5m8yi.png">    </p:cNvPr>
          <p:cNvPicPr>
            <a:picLocks noChangeAspect="1"/>
          </p:cNvPicPr>
          <p:nvPr/>
        </p:nvPicPr>
        <p:blipFill>
          <a:blip r:embed="rId1"/>
          <a:stretch>
            <a:fillRect/>
          </a:stretch>
        </p:blipFill>
        <p:spPr>
          <a:xfrm>
            <a:off x="4114800" y="0"/>
            <a:ext cx="5029200" cy="5143500"/>
          </a:xfrm>
          <a:prstGeom prst="rect">
            <a:avLst/>
          </a:prstGeom>
        </p:spPr>
      </p:pic>
      <p:sp>
        <p:nvSpPr>
          <p:cNvPr id="13" name="Text 10"/>
          <p:cNvSpPr/>
          <p:nvPr/>
        </p:nvSpPr>
        <p:spPr>
          <a:xfrm>
            <a:off x="7932264" y="4683544"/>
            <a:ext cx="1005996" cy="244157"/>
          </a:xfrm>
          <a:prstGeom prst="roundRect">
            <a:avLst>
              <a:gd name="adj" fmla="val 3897277"/>
            </a:avLst>
          </a:prstGeom>
          <a:solidFill>
            <a:srgbClr val="14342A">
              <a:alpha val="55000"/>
            </a:srgbClr>
          </a:solidFill>
          <a:ln/>
        </p:spPr>
        <p:txBody>
          <a:bodyPr wrap="square" rtlCol="0" anchor="ctr"/>
          <a:lstStyle/>
          <a:p>
            <a:pPr indent="0" marL="0">
              <a:buNone/>
            </a:pPr>
            <a:endParaRPr lang="en-US" dirty="0"/>
          </a:p>
        </p:txBody>
      </p:sp>
      <p:sp>
        <p:nvSpPr>
          <p:cNvPr id="14" name="Text 11"/>
          <p:cNvSpPr/>
          <p:nvPr/>
        </p:nvSpPr>
        <p:spPr>
          <a:xfrm>
            <a:off x="7955124" y="4696346"/>
            <a:ext cx="960276" cy="218554"/>
          </a:xfrm>
          <a:prstGeom prst="rect">
            <a:avLst/>
          </a:prstGeom>
          <a:noFill/>
          <a:ln/>
        </p:spPr>
        <p:txBody>
          <a:bodyPr wrap="none" lIns="0" tIns="0" rIns="0" bIns="0" rtlCol="0" anchor="ctr"/>
          <a:lstStyle/>
          <a:p>
            <a:pPr algn="ctr" indent="0" marL="0">
              <a:lnSpc>
                <a:spcPts val="1046"/>
              </a:lnSpc>
              <a:buNone/>
            </a:pPr>
            <a:r>
              <a:rPr lang="en-US" sz="800" spc="122" kern="0" dirty="0">
                <a:solidFill>
                  <a:srgbClr val="FAF6EE"/>
                </a:solidFill>
                <a:latin typeface="Carlito" pitchFamily="34" charset="0"/>
                <a:ea typeface="Carlito" pitchFamily="34" charset="-122"/>
                <a:cs typeface="Carlito" pitchFamily="34" charset="-120"/>
              </a:rPr>
              <a:t>প্রচ্ছদ · ফসলি ক্ষেত</a:t>
            </a:r>
            <a:endParaRPr lang="en-US" sz="800" dirty="0"/>
          </a:p>
        </p:txBody>
      </p:sp>
      <p:pic>
        <p:nvPicPr>
          <p:cNvPr id="15" name="Image 1" descr="preencoded.png">    </p:cNvPr>
          <p:cNvPicPr>
            <a:picLocks noChangeAspect="1"/>
          </p:cNvPicPr>
          <p:nvPr/>
        </p:nvPicPr>
        <p:blipFill>
          <a:blip r:embed="rId2"/>
          <a:stretch>
            <a:fillRect/>
          </a:stretch>
        </p:blipFill>
        <p:spPr>
          <a:xfrm>
            <a:off x="0" y="5100638"/>
            <a:ext cx="9144000" cy="42863"/>
          </a:xfrm>
          <a:prstGeom prst="rect">
            <a:avLst/>
          </a:prstGeom>
        </p:spPr>
      </p:pic>
      <p:sp>
        <p:nvSpPr>
          <p:cNvPr id="16" name="Text 12"/>
          <p:cNvSpPr/>
          <p:nvPr/>
        </p:nvSpPr>
        <p:spPr>
          <a:xfrm>
            <a:off x="8709013" y="4706392"/>
            <a:ext cx="28450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০১</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8000"/>
          </a:blip>
          <a:stretch>
            <a:fillRect/>
          </a:stretch>
        </p:blipFill>
        <p:spPr>
          <a:xfrm>
            <a:off x="7000875" y="0"/>
            <a:ext cx="2143125" cy="5143500"/>
          </a:xfrm>
          <a:prstGeom prst="rect">
            <a:avLst/>
          </a:prstGeom>
        </p:spPr>
      </p:pic>
      <p:sp>
        <p:nvSpPr>
          <p:cNvPr id="3" name="Text 0"/>
          <p:cNvSpPr/>
          <p:nvPr/>
        </p:nvSpPr>
        <p:spPr>
          <a:xfrm>
            <a:off x="571500" y="1679116"/>
            <a:ext cx="5309358" cy="1558481"/>
          </a:xfrm>
          <a:prstGeom prst="rect">
            <a:avLst/>
          </a:prstGeom>
          <a:noFill/>
          <a:ln/>
          <a:effectLst>
            <a:outerShdw sx="100000" sy="100000" kx="0" ky="0" algn="bl" rotWithShape="0" blurRad="101600" dist="53882" dir="2700000">
              <a:srgbClr val="E0B659">
                <a:alpha val="50000"/>
              </a:srgbClr>
            </a:outerShdw>
          </a:effectLst>
        </p:spPr>
        <p:txBody>
          <a:bodyPr wrap="none" lIns="0" tIns="0" rIns="0" bIns="0" rtlCol="0" anchor="t">
            <a:normAutofit/>
          </a:bodyPr>
          <a:lstStyle/>
          <a:p>
            <a:pPr algn="l" indent="0" marL="0">
              <a:lnSpc>
                <a:spcPts val="11475"/>
              </a:lnSpc>
              <a:buNone/>
            </a:pPr>
            <a:r>
              <a:rPr lang="en-US" sz="13500" b="1" spc="-540" kern="0" dirty="0">
                <a:solidFill>
                  <a:srgbClr val="1E4D3B"/>
                </a:solidFill>
                <a:latin typeface="Carlito" pitchFamily="34" charset="0"/>
                <a:ea typeface="Carlito" pitchFamily="34" charset="-122"/>
                <a:cs typeface="Carlito" pitchFamily="34" charset="-120"/>
              </a:rPr>
              <a:t>০১</a:t>
            </a:r>
            <a:endParaRPr lang="en-US" sz="13500" dirty="0"/>
          </a:p>
        </p:txBody>
      </p:sp>
      <p:sp>
        <p:nvSpPr>
          <p:cNvPr id="4" name="Text 1"/>
          <p:cNvSpPr/>
          <p:nvPr/>
        </p:nvSpPr>
        <p:spPr>
          <a:xfrm>
            <a:off x="571500" y="3265029"/>
            <a:ext cx="4207162" cy="215183"/>
          </a:xfrm>
          <a:prstGeom prst="rect">
            <a:avLst/>
          </a:prstGeom>
          <a:noFill/>
          <a:ln/>
        </p:spPr>
        <p:txBody>
          <a:bodyPr wrap="none" lIns="0" tIns="0" rIns="0" bIns="0" rtlCol="0" anchor="t"/>
          <a:lstStyle/>
          <a:p>
            <a:pPr algn="l" indent="0" marL="0">
              <a:lnSpc>
                <a:spcPts val="1569"/>
              </a:lnSpc>
              <a:buNone/>
            </a:pPr>
            <a:r>
              <a:rPr lang="en-US" sz="1013" b="1" spc="81" kern="0" dirty="0">
                <a:solidFill>
                  <a:srgbClr val="9A6E1E"/>
                </a:solidFill>
                <a:latin typeface="Carlito" pitchFamily="34" charset="0"/>
                <a:ea typeface="Carlito" pitchFamily="34" charset="-122"/>
                <a:cs typeface="Carlito" pitchFamily="34" charset="-120"/>
              </a:rPr>
              <a:t>/</a:t>
            </a:r>
            <a:pPr algn="l" indent="0" marL="0">
              <a:lnSpc>
                <a:spcPts val="1569"/>
              </a:lnSpc>
              <a:buNone/>
            </a:pPr>
            <a:r>
              <a:rPr lang="en-US" sz="1013" spc="81" kern="0" dirty="0">
                <a:solidFill>
                  <a:srgbClr val="6B6B6B"/>
                </a:solidFill>
                <a:latin typeface="Carlito" pitchFamily="34" charset="0"/>
                <a:ea typeface="Carlito" pitchFamily="34" charset="-122"/>
                <a:cs typeface="Carlito" pitchFamily="34" charset="-120"/>
              </a:rPr>
              <a:t> ০৭ অধ্যায়</a:t>
            </a:r>
            <a:endParaRPr lang="en-US" sz="1013" dirty="0"/>
          </a:p>
        </p:txBody>
      </p:sp>
      <p:sp>
        <p:nvSpPr>
          <p:cNvPr id="5" name="Shape 2"/>
          <p:cNvSpPr/>
          <p:nvPr/>
        </p:nvSpPr>
        <p:spPr>
          <a:xfrm>
            <a:off x="4389053" y="2433451"/>
            <a:ext cx="400050" cy="0"/>
          </a:xfrm>
          <a:prstGeom prst="line">
            <a:avLst/>
          </a:prstGeom>
          <a:noFill/>
          <a:ln w="7144">
            <a:solidFill>
              <a:srgbClr val="1A1A1A"/>
            </a:solidFill>
            <a:prstDash val="solid"/>
          </a:ln>
        </p:spPr>
        <p:txBody>
          <a:bodyPr/>
          <a:p/>
        </p:txBody>
      </p:sp>
      <p:pic>
        <p:nvPicPr>
          <p:cNvPr id="6" name="Image 1" descr="preencoded.png">    </p:cNvPr>
          <p:cNvPicPr>
            <a:picLocks noChangeAspect="1"/>
          </p:cNvPicPr>
          <p:nvPr/>
        </p:nvPicPr>
        <p:blipFill>
          <a:blip r:embed="rId2"/>
          <a:stretch>
            <a:fillRect/>
          </a:stretch>
        </p:blipFill>
        <p:spPr>
          <a:xfrm>
            <a:off x="0" y="5100638"/>
            <a:ext cx="9144000" cy="42863"/>
          </a:xfrm>
          <a:prstGeom prst="rect">
            <a:avLst/>
          </a:prstGeom>
        </p:spPr>
      </p:pic>
      <p:sp>
        <p:nvSpPr>
          <p:cNvPr id="7" name="Text 3"/>
          <p:cNvSpPr/>
          <p:nvPr/>
        </p:nvSpPr>
        <p:spPr>
          <a:xfrm>
            <a:off x="8694725" y="4706392"/>
            <a:ext cx="30736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০২</a:t>
            </a:r>
            <a:endParaRPr lang="en-US" sz="1350" dirty="0"/>
          </a:p>
        </p:txBody>
      </p:sp>
      <p:sp>
        <p:nvSpPr>
          <p:cNvPr id="8" name="Text 4"/>
          <p:cNvSpPr/>
          <p:nvPr/>
        </p:nvSpPr>
        <p:spPr>
          <a:xfrm>
            <a:off x="4389053" y="1387897"/>
            <a:ext cx="2314144"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অধ্যায় · প্রেক্ষাপট</a:t>
            </a:r>
            <a:endParaRPr lang="en-US" sz="1350" dirty="0"/>
          </a:p>
        </p:txBody>
      </p:sp>
      <p:sp>
        <p:nvSpPr>
          <p:cNvPr id="9" name="Text 5"/>
          <p:cNvSpPr/>
          <p:nvPr/>
        </p:nvSpPr>
        <p:spPr>
          <a:xfrm>
            <a:off x="4389053" y="1767855"/>
            <a:ext cx="4754947" cy="552966"/>
          </a:xfrm>
          <a:prstGeom prst="rect">
            <a:avLst/>
          </a:prstGeom>
          <a:noFill/>
          <a:ln/>
        </p:spPr>
        <p:txBody>
          <a:bodyPr wrap="none" lIns="0" tIns="0" rIns="0" bIns="0" rtlCol="0" anchor="t"/>
          <a:lstStyle/>
          <a:p>
            <a:pPr algn="l" indent="0" marL="0">
              <a:lnSpc>
                <a:spcPts val="4032"/>
              </a:lnSpc>
              <a:buNone/>
            </a:pPr>
            <a:r>
              <a:rPr lang="en-US" sz="3600" b="1" spc="-36" kern="0" dirty="0">
                <a:solidFill>
                  <a:srgbClr val="14342A"/>
                </a:solidFill>
                <a:latin typeface="Tinos" pitchFamily="34" charset="0"/>
                <a:ea typeface="Tinos" pitchFamily="34" charset="-122"/>
                <a:cs typeface="Tinos" pitchFamily="34" charset="-120"/>
              </a:rPr>
              <a:t>সংকটের প্রেক্ষাপট</a:t>
            </a:r>
            <a:endParaRPr lang="en-US" sz="3600" dirty="0"/>
          </a:p>
        </p:txBody>
      </p:sp>
      <p:sp>
        <p:nvSpPr>
          <p:cNvPr id="10" name="Text 6"/>
          <p:cNvSpPr/>
          <p:nvPr/>
        </p:nvSpPr>
        <p:spPr>
          <a:xfrm>
            <a:off x="4389053" y="2587042"/>
            <a:ext cx="3857625" cy="708115"/>
          </a:xfrm>
          <a:prstGeom prst="rect">
            <a:avLst/>
          </a:prstGeom>
          <a:noFill/>
          <a:ln/>
        </p:spPr>
        <p:txBody>
          <a:bodyPr wrap="square" lIns="0" tIns="0" rIns="0" bIns="0" rtlCol="0" anchor="t"/>
          <a:lstStyle/>
          <a:p>
            <a:pPr algn="l" indent="0" marL="0">
              <a:lnSpc>
                <a:spcPts val="1721"/>
              </a:lnSpc>
              <a:buNone/>
            </a:pPr>
            <a:r>
              <a:rPr lang="en-US" sz="1013" dirty="0">
                <a:solidFill>
                  <a:srgbClr val="1A1A1A"/>
                </a:solidFill>
                <a:latin typeface="Carlito" pitchFamily="34" charset="0"/>
                <a:ea typeface="Carlito" pitchFamily="34" charset="-122"/>
                <a:cs typeface="Carlito" pitchFamily="34" charset="-120"/>
              </a:rPr>
              <a:t>ভেজাল বালাইনাশক কেবল একটি প্রযুক্তিগত সমস্যা নয় — এটি কৃষকের অর্থনীতি, ভোক্তার স্বাস্থ্য, এবং দেশের কৃষি ব্যবস্থার ভিত্তিকে ক্ষয় করছে। এই অধ্যায়ে আমরা দেখব ক্ষতির পরিমাণ ও ব্যাপকতা।</a:t>
            </a:r>
            <a:endParaRPr lang="en-US" sz="1013" dirty="0"/>
          </a:p>
        </p:txBody>
      </p:sp>
      <p:sp>
        <p:nvSpPr>
          <p:cNvPr id="11" name="Text 7"/>
          <p:cNvSpPr/>
          <p:nvPr/>
        </p:nvSpPr>
        <p:spPr>
          <a:xfrm>
            <a:off x="4392625" y="3446301"/>
            <a:ext cx="1492039" cy="437108"/>
          </a:xfrm>
          <a:prstGeom prst="roundRect">
            <a:avLst>
              <a:gd name="adj" fmla="val 21791"/>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2" name="Text 8"/>
          <p:cNvSpPr/>
          <p:nvPr/>
        </p:nvSpPr>
        <p:spPr>
          <a:xfrm>
            <a:off x="4496209" y="3681264"/>
            <a:ext cx="1427745" cy="128016"/>
          </a:xfrm>
          <a:prstGeom prst="rect">
            <a:avLst/>
          </a:prstGeom>
          <a:noFill/>
          <a:ln/>
        </p:spPr>
        <p:txBody>
          <a:bodyPr wrap="square" lIns="0" tIns="0" rIns="0" bIns="0" rtlCol="0" anchor="t"/>
          <a:lstStyle/>
          <a:p>
            <a:pPr algn="l" indent="0" marL="0">
              <a:lnSpc>
                <a:spcPts val="945"/>
              </a:lnSpc>
              <a:buNone/>
            </a:pPr>
            <a:r>
              <a:rPr lang="en-US" sz="800" dirty="0">
                <a:solidFill>
                  <a:srgbClr val="4A4A4A"/>
                </a:solidFill>
                <a:latin typeface="Carlito" pitchFamily="34" charset="0"/>
                <a:ea typeface="Carlito" pitchFamily="34" charset="-122"/>
                <a:cs typeface="Carlito" pitchFamily="34" charset="-120"/>
              </a:rPr>
              <a:t>আর্থিক ক্ষতির পরিসংখ্যান</a:t>
            </a:r>
            <a:endParaRPr lang="en-US" sz="800" dirty="0"/>
          </a:p>
        </p:txBody>
      </p:sp>
      <p:sp>
        <p:nvSpPr>
          <p:cNvPr id="13" name="Text 9"/>
          <p:cNvSpPr/>
          <p:nvPr/>
        </p:nvSpPr>
        <p:spPr>
          <a:xfrm>
            <a:off x="4496209" y="3535598"/>
            <a:ext cx="1284870" cy="153526"/>
          </a:xfrm>
          <a:prstGeom prst="rect">
            <a:avLst/>
          </a:prstGeom>
          <a:noFill/>
          <a:ln/>
        </p:spPr>
        <p:txBody>
          <a:bodyPr wrap="none" lIns="0" tIns="0" rIns="0" bIns="0" rtlCol="0" anchor="t"/>
          <a:lstStyle/>
          <a:p>
            <a:pPr algn="l" indent="0" marL="0">
              <a:lnSpc>
                <a:spcPts val="866"/>
              </a:lnSpc>
              <a:buNone/>
            </a:pPr>
            <a:r>
              <a:rPr lang="en-US" sz="800" b="1" spc="62" kern="0" dirty="0">
                <a:solidFill>
                  <a:srgbClr val="9A6E1E"/>
                </a:solidFill>
                <a:latin typeface="Carlito" pitchFamily="34" charset="0"/>
                <a:ea typeface="Carlito" pitchFamily="34" charset="-122"/>
                <a:cs typeface="Carlito" pitchFamily="34" charset="-120"/>
              </a:rPr>
              <a:t>০৩</a:t>
            </a:r>
            <a:endParaRPr lang="en-US" sz="800" dirty="0"/>
          </a:p>
        </p:txBody>
      </p:sp>
      <p:sp>
        <p:nvSpPr>
          <p:cNvPr id="14" name="Text 10"/>
          <p:cNvSpPr/>
          <p:nvPr/>
        </p:nvSpPr>
        <p:spPr>
          <a:xfrm>
            <a:off x="5963245" y="3446301"/>
            <a:ext cx="1492151" cy="437108"/>
          </a:xfrm>
          <a:prstGeom prst="roundRect">
            <a:avLst>
              <a:gd name="adj" fmla="val 21791"/>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5" name="Text 11"/>
          <p:cNvSpPr/>
          <p:nvPr/>
        </p:nvSpPr>
        <p:spPr>
          <a:xfrm>
            <a:off x="6066830" y="3681264"/>
            <a:ext cx="1427857" cy="128016"/>
          </a:xfrm>
          <a:prstGeom prst="rect">
            <a:avLst/>
          </a:prstGeom>
          <a:noFill/>
          <a:ln/>
        </p:spPr>
        <p:txBody>
          <a:bodyPr wrap="square" lIns="0" tIns="0" rIns="0" bIns="0" rtlCol="0" anchor="t"/>
          <a:lstStyle/>
          <a:p>
            <a:pPr algn="l" indent="0" marL="0">
              <a:lnSpc>
                <a:spcPts val="945"/>
              </a:lnSpc>
              <a:buNone/>
            </a:pPr>
            <a:r>
              <a:rPr lang="en-US" sz="800" dirty="0">
                <a:solidFill>
                  <a:srgbClr val="4A4A4A"/>
                </a:solidFill>
                <a:latin typeface="Carlito" pitchFamily="34" charset="0"/>
                <a:ea typeface="Carlito" pitchFamily="34" charset="-122"/>
                <a:cs typeface="Carlito" pitchFamily="34" charset="-120"/>
              </a:rPr>
              <a:t>ধ্বংসাত্মক প্রভাব</a:t>
            </a:r>
            <a:endParaRPr lang="en-US" sz="800" dirty="0"/>
          </a:p>
        </p:txBody>
      </p:sp>
      <p:sp>
        <p:nvSpPr>
          <p:cNvPr id="16" name="Text 12"/>
          <p:cNvSpPr/>
          <p:nvPr/>
        </p:nvSpPr>
        <p:spPr>
          <a:xfrm>
            <a:off x="6066830" y="3535598"/>
            <a:ext cx="1284982" cy="153526"/>
          </a:xfrm>
          <a:prstGeom prst="rect">
            <a:avLst/>
          </a:prstGeom>
          <a:noFill/>
          <a:ln/>
        </p:spPr>
        <p:txBody>
          <a:bodyPr wrap="none" lIns="0" tIns="0" rIns="0" bIns="0" rtlCol="0" anchor="t"/>
          <a:lstStyle/>
          <a:p>
            <a:pPr algn="l" indent="0" marL="0">
              <a:lnSpc>
                <a:spcPts val="866"/>
              </a:lnSpc>
              <a:buNone/>
            </a:pPr>
            <a:r>
              <a:rPr lang="en-US" sz="800" b="1" spc="62" kern="0" dirty="0">
                <a:solidFill>
                  <a:srgbClr val="9A6E1E"/>
                </a:solidFill>
                <a:latin typeface="Carlito" pitchFamily="34" charset="0"/>
                <a:ea typeface="Carlito" pitchFamily="34" charset="-122"/>
                <a:cs typeface="Carlito" pitchFamily="34" charset="-120"/>
              </a:rPr>
              <a:t>০৪</a:t>
            </a:r>
            <a:endParaRPr lang="en-US" sz="800" dirty="0"/>
          </a:p>
        </p:txBody>
      </p:sp>
      <p:sp>
        <p:nvSpPr>
          <p:cNvPr id="17" name="Text 13"/>
          <p:cNvSpPr/>
          <p:nvPr/>
        </p:nvSpPr>
        <p:spPr>
          <a:xfrm>
            <a:off x="7533977" y="3446301"/>
            <a:ext cx="1492039" cy="437108"/>
          </a:xfrm>
          <a:prstGeom prst="roundRect">
            <a:avLst>
              <a:gd name="adj" fmla="val 21791"/>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8" name="Text 14"/>
          <p:cNvSpPr/>
          <p:nvPr/>
        </p:nvSpPr>
        <p:spPr>
          <a:xfrm>
            <a:off x="7637562" y="3681264"/>
            <a:ext cx="1392027" cy="128016"/>
          </a:xfrm>
          <a:prstGeom prst="rect">
            <a:avLst/>
          </a:prstGeom>
          <a:noFill/>
          <a:ln/>
        </p:spPr>
        <p:txBody>
          <a:bodyPr wrap="square" lIns="0" tIns="0" rIns="0" bIns="0" rtlCol="0" anchor="t"/>
          <a:lstStyle/>
          <a:p>
            <a:pPr algn="l" indent="0" marL="0">
              <a:lnSpc>
                <a:spcPts val="945"/>
              </a:lnSpc>
              <a:buNone/>
            </a:pPr>
            <a:r>
              <a:rPr lang="en-US" sz="800" dirty="0">
                <a:solidFill>
                  <a:srgbClr val="4A4A4A"/>
                </a:solidFill>
                <a:latin typeface="Carlito" pitchFamily="34" charset="0"/>
                <a:ea typeface="Carlito" pitchFamily="34" charset="-122"/>
                <a:cs typeface="Carlito" pitchFamily="34" charset="-120"/>
              </a:rPr>
              <a:t>বাংলাদেশের ব্যাপকতা</a:t>
            </a:r>
            <a:endParaRPr lang="en-US" sz="800" dirty="0"/>
          </a:p>
        </p:txBody>
      </p:sp>
      <p:sp>
        <p:nvSpPr>
          <p:cNvPr id="19" name="Text 15"/>
          <p:cNvSpPr/>
          <p:nvPr/>
        </p:nvSpPr>
        <p:spPr>
          <a:xfrm>
            <a:off x="7637562" y="3535598"/>
            <a:ext cx="1284870" cy="153526"/>
          </a:xfrm>
          <a:prstGeom prst="rect">
            <a:avLst/>
          </a:prstGeom>
          <a:noFill/>
          <a:ln/>
        </p:spPr>
        <p:txBody>
          <a:bodyPr wrap="none" lIns="0" tIns="0" rIns="0" bIns="0" rtlCol="0" anchor="t"/>
          <a:lstStyle/>
          <a:p>
            <a:pPr algn="l" indent="0" marL="0">
              <a:lnSpc>
                <a:spcPts val="866"/>
              </a:lnSpc>
              <a:buNone/>
            </a:pPr>
            <a:r>
              <a:rPr lang="en-US" sz="800" b="1" spc="62" kern="0" dirty="0">
                <a:solidFill>
                  <a:srgbClr val="9A6E1E"/>
                </a:solidFill>
                <a:latin typeface="Carlito" pitchFamily="34" charset="0"/>
                <a:ea typeface="Carlito" pitchFamily="34" charset="-122"/>
                <a:cs typeface="Carlito" pitchFamily="34" charset="-120"/>
              </a:rPr>
              <a:t>০৫</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57200" y="531540"/>
            <a:ext cx="2831307"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০১ · সংকটের প্রেক্ষাপট</a:t>
            </a:r>
            <a:endParaRPr lang="en-US" sz="1350" dirty="0"/>
          </a:p>
        </p:txBody>
      </p:sp>
      <p:sp>
        <p:nvSpPr>
          <p:cNvPr id="3" name="Text 1"/>
          <p:cNvSpPr/>
          <p:nvPr/>
        </p:nvSpPr>
        <p:spPr>
          <a:xfrm>
            <a:off x="457200" y="882923"/>
            <a:ext cx="8636000" cy="501764"/>
          </a:xfrm>
          <a:prstGeom prst="rect">
            <a:avLst/>
          </a:prstGeom>
          <a:noFill/>
          <a:ln/>
        </p:spPr>
        <p:txBody>
          <a:bodyPr wrap="none" lIns="0" tIns="0" rIns="0" bIns="0" rtlCol="0" anchor="t">
            <a:normAutofit/>
          </a:bodyPr>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আর্থিক ক্ষতির পরিসংখ্যান</a:t>
            </a:r>
            <a:endParaRPr lang="en-US" sz="3150" dirty="0"/>
          </a:p>
        </p:txBody>
      </p:sp>
      <p:sp>
        <p:nvSpPr>
          <p:cNvPr id="4" name="Text 2"/>
          <p:cNvSpPr/>
          <p:nvPr/>
        </p:nvSpPr>
        <p:spPr>
          <a:xfrm>
            <a:off x="457200" y="1412118"/>
            <a:ext cx="8229600" cy="179380"/>
          </a:xfrm>
          <a:prstGeom prst="rect">
            <a:avLst/>
          </a:prstGeom>
          <a:noFill/>
          <a:ln/>
        </p:spPr>
        <p:txBody>
          <a:bodyPr wrap="square" lIns="0" tIns="0" rIns="0" bIns="0" rtlCol="0" anchor="t"/>
          <a:lstStyle/>
          <a:p>
            <a:pPr algn="l" indent="0" marL="0">
              <a:lnSpc>
                <a:spcPts val="1308"/>
              </a:lnSpc>
              <a:buNone/>
            </a:pPr>
            <a:r>
              <a:rPr lang="en-US" sz="844" dirty="0">
                <a:solidFill>
                  <a:srgbClr val="4A4A4A"/>
                </a:solidFill>
                <a:latin typeface="Carlito" pitchFamily="34" charset="0"/>
                <a:ea typeface="Carlito" pitchFamily="34" charset="-122"/>
                <a:cs typeface="Carlito" pitchFamily="34" charset="-120"/>
              </a:rPr>
              <a:t>ভেজাল বালাইনাশকের কারণে সৃষ্ট বৈশ্বিক ও দেশীয় আর্থিক ক্ষতির পরিসংখ্যান</a:t>
            </a:r>
            <a:endParaRPr lang="en-US" sz="844" dirty="0"/>
          </a:p>
        </p:txBody>
      </p:sp>
      <p:sp>
        <p:nvSpPr>
          <p:cNvPr id="5" name="Text 3"/>
          <p:cNvSpPr/>
          <p:nvPr/>
        </p:nvSpPr>
        <p:spPr>
          <a:xfrm>
            <a:off x="457200" y="1735373"/>
            <a:ext cx="4050506" cy="1425401"/>
          </a:xfrm>
          <a:prstGeom prst="roundRect">
            <a:avLst>
              <a:gd name="adj" fmla="val 8019"/>
            </a:avLst>
          </a:prstGeom>
          <a:solidFill>
            <a:srgbClr val="FFFFFF"/>
          </a:solidFill>
          <a:ln/>
        </p:spPr>
        <p:txBody>
          <a:bodyPr wrap="square" rtlCol="0" anchor="ctr"/>
          <a:lstStyle/>
          <a:p>
            <a:pPr indent="0" marL="0">
              <a:buNone/>
            </a:pPr>
            <a:endParaRPr lang="en-US" dirty="0"/>
          </a:p>
        </p:txBody>
      </p:sp>
      <p:sp>
        <p:nvSpPr>
          <p:cNvPr id="6" name="Shape 4"/>
          <p:cNvSpPr/>
          <p:nvPr/>
        </p:nvSpPr>
        <p:spPr>
          <a:xfrm>
            <a:off x="457200" y="1738945"/>
            <a:ext cx="4050506" cy="0"/>
          </a:xfrm>
          <a:prstGeom prst="line">
            <a:avLst/>
          </a:prstGeom>
          <a:noFill/>
          <a:ln w="7144">
            <a:solidFill>
              <a:srgbClr val="D9D2BF"/>
            </a:solidFill>
            <a:prstDash val="solid"/>
          </a:ln>
        </p:spPr>
        <p:txBody>
          <a:bodyPr/>
          <a:p/>
        </p:txBody>
      </p:sp>
      <p:sp>
        <p:nvSpPr>
          <p:cNvPr id="7" name="Shape 5"/>
          <p:cNvSpPr/>
          <p:nvPr/>
        </p:nvSpPr>
        <p:spPr>
          <a:xfrm>
            <a:off x="4504134" y="1735373"/>
            <a:ext cx="0" cy="1425401"/>
          </a:xfrm>
          <a:prstGeom prst="line">
            <a:avLst/>
          </a:prstGeom>
          <a:noFill/>
          <a:ln w="7144">
            <a:solidFill>
              <a:srgbClr val="D9D2BF"/>
            </a:solidFill>
            <a:prstDash val="solid"/>
          </a:ln>
        </p:spPr>
        <p:txBody>
          <a:bodyPr/>
          <a:p/>
        </p:txBody>
      </p:sp>
      <p:sp>
        <p:nvSpPr>
          <p:cNvPr id="8" name="Shape 6"/>
          <p:cNvSpPr/>
          <p:nvPr/>
        </p:nvSpPr>
        <p:spPr>
          <a:xfrm>
            <a:off x="457200" y="3157203"/>
            <a:ext cx="4050506" cy="0"/>
          </a:xfrm>
          <a:prstGeom prst="line">
            <a:avLst/>
          </a:prstGeom>
          <a:noFill/>
          <a:ln w="7144">
            <a:solidFill>
              <a:srgbClr val="D9D2BF"/>
            </a:solidFill>
            <a:prstDash val="solid"/>
          </a:ln>
        </p:spPr>
        <p:txBody>
          <a:bodyPr/>
          <a:p/>
        </p:txBody>
      </p:sp>
      <p:sp>
        <p:nvSpPr>
          <p:cNvPr id="9" name="Shape 7"/>
          <p:cNvSpPr/>
          <p:nvPr/>
        </p:nvSpPr>
        <p:spPr>
          <a:xfrm>
            <a:off x="475059" y="1735373"/>
            <a:ext cx="0" cy="1425401"/>
          </a:xfrm>
          <a:prstGeom prst="line">
            <a:avLst/>
          </a:prstGeom>
          <a:noFill/>
          <a:ln w="35719">
            <a:solidFill>
              <a:srgbClr val="C7912C"/>
            </a:solidFill>
            <a:prstDash val="solid"/>
          </a:ln>
        </p:spPr>
        <p:txBody>
          <a:bodyPr/>
          <a:p/>
        </p:txBody>
      </p:sp>
      <p:sp>
        <p:nvSpPr>
          <p:cNvPr id="10" name="Text 8"/>
          <p:cNvSpPr/>
          <p:nvPr/>
        </p:nvSpPr>
        <p:spPr>
          <a:xfrm>
            <a:off x="4057650" y="1871104"/>
            <a:ext cx="300038" cy="300038"/>
          </a:xfrm>
          <a:prstGeom prst="rect">
            <a:avLst/>
          </a:prstGeom>
          <a:noFill/>
          <a:ln/>
        </p:spPr>
        <p:txBody>
          <a:bodyPr wrap="none" lIns="0" tIns="0" rIns="0" bIns="0" rtlCol="0" anchor="ctr"/>
          <a:lstStyle/>
          <a:p>
            <a:pPr algn="ctr" indent="0" marL="0">
              <a:buNone/>
            </a:pPr>
            <a:r>
              <a:rPr lang="en-US" sz="2953" dirty="0">
                <a:solidFill>
                  <a:srgbClr val="C7912C"/>
                </a:solidFill>
                <a:latin typeface="Segoe UI Symbol" pitchFamily="34" charset="0"/>
                <a:ea typeface="Segoe UI Symbol" pitchFamily="34" charset="-122"/>
                <a:cs typeface="Segoe UI Symbol" pitchFamily="34" charset="-120"/>
              </a:rPr>
              <a:t>✦</a:t>
            </a:r>
            <a:endParaRPr lang="en-US" sz="2953" dirty="0"/>
          </a:p>
        </p:txBody>
      </p:sp>
      <p:sp>
        <p:nvSpPr>
          <p:cNvPr id="11" name="Text 9"/>
          <p:cNvSpPr/>
          <p:nvPr/>
        </p:nvSpPr>
        <p:spPr>
          <a:xfrm>
            <a:off x="678656" y="1899679"/>
            <a:ext cx="3636169" cy="140446"/>
          </a:xfrm>
          <a:prstGeom prst="rect">
            <a:avLst/>
          </a:prstGeom>
          <a:noFill/>
          <a:ln/>
        </p:spPr>
        <p:txBody>
          <a:bodyPr wrap="none" lIns="0" tIns="0" rIns="0" bIns="0" rtlCol="0" anchor="t">
            <a:normAutofit/>
          </a:bodyPr>
          <a:lstStyle/>
          <a:p>
            <a:pPr algn="l" indent="0" marL="0">
              <a:lnSpc>
                <a:spcPts val="872"/>
              </a:lnSpc>
              <a:buNone/>
            </a:pPr>
            <a:r>
              <a:rPr lang="en-US" sz="800" b="1" spc="90" kern="0" dirty="0">
                <a:solidFill>
                  <a:srgbClr val="9A6E1E"/>
                </a:solidFill>
                <a:latin typeface="Carlito" pitchFamily="34" charset="0"/>
                <a:ea typeface="Carlito" pitchFamily="34" charset="-122"/>
                <a:cs typeface="Carlito" pitchFamily="34" charset="-120"/>
              </a:rPr>
              <a:t>উন্নয়নশীল বাজার</a:t>
            </a:r>
            <a:endParaRPr lang="en-US" sz="800" dirty="0"/>
          </a:p>
        </p:txBody>
      </p:sp>
      <p:sp>
        <p:nvSpPr>
          <p:cNvPr id="12" name="Text 10"/>
          <p:cNvSpPr/>
          <p:nvPr/>
        </p:nvSpPr>
        <p:spPr>
          <a:xfrm>
            <a:off x="678656" y="2067558"/>
            <a:ext cx="3636169" cy="462915"/>
          </a:xfrm>
          <a:prstGeom prst="rect">
            <a:avLst/>
          </a:prstGeom>
          <a:noFill/>
          <a:ln/>
        </p:spPr>
        <p:txBody>
          <a:bodyPr wrap="none" lIns="0" tIns="0" rIns="0" bIns="0" rtlCol="0" anchor="t"/>
          <a:lstStyle/>
          <a:p>
            <a:pPr algn="l" indent="0" marL="0">
              <a:lnSpc>
                <a:spcPts val="3375"/>
              </a:lnSpc>
              <a:buNone/>
            </a:pPr>
            <a:r>
              <a:rPr lang="en-US" sz="3375" b="1" spc="-67" kern="0" dirty="0">
                <a:solidFill>
                  <a:srgbClr val="1E4D3B"/>
                </a:solidFill>
                <a:latin typeface="Carlito" pitchFamily="34" charset="0"/>
                <a:ea typeface="Carlito" pitchFamily="34" charset="-122"/>
                <a:cs typeface="Carlito" pitchFamily="34" charset="-120"/>
              </a:rPr>
              <a:t>৩০</a:t>
            </a:r>
            <a:pPr algn="l" indent="0" marL="0">
              <a:lnSpc>
                <a:spcPts val="3375"/>
              </a:lnSpc>
              <a:buNone/>
            </a:pPr>
            <a:r>
              <a:rPr lang="en-US" sz="1238" b="1" spc="-67" kern="0" dirty="0">
                <a:solidFill>
                  <a:srgbClr val="6B6B6B"/>
                </a:solidFill>
                <a:latin typeface="Carlito" pitchFamily="34" charset="0"/>
                <a:ea typeface="Carlito" pitchFamily="34" charset="-122"/>
                <a:cs typeface="Carlito" pitchFamily="34" charset="-120"/>
              </a:rPr>
              <a:t>%</a:t>
            </a:r>
            <a:endParaRPr lang="en-US" sz="3375" dirty="0"/>
          </a:p>
        </p:txBody>
      </p:sp>
      <p:sp>
        <p:nvSpPr>
          <p:cNvPr id="13" name="Text 11"/>
          <p:cNvSpPr/>
          <p:nvPr/>
        </p:nvSpPr>
        <p:spPr>
          <a:xfrm>
            <a:off x="678656" y="2835734"/>
            <a:ext cx="2286000" cy="160734"/>
          </a:xfrm>
          <a:prstGeom prst="rect">
            <a:avLst/>
          </a:prstGeom>
          <a:noFill/>
          <a:ln/>
        </p:spPr>
        <p:txBody>
          <a:bodyPr wrap="square" lIns="0" tIns="0" rIns="0" bIns="0" rtlCol="0" anchor="t"/>
          <a:lstStyle/>
          <a:p>
            <a:pPr algn="l" indent="0" marL="0">
              <a:lnSpc>
                <a:spcPts val="1266"/>
              </a:lnSpc>
              <a:buNone/>
            </a:pPr>
            <a:r>
              <a:rPr lang="en-US" sz="844" dirty="0">
                <a:solidFill>
                  <a:srgbClr val="4A4A4A"/>
                </a:solidFill>
                <a:latin typeface="Carlito" pitchFamily="34" charset="0"/>
                <a:ea typeface="Carlito" pitchFamily="34" charset="-122"/>
                <a:cs typeface="Carlito" pitchFamily="34" charset="-120"/>
              </a:rPr>
              <a:t>উন্নয়নশীল দেশে বাজারে ভেজাল বালাইনাশকের আনুমানিক হার</a:t>
            </a:r>
            <a:endParaRPr lang="en-US" sz="844" dirty="0"/>
          </a:p>
        </p:txBody>
      </p:sp>
      <p:sp>
        <p:nvSpPr>
          <p:cNvPr id="14" name="Text 12"/>
          <p:cNvSpPr/>
          <p:nvPr/>
        </p:nvSpPr>
        <p:spPr>
          <a:xfrm>
            <a:off x="4636294" y="1735373"/>
            <a:ext cx="4050506" cy="1425401"/>
          </a:xfrm>
          <a:prstGeom prst="roundRect">
            <a:avLst>
              <a:gd name="adj" fmla="val 8019"/>
            </a:avLst>
          </a:prstGeom>
          <a:solidFill>
            <a:srgbClr val="FFFFFF"/>
          </a:solidFill>
          <a:ln/>
        </p:spPr>
        <p:txBody>
          <a:bodyPr wrap="square" rtlCol="0" anchor="ctr"/>
          <a:lstStyle/>
          <a:p>
            <a:pPr indent="0" marL="0">
              <a:buNone/>
            </a:pPr>
            <a:endParaRPr lang="en-US" dirty="0"/>
          </a:p>
        </p:txBody>
      </p:sp>
      <p:sp>
        <p:nvSpPr>
          <p:cNvPr id="15" name="Shape 13"/>
          <p:cNvSpPr/>
          <p:nvPr/>
        </p:nvSpPr>
        <p:spPr>
          <a:xfrm>
            <a:off x="4636294" y="1738945"/>
            <a:ext cx="4050506" cy="0"/>
          </a:xfrm>
          <a:prstGeom prst="line">
            <a:avLst/>
          </a:prstGeom>
          <a:noFill/>
          <a:ln w="7144">
            <a:solidFill>
              <a:srgbClr val="D9D2BF"/>
            </a:solidFill>
            <a:prstDash val="solid"/>
          </a:ln>
        </p:spPr>
        <p:txBody>
          <a:bodyPr/>
          <a:p/>
        </p:txBody>
      </p:sp>
      <p:sp>
        <p:nvSpPr>
          <p:cNvPr id="16" name="Shape 14"/>
          <p:cNvSpPr/>
          <p:nvPr/>
        </p:nvSpPr>
        <p:spPr>
          <a:xfrm>
            <a:off x="8683228" y="1735373"/>
            <a:ext cx="0" cy="1425401"/>
          </a:xfrm>
          <a:prstGeom prst="line">
            <a:avLst/>
          </a:prstGeom>
          <a:noFill/>
          <a:ln w="7144">
            <a:solidFill>
              <a:srgbClr val="D9D2BF"/>
            </a:solidFill>
            <a:prstDash val="solid"/>
          </a:ln>
        </p:spPr>
        <p:txBody>
          <a:bodyPr/>
          <a:p/>
        </p:txBody>
      </p:sp>
      <p:sp>
        <p:nvSpPr>
          <p:cNvPr id="17" name="Shape 15"/>
          <p:cNvSpPr/>
          <p:nvPr/>
        </p:nvSpPr>
        <p:spPr>
          <a:xfrm>
            <a:off x="4636294" y="3157203"/>
            <a:ext cx="4050506" cy="0"/>
          </a:xfrm>
          <a:prstGeom prst="line">
            <a:avLst/>
          </a:prstGeom>
          <a:noFill/>
          <a:ln w="7144">
            <a:solidFill>
              <a:srgbClr val="D9D2BF"/>
            </a:solidFill>
            <a:prstDash val="solid"/>
          </a:ln>
        </p:spPr>
        <p:txBody>
          <a:bodyPr/>
          <a:p/>
        </p:txBody>
      </p:sp>
      <p:sp>
        <p:nvSpPr>
          <p:cNvPr id="18" name="Shape 16"/>
          <p:cNvSpPr/>
          <p:nvPr/>
        </p:nvSpPr>
        <p:spPr>
          <a:xfrm>
            <a:off x="4654153" y="1735373"/>
            <a:ext cx="0" cy="1425401"/>
          </a:xfrm>
          <a:prstGeom prst="line">
            <a:avLst/>
          </a:prstGeom>
          <a:noFill/>
          <a:ln w="35719">
            <a:solidFill>
              <a:srgbClr val="C7912C"/>
            </a:solidFill>
            <a:prstDash val="solid"/>
          </a:ln>
        </p:spPr>
        <p:txBody>
          <a:bodyPr/>
          <a:p/>
        </p:txBody>
      </p:sp>
      <p:sp>
        <p:nvSpPr>
          <p:cNvPr id="19" name="Text 17"/>
          <p:cNvSpPr/>
          <p:nvPr/>
        </p:nvSpPr>
        <p:spPr>
          <a:xfrm>
            <a:off x="8236744" y="1871104"/>
            <a:ext cx="300038" cy="300038"/>
          </a:xfrm>
          <a:prstGeom prst="rect">
            <a:avLst/>
          </a:prstGeom>
          <a:noFill/>
          <a:ln/>
        </p:spPr>
        <p:txBody>
          <a:bodyPr wrap="none" lIns="0" tIns="0" rIns="0" bIns="0" rtlCol="0" anchor="ctr"/>
          <a:lstStyle/>
          <a:p>
            <a:pPr algn="ctr" indent="0" marL="0">
              <a:buNone/>
            </a:pPr>
            <a:r>
              <a:rPr lang="en-US" sz="2953" dirty="0">
                <a:solidFill>
                  <a:srgbClr val="C7912C"/>
                </a:solidFill>
                <a:latin typeface="Segoe UI Symbol" pitchFamily="34" charset="0"/>
                <a:ea typeface="Segoe UI Symbol" pitchFamily="34" charset="-122"/>
                <a:cs typeface="Segoe UI Symbol" pitchFamily="34" charset="-120"/>
              </a:rPr>
              <a:t>◯</a:t>
            </a:r>
            <a:endParaRPr lang="en-US" sz="2953" dirty="0"/>
          </a:p>
        </p:txBody>
      </p:sp>
      <p:sp>
        <p:nvSpPr>
          <p:cNvPr id="20" name="Text 18"/>
          <p:cNvSpPr/>
          <p:nvPr/>
        </p:nvSpPr>
        <p:spPr>
          <a:xfrm>
            <a:off x="4857750" y="1899679"/>
            <a:ext cx="3636169" cy="140446"/>
          </a:xfrm>
          <a:prstGeom prst="rect">
            <a:avLst/>
          </a:prstGeom>
          <a:noFill/>
          <a:ln/>
        </p:spPr>
        <p:txBody>
          <a:bodyPr wrap="none" lIns="0" tIns="0" rIns="0" bIns="0" rtlCol="0" anchor="t">
            <a:normAutofit/>
          </a:bodyPr>
          <a:lstStyle/>
          <a:p>
            <a:pPr algn="l" indent="0" marL="0">
              <a:lnSpc>
                <a:spcPts val="872"/>
              </a:lnSpc>
              <a:buNone/>
            </a:pPr>
            <a:r>
              <a:rPr lang="en-US" sz="800" b="1" spc="90" kern="0" dirty="0">
                <a:solidFill>
                  <a:srgbClr val="9A6E1E"/>
                </a:solidFill>
                <a:latin typeface="Carlito" pitchFamily="34" charset="0"/>
                <a:ea typeface="Carlito" pitchFamily="34" charset="-122"/>
                <a:cs typeface="Carlito" pitchFamily="34" charset="-120"/>
              </a:rPr>
              <a:t>বৈশ্বিক বাজার</a:t>
            </a:r>
            <a:endParaRPr lang="en-US" sz="800" dirty="0"/>
          </a:p>
        </p:txBody>
      </p:sp>
      <p:sp>
        <p:nvSpPr>
          <p:cNvPr id="21" name="Text 19"/>
          <p:cNvSpPr/>
          <p:nvPr/>
        </p:nvSpPr>
        <p:spPr>
          <a:xfrm>
            <a:off x="4857750" y="2067558"/>
            <a:ext cx="3636169" cy="462915"/>
          </a:xfrm>
          <a:prstGeom prst="rect">
            <a:avLst/>
          </a:prstGeom>
          <a:noFill/>
          <a:ln/>
        </p:spPr>
        <p:txBody>
          <a:bodyPr wrap="none" lIns="0" tIns="0" rIns="0" bIns="0" rtlCol="0" anchor="t"/>
          <a:lstStyle/>
          <a:p>
            <a:pPr algn="l" indent="0" marL="0">
              <a:lnSpc>
                <a:spcPts val="3375"/>
              </a:lnSpc>
              <a:buNone/>
            </a:pPr>
            <a:r>
              <a:rPr lang="en-US" sz="3375" b="1" spc="-67" kern="0" dirty="0">
                <a:solidFill>
                  <a:srgbClr val="1E4D3B"/>
                </a:solidFill>
                <a:latin typeface="Carlito" pitchFamily="34" charset="0"/>
                <a:ea typeface="Carlito" pitchFamily="34" charset="-122"/>
                <a:cs typeface="Carlito" pitchFamily="34" charset="-120"/>
              </a:rPr>
              <a:t>$৩০</a:t>
            </a:r>
            <a:pPr algn="l" indent="0" marL="0">
              <a:lnSpc>
                <a:spcPts val="3375"/>
              </a:lnSpc>
              <a:buNone/>
            </a:pPr>
            <a:r>
              <a:rPr lang="en-US" sz="1238" b="1" spc="-67" kern="0" dirty="0">
                <a:solidFill>
                  <a:srgbClr val="6B6B6B"/>
                </a:solidFill>
                <a:latin typeface="Carlito" pitchFamily="34" charset="0"/>
                <a:ea typeface="Carlito" pitchFamily="34" charset="-122"/>
                <a:cs typeface="Carlito" pitchFamily="34" charset="-120"/>
              </a:rPr>
              <a:t> বি.</a:t>
            </a:r>
            <a:endParaRPr lang="en-US" sz="3375" dirty="0"/>
          </a:p>
        </p:txBody>
      </p:sp>
      <p:sp>
        <p:nvSpPr>
          <p:cNvPr id="22" name="Text 20"/>
          <p:cNvSpPr/>
          <p:nvPr/>
        </p:nvSpPr>
        <p:spPr>
          <a:xfrm>
            <a:off x="4857750" y="2675000"/>
            <a:ext cx="2286000" cy="321469"/>
          </a:xfrm>
          <a:prstGeom prst="rect">
            <a:avLst/>
          </a:prstGeom>
          <a:noFill/>
          <a:ln/>
        </p:spPr>
        <p:txBody>
          <a:bodyPr wrap="square" lIns="0" tIns="0" rIns="0" bIns="0" rtlCol="0" anchor="t"/>
          <a:lstStyle/>
          <a:p>
            <a:pPr algn="l" indent="0" marL="0">
              <a:lnSpc>
                <a:spcPts val="1266"/>
              </a:lnSpc>
              <a:buNone/>
            </a:pPr>
            <a:r>
              <a:rPr lang="en-US" sz="844" dirty="0">
                <a:solidFill>
                  <a:srgbClr val="4A4A4A"/>
                </a:solidFill>
                <a:latin typeface="Carlito" pitchFamily="34" charset="0"/>
                <a:ea typeface="Carlito" pitchFamily="34" charset="-122"/>
                <a:cs typeface="Carlito" pitchFamily="34" charset="-120"/>
              </a:rPr>
              <a:t>বৈশ্বিক বালাইনাশক বাজার, যার উল্লেখযোগ্য অংশ ভেজাল বা নিম্নমানের</a:t>
            </a:r>
            <a:endParaRPr lang="en-US" sz="844" dirty="0"/>
          </a:p>
        </p:txBody>
      </p:sp>
      <p:sp>
        <p:nvSpPr>
          <p:cNvPr id="23" name="Text 21"/>
          <p:cNvSpPr/>
          <p:nvPr/>
        </p:nvSpPr>
        <p:spPr>
          <a:xfrm>
            <a:off x="457200" y="3289362"/>
            <a:ext cx="4050506" cy="1425513"/>
          </a:xfrm>
          <a:prstGeom prst="roundRect">
            <a:avLst>
              <a:gd name="adj" fmla="val 8018"/>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457200" y="3292934"/>
            <a:ext cx="4050506" cy="0"/>
          </a:xfrm>
          <a:prstGeom prst="line">
            <a:avLst/>
          </a:prstGeom>
          <a:noFill/>
          <a:ln w="7144">
            <a:solidFill>
              <a:srgbClr val="D9D2BF"/>
            </a:solidFill>
            <a:prstDash val="solid"/>
          </a:ln>
        </p:spPr>
        <p:txBody>
          <a:bodyPr/>
          <a:p/>
        </p:txBody>
      </p:sp>
      <p:sp>
        <p:nvSpPr>
          <p:cNvPr id="25" name="Shape 23"/>
          <p:cNvSpPr/>
          <p:nvPr/>
        </p:nvSpPr>
        <p:spPr>
          <a:xfrm>
            <a:off x="4504134" y="3289362"/>
            <a:ext cx="0" cy="1425513"/>
          </a:xfrm>
          <a:prstGeom prst="line">
            <a:avLst/>
          </a:prstGeom>
          <a:noFill/>
          <a:ln w="7144">
            <a:solidFill>
              <a:srgbClr val="D9D2BF"/>
            </a:solidFill>
            <a:prstDash val="solid"/>
          </a:ln>
        </p:spPr>
        <p:txBody>
          <a:bodyPr/>
          <a:p/>
        </p:txBody>
      </p:sp>
      <p:sp>
        <p:nvSpPr>
          <p:cNvPr id="26" name="Shape 24"/>
          <p:cNvSpPr/>
          <p:nvPr/>
        </p:nvSpPr>
        <p:spPr>
          <a:xfrm>
            <a:off x="457200" y="4711303"/>
            <a:ext cx="4050506" cy="0"/>
          </a:xfrm>
          <a:prstGeom prst="line">
            <a:avLst/>
          </a:prstGeom>
          <a:noFill/>
          <a:ln w="7144">
            <a:solidFill>
              <a:srgbClr val="D9D2BF"/>
            </a:solidFill>
            <a:prstDash val="solid"/>
          </a:ln>
        </p:spPr>
        <p:txBody>
          <a:bodyPr/>
          <a:p/>
        </p:txBody>
      </p:sp>
      <p:sp>
        <p:nvSpPr>
          <p:cNvPr id="27" name="Shape 25"/>
          <p:cNvSpPr/>
          <p:nvPr/>
        </p:nvSpPr>
        <p:spPr>
          <a:xfrm>
            <a:off x="475059" y="3289362"/>
            <a:ext cx="0" cy="1425513"/>
          </a:xfrm>
          <a:prstGeom prst="line">
            <a:avLst/>
          </a:prstGeom>
          <a:noFill/>
          <a:ln w="35719">
            <a:solidFill>
              <a:srgbClr val="C7912C"/>
            </a:solidFill>
            <a:prstDash val="solid"/>
          </a:ln>
        </p:spPr>
        <p:txBody>
          <a:bodyPr/>
          <a:p/>
        </p:txBody>
      </p:sp>
      <p:sp>
        <p:nvSpPr>
          <p:cNvPr id="28" name="Text 26"/>
          <p:cNvSpPr/>
          <p:nvPr/>
        </p:nvSpPr>
        <p:spPr>
          <a:xfrm>
            <a:off x="4057650" y="3425093"/>
            <a:ext cx="300038" cy="300038"/>
          </a:xfrm>
          <a:prstGeom prst="rect">
            <a:avLst/>
          </a:prstGeom>
          <a:noFill/>
          <a:ln/>
        </p:spPr>
        <p:txBody>
          <a:bodyPr wrap="none" lIns="0" tIns="0" rIns="0" bIns="0" rtlCol="0" anchor="ctr"/>
          <a:lstStyle/>
          <a:p>
            <a:pPr algn="ctr" indent="0" marL="0">
              <a:buNone/>
            </a:pPr>
            <a:r>
              <a:rPr lang="en-US" sz="2953" dirty="0">
                <a:solidFill>
                  <a:srgbClr val="C7912C"/>
                </a:solidFill>
                <a:latin typeface="Segoe UI Symbol" pitchFamily="34" charset="0"/>
                <a:ea typeface="Segoe UI Symbol" pitchFamily="34" charset="-122"/>
                <a:cs typeface="Segoe UI Symbol" pitchFamily="34" charset="-120"/>
              </a:rPr>
              <a:t>$</a:t>
            </a:r>
            <a:endParaRPr lang="en-US" sz="2953" dirty="0"/>
          </a:p>
        </p:txBody>
      </p:sp>
      <p:sp>
        <p:nvSpPr>
          <p:cNvPr id="29" name="Text 27"/>
          <p:cNvSpPr/>
          <p:nvPr/>
        </p:nvSpPr>
        <p:spPr>
          <a:xfrm>
            <a:off x="678656" y="3453668"/>
            <a:ext cx="3636169" cy="140446"/>
          </a:xfrm>
          <a:prstGeom prst="rect">
            <a:avLst/>
          </a:prstGeom>
          <a:noFill/>
          <a:ln/>
        </p:spPr>
        <p:txBody>
          <a:bodyPr wrap="none" lIns="0" tIns="0" rIns="0" bIns="0" rtlCol="0" anchor="t">
            <a:normAutofit/>
          </a:bodyPr>
          <a:lstStyle/>
          <a:p>
            <a:pPr algn="l" indent="0" marL="0">
              <a:lnSpc>
                <a:spcPts val="872"/>
              </a:lnSpc>
              <a:buNone/>
            </a:pPr>
            <a:r>
              <a:rPr lang="en-US" sz="800" b="1" spc="90" kern="0" dirty="0">
                <a:solidFill>
                  <a:srgbClr val="9A6E1E"/>
                </a:solidFill>
                <a:latin typeface="Carlito" pitchFamily="34" charset="0"/>
                <a:ea typeface="Carlito" pitchFamily="34" charset="-122"/>
                <a:cs typeface="Carlito" pitchFamily="34" charset="-120"/>
              </a:rPr>
              <a:t>বাংলাদেশ বাজার</a:t>
            </a:r>
            <a:endParaRPr lang="en-US" sz="800" dirty="0"/>
          </a:p>
        </p:txBody>
      </p:sp>
      <p:sp>
        <p:nvSpPr>
          <p:cNvPr id="30" name="Text 28"/>
          <p:cNvSpPr/>
          <p:nvPr/>
        </p:nvSpPr>
        <p:spPr>
          <a:xfrm>
            <a:off x="678656" y="3621546"/>
            <a:ext cx="3636169" cy="462915"/>
          </a:xfrm>
          <a:prstGeom prst="rect">
            <a:avLst/>
          </a:prstGeom>
          <a:noFill/>
          <a:ln/>
        </p:spPr>
        <p:txBody>
          <a:bodyPr wrap="none" lIns="0" tIns="0" rIns="0" bIns="0" rtlCol="0" anchor="t"/>
          <a:lstStyle/>
          <a:p>
            <a:pPr algn="l" indent="0" marL="0">
              <a:lnSpc>
                <a:spcPts val="3375"/>
              </a:lnSpc>
              <a:buNone/>
            </a:pPr>
            <a:r>
              <a:rPr lang="en-US" sz="3375" b="1" spc="-67" kern="0" dirty="0">
                <a:solidFill>
                  <a:srgbClr val="1E4D3B"/>
                </a:solidFill>
                <a:latin typeface="Carlito" pitchFamily="34" charset="0"/>
                <a:ea typeface="Carlito" pitchFamily="34" charset="-122"/>
                <a:cs typeface="Carlito" pitchFamily="34" charset="-120"/>
              </a:rPr>
              <a:t>৪৮০</a:t>
            </a:r>
            <a:pPr algn="l" indent="0" marL="0">
              <a:lnSpc>
                <a:spcPts val="3375"/>
              </a:lnSpc>
              <a:buNone/>
            </a:pPr>
            <a:r>
              <a:rPr lang="en-US" sz="1238" b="1" spc="-67" kern="0" dirty="0">
                <a:solidFill>
                  <a:srgbClr val="6B6B6B"/>
                </a:solidFill>
                <a:latin typeface="Carlito" pitchFamily="34" charset="0"/>
                <a:ea typeface="Carlito" pitchFamily="34" charset="-122"/>
                <a:cs typeface="Carlito" pitchFamily="34" charset="-120"/>
              </a:rPr>
              <a:t> কোটি ৳</a:t>
            </a:r>
            <a:endParaRPr lang="en-US" sz="3375" dirty="0"/>
          </a:p>
        </p:txBody>
      </p:sp>
      <p:sp>
        <p:nvSpPr>
          <p:cNvPr id="31" name="Text 29"/>
          <p:cNvSpPr/>
          <p:nvPr/>
        </p:nvSpPr>
        <p:spPr>
          <a:xfrm>
            <a:off x="678656" y="4229100"/>
            <a:ext cx="2286000" cy="321469"/>
          </a:xfrm>
          <a:prstGeom prst="rect">
            <a:avLst/>
          </a:prstGeom>
          <a:noFill/>
          <a:ln/>
        </p:spPr>
        <p:txBody>
          <a:bodyPr wrap="square" lIns="0" tIns="0" rIns="0" bIns="0" rtlCol="0" anchor="t"/>
          <a:lstStyle/>
          <a:p>
            <a:pPr algn="l" indent="0" marL="0">
              <a:lnSpc>
                <a:spcPts val="1266"/>
              </a:lnSpc>
              <a:buNone/>
            </a:pPr>
            <a:r>
              <a:rPr lang="en-US" sz="844" dirty="0">
                <a:solidFill>
                  <a:srgbClr val="4A4A4A"/>
                </a:solidFill>
                <a:latin typeface="Carlito" pitchFamily="34" charset="0"/>
                <a:ea typeface="Carlito" pitchFamily="34" charset="-122"/>
                <a:cs typeface="Carlito" pitchFamily="34" charset="-120"/>
              </a:rPr>
              <a:t>বাংলাদেশের বার্ষিক বালাইনাশক বাজার — ভেজালের হার অনুমান ১৫-২০%</a:t>
            </a:r>
            <a:endParaRPr lang="en-US" sz="844" dirty="0"/>
          </a:p>
        </p:txBody>
      </p:sp>
      <p:sp>
        <p:nvSpPr>
          <p:cNvPr id="32" name="Text 30"/>
          <p:cNvSpPr/>
          <p:nvPr/>
        </p:nvSpPr>
        <p:spPr>
          <a:xfrm>
            <a:off x="4636294" y="3289362"/>
            <a:ext cx="4050506" cy="1425513"/>
          </a:xfrm>
          <a:prstGeom prst="roundRect">
            <a:avLst>
              <a:gd name="adj" fmla="val 8018"/>
            </a:avLst>
          </a:prstGeom>
          <a:solidFill>
            <a:srgbClr val="FFFFFF"/>
          </a:solidFill>
          <a:ln/>
        </p:spPr>
        <p:txBody>
          <a:bodyPr wrap="square" rtlCol="0" anchor="ctr"/>
          <a:lstStyle/>
          <a:p>
            <a:pPr indent="0" marL="0">
              <a:buNone/>
            </a:pPr>
            <a:endParaRPr lang="en-US" dirty="0"/>
          </a:p>
        </p:txBody>
      </p:sp>
      <p:sp>
        <p:nvSpPr>
          <p:cNvPr id="33" name="Shape 31"/>
          <p:cNvSpPr/>
          <p:nvPr/>
        </p:nvSpPr>
        <p:spPr>
          <a:xfrm>
            <a:off x="4636294" y="3292934"/>
            <a:ext cx="4050506" cy="0"/>
          </a:xfrm>
          <a:prstGeom prst="line">
            <a:avLst/>
          </a:prstGeom>
          <a:noFill/>
          <a:ln w="7144">
            <a:solidFill>
              <a:srgbClr val="D9D2BF"/>
            </a:solidFill>
            <a:prstDash val="solid"/>
          </a:ln>
        </p:spPr>
        <p:txBody>
          <a:bodyPr/>
          <a:p/>
        </p:txBody>
      </p:sp>
      <p:sp>
        <p:nvSpPr>
          <p:cNvPr id="34" name="Shape 32"/>
          <p:cNvSpPr/>
          <p:nvPr/>
        </p:nvSpPr>
        <p:spPr>
          <a:xfrm>
            <a:off x="8683228" y="3289362"/>
            <a:ext cx="0" cy="1425513"/>
          </a:xfrm>
          <a:prstGeom prst="line">
            <a:avLst/>
          </a:prstGeom>
          <a:noFill/>
          <a:ln w="7144">
            <a:solidFill>
              <a:srgbClr val="D9D2BF"/>
            </a:solidFill>
            <a:prstDash val="solid"/>
          </a:ln>
        </p:spPr>
        <p:txBody>
          <a:bodyPr/>
          <a:p/>
        </p:txBody>
      </p:sp>
      <p:sp>
        <p:nvSpPr>
          <p:cNvPr id="35" name="Shape 33"/>
          <p:cNvSpPr/>
          <p:nvPr/>
        </p:nvSpPr>
        <p:spPr>
          <a:xfrm>
            <a:off x="4636294" y="4711303"/>
            <a:ext cx="4050506" cy="0"/>
          </a:xfrm>
          <a:prstGeom prst="line">
            <a:avLst/>
          </a:prstGeom>
          <a:noFill/>
          <a:ln w="7144">
            <a:solidFill>
              <a:srgbClr val="D9D2BF"/>
            </a:solidFill>
            <a:prstDash val="solid"/>
          </a:ln>
        </p:spPr>
        <p:txBody>
          <a:bodyPr/>
          <a:p/>
        </p:txBody>
      </p:sp>
      <p:sp>
        <p:nvSpPr>
          <p:cNvPr id="36" name="Shape 34"/>
          <p:cNvSpPr/>
          <p:nvPr/>
        </p:nvSpPr>
        <p:spPr>
          <a:xfrm>
            <a:off x="4654153" y="3289362"/>
            <a:ext cx="0" cy="1425513"/>
          </a:xfrm>
          <a:prstGeom prst="line">
            <a:avLst/>
          </a:prstGeom>
          <a:noFill/>
          <a:ln w="35719">
            <a:solidFill>
              <a:srgbClr val="C7912C"/>
            </a:solidFill>
            <a:prstDash val="solid"/>
          </a:ln>
        </p:spPr>
        <p:txBody>
          <a:bodyPr/>
          <a:p/>
        </p:txBody>
      </p:sp>
      <p:sp>
        <p:nvSpPr>
          <p:cNvPr id="37" name="Text 35"/>
          <p:cNvSpPr/>
          <p:nvPr/>
        </p:nvSpPr>
        <p:spPr>
          <a:xfrm>
            <a:off x="8236744" y="3425093"/>
            <a:ext cx="300038" cy="300038"/>
          </a:xfrm>
          <a:prstGeom prst="rect">
            <a:avLst/>
          </a:prstGeom>
          <a:noFill/>
          <a:ln/>
        </p:spPr>
        <p:txBody>
          <a:bodyPr wrap="none" lIns="0" tIns="0" rIns="0" bIns="0" rtlCol="0" anchor="ctr"/>
          <a:lstStyle/>
          <a:p>
            <a:pPr algn="ctr" indent="0" marL="0">
              <a:buNone/>
            </a:pPr>
            <a:r>
              <a:rPr lang="en-US" sz="2953" dirty="0">
                <a:solidFill>
                  <a:srgbClr val="C7912C"/>
                </a:solidFill>
                <a:latin typeface="Segoe UI Symbol" pitchFamily="34" charset="0"/>
                <a:ea typeface="Segoe UI Symbol" pitchFamily="34" charset="-122"/>
                <a:cs typeface="Segoe UI Symbol" pitchFamily="34" charset="-120"/>
              </a:rPr>
              <a:t>↘</a:t>
            </a:r>
            <a:endParaRPr lang="en-US" sz="2953" dirty="0"/>
          </a:p>
        </p:txBody>
      </p:sp>
      <p:sp>
        <p:nvSpPr>
          <p:cNvPr id="38" name="Text 36"/>
          <p:cNvSpPr/>
          <p:nvPr/>
        </p:nvSpPr>
        <p:spPr>
          <a:xfrm>
            <a:off x="4857750" y="3453668"/>
            <a:ext cx="3636169" cy="140446"/>
          </a:xfrm>
          <a:prstGeom prst="rect">
            <a:avLst/>
          </a:prstGeom>
          <a:noFill/>
          <a:ln/>
        </p:spPr>
        <p:txBody>
          <a:bodyPr wrap="none" lIns="0" tIns="0" rIns="0" bIns="0" rtlCol="0" anchor="t">
            <a:normAutofit/>
          </a:bodyPr>
          <a:lstStyle/>
          <a:p>
            <a:pPr algn="l" indent="0" marL="0">
              <a:lnSpc>
                <a:spcPts val="872"/>
              </a:lnSpc>
              <a:buNone/>
            </a:pPr>
            <a:r>
              <a:rPr lang="en-US" sz="800" b="1" spc="90" kern="0" dirty="0">
                <a:solidFill>
                  <a:srgbClr val="9A6E1E"/>
                </a:solidFill>
                <a:latin typeface="Carlito" pitchFamily="34" charset="0"/>
                <a:ea typeface="Carlito" pitchFamily="34" charset="-122"/>
                <a:cs typeface="Carlito" pitchFamily="34" charset="-120"/>
              </a:rPr>
              <a:t>ফসল উৎপাদন</a:t>
            </a:r>
            <a:endParaRPr lang="en-US" sz="800" dirty="0"/>
          </a:p>
        </p:txBody>
      </p:sp>
      <p:sp>
        <p:nvSpPr>
          <p:cNvPr id="39" name="Text 37"/>
          <p:cNvSpPr/>
          <p:nvPr/>
        </p:nvSpPr>
        <p:spPr>
          <a:xfrm>
            <a:off x="4857750" y="3621546"/>
            <a:ext cx="3636169" cy="462915"/>
          </a:xfrm>
          <a:prstGeom prst="rect">
            <a:avLst/>
          </a:prstGeom>
          <a:noFill/>
          <a:ln/>
        </p:spPr>
        <p:txBody>
          <a:bodyPr wrap="none" lIns="0" tIns="0" rIns="0" bIns="0" rtlCol="0" anchor="t"/>
          <a:lstStyle/>
          <a:p>
            <a:pPr algn="l" indent="0" marL="0">
              <a:lnSpc>
                <a:spcPts val="3375"/>
              </a:lnSpc>
              <a:buNone/>
            </a:pPr>
            <a:r>
              <a:rPr lang="en-US" sz="3375" b="1" spc="-67" kern="0" dirty="0">
                <a:solidFill>
                  <a:srgbClr val="1E4D3B"/>
                </a:solidFill>
                <a:latin typeface="Carlito" pitchFamily="34" charset="0"/>
                <a:ea typeface="Carlito" pitchFamily="34" charset="-122"/>
                <a:cs typeface="Carlito" pitchFamily="34" charset="-120"/>
              </a:rPr>
              <a:t>২-৩</a:t>
            </a:r>
            <a:pPr algn="l" indent="0" marL="0">
              <a:lnSpc>
                <a:spcPts val="3375"/>
              </a:lnSpc>
              <a:buNone/>
            </a:pPr>
            <a:r>
              <a:rPr lang="en-US" sz="1238" b="1" spc="-67" kern="0" dirty="0">
                <a:solidFill>
                  <a:srgbClr val="6B6B6B"/>
                </a:solidFill>
                <a:latin typeface="Carlito" pitchFamily="34" charset="0"/>
                <a:ea typeface="Carlito" pitchFamily="34" charset="-122"/>
                <a:cs typeface="Carlito" pitchFamily="34" charset="-120"/>
              </a:rPr>
              <a:t> গুণ</a:t>
            </a:r>
            <a:endParaRPr lang="en-US" sz="3375" dirty="0"/>
          </a:p>
        </p:txBody>
      </p:sp>
      <p:sp>
        <p:nvSpPr>
          <p:cNvPr id="40" name="Text 38"/>
          <p:cNvSpPr/>
          <p:nvPr/>
        </p:nvSpPr>
        <p:spPr>
          <a:xfrm>
            <a:off x="4857750" y="4229100"/>
            <a:ext cx="2286000" cy="321469"/>
          </a:xfrm>
          <a:prstGeom prst="rect">
            <a:avLst/>
          </a:prstGeom>
          <a:noFill/>
          <a:ln/>
        </p:spPr>
        <p:txBody>
          <a:bodyPr wrap="square" lIns="0" tIns="0" rIns="0" bIns="0" rtlCol="0" anchor="t"/>
          <a:lstStyle/>
          <a:p>
            <a:pPr algn="l" indent="0" marL="0">
              <a:lnSpc>
                <a:spcPts val="1266"/>
              </a:lnSpc>
              <a:buNone/>
            </a:pPr>
            <a:r>
              <a:rPr lang="en-US" sz="844" dirty="0">
                <a:solidFill>
                  <a:srgbClr val="4A4A4A"/>
                </a:solidFill>
                <a:latin typeface="Carlito" pitchFamily="34" charset="0"/>
                <a:ea typeface="Carlito" pitchFamily="34" charset="-122"/>
                <a:cs typeface="Carlito" pitchFamily="34" charset="-120"/>
              </a:rPr>
              <a:t>ভেজালের কারণে ফসলের গড় উৎপাদন হ্রাস — কৃষকের সরাসরি ক্ষতি</a:t>
            </a:r>
            <a:endParaRPr lang="en-US" sz="844" dirty="0"/>
          </a:p>
        </p:txBody>
      </p:sp>
      <p:pic>
        <p:nvPicPr>
          <p:cNvPr id="41" name="Image 0" descr="preencoded.png">    </p:cNvPr>
          <p:cNvPicPr>
            <a:picLocks noChangeAspect="1"/>
          </p:cNvPicPr>
          <p:nvPr/>
        </p:nvPicPr>
        <p:blipFill>
          <a:blip r:embed="rId1"/>
          <a:stretch>
            <a:fillRect/>
          </a:stretch>
        </p:blipFill>
        <p:spPr>
          <a:xfrm>
            <a:off x="0" y="5100638"/>
            <a:ext cx="9144000" cy="42863"/>
          </a:xfrm>
          <a:prstGeom prst="rect">
            <a:avLst/>
          </a:prstGeom>
        </p:spPr>
      </p:pic>
      <p:sp>
        <p:nvSpPr>
          <p:cNvPr id="42" name="Text 39"/>
          <p:cNvSpPr/>
          <p:nvPr/>
        </p:nvSpPr>
        <p:spPr>
          <a:xfrm>
            <a:off x="8687581" y="4706392"/>
            <a:ext cx="31879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০৩</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00050" y="474390"/>
            <a:ext cx="2882385"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০১ · সংক্ষতের প্রেক্ষাপট</a:t>
            </a:r>
            <a:endParaRPr lang="en-US" sz="1350" dirty="0"/>
          </a:p>
        </p:txBody>
      </p:sp>
      <p:sp>
        <p:nvSpPr>
          <p:cNvPr id="3" name="Text 1"/>
          <p:cNvSpPr/>
          <p:nvPr/>
        </p:nvSpPr>
        <p:spPr>
          <a:xfrm>
            <a:off x="400050" y="825773"/>
            <a:ext cx="8636000" cy="501764"/>
          </a:xfrm>
          <a:prstGeom prst="rect">
            <a:avLst/>
          </a:prstGeom>
          <a:noFill/>
          <a:ln/>
        </p:spPr>
        <p:txBody>
          <a:bodyPr wrap="square" lIns="0" tIns="0" rIns="0" bIns="0" rtlCol="0" anchor="t">
            <a:normAutofit/>
          </a:bodyPr>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কৃষক ও ক্রেতার ওপর ধ্বংসাত্মক প্রভাব</a:t>
            </a:r>
            <a:endParaRPr lang="en-US" sz="3150" dirty="0"/>
          </a:p>
        </p:txBody>
      </p:sp>
      <p:sp>
        <p:nvSpPr>
          <p:cNvPr id="4" name="Text 2"/>
          <p:cNvSpPr/>
          <p:nvPr/>
        </p:nvSpPr>
        <p:spPr>
          <a:xfrm>
            <a:off x="400050" y="1354968"/>
            <a:ext cx="8343900" cy="179380"/>
          </a:xfrm>
          <a:prstGeom prst="rect">
            <a:avLst/>
          </a:prstGeom>
          <a:noFill/>
          <a:ln/>
        </p:spPr>
        <p:txBody>
          <a:bodyPr wrap="square" lIns="0" tIns="0" rIns="0" bIns="0" rtlCol="0" anchor="t"/>
          <a:lstStyle/>
          <a:p>
            <a:pPr algn="l" indent="0" marL="0">
              <a:lnSpc>
                <a:spcPts val="1308"/>
              </a:lnSpc>
              <a:buNone/>
            </a:pPr>
            <a:r>
              <a:rPr lang="en-US" sz="844" dirty="0">
                <a:solidFill>
                  <a:srgbClr val="4A4A4A"/>
                </a:solidFill>
                <a:latin typeface="Carlito" pitchFamily="34" charset="0"/>
                <a:ea typeface="Carlito" pitchFamily="34" charset="-122"/>
                <a:cs typeface="Carlito" pitchFamily="34" charset="-120"/>
              </a:rPr>
              <a:t>ভেজাল বালাইনাশকের প্রভাব কেবল একজন কৃষকে সীমাবদ্ধ নয় — পুরো সরবরাহ শৃঙ্খল ও সমাজে ছড়ায়</a:t>
            </a:r>
            <a:endParaRPr lang="en-US" sz="844" dirty="0"/>
          </a:p>
        </p:txBody>
      </p:sp>
      <p:sp>
        <p:nvSpPr>
          <p:cNvPr id="5" name="Text 3"/>
          <p:cNvSpPr/>
          <p:nvPr/>
        </p:nvSpPr>
        <p:spPr>
          <a:xfrm>
            <a:off x="403622" y="1653220"/>
            <a:ext cx="4107656" cy="1482551"/>
          </a:xfrm>
          <a:prstGeom prst="roundRect">
            <a:avLst>
              <a:gd name="adj" fmla="val 8995"/>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6" name="Text 4"/>
          <p:cNvSpPr/>
          <p:nvPr/>
        </p:nvSpPr>
        <p:spPr>
          <a:xfrm>
            <a:off x="578644" y="1813954"/>
            <a:ext cx="314325" cy="314325"/>
          </a:xfrm>
          <a:prstGeom prst="roundRect">
            <a:avLst>
              <a:gd name="adj" fmla="val 30303"/>
            </a:avLst>
          </a:prstGeom>
          <a:solidFill>
            <a:srgbClr val="F2ECDD"/>
          </a:solidFill>
          <a:ln/>
        </p:spPr>
        <p:txBody>
          <a:bodyPr wrap="square" rtlCol="0" anchor="ctr"/>
          <a:lstStyle/>
          <a:p>
            <a:pPr indent="0" marL="0">
              <a:buNone/>
            </a:pPr>
            <a:endParaRPr lang="en-US" dirty="0"/>
          </a:p>
        </p:txBody>
      </p:sp>
      <p:sp>
        <p:nvSpPr>
          <p:cNvPr id="7" name="Text 5"/>
          <p:cNvSpPr/>
          <p:nvPr/>
        </p:nvSpPr>
        <p:spPr>
          <a:xfrm>
            <a:off x="601147" y="1836457"/>
            <a:ext cx="269319" cy="269319"/>
          </a:xfrm>
          <a:prstGeom prst="rect">
            <a:avLst/>
          </a:prstGeom>
          <a:noFill/>
          <a:ln/>
        </p:spPr>
        <p:txBody>
          <a:bodyPr wrap="none" lIns="0" tIns="0" rIns="0" bIns="0" rtlCol="0" anchor="ctr"/>
          <a:lstStyle/>
          <a:p>
            <a:pPr algn="ctr" indent="0" marL="0">
              <a:buNone/>
            </a:pPr>
            <a:r>
              <a:rPr lang="en-US" sz="1828" dirty="0">
                <a:solidFill>
                  <a:srgbClr val="9A6E1E"/>
                </a:solidFill>
                <a:latin typeface="Segoe UI Symbol" pitchFamily="34" charset="0"/>
                <a:ea typeface="Segoe UI Symbol" pitchFamily="34" charset="-122"/>
                <a:cs typeface="Segoe UI Symbol" pitchFamily="34" charset="-120"/>
              </a:rPr>
              <a:t>✦</a:t>
            </a:r>
            <a:endParaRPr lang="en-US" sz="1828" dirty="0"/>
          </a:p>
        </p:txBody>
      </p:sp>
      <p:sp>
        <p:nvSpPr>
          <p:cNvPr id="8" name="Text 6"/>
          <p:cNvSpPr/>
          <p:nvPr/>
        </p:nvSpPr>
        <p:spPr>
          <a:xfrm>
            <a:off x="978694" y="1821433"/>
            <a:ext cx="802913" cy="91440"/>
          </a:xfrm>
          <a:prstGeom prst="rect">
            <a:avLst/>
          </a:prstGeom>
          <a:noFill/>
          <a:ln/>
        </p:spPr>
        <p:txBody>
          <a:bodyPr wrap="none" lIns="0" tIns="0" rIns="0" bIns="0" rtlCol="0" anchor="t">
            <a:normAutofit/>
          </a:bodyPr>
          <a:lstStyle/>
          <a:p>
            <a:pPr algn="l" indent="0" marL="0">
              <a:lnSpc>
                <a:spcPts val="872"/>
              </a:lnSpc>
              <a:buNone/>
            </a:pPr>
            <a:r>
              <a:rPr lang="en-US" sz="600" b="1" spc="90" kern="0" dirty="0">
                <a:solidFill>
                  <a:srgbClr val="9A6E1E"/>
                </a:solidFill>
                <a:latin typeface="Carlito" pitchFamily="34" charset="0"/>
                <a:ea typeface="Carlito" pitchFamily="34" charset="-122"/>
                <a:cs typeface="Carlito" pitchFamily="34" charset="-120"/>
              </a:rPr>
              <a:t>স্টেকহোল্ডার · ০১</a:t>
            </a:r>
            <a:endParaRPr lang="en-US" sz="600" dirty="0"/>
          </a:p>
        </p:txBody>
      </p:sp>
      <p:sp>
        <p:nvSpPr>
          <p:cNvPr id="9" name="Text 7"/>
          <p:cNvSpPr/>
          <p:nvPr/>
        </p:nvSpPr>
        <p:spPr>
          <a:xfrm>
            <a:off x="832530" y="1932161"/>
            <a:ext cx="1024920" cy="203610"/>
          </a:xfrm>
          <a:prstGeom prst="rect">
            <a:avLst/>
          </a:prstGeom>
          <a:noFill/>
          <a:ln/>
        </p:spPr>
        <p:txBody>
          <a:bodyPr wrap="square" lIns="0" tIns="0" rIns="0" bIns="0" rtlCol="0" anchor="t"/>
          <a:lstStyle/>
          <a:p>
            <a:pPr algn="l" indent="0" marL="0">
              <a:lnSpc>
                <a:spcPts val="1485"/>
              </a:lnSpc>
              <a:buNone/>
            </a:pPr>
            <a:r>
              <a:rPr lang="en-US" sz="1238" b="1" dirty="0">
                <a:solidFill>
                  <a:srgbClr val="14342A"/>
                </a:solidFill>
                <a:latin typeface="Tinos" pitchFamily="34" charset="0"/>
                <a:ea typeface="Tinos" pitchFamily="34" charset="-122"/>
                <a:cs typeface="Tinos" pitchFamily="34" charset="-120"/>
              </a:rPr>
              <a:t>কৃষকের ক্ষতি</a:t>
            </a:r>
            <a:endParaRPr lang="en-US" sz="1238" dirty="0"/>
          </a:p>
        </p:txBody>
      </p:sp>
      <p:sp>
        <p:nvSpPr>
          <p:cNvPr id="10" name="Text 8"/>
          <p:cNvSpPr/>
          <p:nvPr/>
        </p:nvSpPr>
        <p:spPr>
          <a:xfrm>
            <a:off x="578644" y="2199717"/>
            <a:ext cx="3757613" cy="357795"/>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বিনিয়োগ করা অর্থ নষ্ট, ফসল বিনষ্ট, ঋণের বোঝা বাড়ে। পরবর্তী মৌসুমে আবার ঋণ নিতে বাধ্য হন। অনেক ক্ষেত্রে জমি বন্ধক দিতে হয়। শুধু অর্থনৈতিক নয়, মানসিক চাপও গুরুতর।</a:t>
            </a:r>
            <a:endParaRPr lang="en-US" sz="816" dirty="0"/>
          </a:p>
        </p:txBody>
      </p:sp>
      <p:sp>
        <p:nvSpPr>
          <p:cNvPr id="11" name="Text 9"/>
          <p:cNvSpPr/>
          <p:nvPr/>
        </p:nvSpPr>
        <p:spPr>
          <a:xfrm>
            <a:off x="4632722" y="1653220"/>
            <a:ext cx="4107656" cy="1482551"/>
          </a:xfrm>
          <a:prstGeom prst="roundRect">
            <a:avLst>
              <a:gd name="adj" fmla="val 8995"/>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2" name="Text 10"/>
          <p:cNvSpPr/>
          <p:nvPr/>
        </p:nvSpPr>
        <p:spPr>
          <a:xfrm>
            <a:off x="4807744" y="1813954"/>
            <a:ext cx="314325" cy="314325"/>
          </a:xfrm>
          <a:prstGeom prst="roundRect">
            <a:avLst>
              <a:gd name="adj" fmla="val 30303"/>
            </a:avLst>
          </a:prstGeom>
          <a:solidFill>
            <a:srgbClr val="F2ECDD"/>
          </a:solidFill>
          <a:ln/>
        </p:spPr>
        <p:txBody>
          <a:bodyPr wrap="square" rtlCol="0" anchor="ctr"/>
          <a:lstStyle/>
          <a:p>
            <a:pPr indent="0" marL="0">
              <a:buNone/>
            </a:pPr>
            <a:endParaRPr lang="en-US" dirty="0"/>
          </a:p>
        </p:txBody>
      </p:sp>
      <p:sp>
        <p:nvSpPr>
          <p:cNvPr id="13" name="Text 11"/>
          <p:cNvSpPr/>
          <p:nvPr/>
        </p:nvSpPr>
        <p:spPr>
          <a:xfrm>
            <a:off x="4830247" y="1836457"/>
            <a:ext cx="269319" cy="269319"/>
          </a:xfrm>
          <a:prstGeom prst="rect">
            <a:avLst/>
          </a:prstGeom>
          <a:noFill/>
          <a:ln/>
        </p:spPr>
        <p:txBody>
          <a:bodyPr wrap="none" lIns="0" tIns="0" rIns="0" bIns="0" rtlCol="0" anchor="ctr"/>
          <a:lstStyle/>
          <a:p>
            <a:pPr algn="ctr" indent="0" marL="0">
              <a:buNone/>
            </a:pPr>
            <a:r>
              <a:rPr lang="en-US" sz="1828" dirty="0">
                <a:solidFill>
                  <a:srgbClr val="9A6E1E"/>
                </a:solidFill>
                <a:latin typeface="Segoe UI Symbol" pitchFamily="34" charset="0"/>
                <a:ea typeface="Segoe UI Symbol" pitchFamily="34" charset="-122"/>
                <a:cs typeface="Segoe UI Symbol" pitchFamily="34" charset="-120"/>
              </a:rPr>
              <a:t>✚</a:t>
            </a:r>
            <a:endParaRPr lang="en-US" sz="1828" dirty="0"/>
          </a:p>
        </p:txBody>
      </p:sp>
      <p:sp>
        <p:nvSpPr>
          <p:cNvPr id="14" name="Text 12"/>
          <p:cNvSpPr/>
          <p:nvPr/>
        </p:nvSpPr>
        <p:spPr>
          <a:xfrm>
            <a:off x="5207794" y="1821433"/>
            <a:ext cx="894674" cy="91440"/>
          </a:xfrm>
          <a:prstGeom prst="rect">
            <a:avLst/>
          </a:prstGeom>
          <a:noFill/>
          <a:ln/>
        </p:spPr>
        <p:txBody>
          <a:bodyPr wrap="none" lIns="0" tIns="0" rIns="0" bIns="0" rtlCol="0" anchor="t">
            <a:normAutofit/>
          </a:bodyPr>
          <a:lstStyle/>
          <a:p>
            <a:pPr algn="l" indent="0" marL="0">
              <a:lnSpc>
                <a:spcPts val="872"/>
              </a:lnSpc>
              <a:buNone/>
            </a:pPr>
            <a:r>
              <a:rPr lang="en-US" sz="800" b="1" spc="90" kern="0" dirty="0">
                <a:solidFill>
                  <a:srgbClr val="9A6E1E"/>
                </a:solidFill>
                <a:latin typeface="Carlito" pitchFamily="34" charset="0"/>
                <a:ea typeface="Carlito" pitchFamily="34" charset="-122"/>
                <a:cs typeface="Carlito" pitchFamily="34" charset="-120"/>
              </a:rPr>
              <a:t>স্টেকহোল্ডার · ০২</a:t>
            </a:r>
            <a:endParaRPr lang="en-US" sz="800" dirty="0"/>
          </a:p>
        </p:txBody>
      </p:sp>
      <p:sp>
        <p:nvSpPr>
          <p:cNvPr id="15" name="Text 13"/>
          <p:cNvSpPr/>
          <p:nvPr/>
        </p:nvSpPr>
        <p:spPr>
          <a:xfrm>
            <a:off x="5061765" y="1932161"/>
            <a:ext cx="1108373" cy="203610"/>
          </a:xfrm>
          <a:prstGeom prst="rect">
            <a:avLst/>
          </a:prstGeom>
          <a:noFill/>
          <a:ln/>
        </p:spPr>
        <p:txBody>
          <a:bodyPr wrap="square" lIns="0" tIns="0" rIns="0" bIns="0" rtlCol="0" anchor="t"/>
          <a:lstStyle/>
          <a:p>
            <a:pPr algn="l" indent="0" marL="0">
              <a:lnSpc>
                <a:spcPts val="1485"/>
              </a:lnSpc>
              <a:buNone/>
            </a:pPr>
            <a:r>
              <a:rPr lang="en-US" sz="1238" b="1" dirty="0">
                <a:solidFill>
                  <a:srgbClr val="14342A"/>
                </a:solidFill>
                <a:latin typeface="Tinos" pitchFamily="34" charset="0"/>
                <a:ea typeface="Tinos" pitchFamily="34" charset="-122"/>
                <a:cs typeface="Tinos" pitchFamily="34" charset="-120"/>
              </a:rPr>
              <a:t>ভোক্তার ক্ষতি</a:t>
            </a:r>
            <a:endParaRPr lang="en-US" sz="1238" dirty="0"/>
          </a:p>
        </p:txBody>
      </p:sp>
      <p:sp>
        <p:nvSpPr>
          <p:cNvPr id="16" name="Text 14"/>
          <p:cNvSpPr/>
          <p:nvPr/>
        </p:nvSpPr>
        <p:spPr>
          <a:xfrm>
            <a:off x="4807744" y="2199717"/>
            <a:ext cx="3757613" cy="357795"/>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বিষাক্ত রাসায়নিক অবশিষ্টাংশ খাদ্যে মিশে যায়। দীর্ঘমেয়াদে ক্যানসার, স্নায়বিক বিকার, হরমোন বৈষম্য দেখা দেয়। শিশু ও গর্ভবতীদের জন্য বিশেষ ঝুঁকি। পুষ্টিহীনতা বাড়ে যখন ফসলের গুণমান কমে।</a:t>
            </a:r>
            <a:endParaRPr lang="en-US" sz="816" dirty="0"/>
          </a:p>
        </p:txBody>
      </p:sp>
      <p:sp>
        <p:nvSpPr>
          <p:cNvPr id="17" name="Text 15"/>
          <p:cNvSpPr/>
          <p:nvPr/>
        </p:nvSpPr>
        <p:spPr>
          <a:xfrm>
            <a:off x="403622" y="3257215"/>
            <a:ext cx="4107656" cy="1482663"/>
          </a:xfrm>
          <a:prstGeom prst="roundRect">
            <a:avLst>
              <a:gd name="adj" fmla="val 8994"/>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8" name="Text 16"/>
          <p:cNvSpPr/>
          <p:nvPr/>
        </p:nvSpPr>
        <p:spPr>
          <a:xfrm>
            <a:off x="578644" y="3417950"/>
            <a:ext cx="314325" cy="314325"/>
          </a:xfrm>
          <a:prstGeom prst="roundRect">
            <a:avLst>
              <a:gd name="adj" fmla="val 30303"/>
            </a:avLst>
          </a:prstGeom>
          <a:solidFill>
            <a:srgbClr val="F2ECDD"/>
          </a:solidFill>
          <a:ln/>
        </p:spPr>
        <p:txBody>
          <a:bodyPr wrap="square" rtlCol="0" anchor="ctr"/>
          <a:lstStyle/>
          <a:p>
            <a:pPr indent="0" marL="0">
              <a:buNone/>
            </a:pPr>
            <a:endParaRPr lang="en-US" dirty="0"/>
          </a:p>
        </p:txBody>
      </p:sp>
      <p:sp>
        <p:nvSpPr>
          <p:cNvPr id="19" name="Text 17"/>
          <p:cNvSpPr/>
          <p:nvPr/>
        </p:nvSpPr>
        <p:spPr>
          <a:xfrm>
            <a:off x="601147" y="3440452"/>
            <a:ext cx="269319" cy="269319"/>
          </a:xfrm>
          <a:prstGeom prst="rect">
            <a:avLst/>
          </a:prstGeom>
          <a:noFill/>
          <a:ln/>
        </p:spPr>
        <p:txBody>
          <a:bodyPr wrap="none" lIns="0" tIns="0" rIns="0" bIns="0" rtlCol="0" anchor="ctr"/>
          <a:lstStyle/>
          <a:p>
            <a:pPr algn="ctr" indent="0" marL="0">
              <a:buNone/>
            </a:pPr>
            <a:r>
              <a:rPr lang="en-US" sz="1828" dirty="0">
                <a:solidFill>
                  <a:srgbClr val="9A6E1E"/>
                </a:solidFill>
                <a:latin typeface="Segoe UI Symbol" pitchFamily="34" charset="0"/>
                <a:ea typeface="Segoe UI Symbol" pitchFamily="34" charset="-122"/>
                <a:cs typeface="Segoe UI Symbol" pitchFamily="34" charset="-120"/>
              </a:rPr>
              <a:t>✿</a:t>
            </a:r>
            <a:endParaRPr lang="en-US" sz="1828" dirty="0"/>
          </a:p>
        </p:txBody>
      </p:sp>
      <p:sp>
        <p:nvSpPr>
          <p:cNvPr id="20" name="Text 18"/>
          <p:cNvSpPr/>
          <p:nvPr/>
        </p:nvSpPr>
        <p:spPr>
          <a:xfrm>
            <a:off x="978694" y="3425428"/>
            <a:ext cx="931379" cy="91440"/>
          </a:xfrm>
          <a:prstGeom prst="rect">
            <a:avLst/>
          </a:prstGeom>
          <a:noFill/>
          <a:ln/>
        </p:spPr>
        <p:txBody>
          <a:bodyPr wrap="none" lIns="0" tIns="0" rIns="0" bIns="0" rtlCol="0" anchor="t">
            <a:normAutofit/>
          </a:bodyPr>
          <a:lstStyle/>
          <a:p>
            <a:pPr algn="l" indent="0" marL="0">
              <a:lnSpc>
                <a:spcPts val="872"/>
              </a:lnSpc>
              <a:buNone/>
            </a:pPr>
            <a:r>
              <a:rPr lang="en-US" sz="800" b="1" spc="90" kern="0" dirty="0">
                <a:solidFill>
                  <a:srgbClr val="9A6E1E"/>
                </a:solidFill>
                <a:latin typeface="Carlito" pitchFamily="34" charset="0"/>
                <a:ea typeface="Carlito" pitchFamily="34" charset="-122"/>
                <a:cs typeface="Carlito" pitchFamily="34" charset="-120"/>
              </a:rPr>
              <a:t>স্টেকহোল্ডার · ০৩</a:t>
            </a:r>
            <a:endParaRPr lang="en-US" sz="800" dirty="0"/>
          </a:p>
        </p:txBody>
      </p:sp>
      <p:sp>
        <p:nvSpPr>
          <p:cNvPr id="21" name="Text 19"/>
          <p:cNvSpPr/>
          <p:nvPr/>
        </p:nvSpPr>
        <p:spPr>
          <a:xfrm>
            <a:off x="978694" y="3536156"/>
            <a:ext cx="849806" cy="203610"/>
          </a:xfrm>
          <a:prstGeom prst="rect">
            <a:avLst/>
          </a:prstGeom>
          <a:noFill/>
          <a:ln/>
        </p:spPr>
        <p:txBody>
          <a:bodyPr wrap="square" lIns="0" tIns="0" rIns="0" bIns="0" rtlCol="0" anchor="t"/>
          <a:lstStyle/>
          <a:p>
            <a:pPr algn="l" indent="0" marL="0">
              <a:lnSpc>
                <a:spcPts val="1485"/>
              </a:lnSpc>
              <a:buNone/>
            </a:pPr>
            <a:r>
              <a:rPr lang="en-US" sz="1238" b="1" dirty="0">
                <a:solidFill>
                  <a:srgbClr val="14342A"/>
                </a:solidFill>
                <a:latin typeface="Tinos" pitchFamily="34" charset="0"/>
                <a:ea typeface="Tinos" pitchFamily="34" charset="-122"/>
                <a:cs typeface="Tinos" pitchFamily="34" charset="-120"/>
              </a:rPr>
              <a:t>পরিবেশের ক্ষতি</a:t>
            </a:r>
            <a:endParaRPr lang="en-US" sz="1238" dirty="0"/>
          </a:p>
        </p:txBody>
      </p:sp>
      <p:sp>
        <p:nvSpPr>
          <p:cNvPr id="22" name="Text 20"/>
          <p:cNvSpPr/>
          <p:nvPr/>
        </p:nvSpPr>
        <p:spPr>
          <a:xfrm>
            <a:off x="578644" y="3803712"/>
            <a:ext cx="3757613" cy="357795"/>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উপকারী পোকা মৌমাছি, শিকারি পোকা ধ্বংস হয়। মাটির অণুজীব মারা যায়, প্রাকৃতিক উর্বরতা হ্রাস পায়। পানির উৎস দূষিত হয়, মাছ ও জলজ প্রাণী মারা যায়। জীববৈচিত্র্য চরমভাবে হ্রাস পায়।</a:t>
            </a:r>
            <a:endParaRPr lang="en-US" sz="816" dirty="0"/>
          </a:p>
        </p:txBody>
      </p:sp>
      <p:sp>
        <p:nvSpPr>
          <p:cNvPr id="23" name="Text 21"/>
          <p:cNvSpPr/>
          <p:nvPr/>
        </p:nvSpPr>
        <p:spPr>
          <a:xfrm>
            <a:off x="4632722" y="3257215"/>
            <a:ext cx="4107656" cy="1482663"/>
          </a:xfrm>
          <a:prstGeom prst="roundRect">
            <a:avLst>
              <a:gd name="adj" fmla="val 8994"/>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24" name="Text 22"/>
          <p:cNvSpPr/>
          <p:nvPr/>
        </p:nvSpPr>
        <p:spPr>
          <a:xfrm>
            <a:off x="4807744" y="3417950"/>
            <a:ext cx="314325" cy="314325"/>
          </a:xfrm>
          <a:prstGeom prst="roundRect">
            <a:avLst>
              <a:gd name="adj" fmla="val 30303"/>
            </a:avLst>
          </a:prstGeom>
          <a:solidFill>
            <a:srgbClr val="F2ECDD"/>
          </a:solidFill>
          <a:ln/>
        </p:spPr>
        <p:txBody>
          <a:bodyPr wrap="square" rtlCol="0" anchor="ctr"/>
          <a:lstStyle/>
          <a:p>
            <a:pPr indent="0" marL="0">
              <a:buNone/>
            </a:pPr>
            <a:endParaRPr lang="en-US" dirty="0"/>
          </a:p>
        </p:txBody>
      </p:sp>
      <p:sp>
        <p:nvSpPr>
          <p:cNvPr id="25" name="Text 23"/>
          <p:cNvSpPr/>
          <p:nvPr/>
        </p:nvSpPr>
        <p:spPr>
          <a:xfrm>
            <a:off x="4830247" y="3440452"/>
            <a:ext cx="269319" cy="269319"/>
          </a:xfrm>
          <a:prstGeom prst="rect">
            <a:avLst/>
          </a:prstGeom>
          <a:noFill/>
          <a:ln/>
        </p:spPr>
        <p:txBody>
          <a:bodyPr wrap="none" lIns="0" tIns="0" rIns="0" bIns="0" rtlCol="0" anchor="ctr"/>
          <a:lstStyle/>
          <a:p>
            <a:pPr algn="ctr" indent="0" marL="0">
              <a:buNone/>
            </a:pPr>
            <a:r>
              <a:rPr lang="en-US" sz="1828" dirty="0">
                <a:solidFill>
                  <a:srgbClr val="9A6E1E"/>
                </a:solidFill>
                <a:latin typeface="Segoe UI Symbol" pitchFamily="34" charset="0"/>
                <a:ea typeface="Segoe UI Symbol" pitchFamily="34" charset="-122"/>
                <a:cs typeface="Segoe UI Symbol" pitchFamily="34" charset="-120"/>
              </a:rPr>
              <a:t>↘</a:t>
            </a:r>
            <a:endParaRPr lang="en-US" sz="1828" dirty="0"/>
          </a:p>
        </p:txBody>
      </p:sp>
      <p:sp>
        <p:nvSpPr>
          <p:cNvPr id="26" name="Text 24"/>
          <p:cNvSpPr/>
          <p:nvPr/>
        </p:nvSpPr>
        <p:spPr>
          <a:xfrm>
            <a:off x="5207794" y="3425428"/>
            <a:ext cx="922203" cy="91440"/>
          </a:xfrm>
          <a:prstGeom prst="rect">
            <a:avLst/>
          </a:prstGeom>
          <a:noFill/>
          <a:ln/>
        </p:spPr>
        <p:txBody>
          <a:bodyPr wrap="none" lIns="0" tIns="0" rIns="0" bIns="0" rtlCol="0" anchor="t">
            <a:normAutofit/>
          </a:bodyPr>
          <a:lstStyle/>
          <a:p>
            <a:pPr algn="l" indent="0" marL="0">
              <a:lnSpc>
                <a:spcPts val="872"/>
              </a:lnSpc>
              <a:buNone/>
            </a:pPr>
            <a:r>
              <a:rPr lang="en-US" sz="800" b="1" spc="90" kern="0" dirty="0">
                <a:solidFill>
                  <a:srgbClr val="9A6E1E"/>
                </a:solidFill>
                <a:latin typeface="Carlito" pitchFamily="34" charset="0"/>
                <a:ea typeface="Carlito" pitchFamily="34" charset="-122"/>
                <a:cs typeface="Carlito" pitchFamily="34" charset="-120"/>
              </a:rPr>
              <a:t>স্টেকহোল্ডার · ০৪</a:t>
            </a:r>
            <a:endParaRPr lang="en-US" sz="800" dirty="0"/>
          </a:p>
        </p:txBody>
      </p:sp>
      <p:sp>
        <p:nvSpPr>
          <p:cNvPr id="27" name="Text 25"/>
          <p:cNvSpPr/>
          <p:nvPr/>
        </p:nvSpPr>
        <p:spPr>
          <a:xfrm>
            <a:off x="5207794" y="3536156"/>
            <a:ext cx="841434" cy="203610"/>
          </a:xfrm>
          <a:prstGeom prst="rect">
            <a:avLst/>
          </a:prstGeom>
          <a:noFill/>
          <a:ln/>
        </p:spPr>
        <p:txBody>
          <a:bodyPr wrap="square" lIns="0" tIns="0" rIns="0" bIns="0" rtlCol="0" anchor="t"/>
          <a:lstStyle/>
          <a:p>
            <a:pPr algn="l" indent="0" marL="0">
              <a:lnSpc>
                <a:spcPts val="1485"/>
              </a:lnSpc>
              <a:buNone/>
            </a:pPr>
            <a:r>
              <a:rPr lang="en-US" sz="1238" b="1" dirty="0">
                <a:solidFill>
                  <a:srgbClr val="14342A"/>
                </a:solidFill>
                <a:latin typeface="Tinos" pitchFamily="34" charset="0"/>
                <a:ea typeface="Tinos" pitchFamily="34" charset="-122"/>
                <a:cs typeface="Tinos" pitchFamily="34" charset="-120"/>
              </a:rPr>
              <a:t>অর্থনীতির ক্ষতি</a:t>
            </a:r>
            <a:endParaRPr lang="en-US" sz="1238" dirty="0"/>
          </a:p>
        </p:txBody>
      </p:sp>
      <p:sp>
        <p:nvSpPr>
          <p:cNvPr id="28" name="Text 26"/>
          <p:cNvSpPr/>
          <p:nvPr/>
        </p:nvSpPr>
        <p:spPr>
          <a:xfrm>
            <a:off x="4807744" y="3803712"/>
            <a:ext cx="3757613" cy="357795"/>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রপ্তানি বাজারে বাংলাদেশের খ্যাতি ক্ষুণ্ন হয়। বিদেশি ক্রেতারা ক্রমান্বয়ে সন্দেহ প্রকাশ করে। দেশীয় বাজারে ভোক্তার অবিশ্বাস বাড়ে। পর্যটন ও খাদ্য শিল্পে বহুমুখী প্রভাব পড়ে।</a:t>
            </a:r>
            <a:endParaRPr lang="en-US" sz="816" dirty="0"/>
          </a:p>
        </p:txBody>
      </p:sp>
      <p:pic>
        <p:nvPicPr>
          <p:cNvPr id="29" name="Image 0" descr="preencoded.png">    </p:cNvPr>
          <p:cNvPicPr>
            <a:picLocks noChangeAspect="1"/>
          </p:cNvPicPr>
          <p:nvPr/>
        </p:nvPicPr>
        <p:blipFill>
          <a:blip r:embed="rId1"/>
          <a:stretch>
            <a:fillRect/>
          </a:stretch>
        </p:blipFill>
        <p:spPr>
          <a:xfrm>
            <a:off x="0" y="5100638"/>
            <a:ext cx="9144000" cy="42863"/>
          </a:xfrm>
          <a:prstGeom prst="rect">
            <a:avLst/>
          </a:prstGeom>
        </p:spPr>
      </p:pic>
      <p:sp>
        <p:nvSpPr>
          <p:cNvPr id="30" name="Text 27"/>
          <p:cNvSpPr/>
          <p:nvPr/>
        </p:nvSpPr>
        <p:spPr>
          <a:xfrm>
            <a:off x="8694725" y="4706392"/>
            <a:ext cx="30736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০৪</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57200" y="400050"/>
            <a:ext cx="6129338"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০১ · সংকটের প্রেক্ষাপট</a:t>
            </a:r>
            <a:endParaRPr lang="en-US" sz="1350" dirty="0"/>
          </a:p>
        </p:txBody>
      </p:sp>
      <p:sp>
        <p:nvSpPr>
          <p:cNvPr id="3" name="Text 1"/>
          <p:cNvSpPr/>
          <p:nvPr/>
        </p:nvSpPr>
        <p:spPr>
          <a:xfrm>
            <a:off x="457200" y="780008"/>
            <a:ext cx="4286250" cy="1019619"/>
          </a:xfrm>
          <a:prstGeom prst="rect">
            <a:avLst/>
          </a:prstGeom>
          <a:noFill/>
          <a:ln/>
        </p:spPr>
        <p:txBody>
          <a:bodyPr wrap="square" lIns="0" tIns="0" rIns="0" bIns="0" rtlCol="0" anchor="t"/>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বাংলাদেশ প্রেক্ষাপটে ভেজালের ব্যাপকতা</a:t>
            </a:r>
            <a:endParaRPr lang="en-US" sz="3150" dirty="0"/>
          </a:p>
        </p:txBody>
      </p:sp>
      <p:sp>
        <p:nvSpPr>
          <p:cNvPr id="4" name="Shape 2"/>
          <p:cNvSpPr/>
          <p:nvPr/>
        </p:nvSpPr>
        <p:spPr>
          <a:xfrm>
            <a:off x="457200" y="1877690"/>
            <a:ext cx="400050" cy="0"/>
          </a:xfrm>
          <a:prstGeom prst="line">
            <a:avLst/>
          </a:prstGeom>
          <a:noFill/>
          <a:ln w="7144">
            <a:solidFill>
              <a:srgbClr val="1A1A1A"/>
            </a:solidFill>
            <a:prstDash val="solid"/>
          </a:ln>
        </p:spPr>
        <p:txBody>
          <a:bodyPr/>
          <a:p/>
        </p:txBody>
      </p:sp>
      <p:sp>
        <p:nvSpPr>
          <p:cNvPr id="5" name="Text 3"/>
          <p:cNvSpPr/>
          <p:nvPr/>
        </p:nvSpPr>
        <p:spPr>
          <a:xfrm>
            <a:off x="457200" y="2059856"/>
            <a:ext cx="4286250" cy="406497"/>
          </a:xfrm>
          <a:prstGeom prst="rect">
            <a:avLst/>
          </a:prstGeom>
          <a:noFill/>
          <a:ln/>
        </p:spPr>
        <p:txBody>
          <a:bodyPr wrap="square" lIns="0" tIns="0" rIns="0" bIns="0" rtlCol="0" anchor="t"/>
          <a:lstStyle/>
          <a:p>
            <a:pPr algn="l" indent="0" marL="0">
              <a:lnSpc>
                <a:spcPts val="1482"/>
              </a:lnSpc>
              <a:buNone/>
            </a:pPr>
            <a:r>
              <a:rPr lang="en-US" sz="872" dirty="0">
                <a:solidFill>
                  <a:srgbClr val="1A1A1A"/>
                </a:solidFill>
                <a:latin typeface="Carlito" pitchFamily="34" charset="0"/>
                <a:ea typeface="Carlito" pitchFamily="34" charset="-122"/>
                <a:cs typeface="Carlito" pitchFamily="34" charset="-120"/>
              </a:rPr>
              <a:t>বাংলাদেশের ৬৪ জেলার মধ্যে সীমান্তবর্তী ৩২ জেলায় ভেজাল বালাইনাশকের প্রবেশ সবচেয়ে বেশি। চট্টগ্রাম, যশোর, রাজশাহী, ও দিনাজপুর অঞ্চলে গবেষণায় দেখা গেছে — পরীক্ষিত নমুনার ১৮% অনুমোদিত মান পূরণ করে না।</a:t>
            </a:r>
            <a:endParaRPr lang="en-US" sz="872" dirty="0"/>
          </a:p>
        </p:txBody>
      </p:sp>
      <p:sp>
        <p:nvSpPr>
          <p:cNvPr id="6" name="Text 4"/>
          <p:cNvSpPr/>
          <p:nvPr/>
        </p:nvSpPr>
        <p:spPr>
          <a:xfrm>
            <a:off x="457200" y="2550542"/>
            <a:ext cx="4286250" cy="406497"/>
          </a:xfrm>
          <a:prstGeom prst="rect">
            <a:avLst/>
          </a:prstGeom>
          <a:noFill/>
          <a:ln/>
        </p:spPr>
        <p:txBody>
          <a:bodyPr wrap="square" lIns="0" tIns="0" rIns="0" bIns="0" rtlCol="0" anchor="t"/>
          <a:lstStyle/>
          <a:p>
            <a:pPr algn="l" indent="0" marL="0">
              <a:lnSpc>
                <a:spcPts val="1482"/>
              </a:lnSpc>
              <a:buNone/>
            </a:pPr>
            <a:r>
              <a:rPr lang="en-US" sz="872" dirty="0">
                <a:solidFill>
                  <a:srgbClr val="1A1A1A"/>
                </a:solidFill>
                <a:latin typeface="Carlito" pitchFamily="34" charset="0"/>
                <a:ea typeface="Carlito" pitchFamily="34" charset="-122"/>
                <a:cs typeface="Carlito" pitchFamily="34" charset="-120"/>
              </a:rPr>
              <a:t>প্রধান চ্যানেল: পার্শ্ববর্তী দেশ থেকে পাচার, অননুমোদিত স্থানীয় উৎপাদন, এবং পুনঃপ্যাকেজিংকৃত মেয়াদোত্তীর্ণ পণ্য। নদীপথে ও অনির্ধারিত স্থলপথে প্রবেশ বেশি। কৃষকের জ্ঞান সীমিত হওয়ায় শনাক্তকরণ কঠিন।</a:t>
            </a:r>
            <a:endParaRPr lang="en-US" sz="872" dirty="0"/>
          </a:p>
        </p:txBody>
      </p:sp>
      <p:sp>
        <p:nvSpPr>
          <p:cNvPr id="7" name="Text 5"/>
          <p:cNvSpPr/>
          <p:nvPr/>
        </p:nvSpPr>
        <p:spPr>
          <a:xfrm>
            <a:off x="457200" y="3071289"/>
            <a:ext cx="772306" cy="258445"/>
          </a:xfrm>
          <a:prstGeom prst="roundRect">
            <a:avLst>
              <a:gd name="adj" fmla="val 3681818"/>
            </a:avLst>
          </a:prstGeom>
          <a:solidFill>
            <a:srgbClr val="F2ECDD"/>
          </a:solidFill>
          <a:ln w="7144">
            <a:solidFill>
              <a:srgbClr val="D9D2BF"/>
            </a:solidFill>
            <a:prstDash val="solid"/>
          </a:ln>
        </p:spPr>
        <p:txBody>
          <a:bodyPr wrap="square" rtlCol="0" anchor="ctr"/>
          <a:lstStyle/>
          <a:p>
            <a:pPr indent="0" marL="0">
              <a:buNone/>
            </a:pPr>
            <a:endParaRPr lang="en-US" dirty="0"/>
          </a:p>
        </p:txBody>
      </p:sp>
      <p:sp>
        <p:nvSpPr>
          <p:cNvPr id="8" name="Text 6"/>
          <p:cNvSpPr/>
          <p:nvPr/>
        </p:nvSpPr>
        <p:spPr>
          <a:xfrm>
            <a:off x="457200" y="3084091"/>
            <a:ext cx="808025" cy="298037"/>
          </a:xfrm>
          <a:prstGeom prst="rect">
            <a:avLst/>
          </a:prstGeom>
          <a:noFill/>
          <a:ln/>
        </p:spPr>
        <p:txBody>
          <a:bodyPr wrap="none" lIns="0" tIns="0" rIns="0" bIns="0" rtlCol="0" anchor="t"/>
          <a:lstStyle/>
          <a:p>
            <a:pPr algn="l" indent="0" marL="0">
              <a:lnSpc>
                <a:spcPts val="1046"/>
              </a:lnSpc>
              <a:buNone/>
            </a:pPr>
            <a:r>
              <a:rPr lang="en-US" sz="675" b="1" spc="27" kern="0" dirty="0">
                <a:solidFill>
                  <a:srgbClr val="9A6E1E"/>
                </a:solidFill>
                <a:latin typeface="Carlito" pitchFamily="34" charset="0"/>
                <a:ea typeface="Carlito" pitchFamily="34" charset="-122"/>
                <a:cs typeface="Carlito" pitchFamily="34" charset="-120"/>
              </a:rPr>
              <a:t>সীমান্ত</a:t>
            </a:r>
            <a:pPr algn="l" indent="0" marL="0">
              <a:lnSpc>
                <a:spcPts val="1046"/>
              </a:lnSpc>
              <a:buNone/>
            </a:pPr>
            <a:r>
              <a:rPr lang="en-US" sz="675" spc="27" kern="0" dirty="0">
                <a:solidFill>
                  <a:srgbClr val="1E4D3B"/>
                </a:solidFill>
                <a:latin typeface="Carlito" pitchFamily="34" charset="0"/>
                <a:ea typeface="Carlito" pitchFamily="34" charset="-122"/>
                <a:cs typeface="Carlito" pitchFamily="34" charset="-120"/>
              </a:rPr>
              <a:t> · ৩২ জেলা</a:t>
            </a:r>
            <a:endParaRPr lang="en-US" sz="675" dirty="0"/>
          </a:p>
        </p:txBody>
      </p:sp>
      <p:sp>
        <p:nvSpPr>
          <p:cNvPr id="9" name="Text 7"/>
          <p:cNvSpPr/>
          <p:nvPr/>
        </p:nvSpPr>
        <p:spPr>
          <a:xfrm>
            <a:off x="1300944" y="3071289"/>
            <a:ext cx="751991" cy="258445"/>
          </a:xfrm>
          <a:prstGeom prst="roundRect">
            <a:avLst>
              <a:gd name="adj" fmla="val 3681818"/>
            </a:avLst>
          </a:prstGeom>
          <a:solidFill>
            <a:srgbClr val="F2ECDD"/>
          </a:solidFill>
          <a:ln w="7144">
            <a:solidFill>
              <a:srgbClr val="D9D2BF"/>
            </a:solidFill>
            <a:prstDash val="solid"/>
          </a:ln>
        </p:spPr>
        <p:txBody>
          <a:bodyPr wrap="square" rtlCol="0" anchor="ctr"/>
          <a:lstStyle/>
          <a:p>
            <a:pPr indent="0" marL="0">
              <a:buNone/>
            </a:pPr>
            <a:endParaRPr lang="en-US" dirty="0"/>
          </a:p>
        </p:txBody>
      </p:sp>
      <p:sp>
        <p:nvSpPr>
          <p:cNvPr id="10" name="Text 8"/>
          <p:cNvSpPr/>
          <p:nvPr/>
        </p:nvSpPr>
        <p:spPr>
          <a:xfrm>
            <a:off x="1300944" y="3084091"/>
            <a:ext cx="787710" cy="298037"/>
          </a:xfrm>
          <a:prstGeom prst="rect">
            <a:avLst/>
          </a:prstGeom>
          <a:noFill/>
          <a:ln/>
        </p:spPr>
        <p:txBody>
          <a:bodyPr wrap="none" lIns="0" tIns="0" rIns="0" bIns="0" rtlCol="0" anchor="t"/>
          <a:lstStyle/>
          <a:p>
            <a:pPr algn="l" indent="0" marL="0">
              <a:lnSpc>
                <a:spcPts val="1046"/>
              </a:lnSpc>
              <a:buNone/>
            </a:pPr>
            <a:r>
              <a:rPr lang="en-US" sz="675" b="1" spc="27" kern="0" dirty="0">
                <a:solidFill>
                  <a:srgbClr val="B23A2A"/>
                </a:solidFill>
                <a:latin typeface="Carlito" pitchFamily="34" charset="0"/>
                <a:ea typeface="Carlito" pitchFamily="34" charset="-122"/>
                <a:cs typeface="Carlito" pitchFamily="34" charset="-120"/>
              </a:rPr>
              <a:t>নমুনা ব্যর্থ</a:t>
            </a:r>
            <a:pPr algn="l" indent="0" marL="0">
              <a:lnSpc>
                <a:spcPts val="1046"/>
              </a:lnSpc>
              <a:buNone/>
            </a:pPr>
            <a:r>
              <a:rPr lang="en-US" sz="675" spc="27" kern="0" dirty="0">
                <a:solidFill>
                  <a:srgbClr val="1E4D3B"/>
                </a:solidFill>
                <a:latin typeface="Carlito" pitchFamily="34" charset="0"/>
                <a:ea typeface="Carlito" pitchFamily="34" charset="-122"/>
                <a:cs typeface="Carlito" pitchFamily="34" charset="-120"/>
              </a:rPr>
              <a:t> · ১৮%</a:t>
            </a:r>
            <a:endParaRPr lang="en-US" sz="675" dirty="0"/>
          </a:p>
        </p:txBody>
      </p:sp>
      <p:sp>
        <p:nvSpPr>
          <p:cNvPr id="11" name="Text 9"/>
          <p:cNvSpPr/>
          <p:nvPr/>
        </p:nvSpPr>
        <p:spPr>
          <a:xfrm>
            <a:off x="2124373" y="3071289"/>
            <a:ext cx="807690" cy="258445"/>
          </a:xfrm>
          <a:prstGeom prst="roundRect">
            <a:avLst>
              <a:gd name="adj" fmla="val 3681818"/>
            </a:avLst>
          </a:prstGeom>
          <a:solidFill>
            <a:srgbClr val="F2ECDD"/>
          </a:solidFill>
          <a:ln w="7144">
            <a:solidFill>
              <a:srgbClr val="D9D2BF"/>
            </a:solidFill>
            <a:prstDash val="solid"/>
          </a:ln>
        </p:spPr>
        <p:txBody>
          <a:bodyPr wrap="square" rtlCol="0" anchor="ctr"/>
          <a:lstStyle/>
          <a:p>
            <a:pPr indent="0" marL="0">
              <a:buNone/>
            </a:pPr>
            <a:endParaRPr lang="en-US" dirty="0"/>
          </a:p>
        </p:txBody>
      </p:sp>
      <p:sp>
        <p:nvSpPr>
          <p:cNvPr id="12" name="Text 10"/>
          <p:cNvSpPr/>
          <p:nvPr/>
        </p:nvSpPr>
        <p:spPr>
          <a:xfrm>
            <a:off x="2124373" y="3084091"/>
            <a:ext cx="2619077" cy="298037"/>
          </a:xfrm>
          <a:prstGeom prst="rect">
            <a:avLst/>
          </a:prstGeom>
          <a:noFill/>
          <a:ln/>
        </p:spPr>
        <p:txBody>
          <a:bodyPr wrap="none" lIns="0" tIns="0" rIns="0" bIns="0" rtlCol="0" anchor="t"/>
          <a:lstStyle/>
          <a:p>
            <a:pPr algn="l" indent="0" marL="0">
              <a:lnSpc>
                <a:spcPts val="1046"/>
              </a:lnSpc>
              <a:buNone/>
            </a:pPr>
            <a:r>
              <a:rPr lang="en-US" sz="800" b="1" spc="27" kern="0" dirty="0">
                <a:solidFill>
                  <a:srgbClr val="1E4D3B"/>
                </a:solidFill>
                <a:latin typeface="Carlito" pitchFamily="34" charset="0"/>
                <a:ea typeface="Carlito" pitchFamily="34" charset="-122"/>
                <a:cs typeface="Carlito" pitchFamily="34" charset="-120"/>
              </a:rPr>
              <a:t>চ্যানেল</a:t>
            </a:r>
            <a:pPr algn="l" indent="0" marL="0">
              <a:lnSpc>
                <a:spcPts val="1046"/>
              </a:lnSpc>
              <a:buNone/>
            </a:pPr>
            <a:r>
              <a:rPr lang="en-US" sz="800" spc="27" kern="0" dirty="0">
                <a:solidFill>
                  <a:srgbClr val="1E4D3B"/>
                </a:solidFill>
                <a:latin typeface="Carlito" pitchFamily="34" charset="0"/>
                <a:ea typeface="Carlito" pitchFamily="34" charset="-122"/>
                <a:cs typeface="Carlito" pitchFamily="34" charset="-120"/>
              </a:rPr>
              <a:t> · ৩টি প্রধান</a:t>
            </a:r>
            <a:endParaRPr lang="en-US" sz="800" dirty="0"/>
          </a:p>
        </p:txBody>
      </p:sp>
      <p:pic>
        <p:nvPicPr>
          <p:cNvPr id="13" name="Image 0" descr="/tmp/h2p-fit-1789050398793-dnci2c.png">    </p:cNvPr>
          <p:cNvPicPr>
            <a:picLocks noChangeAspect="1"/>
          </p:cNvPicPr>
          <p:nvPr/>
        </p:nvPicPr>
        <p:blipFill>
          <a:blip r:embed="rId1"/>
          <a:stretch>
            <a:fillRect/>
          </a:stretch>
        </p:blipFill>
        <p:spPr>
          <a:xfrm>
            <a:off x="5200650" y="628650"/>
            <a:ext cx="3486150" cy="3857625"/>
          </a:xfrm>
          <a:prstGeom prst="rect">
            <a:avLst/>
          </a:prstGeom>
        </p:spPr>
      </p:pic>
      <p:pic>
        <p:nvPicPr>
          <p:cNvPr id="14" name="Image 1" descr="preencoded.png">    </p:cNvPr>
          <p:cNvPicPr>
            <a:picLocks noChangeAspect="1"/>
          </p:cNvPicPr>
          <p:nvPr/>
        </p:nvPicPr>
        <p:blipFill>
          <a:blip r:embed="rId2"/>
          <a:stretch>
            <a:fillRect/>
          </a:stretch>
        </p:blipFill>
        <p:spPr>
          <a:xfrm>
            <a:off x="0" y="5100638"/>
            <a:ext cx="9144000" cy="42863"/>
          </a:xfrm>
          <a:prstGeom prst="rect">
            <a:avLst/>
          </a:prstGeom>
        </p:spPr>
      </p:pic>
      <p:sp>
        <p:nvSpPr>
          <p:cNvPr id="15" name="Text 11"/>
          <p:cNvSpPr/>
          <p:nvPr/>
        </p:nvSpPr>
        <p:spPr>
          <a:xfrm>
            <a:off x="8694725" y="4706392"/>
            <a:ext cx="30736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০৫</a:t>
            </a:r>
            <a:endParaRPr lang="en-US" sz="1350" dirty="0"/>
          </a:p>
        </p:txBody>
      </p:sp>
      <p:sp>
        <p:nvSpPr>
          <p:cNvPr id="16" name="Text 12"/>
          <p:cNvSpPr/>
          <p:nvPr/>
        </p:nvSpPr>
        <p:spPr>
          <a:xfrm>
            <a:off x="5329238" y="4242048"/>
            <a:ext cx="3467290" cy="153514"/>
          </a:xfrm>
          <a:prstGeom prst="rect">
            <a:avLst/>
          </a:prstGeom>
          <a:noFill/>
          <a:ln/>
        </p:spPr>
        <p:txBody>
          <a:bodyPr wrap="square" lIns="0" tIns="0" rIns="0" bIns="0" rtlCol="0" anchor="t"/>
          <a:lstStyle/>
          <a:p>
            <a:pPr algn="l" indent="0" marL="0">
              <a:lnSpc>
                <a:spcPts val="1024"/>
              </a:lnSpc>
              <a:buNone/>
            </a:pPr>
            <a:r>
              <a:rPr lang="en-US" sz="800" i="1" dirty="0">
                <a:solidFill>
                  <a:srgbClr val="FAF6EE"/>
                </a:solidFill>
                <a:latin typeface="Carlito" pitchFamily="34" charset="0"/>
                <a:ea typeface="Carlito" pitchFamily="34" charset="-122"/>
                <a:cs typeface="Carlito" pitchFamily="34" charset="-120"/>
              </a:rPr>
              <a:t>ভেজাল বালাইনাশকের ফলাফল — বিনষ্ট ফসল</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8000"/>
          </a:blip>
          <a:stretch>
            <a:fillRect/>
          </a:stretch>
        </p:blipFill>
        <p:spPr>
          <a:xfrm>
            <a:off x="7000875" y="0"/>
            <a:ext cx="2143125" cy="5143500"/>
          </a:xfrm>
          <a:prstGeom prst="rect">
            <a:avLst/>
          </a:prstGeom>
        </p:spPr>
      </p:pic>
      <p:sp>
        <p:nvSpPr>
          <p:cNvPr id="3" name="Text 0"/>
          <p:cNvSpPr/>
          <p:nvPr/>
        </p:nvSpPr>
        <p:spPr>
          <a:xfrm>
            <a:off x="571500" y="1679116"/>
            <a:ext cx="5309358" cy="1558481"/>
          </a:xfrm>
          <a:prstGeom prst="rect">
            <a:avLst/>
          </a:prstGeom>
          <a:noFill/>
          <a:ln/>
          <a:effectLst>
            <a:outerShdw sx="100000" sy="100000" kx="0" ky="0" algn="bl" rotWithShape="0" blurRad="101600" dist="53882" dir="2700000">
              <a:srgbClr val="E0B659">
                <a:alpha val="50000"/>
              </a:srgbClr>
            </a:outerShdw>
          </a:effectLst>
        </p:spPr>
        <p:txBody>
          <a:bodyPr wrap="none" lIns="0" tIns="0" rIns="0" bIns="0" rtlCol="0" anchor="t">
            <a:normAutofit/>
          </a:bodyPr>
          <a:lstStyle/>
          <a:p>
            <a:pPr algn="l" indent="0" marL="0">
              <a:lnSpc>
                <a:spcPts val="11475"/>
              </a:lnSpc>
              <a:buNone/>
            </a:pPr>
            <a:r>
              <a:rPr lang="en-US" sz="13500" b="1" spc="-540" kern="0" dirty="0">
                <a:solidFill>
                  <a:srgbClr val="1E4D3B"/>
                </a:solidFill>
                <a:latin typeface="Carlito" pitchFamily="34" charset="0"/>
                <a:ea typeface="Carlito" pitchFamily="34" charset="-122"/>
                <a:cs typeface="Carlito" pitchFamily="34" charset="-120"/>
              </a:rPr>
              <a:t>০২</a:t>
            </a:r>
            <a:endParaRPr lang="en-US" sz="13500" dirty="0"/>
          </a:p>
        </p:txBody>
      </p:sp>
      <p:sp>
        <p:nvSpPr>
          <p:cNvPr id="4" name="Text 1"/>
          <p:cNvSpPr/>
          <p:nvPr/>
        </p:nvSpPr>
        <p:spPr>
          <a:xfrm>
            <a:off x="571500" y="3265029"/>
            <a:ext cx="4207162" cy="215183"/>
          </a:xfrm>
          <a:prstGeom prst="rect">
            <a:avLst/>
          </a:prstGeom>
          <a:noFill/>
          <a:ln/>
        </p:spPr>
        <p:txBody>
          <a:bodyPr wrap="none" lIns="0" tIns="0" rIns="0" bIns="0" rtlCol="0" anchor="t"/>
          <a:lstStyle/>
          <a:p>
            <a:pPr algn="l" indent="0" marL="0">
              <a:lnSpc>
                <a:spcPts val="1569"/>
              </a:lnSpc>
              <a:buNone/>
            </a:pPr>
            <a:r>
              <a:rPr lang="en-US" sz="1013" b="1" spc="81" kern="0" dirty="0">
                <a:solidFill>
                  <a:srgbClr val="9A6E1E"/>
                </a:solidFill>
                <a:latin typeface="Carlito" pitchFamily="34" charset="0"/>
                <a:ea typeface="Carlito" pitchFamily="34" charset="-122"/>
                <a:cs typeface="Carlito" pitchFamily="34" charset="-120"/>
              </a:rPr>
              <a:t>/</a:t>
            </a:r>
            <a:pPr algn="l" indent="0" marL="0">
              <a:lnSpc>
                <a:spcPts val="1569"/>
              </a:lnSpc>
              <a:buNone/>
            </a:pPr>
            <a:r>
              <a:rPr lang="en-US" sz="1013" spc="81" kern="0" dirty="0">
                <a:solidFill>
                  <a:srgbClr val="6B6B6B"/>
                </a:solidFill>
                <a:latin typeface="Carlito" pitchFamily="34" charset="0"/>
                <a:ea typeface="Carlito" pitchFamily="34" charset="-122"/>
                <a:cs typeface="Carlito" pitchFamily="34" charset="-120"/>
              </a:rPr>
              <a:t> ০৭ অধ্যায়</a:t>
            </a:r>
            <a:endParaRPr lang="en-US" sz="1013" dirty="0"/>
          </a:p>
        </p:txBody>
      </p:sp>
      <p:sp>
        <p:nvSpPr>
          <p:cNvPr id="5" name="Shape 2"/>
          <p:cNvSpPr/>
          <p:nvPr/>
        </p:nvSpPr>
        <p:spPr>
          <a:xfrm>
            <a:off x="4389053" y="2526767"/>
            <a:ext cx="400050" cy="0"/>
          </a:xfrm>
          <a:prstGeom prst="line">
            <a:avLst/>
          </a:prstGeom>
          <a:noFill/>
          <a:ln w="7144">
            <a:solidFill>
              <a:srgbClr val="1A1A1A"/>
            </a:solidFill>
            <a:prstDash val="solid"/>
          </a:ln>
        </p:spPr>
        <p:txBody>
          <a:bodyPr/>
          <a:p/>
        </p:txBody>
      </p:sp>
      <p:pic>
        <p:nvPicPr>
          <p:cNvPr id="6" name="Image 1" descr="preencoded.png">    </p:cNvPr>
          <p:cNvPicPr>
            <a:picLocks noChangeAspect="1"/>
          </p:cNvPicPr>
          <p:nvPr/>
        </p:nvPicPr>
        <p:blipFill>
          <a:blip r:embed="rId2"/>
          <a:stretch>
            <a:fillRect/>
          </a:stretch>
        </p:blipFill>
        <p:spPr>
          <a:xfrm>
            <a:off x="0" y="5100638"/>
            <a:ext cx="9144000" cy="42863"/>
          </a:xfrm>
          <a:prstGeom prst="rect">
            <a:avLst/>
          </a:prstGeom>
        </p:spPr>
      </p:pic>
      <p:sp>
        <p:nvSpPr>
          <p:cNvPr id="7" name="Text 3"/>
          <p:cNvSpPr/>
          <p:nvPr/>
        </p:nvSpPr>
        <p:spPr>
          <a:xfrm>
            <a:off x="8694725" y="4706392"/>
            <a:ext cx="30736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০৬</a:t>
            </a:r>
            <a:endParaRPr lang="en-US" sz="1350" dirty="0"/>
          </a:p>
        </p:txBody>
      </p:sp>
      <p:sp>
        <p:nvSpPr>
          <p:cNvPr id="8" name="Text 4"/>
          <p:cNvSpPr/>
          <p:nvPr/>
        </p:nvSpPr>
        <p:spPr>
          <a:xfrm>
            <a:off x="4389053" y="1513247"/>
            <a:ext cx="2014700"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অধ্যায় · বিজ্ঞান</a:t>
            </a:r>
            <a:endParaRPr lang="en-US" sz="1350" dirty="0"/>
          </a:p>
        </p:txBody>
      </p:sp>
      <p:sp>
        <p:nvSpPr>
          <p:cNvPr id="9" name="Text 5"/>
          <p:cNvSpPr/>
          <p:nvPr/>
        </p:nvSpPr>
        <p:spPr>
          <a:xfrm>
            <a:off x="4389053" y="1893205"/>
            <a:ext cx="4754947" cy="518368"/>
          </a:xfrm>
          <a:prstGeom prst="rect">
            <a:avLst/>
          </a:prstGeom>
          <a:noFill/>
          <a:ln/>
        </p:spPr>
        <p:txBody>
          <a:bodyPr wrap="square" lIns="0" tIns="0" rIns="0" bIns="0" rtlCol="0" anchor="t"/>
          <a:lstStyle/>
          <a:p>
            <a:pPr algn="l" indent="0" marL="0">
              <a:lnSpc>
                <a:spcPts val="3780"/>
              </a:lnSpc>
              <a:buNone/>
            </a:pPr>
            <a:r>
              <a:rPr lang="en-US" sz="3375" b="1" spc="-34" kern="0" dirty="0">
                <a:solidFill>
                  <a:srgbClr val="14342A"/>
                </a:solidFill>
                <a:latin typeface="Tinos" pitchFamily="34" charset="0"/>
                <a:ea typeface="Tinos" pitchFamily="34" charset="-122"/>
                <a:cs typeface="Tinos" pitchFamily="34" charset="-120"/>
              </a:rPr>
              <a:t>ভেজাল বালাইনাশক চেনার বিজ্ঞান</a:t>
            </a:r>
            <a:endParaRPr lang="en-US" sz="3375" dirty="0"/>
          </a:p>
        </p:txBody>
      </p:sp>
      <p:sp>
        <p:nvSpPr>
          <p:cNvPr id="10" name="Text 6"/>
          <p:cNvSpPr/>
          <p:nvPr/>
        </p:nvSpPr>
        <p:spPr>
          <a:xfrm>
            <a:off x="4389053" y="2680357"/>
            <a:ext cx="3857625" cy="472077"/>
          </a:xfrm>
          <a:prstGeom prst="rect">
            <a:avLst/>
          </a:prstGeom>
          <a:noFill/>
          <a:ln/>
        </p:spPr>
        <p:txBody>
          <a:bodyPr wrap="square" lIns="0" tIns="0" rIns="0" bIns="0" rtlCol="0" anchor="t"/>
          <a:lstStyle/>
          <a:p>
            <a:pPr algn="l" indent="0" marL="0">
              <a:lnSpc>
                <a:spcPts val="1721"/>
              </a:lnSpc>
              <a:buNone/>
            </a:pPr>
            <a:r>
              <a:rPr lang="en-US" sz="1013" dirty="0">
                <a:solidFill>
                  <a:srgbClr val="1A1A1A"/>
                </a:solidFill>
                <a:latin typeface="Carlito" pitchFamily="34" charset="0"/>
                <a:ea typeface="Carlito" pitchFamily="34" charset="-122"/>
                <a:cs typeface="Carlito" pitchFamily="34" charset="-120"/>
              </a:rPr>
              <a:t>WHO ও FAO-এর সংজ্ঞা, ভেজালের পাঁচটি শ্রেণি, এবং আসল বনাম ভেজাল পণ্যের প্যাকেজিং, লেবেল, সিল, ও রাসায়নিক বৈশিষ্ট্যের তুলনা — এই অধ্যায়ে বিস্তারিত আলোচনা।</a:t>
            </a:r>
            <a:endParaRPr lang="en-US" sz="1013" dirty="0"/>
          </a:p>
        </p:txBody>
      </p:sp>
      <p:sp>
        <p:nvSpPr>
          <p:cNvPr id="11" name="Text 7"/>
          <p:cNvSpPr/>
          <p:nvPr/>
        </p:nvSpPr>
        <p:spPr>
          <a:xfrm>
            <a:off x="4392625" y="3321062"/>
            <a:ext cx="1099356" cy="437108"/>
          </a:xfrm>
          <a:prstGeom prst="roundRect">
            <a:avLst>
              <a:gd name="adj" fmla="val 21791"/>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2" name="Text 8"/>
          <p:cNvSpPr/>
          <p:nvPr/>
        </p:nvSpPr>
        <p:spPr>
          <a:xfrm>
            <a:off x="4496209" y="3556025"/>
            <a:ext cx="1035062" cy="128016"/>
          </a:xfrm>
          <a:prstGeom prst="rect">
            <a:avLst/>
          </a:prstGeom>
          <a:noFill/>
          <a:ln/>
        </p:spPr>
        <p:txBody>
          <a:bodyPr wrap="square" lIns="0" tIns="0" rIns="0" bIns="0" rtlCol="0" anchor="t"/>
          <a:lstStyle/>
          <a:p>
            <a:pPr algn="l" indent="0" marL="0">
              <a:lnSpc>
                <a:spcPts val="945"/>
              </a:lnSpc>
              <a:buNone/>
            </a:pPr>
            <a:r>
              <a:rPr lang="en-US" sz="800" dirty="0">
                <a:solidFill>
                  <a:srgbClr val="4A4A4A"/>
                </a:solidFill>
                <a:latin typeface="Carlito" pitchFamily="34" charset="0"/>
                <a:ea typeface="Carlito" pitchFamily="34" charset="-122"/>
                <a:cs typeface="Carlito" pitchFamily="34" charset="-120"/>
              </a:rPr>
              <a:t>WHO সংজ্ঞা</a:t>
            </a:r>
            <a:endParaRPr lang="en-US" sz="800" dirty="0"/>
          </a:p>
        </p:txBody>
      </p:sp>
      <p:sp>
        <p:nvSpPr>
          <p:cNvPr id="13" name="Text 9"/>
          <p:cNvSpPr/>
          <p:nvPr/>
        </p:nvSpPr>
        <p:spPr>
          <a:xfrm>
            <a:off x="4496209" y="3410359"/>
            <a:ext cx="892187" cy="153526"/>
          </a:xfrm>
          <a:prstGeom prst="rect">
            <a:avLst/>
          </a:prstGeom>
          <a:noFill/>
          <a:ln/>
        </p:spPr>
        <p:txBody>
          <a:bodyPr wrap="none" lIns="0" tIns="0" rIns="0" bIns="0" rtlCol="0" anchor="t"/>
          <a:lstStyle/>
          <a:p>
            <a:pPr algn="l" indent="0" marL="0">
              <a:lnSpc>
                <a:spcPts val="866"/>
              </a:lnSpc>
              <a:buNone/>
            </a:pPr>
            <a:r>
              <a:rPr lang="en-US" sz="800" b="1" spc="62" kern="0" dirty="0">
                <a:solidFill>
                  <a:srgbClr val="9A6E1E"/>
                </a:solidFill>
                <a:latin typeface="Carlito" pitchFamily="34" charset="0"/>
                <a:ea typeface="Carlito" pitchFamily="34" charset="-122"/>
                <a:cs typeface="Carlito" pitchFamily="34" charset="-120"/>
              </a:rPr>
              <a:t>০৭</a:t>
            </a:r>
            <a:endParaRPr lang="en-US" sz="800" dirty="0"/>
          </a:p>
        </p:txBody>
      </p:sp>
      <p:sp>
        <p:nvSpPr>
          <p:cNvPr id="14" name="Text 10"/>
          <p:cNvSpPr/>
          <p:nvPr/>
        </p:nvSpPr>
        <p:spPr>
          <a:xfrm>
            <a:off x="5570562" y="3321062"/>
            <a:ext cx="1099468" cy="437108"/>
          </a:xfrm>
          <a:prstGeom prst="roundRect">
            <a:avLst>
              <a:gd name="adj" fmla="val 21791"/>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5" name="Text 11"/>
          <p:cNvSpPr/>
          <p:nvPr/>
        </p:nvSpPr>
        <p:spPr>
          <a:xfrm>
            <a:off x="5674147" y="3556025"/>
            <a:ext cx="1035174" cy="128016"/>
          </a:xfrm>
          <a:prstGeom prst="rect">
            <a:avLst/>
          </a:prstGeom>
          <a:noFill/>
          <a:ln/>
        </p:spPr>
        <p:txBody>
          <a:bodyPr wrap="square" lIns="0" tIns="0" rIns="0" bIns="0" rtlCol="0" anchor="t"/>
          <a:lstStyle/>
          <a:p>
            <a:pPr algn="l" indent="0" marL="0">
              <a:lnSpc>
                <a:spcPts val="945"/>
              </a:lnSpc>
              <a:buNone/>
            </a:pPr>
            <a:r>
              <a:rPr lang="en-US" sz="800" dirty="0">
                <a:solidFill>
                  <a:srgbClr val="4A4A4A"/>
                </a:solidFill>
                <a:latin typeface="Carlito" pitchFamily="34" charset="0"/>
                <a:ea typeface="Carlito" pitchFamily="34" charset="-122"/>
                <a:cs typeface="Carlito" pitchFamily="34" charset="-120"/>
              </a:rPr>
              <a:t>৫টি শ্রেণি</a:t>
            </a:r>
            <a:endParaRPr lang="en-US" sz="800" dirty="0"/>
          </a:p>
        </p:txBody>
      </p:sp>
      <p:sp>
        <p:nvSpPr>
          <p:cNvPr id="16" name="Text 12"/>
          <p:cNvSpPr/>
          <p:nvPr/>
        </p:nvSpPr>
        <p:spPr>
          <a:xfrm>
            <a:off x="5674147" y="3410359"/>
            <a:ext cx="892299" cy="153526"/>
          </a:xfrm>
          <a:prstGeom prst="rect">
            <a:avLst/>
          </a:prstGeom>
          <a:noFill/>
          <a:ln/>
        </p:spPr>
        <p:txBody>
          <a:bodyPr wrap="none" lIns="0" tIns="0" rIns="0" bIns="0" rtlCol="0" anchor="t"/>
          <a:lstStyle/>
          <a:p>
            <a:pPr algn="l" indent="0" marL="0">
              <a:lnSpc>
                <a:spcPts val="866"/>
              </a:lnSpc>
              <a:buNone/>
            </a:pPr>
            <a:r>
              <a:rPr lang="en-US" sz="800" b="1" spc="62" kern="0" dirty="0">
                <a:solidFill>
                  <a:srgbClr val="9A6E1E"/>
                </a:solidFill>
                <a:latin typeface="Carlito" pitchFamily="34" charset="0"/>
                <a:ea typeface="Carlito" pitchFamily="34" charset="-122"/>
                <a:cs typeface="Carlito" pitchFamily="34" charset="-120"/>
              </a:rPr>
              <a:t>০৮</a:t>
            </a:r>
            <a:endParaRPr lang="en-US" sz="800" dirty="0"/>
          </a:p>
        </p:txBody>
      </p:sp>
      <p:sp>
        <p:nvSpPr>
          <p:cNvPr id="17" name="Text 13"/>
          <p:cNvSpPr/>
          <p:nvPr/>
        </p:nvSpPr>
        <p:spPr>
          <a:xfrm>
            <a:off x="6748611" y="3321062"/>
            <a:ext cx="1099356" cy="437108"/>
          </a:xfrm>
          <a:prstGeom prst="roundRect">
            <a:avLst>
              <a:gd name="adj" fmla="val 21791"/>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8" name="Text 14"/>
          <p:cNvSpPr/>
          <p:nvPr/>
        </p:nvSpPr>
        <p:spPr>
          <a:xfrm>
            <a:off x="6852196" y="3556025"/>
            <a:ext cx="1035062" cy="128016"/>
          </a:xfrm>
          <a:prstGeom prst="rect">
            <a:avLst/>
          </a:prstGeom>
          <a:noFill/>
          <a:ln/>
        </p:spPr>
        <p:txBody>
          <a:bodyPr wrap="square" lIns="0" tIns="0" rIns="0" bIns="0" rtlCol="0" anchor="t"/>
          <a:lstStyle/>
          <a:p>
            <a:pPr algn="l" indent="0" marL="0">
              <a:lnSpc>
                <a:spcPts val="945"/>
              </a:lnSpc>
              <a:buNone/>
            </a:pPr>
            <a:r>
              <a:rPr lang="en-US" sz="800" dirty="0">
                <a:solidFill>
                  <a:srgbClr val="4A4A4A"/>
                </a:solidFill>
                <a:latin typeface="Carlito" pitchFamily="34" charset="0"/>
                <a:ea typeface="Carlito" pitchFamily="34" charset="-122"/>
                <a:cs typeface="Carlito" pitchFamily="34" charset="-120"/>
              </a:rPr>
              <a:t>আসল বনাম ভেজাল</a:t>
            </a:r>
            <a:endParaRPr lang="en-US" sz="800" dirty="0"/>
          </a:p>
        </p:txBody>
      </p:sp>
      <p:sp>
        <p:nvSpPr>
          <p:cNvPr id="19" name="Text 15"/>
          <p:cNvSpPr/>
          <p:nvPr/>
        </p:nvSpPr>
        <p:spPr>
          <a:xfrm>
            <a:off x="6852196" y="3410359"/>
            <a:ext cx="892187" cy="153526"/>
          </a:xfrm>
          <a:prstGeom prst="rect">
            <a:avLst/>
          </a:prstGeom>
          <a:noFill/>
          <a:ln/>
        </p:spPr>
        <p:txBody>
          <a:bodyPr wrap="none" lIns="0" tIns="0" rIns="0" bIns="0" rtlCol="0" anchor="t"/>
          <a:lstStyle/>
          <a:p>
            <a:pPr algn="l" indent="0" marL="0">
              <a:lnSpc>
                <a:spcPts val="866"/>
              </a:lnSpc>
              <a:buNone/>
            </a:pPr>
            <a:r>
              <a:rPr lang="en-US" sz="800" b="1" spc="62" kern="0" dirty="0">
                <a:solidFill>
                  <a:srgbClr val="9A6E1E"/>
                </a:solidFill>
                <a:latin typeface="Carlito" pitchFamily="34" charset="0"/>
                <a:ea typeface="Carlito" pitchFamily="34" charset="-122"/>
                <a:cs typeface="Carlito" pitchFamily="34" charset="-120"/>
              </a:rPr>
              <a:t>০৯-১১</a:t>
            </a:r>
            <a:endParaRPr lang="en-US" sz="800" dirty="0"/>
          </a:p>
        </p:txBody>
      </p:sp>
      <p:sp>
        <p:nvSpPr>
          <p:cNvPr id="20" name="Text 16"/>
          <p:cNvSpPr/>
          <p:nvPr/>
        </p:nvSpPr>
        <p:spPr>
          <a:xfrm>
            <a:off x="7926549" y="3321062"/>
            <a:ext cx="1099468" cy="437108"/>
          </a:xfrm>
          <a:prstGeom prst="roundRect">
            <a:avLst>
              <a:gd name="adj" fmla="val 21791"/>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21" name="Text 17"/>
          <p:cNvSpPr/>
          <p:nvPr/>
        </p:nvSpPr>
        <p:spPr>
          <a:xfrm>
            <a:off x="8030133" y="3556025"/>
            <a:ext cx="999455" cy="128016"/>
          </a:xfrm>
          <a:prstGeom prst="rect">
            <a:avLst/>
          </a:prstGeom>
          <a:noFill/>
          <a:ln/>
        </p:spPr>
        <p:txBody>
          <a:bodyPr wrap="square" lIns="0" tIns="0" rIns="0" bIns="0" rtlCol="0" anchor="t"/>
          <a:lstStyle/>
          <a:p>
            <a:pPr algn="l" indent="0" marL="0">
              <a:lnSpc>
                <a:spcPts val="945"/>
              </a:lnSpc>
              <a:buNone/>
            </a:pPr>
            <a:r>
              <a:rPr lang="en-US" sz="800" dirty="0">
                <a:solidFill>
                  <a:srgbClr val="4A4A4A"/>
                </a:solidFill>
                <a:latin typeface="Carlito" pitchFamily="34" charset="0"/>
                <a:ea typeface="Carlito" pitchFamily="34" charset="-122"/>
                <a:cs typeface="Carlito" pitchFamily="34" charset="-120"/>
              </a:rPr>
              <a:t>পরীক্ষাগার</a:t>
            </a:r>
            <a:endParaRPr lang="en-US" sz="800" dirty="0"/>
          </a:p>
        </p:txBody>
      </p:sp>
      <p:sp>
        <p:nvSpPr>
          <p:cNvPr id="22" name="Text 18"/>
          <p:cNvSpPr/>
          <p:nvPr/>
        </p:nvSpPr>
        <p:spPr>
          <a:xfrm>
            <a:off x="8030133" y="3410359"/>
            <a:ext cx="892299" cy="153526"/>
          </a:xfrm>
          <a:prstGeom prst="rect">
            <a:avLst/>
          </a:prstGeom>
          <a:noFill/>
          <a:ln/>
        </p:spPr>
        <p:txBody>
          <a:bodyPr wrap="none" lIns="0" tIns="0" rIns="0" bIns="0" rtlCol="0" anchor="t"/>
          <a:lstStyle/>
          <a:p>
            <a:pPr algn="l" indent="0" marL="0">
              <a:lnSpc>
                <a:spcPts val="866"/>
              </a:lnSpc>
              <a:buNone/>
            </a:pPr>
            <a:r>
              <a:rPr lang="en-US" sz="800" b="1" spc="62" kern="0" dirty="0">
                <a:solidFill>
                  <a:srgbClr val="9A6E1E"/>
                </a:solidFill>
                <a:latin typeface="Carlito" pitchFamily="34" charset="0"/>
                <a:ea typeface="Carlito" pitchFamily="34" charset="-122"/>
                <a:cs typeface="Carlito" pitchFamily="34" charset="-120"/>
              </a:rPr>
              <a:t>১২</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57200" y="445815"/>
            <a:ext cx="3110320"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০২ · ভেজাল চেনার বিজ্ঞান</a:t>
            </a:r>
            <a:endParaRPr lang="en-US" sz="1350" dirty="0"/>
          </a:p>
        </p:txBody>
      </p:sp>
      <p:sp>
        <p:nvSpPr>
          <p:cNvPr id="3" name="Text 1"/>
          <p:cNvSpPr/>
          <p:nvPr/>
        </p:nvSpPr>
        <p:spPr>
          <a:xfrm>
            <a:off x="457200" y="797198"/>
            <a:ext cx="8636000" cy="509809"/>
          </a:xfrm>
          <a:prstGeom prst="rect">
            <a:avLst/>
          </a:prstGeom>
          <a:noFill/>
          <a:ln/>
        </p:spPr>
        <p:txBody>
          <a:bodyPr wrap="square" lIns="0" tIns="0" rIns="0" bIns="0" rtlCol="0" anchor="t"/>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WHO সংজ্ঞা — ভেজাল বালাইনাশক কী?</a:t>
            </a:r>
            <a:endParaRPr lang="en-US" sz="3150" dirty="0"/>
          </a:p>
        </p:txBody>
      </p:sp>
      <p:sp>
        <p:nvSpPr>
          <p:cNvPr id="4" name="Text 2"/>
          <p:cNvSpPr/>
          <p:nvPr/>
        </p:nvSpPr>
        <p:spPr>
          <a:xfrm>
            <a:off x="457200" y="1383543"/>
            <a:ext cx="8229600" cy="2930277"/>
          </a:xfrm>
          <a:prstGeom prst="roundRect">
            <a:avLst>
              <a:gd name="adj" fmla="val 5201"/>
            </a:avLst>
          </a:prstGeom>
          <a:solidFill>
            <a:srgbClr val="F2ECDD"/>
          </a:solidFill>
          <a:ln/>
        </p:spPr>
        <p:txBody>
          <a:bodyPr wrap="square" rtlCol="0" anchor="ctr"/>
          <a:lstStyle/>
          <a:p>
            <a:pPr indent="0" marL="0">
              <a:buNone/>
            </a:pPr>
            <a:endParaRPr lang="en-US" dirty="0"/>
          </a:p>
        </p:txBody>
      </p:sp>
      <p:sp>
        <p:nvSpPr>
          <p:cNvPr id="5" name="Shape 3"/>
          <p:cNvSpPr/>
          <p:nvPr/>
        </p:nvSpPr>
        <p:spPr>
          <a:xfrm>
            <a:off x="478631" y="1383543"/>
            <a:ext cx="0" cy="2930277"/>
          </a:xfrm>
          <a:prstGeom prst="line">
            <a:avLst/>
          </a:prstGeom>
          <a:noFill/>
          <a:ln w="42863">
            <a:solidFill>
              <a:srgbClr val="C7912C"/>
            </a:solidFill>
            <a:prstDash val="solid"/>
          </a:ln>
        </p:spPr>
        <p:txBody>
          <a:bodyPr/>
          <a:p/>
        </p:txBody>
      </p:sp>
      <p:sp>
        <p:nvSpPr>
          <p:cNvPr id="6" name="Text 4"/>
          <p:cNvSpPr/>
          <p:nvPr/>
        </p:nvSpPr>
        <p:spPr>
          <a:xfrm>
            <a:off x="671513" y="1512131"/>
            <a:ext cx="428625" cy="428625"/>
          </a:xfrm>
          <a:prstGeom prst="rect">
            <a:avLst/>
          </a:prstGeom>
          <a:noFill/>
          <a:ln/>
        </p:spPr>
        <p:txBody>
          <a:bodyPr wrap="none" lIns="0" tIns="0" rIns="0" bIns="0" rtlCol="0" anchor="ctr"/>
          <a:lstStyle/>
          <a:p>
            <a:pPr algn="ctr" indent="0" marL="0">
              <a:buNone/>
            </a:pPr>
            <a:r>
              <a:rPr lang="en-US" sz="4219" dirty="0">
                <a:solidFill>
                  <a:srgbClr val="C7912C"/>
                </a:solidFill>
                <a:latin typeface="Segoe UI Symbol" pitchFamily="34" charset="0"/>
                <a:ea typeface="Segoe UI Symbol" pitchFamily="34" charset="-122"/>
                <a:cs typeface="Segoe UI Symbol" pitchFamily="34" charset="-120"/>
              </a:rPr>
              <a:t>“</a:t>
            </a:r>
            <a:endParaRPr lang="en-US" sz="4219" dirty="0"/>
          </a:p>
        </p:txBody>
      </p:sp>
      <p:sp>
        <p:nvSpPr>
          <p:cNvPr id="7" name="Text 5"/>
          <p:cNvSpPr/>
          <p:nvPr/>
        </p:nvSpPr>
        <p:spPr>
          <a:xfrm>
            <a:off x="785813" y="2386905"/>
            <a:ext cx="7286625" cy="749344"/>
          </a:xfrm>
          <a:prstGeom prst="rect">
            <a:avLst/>
          </a:prstGeom>
          <a:noFill/>
          <a:ln/>
        </p:spPr>
        <p:txBody>
          <a:bodyPr wrap="square" lIns="500063" tIns="0" rIns="0" bIns="0" rtlCol="0" anchor="t"/>
          <a:lstStyle/>
          <a:p>
            <a:pPr algn="l" indent="0" marL="0">
              <a:lnSpc>
                <a:spcPts val="1821"/>
              </a:lnSpc>
              <a:buNone/>
            </a:pPr>
            <a:r>
              <a:rPr lang="en-US" sz="1041" dirty="0">
                <a:solidFill>
                  <a:srgbClr val="1A1A1A"/>
                </a:solidFill>
                <a:latin typeface="Carlito" pitchFamily="34" charset="0"/>
                <a:ea typeface="Carlito" pitchFamily="34" charset="-122"/>
                <a:cs typeface="Carlito" pitchFamily="34" charset="-120"/>
              </a:rPr>
              <a:t>বিশ্ব স্বাস্থ্য সংস্থা (WHO) ও খাদ্য ও কৃষি সংস্থা (FAO)-এর যৌথ সংজ্ঞা অনুসারে — ভেজাল বালাইনাশক হলো এমন কোনো পণ্য যা </a:t>
            </a:r>
            <a:pPr algn="l" indent="0" marL="0">
              <a:lnSpc>
                <a:spcPts val="1821"/>
              </a:lnSpc>
              <a:buNone/>
            </a:pPr>
            <a:r>
              <a:rPr lang="en-US" sz="1041" b="1" dirty="0">
                <a:solidFill>
                  <a:srgbClr val="14342A"/>
                </a:solidFill>
                <a:latin typeface="Carlito" pitchFamily="34" charset="0"/>
                <a:ea typeface="Carlito" pitchFamily="34" charset="-122"/>
                <a:cs typeface="Carlito" pitchFamily="34" charset="-120"/>
              </a:rPr>
              <a:t>(ক)</a:t>
            </a:r>
            <a:pPr algn="l" indent="0" marL="0">
              <a:lnSpc>
                <a:spcPts val="1821"/>
              </a:lnSpc>
              <a:buNone/>
            </a:pPr>
            <a:r>
              <a:rPr lang="en-US" sz="1041" dirty="0">
                <a:solidFill>
                  <a:srgbClr val="1A1A1A"/>
                </a:solidFill>
                <a:latin typeface="Carlito" pitchFamily="34" charset="0"/>
                <a:ea typeface="Carlito" pitchFamily="34" charset="-122"/>
                <a:cs typeface="Carlito" pitchFamily="34" charset="-120"/>
              </a:rPr>
              <a:t> কোনো স্বীকৃত নির্মাতার নামে বিক্রি হয় কিন্তু আসল পণ্য নয়, </a:t>
            </a:r>
            <a:pPr algn="l" indent="0" marL="0">
              <a:lnSpc>
                <a:spcPts val="1821"/>
              </a:lnSpc>
              <a:buNone/>
            </a:pPr>
            <a:r>
              <a:rPr lang="en-US" sz="1041" b="1" dirty="0">
                <a:solidFill>
                  <a:srgbClr val="14342A"/>
                </a:solidFill>
                <a:latin typeface="Carlito" pitchFamily="34" charset="0"/>
                <a:ea typeface="Carlito" pitchFamily="34" charset="-122"/>
                <a:cs typeface="Carlito" pitchFamily="34" charset="-120"/>
              </a:rPr>
              <a:t>(খ)</a:t>
            </a:r>
            <a:pPr algn="l" indent="0" marL="0">
              <a:lnSpc>
                <a:spcPts val="1821"/>
              </a:lnSpc>
              <a:buNone/>
            </a:pPr>
            <a:r>
              <a:rPr lang="en-US" sz="1041" dirty="0">
                <a:solidFill>
                  <a:srgbClr val="1A1A1A"/>
                </a:solidFill>
                <a:latin typeface="Carlito" pitchFamily="34" charset="0"/>
                <a:ea typeface="Carlito" pitchFamily="34" charset="-122"/>
                <a:cs typeface="Carlito" pitchFamily="34" charset="-120"/>
              </a:rPr>
              <a:t> ভুল বা অসম্পূর্ণ সক্রিয় উপাদান ধারণ করে, </a:t>
            </a:r>
            <a:pPr algn="l" indent="0" marL="0">
              <a:lnSpc>
                <a:spcPts val="1821"/>
              </a:lnSpc>
              <a:buNone/>
            </a:pPr>
            <a:r>
              <a:rPr lang="en-US" sz="1041" b="1" dirty="0">
                <a:solidFill>
                  <a:srgbClr val="14342A"/>
                </a:solidFill>
                <a:latin typeface="Carlito" pitchFamily="34" charset="0"/>
                <a:ea typeface="Carlito" pitchFamily="34" charset="-122"/>
                <a:cs typeface="Carlito" pitchFamily="34" charset="-120"/>
              </a:rPr>
              <a:t>(গ)</a:t>
            </a:r>
            <a:pPr algn="l" indent="0" marL="0">
              <a:lnSpc>
                <a:spcPts val="1821"/>
              </a:lnSpc>
              <a:buNone/>
            </a:pPr>
            <a:r>
              <a:rPr lang="en-US" sz="1041" dirty="0">
                <a:solidFill>
                  <a:srgbClr val="1A1A1A"/>
                </a:solidFill>
                <a:latin typeface="Carlito" pitchFamily="34" charset="0"/>
                <a:ea typeface="Carlito" pitchFamily="34" charset="-122"/>
                <a:cs typeface="Carlito" pitchFamily="34" charset="-120"/>
              </a:rPr>
              <a:t> অনুমোদিতের চেয়ে কম মাত্রায় সক্রিয় উপাদান রাখে, অথবা </a:t>
            </a:r>
            <a:pPr algn="l" indent="0" marL="0">
              <a:lnSpc>
                <a:spcPts val="1821"/>
              </a:lnSpc>
              <a:buNone/>
            </a:pPr>
            <a:r>
              <a:rPr lang="en-US" sz="1041" b="1" dirty="0">
                <a:solidFill>
                  <a:srgbClr val="14342A"/>
                </a:solidFill>
                <a:latin typeface="Carlito" pitchFamily="34" charset="0"/>
                <a:ea typeface="Carlito" pitchFamily="34" charset="-122"/>
                <a:cs typeface="Carlito" pitchFamily="34" charset="-120"/>
              </a:rPr>
              <a:t>(ঘ)</a:t>
            </a:r>
            <a:pPr algn="l" indent="0" marL="0">
              <a:lnSpc>
                <a:spcPts val="1821"/>
              </a:lnSpc>
              <a:buNone/>
            </a:pPr>
            <a:r>
              <a:rPr lang="en-US" sz="1041" dirty="0">
                <a:solidFill>
                  <a:srgbClr val="1A1A1A"/>
                </a:solidFill>
                <a:latin typeface="Carlito" pitchFamily="34" charset="0"/>
                <a:ea typeface="Carlito" pitchFamily="34" charset="-122"/>
                <a:cs typeface="Carlito" pitchFamily="34" charset="-120"/>
              </a:rPr>
              <a:t> নিবন্ধনহীন বা নকল প্যাকেজিংয়ে বিক্রি হয়।</a:t>
            </a:r>
            <a:endParaRPr lang="en-US" sz="1041" dirty="0"/>
          </a:p>
        </p:txBody>
      </p:sp>
      <p:sp>
        <p:nvSpPr>
          <p:cNvPr id="8" name="Text 6"/>
          <p:cNvSpPr/>
          <p:nvPr/>
        </p:nvSpPr>
        <p:spPr>
          <a:xfrm>
            <a:off x="785813" y="3180755"/>
            <a:ext cx="7615238" cy="169999"/>
          </a:xfrm>
          <a:prstGeom prst="rect">
            <a:avLst/>
          </a:prstGeom>
          <a:noFill/>
          <a:ln/>
        </p:spPr>
        <p:txBody>
          <a:bodyPr wrap="none" lIns="500063" tIns="0" rIns="0" bIns="0" rtlCol="0" anchor="t"/>
          <a:lstStyle/>
          <a:p>
            <a:pPr algn="l" indent="0" marL="0">
              <a:lnSpc>
                <a:spcPts val="1133"/>
              </a:lnSpc>
              <a:buNone/>
            </a:pPr>
            <a:r>
              <a:rPr lang="en-US" sz="800" b="1" spc="73" kern="0" dirty="0">
                <a:solidFill>
                  <a:srgbClr val="9A6E1E"/>
                </a:solidFill>
                <a:latin typeface="Carlito" pitchFamily="34" charset="0"/>
                <a:ea typeface="Carlito" pitchFamily="34" charset="-122"/>
                <a:cs typeface="Carlito" pitchFamily="34" charset="-120"/>
              </a:rPr>
              <a:t>— WHO/FAO GUIDELINE, ২০১১</a:t>
            </a:r>
            <a:endParaRPr lang="en-US" sz="800" dirty="0"/>
          </a:p>
        </p:txBody>
      </p:sp>
      <p:sp>
        <p:nvSpPr>
          <p:cNvPr id="9" name="Text 7"/>
          <p:cNvSpPr/>
          <p:nvPr/>
        </p:nvSpPr>
        <p:spPr>
          <a:xfrm>
            <a:off x="2107183" y="4458181"/>
            <a:ext cx="593824" cy="298070"/>
          </a:xfrm>
          <a:prstGeom prst="roundRect">
            <a:avLst>
              <a:gd name="adj" fmla="val 3192363"/>
            </a:avLst>
          </a:prstGeom>
          <a:solidFill>
            <a:srgbClr val="1E4D3B"/>
          </a:solidFill>
          <a:ln w="7144">
            <a:solidFill>
              <a:srgbClr val="1E4D3B"/>
            </a:solidFill>
            <a:prstDash val="solid"/>
          </a:ln>
        </p:spPr>
        <p:txBody>
          <a:bodyPr wrap="square" rtlCol="0" anchor="ctr"/>
          <a:lstStyle/>
          <a:p>
            <a:pPr indent="0" marL="0">
              <a:buNone/>
            </a:pPr>
            <a:endParaRPr lang="en-US" dirty="0"/>
          </a:p>
        </p:txBody>
      </p:sp>
      <p:sp>
        <p:nvSpPr>
          <p:cNvPr id="10" name="Text 8"/>
          <p:cNvSpPr/>
          <p:nvPr/>
        </p:nvSpPr>
        <p:spPr>
          <a:xfrm>
            <a:off x="2107183" y="4470983"/>
            <a:ext cx="593824" cy="272467"/>
          </a:xfrm>
          <a:prstGeom prst="rect">
            <a:avLst/>
          </a:prstGeom>
          <a:noFill/>
          <a:ln/>
        </p:spPr>
        <p:txBody>
          <a:bodyPr wrap="none" lIns="0" tIns="0" rIns="0" bIns="0" rtlCol="0" anchor="ctr"/>
          <a:lstStyle/>
          <a:p>
            <a:pPr algn="ctr" indent="0" marL="0">
              <a:lnSpc>
                <a:spcPts val="1133"/>
              </a:lnSpc>
              <a:buNone/>
            </a:pPr>
            <a:r>
              <a:rPr lang="en-US" sz="800" spc="73" kern="0" dirty="0">
                <a:solidFill>
                  <a:srgbClr val="FFFFFF"/>
                </a:solidFill>
                <a:latin typeface="Carlito" pitchFamily="34" charset="0"/>
                <a:ea typeface="Carlito" pitchFamily="34" charset="-122"/>
                <a:cs typeface="Carlito" pitchFamily="34" charset="-120"/>
              </a:rPr>
              <a:t>SSFFC</a:t>
            </a:r>
            <a:endParaRPr lang="en-US" sz="800" dirty="0"/>
          </a:p>
        </p:txBody>
      </p:sp>
      <p:sp>
        <p:nvSpPr>
          <p:cNvPr id="11" name="Text 9"/>
          <p:cNvSpPr/>
          <p:nvPr/>
        </p:nvSpPr>
        <p:spPr>
          <a:xfrm>
            <a:off x="2772445" y="4458181"/>
            <a:ext cx="851446" cy="298070"/>
          </a:xfrm>
          <a:prstGeom prst="roundRect">
            <a:avLst>
              <a:gd name="adj" fmla="val 3192363"/>
            </a:avLst>
          </a:prstGeom>
          <a:solidFill>
            <a:srgbClr val="F2ECDD"/>
          </a:solidFill>
          <a:ln w="7144">
            <a:solidFill>
              <a:srgbClr val="D9D2BF"/>
            </a:solidFill>
            <a:prstDash val="solid"/>
          </a:ln>
        </p:spPr>
        <p:txBody>
          <a:bodyPr wrap="square" rtlCol="0" anchor="ctr"/>
          <a:lstStyle/>
          <a:p>
            <a:pPr indent="0" marL="0">
              <a:buNone/>
            </a:pPr>
            <a:endParaRPr lang="en-US" dirty="0"/>
          </a:p>
        </p:txBody>
      </p:sp>
      <p:sp>
        <p:nvSpPr>
          <p:cNvPr id="12" name="Text 10"/>
          <p:cNvSpPr/>
          <p:nvPr/>
        </p:nvSpPr>
        <p:spPr>
          <a:xfrm>
            <a:off x="2772445" y="4470983"/>
            <a:ext cx="851446" cy="272467"/>
          </a:xfrm>
          <a:prstGeom prst="rect">
            <a:avLst/>
          </a:prstGeom>
          <a:noFill/>
          <a:ln/>
        </p:spPr>
        <p:txBody>
          <a:bodyPr wrap="none" lIns="0" tIns="0" rIns="0" bIns="0" rtlCol="0" anchor="ctr"/>
          <a:lstStyle/>
          <a:p>
            <a:pPr algn="ctr" indent="0" marL="0">
              <a:lnSpc>
                <a:spcPts val="1133"/>
              </a:lnSpc>
              <a:buNone/>
            </a:pPr>
            <a:r>
              <a:rPr lang="en-US" sz="800" spc="29" kern="0" dirty="0">
                <a:solidFill>
                  <a:srgbClr val="1E4D3B"/>
                </a:solidFill>
                <a:latin typeface="Carlito" pitchFamily="34" charset="0"/>
                <a:ea typeface="Carlito" pitchFamily="34" charset="-122"/>
                <a:cs typeface="Carlito" pitchFamily="34" charset="-120"/>
              </a:rPr>
              <a:t>Substandard</a:t>
            </a:r>
            <a:endParaRPr lang="en-US" sz="800" dirty="0"/>
          </a:p>
        </p:txBody>
      </p:sp>
      <p:sp>
        <p:nvSpPr>
          <p:cNvPr id="13" name="Text 11"/>
          <p:cNvSpPr/>
          <p:nvPr/>
        </p:nvSpPr>
        <p:spPr>
          <a:xfrm>
            <a:off x="3695328" y="4458181"/>
            <a:ext cx="675084" cy="298070"/>
          </a:xfrm>
          <a:prstGeom prst="roundRect">
            <a:avLst>
              <a:gd name="adj" fmla="val 3192363"/>
            </a:avLst>
          </a:prstGeom>
          <a:solidFill>
            <a:srgbClr val="F2ECDD"/>
          </a:solidFill>
          <a:ln w="7144">
            <a:solidFill>
              <a:srgbClr val="D9D2BF"/>
            </a:solidFill>
            <a:prstDash val="solid"/>
          </a:ln>
        </p:spPr>
        <p:txBody>
          <a:bodyPr wrap="square" rtlCol="0" anchor="ctr"/>
          <a:lstStyle/>
          <a:p>
            <a:pPr indent="0" marL="0">
              <a:buNone/>
            </a:pPr>
            <a:endParaRPr lang="en-US" dirty="0"/>
          </a:p>
        </p:txBody>
      </p:sp>
      <p:sp>
        <p:nvSpPr>
          <p:cNvPr id="14" name="Text 12"/>
          <p:cNvSpPr/>
          <p:nvPr/>
        </p:nvSpPr>
        <p:spPr>
          <a:xfrm>
            <a:off x="3695328" y="4470983"/>
            <a:ext cx="675084" cy="272467"/>
          </a:xfrm>
          <a:prstGeom prst="rect">
            <a:avLst/>
          </a:prstGeom>
          <a:noFill/>
          <a:ln/>
        </p:spPr>
        <p:txBody>
          <a:bodyPr wrap="none" lIns="0" tIns="0" rIns="0" bIns="0" rtlCol="0" anchor="ctr"/>
          <a:lstStyle/>
          <a:p>
            <a:pPr algn="ctr" indent="0" marL="0">
              <a:lnSpc>
                <a:spcPts val="1133"/>
              </a:lnSpc>
              <a:buNone/>
            </a:pPr>
            <a:r>
              <a:rPr lang="en-US" sz="800" spc="29" kern="0" dirty="0">
                <a:solidFill>
                  <a:srgbClr val="1E4D3B"/>
                </a:solidFill>
                <a:latin typeface="Carlito" pitchFamily="34" charset="0"/>
                <a:ea typeface="Carlito" pitchFamily="34" charset="-122"/>
                <a:cs typeface="Carlito" pitchFamily="34" charset="-120"/>
              </a:rPr>
              <a:t>Spurious</a:t>
            </a:r>
            <a:endParaRPr lang="en-US" sz="800" dirty="0"/>
          </a:p>
        </p:txBody>
      </p:sp>
      <p:sp>
        <p:nvSpPr>
          <p:cNvPr id="15" name="Text 13"/>
          <p:cNvSpPr/>
          <p:nvPr/>
        </p:nvSpPr>
        <p:spPr>
          <a:xfrm>
            <a:off x="4441850" y="4458181"/>
            <a:ext cx="1019882" cy="298070"/>
          </a:xfrm>
          <a:prstGeom prst="roundRect">
            <a:avLst>
              <a:gd name="adj" fmla="val 3192363"/>
            </a:avLst>
          </a:prstGeom>
          <a:solidFill>
            <a:srgbClr val="F2ECDD"/>
          </a:solidFill>
          <a:ln w="7144">
            <a:solidFill>
              <a:srgbClr val="D9D2BF"/>
            </a:solidFill>
            <a:prstDash val="solid"/>
          </a:ln>
        </p:spPr>
        <p:txBody>
          <a:bodyPr wrap="square" rtlCol="0" anchor="ctr"/>
          <a:lstStyle/>
          <a:p>
            <a:pPr indent="0" marL="0">
              <a:buNone/>
            </a:pPr>
            <a:endParaRPr lang="en-US" dirty="0"/>
          </a:p>
        </p:txBody>
      </p:sp>
      <p:sp>
        <p:nvSpPr>
          <p:cNvPr id="16" name="Text 14"/>
          <p:cNvSpPr/>
          <p:nvPr/>
        </p:nvSpPr>
        <p:spPr>
          <a:xfrm>
            <a:off x="4441850" y="4470983"/>
            <a:ext cx="1019882" cy="272467"/>
          </a:xfrm>
          <a:prstGeom prst="rect">
            <a:avLst/>
          </a:prstGeom>
          <a:noFill/>
          <a:ln/>
        </p:spPr>
        <p:txBody>
          <a:bodyPr wrap="none" lIns="0" tIns="0" rIns="0" bIns="0" rtlCol="0" anchor="ctr"/>
          <a:lstStyle/>
          <a:p>
            <a:pPr algn="ctr" indent="0" marL="0">
              <a:lnSpc>
                <a:spcPts val="1133"/>
              </a:lnSpc>
              <a:buNone/>
            </a:pPr>
            <a:r>
              <a:rPr lang="en-US" sz="800" spc="29" kern="0" dirty="0">
                <a:solidFill>
                  <a:srgbClr val="1E4D3B"/>
                </a:solidFill>
                <a:latin typeface="Carlito" pitchFamily="34" charset="0"/>
                <a:ea typeface="Carlito" pitchFamily="34" charset="-122"/>
                <a:cs typeface="Carlito" pitchFamily="34" charset="-120"/>
              </a:rPr>
              <a:t>Falsely Labelled</a:t>
            </a:r>
            <a:endParaRPr lang="en-US" sz="800" dirty="0"/>
          </a:p>
        </p:txBody>
      </p:sp>
      <p:sp>
        <p:nvSpPr>
          <p:cNvPr id="17" name="Text 15"/>
          <p:cNvSpPr/>
          <p:nvPr/>
        </p:nvSpPr>
        <p:spPr>
          <a:xfrm>
            <a:off x="5533169" y="4458181"/>
            <a:ext cx="653095" cy="298070"/>
          </a:xfrm>
          <a:prstGeom prst="roundRect">
            <a:avLst>
              <a:gd name="adj" fmla="val 3192363"/>
            </a:avLst>
          </a:prstGeom>
          <a:solidFill>
            <a:srgbClr val="F2ECDD"/>
          </a:solidFill>
          <a:ln w="7144">
            <a:solidFill>
              <a:srgbClr val="D9D2BF"/>
            </a:solidFill>
            <a:prstDash val="solid"/>
          </a:ln>
        </p:spPr>
        <p:txBody>
          <a:bodyPr wrap="square" rtlCol="0" anchor="ctr"/>
          <a:lstStyle/>
          <a:p>
            <a:pPr indent="0" marL="0">
              <a:buNone/>
            </a:pPr>
            <a:endParaRPr lang="en-US" dirty="0"/>
          </a:p>
        </p:txBody>
      </p:sp>
      <p:sp>
        <p:nvSpPr>
          <p:cNvPr id="18" name="Text 16"/>
          <p:cNvSpPr/>
          <p:nvPr/>
        </p:nvSpPr>
        <p:spPr>
          <a:xfrm>
            <a:off x="5533169" y="4470983"/>
            <a:ext cx="653095" cy="272467"/>
          </a:xfrm>
          <a:prstGeom prst="rect">
            <a:avLst/>
          </a:prstGeom>
          <a:noFill/>
          <a:ln/>
        </p:spPr>
        <p:txBody>
          <a:bodyPr wrap="none" lIns="0" tIns="0" rIns="0" bIns="0" rtlCol="0" anchor="ctr"/>
          <a:lstStyle/>
          <a:p>
            <a:pPr algn="ctr" indent="0" marL="0">
              <a:lnSpc>
                <a:spcPts val="1133"/>
              </a:lnSpc>
              <a:buNone/>
            </a:pPr>
            <a:r>
              <a:rPr lang="en-US" sz="800" spc="29" kern="0" dirty="0">
                <a:solidFill>
                  <a:srgbClr val="1E4D3B"/>
                </a:solidFill>
                <a:latin typeface="Carlito" pitchFamily="34" charset="0"/>
                <a:ea typeface="Carlito" pitchFamily="34" charset="-122"/>
                <a:cs typeface="Carlito" pitchFamily="34" charset="-120"/>
              </a:rPr>
              <a:t>Falsified</a:t>
            </a:r>
            <a:endParaRPr lang="en-US" sz="800" dirty="0"/>
          </a:p>
        </p:txBody>
      </p:sp>
      <p:sp>
        <p:nvSpPr>
          <p:cNvPr id="19" name="Text 17"/>
          <p:cNvSpPr/>
          <p:nvPr/>
        </p:nvSpPr>
        <p:spPr>
          <a:xfrm>
            <a:off x="6257702" y="4458181"/>
            <a:ext cx="779115" cy="298070"/>
          </a:xfrm>
          <a:prstGeom prst="roundRect">
            <a:avLst>
              <a:gd name="adj" fmla="val 3192363"/>
            </a:avLst>
          </a:prstGeom>
          <a:solidFill>
            <a:srgbClr val="F2ECDD"/>
          </a:solidFill>
          <a:ln w="7144">
            <a:solidFill>
              <a:srgbClr val="D9D2BF"/>
            </a:solidFill>
            <a:prstDash val="solid"/>
          </a:ln>
        </p:spPr>
        <p:txBody>
          <a:bodyPr wrap="square" rtlCol="0" anchor="ctr"/>
          <a:lstStyle/>
          <a:p>
            <a:pPr indent="0" marL="0">
              <a:buNone/>
            </a:pPr>
            <a:endParaRPr lang="en-US" dirty="0"/>
          </a:p>
        </p:txBody>
      </p:sp>
      <p:sp>
        <p:nvSpPr>
          <p:cNvPr id="20" name="Text 18"/>
          <p:cNvSpPr/>
          <p:nvPr/>
        </p:nvSpPr>
        <p:spPr>
          <a:xfrm>
            <a:off x="6257702" y="4470983"/>
            <a:ext cx="779115" cy="272467"/>
          </a:xfrm>
          <a:prstGeom prst="rect">
            <a:avLst/>
          </a:prstGeom>
          <a:noFill/>
          <a:ln/>
        </p:spPr>
        <p:txBody>
          <a:bodyPr wrap="none" lIns="0" tIns="0" rIns="0" bIns="0" rtlCol="0" anchor="ctr"/>
          <a:lstStyle/>
          <a:p>
            <a:pPr algn="ctr" indent="0" marL="0">
              <a:lnSpc>
                <a:spcPts val="1133"/>
              </a:lnSpc>
              <a:buNone/>
            </a:pPr>
            <a:r>
              <a:rPr lang="en-US" sz="800" spc="29" kern="0" dirty="0">
                <a:solidFill>
                  <a:srgbClr val="1E4D3B"/>
                </a:solidFill>
                <a:latin typeface="Carlito" pitchFamily="34" charset="0"/>
                <a:ea typeface="Carlito" pitchFamily="34" charset="-122"/>
                <a:cs typeface="Carlito" pitchFamily="34" charset="-120"/>
              </a:rPr>
              <a:t>Counterfeit</a:t>
            </a:r>
            <a:endParaRPr lang="en-US" sz="800" dirty="0"/>
          </a:p>
        </p:txBody>
      </p:sp>
      <p:pic>
        <p:nvPicPr>
          <p:cNvPr id="21" name="Image 0" descr="preencoded.png">    </p:cNvPr>
          <p:cNvPicPr>
            <a:picLocks noChangeAspect="1"/>
          </p:cNvPicPr>
          <p:nvPr/>
        </p:nvPicPr>
        <p:blipFill>
          <a:blip r:embed="rId1"/>
          <a:stretch>
            <a:fillRect/>
          </a:stretch>
        </p:blipFill>
        <p:spPr>
          <a:xfrm>
            <a:off x="0" y="5100638"/>
            <a:ext cx="9144000" cy="42863"/>
          </a:xfrm>
          <a:prstGeom prst="rect">
            <a:avLst/>
          </a:prstGeom>
        </p:spPr>
      </p:pic>
      <p:sp>
        <p:nvSpPr>
          <p:cNvPr id="22" name="Text 19"/>
          <p:cNvSpPr/>
          <p:nvPr/>
        </p:nvSpPr>
        <p:spPr>
          <a:xfrm>
            <a:off x="8694725" y="4706392"/>
            <a:ext cx="30736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০৭</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00050" y="417240"/>
            <a:ext cx="3110320"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০২ · ভেজাল চেনার বিজ্ঞান</a:t>
            </a:r>
            <a:endParaRPr lang="en-US" sz="1350" dirty="0"/>
          </a:p>
        </p:txBody>
      </p:sp>
      <p:sp>
        <p:nvSpPr>
          <p:cNvPr id="3" name="Text 1"/>
          <p:cNvSpPr/>
          <p:nvPr/>
        </p:nvSpPr>
        <p:spPr>
          <a:xfrm>
            <a:off x="400050" y="768623"/>
            <a:ext cx="8636000" cy="501764"/>
          </a:xfrm>
          <a:prstGeom prst="rect">
            <a:avLst/>
          </a:prstGeom>
          <a:noFill/>
          <a:ln/>
        </p:spPr>
        <p:txBody>
          <a:bodyPr wrap="square" lIns="0" tIns="0" rIns="0" bIns="0" rtlCol="0" anchor="t">
            <a:normAutofit/>
          </a:bodyPr>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ভেজাল বালাইনাশকের ৫টি প্রধান শ্রেণি</a:t>
            </a:r>
            <a:endParaRPr lang="en-US" sz="3150" dirty="0"/>
          </a:p>
        </p:txBody>
      </p:sp>
      <p:sp>
        <p:nvSpPr>
          <p:cNvPr id="4" name="Text 2"/>
          <p:cNvSpPr/>
          <p:nvPr/>
        </p:nvSpPr>
        <p:spPr>
          <a:xfrm>
            <a:off x="400050" y="1297818"/>
            <a:ext cx="8343900" cy="173352"/>
          </a:xfrm>
          <a:prstGeom prst="rect">
            <a:avLst/>
          </a:prstGeom>
          <a:noFill/>
          <a:ln/>
        </p:spPr>
        <p:txBody>
          <a:bodyPr wrap="square" lIns="0" tIns="0" rIns="0" bIns="0" rtlCol="0" anchor="t"/>
          <a:lstStyle/>
          <a:p>
            <a:pPr algn="l" indent="0" marL="0">
              <a:lnSpc>
                <a:spcPts val="1264"/>
              </a:lnSpc>
              <a:buNone/>
            </a:pPr>
            <a:r>
              <a:rPr lang="en-US" sz="816" dirty="0">
                <a:solidFill>
                  <a:srgbClr val="4A4A4A"/>
                </a:solidFill>
                <a:latin typeface="Carlito" pitchFamily="34" charset="0"/>
                <a:ea typeface="Carlito" pitchFamily="34" charset="-122"/>
                <a:cs typeface="Carlito" pitchFamily="34" charset="-120"/>
              </a:rPr>
              <a:t>প্রতিটি শ্রেণির শনাক্তকরণ কৌশল আলাদা — বিক্রেতার জন্য সবগুলো চেনা জরুরি</a:t>
            </a:r>
            <a:endParaRPr lang="en-US" sz="816" dirty="0"/>
          </a:p>
        </p:txBody>
      </p:sp>
      <p:sp>
        <p:nvSpPr>
          <p:cNvPr id="5" name="Text 3"/>
          <p:cNvSpPr/>
          <p:nvPr/>
        </p:nvSpPr>
        <p:spPr>
          <a:xfrm>
            <a:off x="403622" y="1561914"/>
            <a:ext cx="2707481" cy="1556779"/>
          </a:xfrm>
          <a:prstGeom prst="roundRect">
            <a:avLst>
              <a:gd name="adj" fmla="val 7342"/>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6" name="Text 4"/>
          <p:cNvSpPr/>
          <p:nvPr/>
        </p:nvSpPr>
        <p:spPr>
          <a:xfrm>
            <a:off x="2721769" y="1665498"/>
            <a:ext cx="271463" cy="271463"/>
          </a:xfrm>
          <a:prstGeom prst="rect">
            <a:avLst/>
          </a:prstGeom>
          <a:noFill/>
          <a:ln/>
        </p:spPr>
        <p:txBody>
          <a:bodyPr wrap="none" lIns="0" tIns="0" rIns="0" bIns="0" rtlCol="0" anchor="ctr"/>
          <a:lstStyle/>
          <a:p>
            <a:pPr algn="ctr" indent="0" marL="0">
              <a:buNone/>
            </a:pPr>
            <a:r>
              <a:rPr lang="en-US" sz="2672" dirty="0">
                <a:solidFill>
                  <a:srgbClr val="C7912C"/>
                </a:solidFill>
                <a:latin typeface="Segoe UI Symbol" pitchFamily="34" charset="0"/>
                <a:ea typeface="Segoe UI Symbol" pitchFamily="34" charset="-122"/>
                <a:cs typeface="Segoe UI Symbol" pitchFamily="34" charset="-120"/>
              </a:rPr>
              <a:t>⊘</a:t>
            </a:r>
            <a:endParaRPr lang="en-US" sz="2672" dirty="0"/>
          </a:p>
        </p:txBody>
      </p:sp>
      <p:sp>
        <p:nvSpPr>
          <p:cNvPr id="7" name="Text 5"/>
          <p:cNvSpPr/>
          <p:nvPr/>
        </p:nvSpPr>
        <p:spPr>
          <a:xfrm>
            <a:off x="550069" y="1694073"/>
            <a:ext cx="2414588" cy="277749"/>
          </a:xfrm>
          <a:prstGeom prst="rect">
            <a:avLst/>
          </a:prstGeom>
          <a:noFill/>
          <a:ln/>
        </p:spPr>
        <p:txBody>
          <a:bodyPr wrap="none" lIns="0" tIns="0" rIns="0" bIns="0" rtlCol="0" anchor="t"/>
          <a:lstStyle/>
          <a:p>
            <a:pPr algn="l" indent="0" marL="0">
              <a:lnSpc>
                <a:spcPts val="1575"/>
              </a:lnSpc>
              <a:buNone/>
            </a:pPr>
            <a:r>
              <a:rPr lang="en-US" sz="1575" b="1" spc="-32" kern="0" dirty="0">
                <a:solidFill>
                  <a:srgbClr val="9A6E1E"/>
                </a:solidFill>
                <a:latin typeface="Carlito" pitchFamily="34" charset="0"/>
                <a:ea typeface="Carlito" pitchFamily="34" charset="-122"/>
                <a:cs typeface="Carlito" pitchFamily="34" charset="-120"/>
              </a:rPr>
              <a:t>০১</a:t>
            </a:r>
            <a:endParaRPr lang="en-US" sz="1575" dirty="0"/>
          </a:p>
        </p:txBody>
      </p:sp>
      <p:sp>
        <p:nvSpPr>
          <p:cNvPr id="8" name="Text 6"/>
          <p:cNvSpPr/>
          <p:nvPr/>
        </p:nvSpPr>
        <p:spPr>
          <a:xfrm>
            <a:off x="550069" y="2008398"/>
            <a:ext cx="2414588" cy="183237"/>
          </a:xfrm>
          <a:prstGeom prst="rect">
            <a:avLst/>
          </a:prstGeom>
          <a:noFill/>
          <a:ln/>
        </p:spPr>
        <p:txBody>
          <a:bodyPr wrap="none" lIns="0" tIns="0" rIns="0" bIns="0" rtlCol="0" anchor="t"/>
          <a:lstStyle/>
          <a:p>
            <a:pPr algn="l" indent="0" marL="0">
              <a:lnSpc>
                <a:spcPts val="1336"/>
              </a:lnSpc>
              <a:buNone/>
            </a:pPr>
            <a:r>
              <a:rPr lang="en-US" sz="1069" b="1" dirty="0">
                <a:solidFill>
                  <a:srgbClr val="14342A"/>
                </a:solidFill>
                <a:latin typeface="Tinos" pitchFamily="34" charset="0"/>
                <a:ea typeface="Tinos" pitchFamily="34" charset="-122"/>
                <a:cs typeface="Tinos" pitchFamily="34" charset="-120"/>
              </a:rPr>
              <a:t>সম্পূর্ণ নকল</a:t>
            </a:r>
            <a:endParaRPr lang="en-US" sz="1069" dirty="0"/>
          </a:p>
        </p:txBody>
      </p:sp>
      <p:sp>
        <p:nvSpPr>
          <p:cNvPr id="9" name="Text 7"/>
          <p:cNvSpPr/>
          <p:nvPr/>
        </p:nvSpPr>
        <p:spPr>
          <a:xfrm>
            <a:off x="550069" y="2235212"/>
            <a:ext cx="2414588" cy="351028"/>
          </a:xfrm>
          <a:prstGeom prst="rect">
            <a:avLst/>
          </a:prstGeom>
          <a:noFill/>
          <a:ln/>
        </p:spPr>
        <p:txBody>
          <a:bodyPr wrap="square" lIns="0" tIns="0" rIns="0" bIns="0" rtlCol="0" anchor="t"/>
          <a:lstStyle/>
          <a:p>
            <a:pPr algn="l" indent="0" marL="0">
              <a:lnSpc>
                <a:spcPts val="1215"/>
              </a:lnSpc>
              <a:buNone/>
            </a:pPr>
            <a:r>
              <a:rPr lang="en-US" sz="800" dirty="0">
                <a:solidFill>
                  <a:srgbClr val="4A4A4A"/>
                </a:solidFill>
                <a:latin typeface="Carlito" pitchFamily="34" charset="0"/>
                <a:ea typeface="Carlito" pitchFamily="34" charset="-122"/>
                <a:cs typeface="Carlito" pitchFamily="34" charset="-120"/>
              </a:rPr>
              <a:t>নামহীন বা নকল ব্র্যান্ড, কোনো সক্রিয় উপাদান নেই। শুধু রঙ ও গন্ধ দিয়ে আসল পণ্যের অনুকরণ। সস্তা মূল্য ও সাধারণ প্যাকেজিং প্রধান লক্ষণ।</a:t>
            </a:r>
            <a:endParaRPr lang="en-US" sz="800" dirty="0"/>
          </a:p>
        </p:txBody>
      </p:sp>
      <p:sp>
        <p:nvSpPr>
          <p:cNvPr id="10" name="Text 8"/>
          <p:cNvSpPr/>
          <p:nvPr/>
        </p:nvSpPr>
        <p:spPr>
          <a:xfrm>
            <a:off x="3218259" y="1561914"/>
            <a:ext cx="2707481" cy="1556779"/>
          </a:xfrm>
          <a:prstGeom prst="roundRect">
            <a:avLst>
              <a:gd name="adj" fmla="val 7342"/>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1" name="Text 9"/>
          <p:cNvSpPr/>
          <p:nvPr/>
        </p:nvSpPr>
        <p:spPr>
          <a:xfrm>
            <a:off x="5536406" y="1665498"/>
            <a:ext cx="271463" cy="271463"/>
          </a:xfrm>
          <a:prstGeom prst="rect">
            <a:avLst/>
          </a:prstGeom>
          <a:noFill/>
          <a:ln/>
        </p:spPr>
        <p:txBody>
          <a:bodyPr wrap="none" lIns="0" tIns="0" rIns="0" bIns="0" rtlCol="0" anchor="ctr"/>
          <a:lstStyle/>
          <a:p>
            <a:pPr algn="ctr" indent="0" marL="0">
              <a:buNone/>
            </a:pPr>
            <a:r>
              <a:rPr lang="en-US" sz="2672" dirty="0">
                <a:solidFill>
                  <a:srgbClr val="C7912C"/>
                </a:solidFill>
                <a:latin typeface="Segoe UI Symbol" pitchFamily="34" charset="0"/>
                <a:ea typeface="Segoe UI Symbol" pitchFamily="34" charset="-122"/>
                <a:cs typeface="Segoe UI Symbol" pitchFamily="34" charset="-120"/>
              </a:rPr>
              <a:t>⚗</a:t>
            </a:r>
            <a:endParaRPr lang="en-US" sz="2672" dirty="0"/>
          </a:p>
        </p:txBody>
      </p:sp>
      <p:sp>
        <p:nvSpPr>
          <p:cNvPr id="12" name="Text 10"/>
          <p:cNvSpPr/>
          <p:nvPr/>
        </p:nvSpPr>
        <p:spPr>
          <a:xfrm>
            <a:off x="3364706" y="1694073"/>
            <a:ext cx="2414588" cy="277749"/>
          </a:xfrm>
          <a:prstGeom prst="rect">
            <a:avLst/>
          </a:prstGeom>
          <a:noFill/>
          <a:ln/>
        </p:spPr>
        <p:txBody>
          <a:bodyPr wrap="none" lIns="0" tIns="0" rIns="0" bIns="0" rtlCol="0" anchor="t"/>
          <a:lstStyle/>
          <a:p>
            <a:pPr algn="l" indent="0" marL="0">
              <a:lnSpc>
                <a:spcPts val="1575"/>
              </a:lnSpc>
              <a:buNone/>
            </a:pPr>
            <a:r>
              <a:rPr lang="en-US" sz="1575" b="1" spc="-32" kern="0" dirty="0">
                <a:solidFill>
                  <a:srgbClr val="9A6E1E"/>
                </a:solidFill>
                <a:latin typeface="Carlito" pitchFamily="34" charset="0"/>
                <a:ea typeface="Carlito" pitchFamily="34" charset="-122"/>
                <a:cs typeface="Carlito" pitchFamily="34" charset="-120"/>
              </a:rPr>
              <a:t>০২</a:t>
            </a:r>
            <a:endParaRPr lang="en-US" sz="1575" dirty="0"/>
          </a:p>
        </p:txBody>
      </p:sp>
      <p:sp>
        <p:nvSpPr>
          <p:cNvPr id="13" name="Text 11"/>
          <p:cNvSpPr/>
          <p:nvPr/>
        </p:nvSpPr>
        <p:spPr>
          <a:xfrm>
            <a:off x="3364706" y="2008398"/>
            <a:ext cx="2414588" cy="183237"/>
          </a:xfrm>
          <a:prstGeom prst="rect">
            <a:avLst/>
          </a:prstGeom>
          <a:noFill/>
          <a:ln/>
        </p:spPr>
        <p:txBody>
          <a:bodyPr wrap="none" lIns="0" tIns="0" rIns="0" bIns="0" rtlCol="0" anchor="t"/>
          <a:lstStyle/>
          <a:p>
            <a:pPr algn="l" indent="0" marL="0">
              <a:lnSpc>
                <a:spcPts val="1336"/>
              </a:lnSpc>
              <a:buNone/>
            </a:pPr>
            <a:r>
              <a:rPr lang="en-US" sz="1069" b="1" dirty="0">
                <a:solidFill>
                  <a:srgbClr val="14342A"/>
                </a:solidFill>
                <a:latin typeface="Tinos" pitchFamily="34" charset="0"/>
                <a:ea typeface="Tinos" pitchFamily="34" charset="-122"/>
                <a:cs typeface="Tinos" pitchFamily="34" charset="-120"/>
              </a:rPr>
              <a:t>ভুল উপাদান</a:t>
            </a:r>
            <a:endParaRPr lang="en-US" sz="1069" dirty="0"/>
          </a:p>
        </p:txBody>
      </p:sp>
      <p:sp>
        <p:nvSpPr>
          <p:cNvPr id="14" name="Text 12"/>
          <p:cNvSpPr/>
          <p:nvPr/>
        </p:nvSpPr>
        <p:spPr>
          <a:xfrm>
            <a:off x="3364706" y="2235212"/>
            <a:ext cx="2414588" cy="351028"/>
          </a:xfrm>
          <a:prstGeom prst="rect">
            <a:avLst/>
          </a:prstGeom>
          <a:noFill/>
          <a:ln/>
        </p:spPr>
        <p:txBody>
          <a:bodyPr wrap="square" lIns="0" tIns="0" rIns="0" bIns="0" rtlCol="0" anchor="t"/>
          <a:lstStyle/>
          <a:p>
            <a:pPr algn="l" indent="0" marL="0">
              <a:lnSpc>
                <a:spcPts val="1215"/>
              </a:lnSpc>
              <a:buNone/>
            </a:pPr>
            <a:r>
              <a:rPr lang="en-US" sz="800" dirty="0">
                <a:solidFill>
                  <a:srgbClr val="4A4A4A"/>
                </a:solidFill>
                <a:latin typeface="Carlito" pitchFamily="34" charset="0"/>
                <a:ea typeface="Carlito" pitchFamily="34" charset="-122"/>
                <a:cs typeface="Carlito" pitchFamily="34" charset="-120"/>
              </a:rPr>
              <a:t>সস্তা ও ভিন্ন রাসায়নিক দিয়ে আসল পণ্যের নামে বিক্রি। দেখতে শুনতে অনুরূপ কিন্তু কার্যকারিতা শূন্য বা বিপরীত। ক্ষেত্রে ফসলের ক্ষতি বেশি।</a:t>
            </a:r>
            <a:endParaRPr lang="en-US" sz="800" dirty="0"/>
          </a:p>
        </p:txBody>
      </p:sp>
      <p:sp>
        <p:nvSpPr>
          <p:cNvPr id="15" name="Text 13"/>
          <p:cNvSpPr/>
          <p:nvPr/>
        </p:nvSpPr>
        <p:spPr>
          <a:xfrm>
            <a:off x="6032897" y="1561914"/>
            <a:ext cx="2707481" cy="1556779"/>
          </a:xfrm>
          <a:prstGeom prst="roundRect">
            <a:avLst>
              <a:gd name="adj" fmla="val 7342"/>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6" name="Text 14"/>
          <p:cNvSpPr/>
          <p:nvPr/>
        </p:nvSpPr>
        <p:spPr>
          <a:xfrm>
            <a:off x="8351044" y="1665498"/>
            <a:ext cx="271463" cy="271463"/>
          </a:xfrm>
          <a:prstGeom prst="rect">
            <a:avLst/>
          </a:prstGeom>
          <a:noFill/>
          <a:ln/>
        </p:spPr>
        <p:txBody>
          <a:bodyPr wrap="none" lIns="0" tIns="0" rIns="0" bIns="0" rtlCol="0" anchor="ctr"/>
          <a:lstStyle/>
          <a:p>
            <a:pPr algn="ctr" indent="0" marL="0">
              <a:buNone/>
            </a:pPr>
            <a:r>
              <a:rPr lang="en-US" sz="2672" dirty="0">
                <a:solidFill>
                  <a:srgbClr val="C7912C"/>
                </a:solidFill>
                <a:latin typeface="Segoe UI Symbol" pitchFamily="34" charset="0"/>
                <a:ea typeface="Segoe UI Symbol" pitchFamily="34" charset="-122"/>
                <a:cs typeface="Segoe UI Symbol" pitchFamily="34" charset="-120"/>
              </a:rPr>
              <a:t>◐</a:t>
            </a:r>
            <a:endParaRPr lang="en-US" sz="2672" dirty="0"/>
          </a:p>
        </p:txBody>
      </p:sp>
      <p:sp>
        <p:nvSpPr>
          <p:cNvPr id="17" name="Text 15"/>
          <p:cNvSpPr/>
          <p:nvPr/>
        </p:nvSpPr>
        <p:spPr>
          <a:xfrm>
            <a:off x="6179344" y="1694073"/>
            <a:ext cx="2414588" cy="277749"/>
          </a:xfrm>
          <a:prstGeom prst="rect">
            <a:avLst/>
          </a:prstGeom>
          <a:noFill/>
          <a:ln/>
        </p:spPr>
        <p:txBody>
          <a:bodyPr wrap="none" lIns="0" tIns="0" rIns="0" bIns="0" rtlCol="0" anchor="t"/>
          <a:lstStyle/>
          <a:p>
            <a:pPr algn="l" indent="0" marL="0">
              <a:lnSpc>
                <a:spcPts val="1575"/>
              </a:lnSpc>
              <a:buNone/>
            </a:pPr>
            <a:r>
              <a:rPr lang="en-US" sz="1575" b="1" spc="-32" kern="0" dirty="0">
                <a:solidFill>
                  <a:srgbClr val="9A6E1E"/>
                </a:solidFill>
                <a:latin typeface="Carlito" pitchFamily="34" charset="0"/>
                <a:ea typeface="Carlito" pitchFamily="34" charset="-122"/>
                <a:cs typeface="Carlito" pitchFamily="34" charset="-120"/>
              </a:rPr>
              <a:t>০৩</a:t>
            </a:r>
            <a:endParaRPr lang="en-US" sz="1575" dirty="0"/>
          </a:p>
        </p:txBody>
      </p:sp>
      <p:sp>
        <p:nvSpPr>
          <p:cNvPr id="18" name="Text 16"/>
          <p:cNvSpPr/>
          <p:nvPr/>
        </p:nvSpPr>
        <p:spPr>
          <a:xfrm>
            <a:off x="6179344" y="2008398"/>
            <a:ext cx="2414588" cy="183237"/>
          </a:xfrm>
          <a:prstGeom prst="rect">
            <a:avLst/>
          </a:prstGeom>
          <a:noFill/>
          <a:ln/>
        </p:spPr>
        <p:txBody>
          <a:bodyPr wrap="none" lIns="0" tIns="0" rIns="0" bIns="0" rtlCol="0" anchor="t"/>
          <a:lstStyle/>
          <a:p>
            <a:pPr algn="l" indent="0" marL="0">
              <a:lnSpc>
                <a:spcPts val="1336"/>
              </a:lnSpc>
              <a:buNone/>
            </a:pPr>
            <a:r>
              <a:rPr lang="en-US" sz="1069" b="1" dirty="0">
                <a:solidFill>
                  <a:srgbClr val="14342A"/>
                </a:solidFill>
                <a:latin typeface="Tinos" pitchFamily="34" charset="0"/>
                <a:ea typeface="Tinos" pitchFamily="34" charset="-122"/>
                <a:cs typeface="Tinos" pitchFamily="34" charset="-120"/>
              </a:rPr>
              <a:t>কম ঘনমাত্রা</a:t>
            </a:r>
            <a:endParaRPr lang="en-US" sz="1069" dirty="0"/>
          </a:p>
        </p:txBody>
      </p:sp>
      <p:sp>
        <p:nvSpPr>
          <p:cNvPr id="19" name="Text 17"/>
          <p:cNvSpPr/>
          <p:nvPr/>
        </p:nvSpPr>
        <p:spPr>
          <a:xfrm>
            <a:off x="6179344" y="2235212"/>
            <a:ext cx="2414588" cy="351028"/>
          </a:xfrm>
          <a:prstGeom prst="rect">
            <a:avLst/>
          </a:prstGeom>
          <a:noFill/>
          <a:ln/>
        </p:spPr>
        <p:txBody>
          <a:bodyPr wrap="square" lIns="0" tIns="0" rIns="0" bIns="0" rtlCol="0" anchor="t"/>
          <a:lstStyle/>
          <a:p>
            <a:pPr algn="l" indent="0" marL="0">
              <a:lnSpc>
                <a:spcPts val="1215"/>
              </a:lnSpc>
              <a:buNone/>
            </a:pPr>
            <a:r>
              <a:rPr lang="en-US" sz="800" dirty="0">
                <a:solidFill>
                  <a:srgbClr val="4A4A4A"/>
                </a:solidFill>
                <a:latin typeface="Carlito" pitchFamily="34" charset="0"/>
                <a:ea typeface="Carlito" pitchFamily="34" charset="-122"/>
                <a:cs typeface="Carlito" pitchFamily="34" charset="-120"/>
              </a:rPr>
              <a:t>উপাদান আছে কিন্তু অনুমোদিতের চেয়ে অনেক কম। প্রথমে কিছুটা কাজ করে, পরে পোকা ফিরে আসে। প্রতিরোধ ক্ষমতা তৈরির প্রধান কারণ।</a:t>
            </a:r>
            <a:endParaRPr lang="en-US" sz="800" dirty="0"/>
          </a:p>
        </p:txBody>
      </p:sp>
      <p:sp>
        <p:nvSpPr>
          <p:cNvPr id="20" name="Text 18"/>
          <p:cNvSpPr/>
          <p:nvPr/>
        </p:nvSpPr>
        <p:spPr>
          <a:xfrm>
            <a:off x="403622" y="3225850"/>
            <a:ext cx="8336756" cy="1556891"/>
          </a:xfrm>
          <a:prstGeom prst="roundRect">
            <a:avLst>
              <a:gd name="adj" fmla="val 7342"/>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21" name="Text 19"/>
          <p:cNvSpPr/>
          <p:nvPr/>
        </p:nvSpPr>
        <p:spPr>
          <a:xfrm>
            <a:off x="550069" y="3358009"/>
            <a:ext cx="365760" cy="277749"/>
          </a:xfrm>
          <a:prstGeom prst="rect">
            <a:avLst/>
          </a:prstGeom>
          <a:noFill/>
          <a:ln/>
        </p:spPr>
        <p:txBody>
          <a:bodyPr wrap="none" lIns="0" tIns="0" rIns="0" bIns="0" rtlCol="0" anchor="t"/>
          <a:lstStyle/>
          <a:p>
            <a:pPr algn="l" indent="0" marL="0">
              <a:lnSpc>
                <a:spcPts val="1575"/>
              </a:lnSpc>
              <a:buNone/>
            </a:pPr>
            <a:r>
              <a:rPr lang="en-US" sz="1575" b="1" spc="-32" kern="0" dirty="0">
                <a:solidFill>
                  <a:srgbClr val="9A6E1E"/>
                </a:solidFill>
                <a:latin typeface="Carlito" pitchFamily="34" charset="0"/>
                <a:ea typeface="Carlito" pitchFamily="34" charset="-122"/>
                <a:cs typeface="Carlito" pitchFamily="34" charset="-120"/>
              </a:rPr>
              <a:t>০৪</a:t>
            </a:r>
            <a:endParaRPr lang="en-US" sz="1575" dirty="0"/>
          </a:p>
        </p:txBody>
      </p:sp>
      <p:sp>
        <p:nvSpPr>
          <p:cNvPr id="22" name="Text 20"/>
          <p:cNvSpPr/>
          <p:nvPr/>
        </p:nvSpPr>
        <p:spPr>
          <a:xfrm>
            <a:off x="878681" y="3358009"/>
            <a:ext cx="3880771" cy="183237"/>
          </a:xfrm>
          <a:prstGeom prst="rect">
            <a:avLst/>
          </a:prstGeom>
          <a:noFill/>
          <a:ln/>
        </p:spPr>
        <p:txBody>
          <a:bodyPr wrap="square" lIns="0" tIns="0" rIns="0" bIns="0" rtlCol="0" anchor="t"/>
          <a:lstStyle/>
          <a:p>
            <a:pPr algn="l" indent="0" marL="0">
              <a:lnSpc>
                <a:spcPts val="1336"/>
              </a:lnSpc>
              <a:buNone/>
            </a:pPr>
            <a:r>
              <a:rPr lang="en-US" sz="1069" b="1" dirty="0">
                <a:solidFill>
                  <a:srgbClr val="14342A"/>
                </a:solidFill>
                <a:latin typeface="Tinos" pitchFamily="34" charset="0"/>
                <a:ea typeface="Tinos" pitchFamily="34" charset="-122"/>
                <a:cs typeface="Tinos" pitchFamily="34" charset="-120"/>
              </a:rPr>
              <a:t>মেয়াদোত্তীর্ণ পুনঃপ্যাকেজিং</a:t>
            </a:r>
            <a:endParaRPr lang="en-US" sz="1069" dirty="0"/>
          </a:p>
        </p:txBody>
      </p:sp>
      <p:sp>
        <p:nvSpPr>
          <p:cNvPr id="23" name="Text 21"/>
          <p:cNvSpPr/>
          <p:nvPr/>
        </p:nvSpPr>
        <p:spPr>
          <a:xfrm>
            <a:off x="878681" y="3584823"/>
            <a:ext cx="3593306" cy="351028"/>
          </a:xfrm>
          <a:prstGeom prst="rect">
            <a:avLst/>
          </a:prstGeom>
          <a:noFill/>
          <a:ln/>
        </p:spPr>
        <p:txBody>
          <a:bodyPr wrap="square" lIns="0" tIns="0" rIns="0" bIns="0" rtlCol="0" anchor="t"/>
          <a:lstStyle/>
          <a:p>
            <a:pPr algn="l" indent="0" marL="0">
              <a:lnSpc>
                <a:spcPts val="1215"/>
              </a:lnSpc>
              <a:buNone/>
            </a:pPr>
            <a:r>
              <a:rPr lang="en-US" sz="800" dirty="0">
                <a:solidFill>
                  <a:srgbClr val="4A4A4A"/>
                </a:solidFill>
                <a:latin typeface="Carlito" pitchFamily="34" charset="0"/>
                <a:ea typeface="Carlito" pitchFamily="34" charset="-122"/>
                <a:cs typeface="Carlito" pitchFamily="34" charset="-120"/>
              </a:rPr>
              <a:t>পুরোনো ও মেয়াদোত্তীর্ণ স্টক নতুন লেবেলে পুনঃবিক্রি। রাসায়নিক পরিবর্তিত হয়ে বিষাক্ত বা নিষ্ক্রিয় হয়ে যায়। নতুন ব্যাচ নম্বর ও তারিখ দেখে শনাক্ত করা কঠিন।</a:t>
            </a:r>
            <a:endParaRPr lang="en-US" sz="800" dirty="0"/>
          </a:p>
        </p:txBody>
      </p:sp>
      <p:sp>
        <p:nvSpPr>
          <p:cNvPr id="24" name="Shape 22"/>
          <p:cNvSpPr/>
          <p:nvPr/>
        </p:nvSpPr>
        <p:spPr>
          <a:xfrm>
            <a:off x="4675584" y="3358009"/>
            <a:ext cx="0" cy="1292572"/>
          </a:xfrm>
          <a:prstGeom prst="line">
            <a:avLst/>
          </a:prstGeom>
          <a:noFill/>
          <a:ln w="7144">
            <a:solidFill>
              <a:srgbClr val="D9D2BF"/>
            </a:solidFill>
            <a:prstDash val="dash"/>
          </a:ln>
        </p:spPr>
        <p:txBody>
          <a:bodyPr/>
          <a:p/>
        </p:txBody>
      </p:sp>
      <p:sp>
        <p:nvSpPr>
          <p:cNvPr id="25" name="Text 23"/>
          <p:cNvSpPr/>
          <p:nvPr/>
        </p:nvSpPr>
        <p:spPr>
          <a:xfrm>
            <a:off x="4879181" y="3358009"/>
            <a:ext cx="365760" cy="277749"/>
          </a:xfrm>
          <a:prstGeom prst="rect">
            <a:avLst/>
          </a:prstGeom>
          <a:noFill/>
          <a:ln/>
        </p:spPr>
        <p:txBody>
          <a:bodyPr wrap="none" lIns="0" tIns="0" rIns="0" bIns="0" rtlCol="0" anchor="t"/>
          <a:lstStyle/>
          <a:p>
            <a:pPr algn="l" indent="0" marL="0">
              <a:lnSpc>
                <a:spcPts val="1575"/>
              </a:lnSpc>
              <a:buNone/>
            </a:pPr>
            <a:r>
              <a:rPr lang="en-US" sz="1575" b="1" spc="-32" kern="0" dirty="0">
                <a:solidFill>
                  <a:srgbClr val="9A6E1E"/>
                </a:solidFill>
                <a:latin typeface="Carlito" pitchFamily="34" charset="0"/>
                <a:ea typeface="Carlito" pitchFamily="34" charset="-122"/>
                <a:cs typeface="Carlito" pitchFamily="34" charset="-120"/>
              </a:rPr>
              <a:t>০৫</a:t>
            </a:r>
            <a:endParaRPr lang="en-US" sz="1575" dirty="0"/>
          </a:p>
        </p:txBody>
      </p:sp>
      <p:sp>
        <p:nvSpPr>
          <p:cNvPr id="26" name="Text 24"/>
          <p:cNvSpPr/>
          <p:nvPr/>
        </p:nvSpPr>
        <p:spPr>
          <a:xfrm>
            <a:off x="5207794" y="3358009"/>
            <a:ext cx="3386137" cy="183237"/>
          </a:xfrm>
          <a:prstGeom prst="rect">
            <a:avLst/>
          </a:prstGeom>
          <a:noFill/>
          <a:ln/>
        </p:spPr>
        <p:txBody>
          <a:bodyPr wrap="none" lIns="0" tIns="0" rIns="0" bIns="0" rtlCol="0" anchor="t"/>
          <a:lstStyle/>
          <a:p>
            <a:pPr algn="l" indent="0" marL="0">
              <a:lnSpc>
                <a:spcPts val="1336"/>
              </a:lnSpc>
              <a:buNone/>
            </a:pPr>
            <a:r>
              <a:rPr lang="en-US" sz="1069" b="1" dirty="0">
                <a:solidFill>
                  <a:srgbClr val="14342A"/>
                </a:solidFill>
                <a:latin typeface="Tinos" pitchFamily="34" charset="0"/>
                <a:ea typeface="Tinos" pitchFamily="34" charset="-122"/>
                <a:cs typeface="Tinos" pitchFamily="34" charset="-120"/>
              </a:rPr>
              <a:t>অননুমোদিত মিশ্রণ</a:t>
            </a:r>
            <a:endParaRPr lang="en-US" sz="1069" dirty="0"/>
          </a:p>
        </p:txBody>
      </p:sp>
      <p:sp>
        <p:nvSpPr>
          <p:cNvPr id="27" name="Text 25"/>
          <p:cNvSpPr/>
          <p:nvPr/>
        </p:nvSpPr>
        <p:spPr>
          <a:xfrm>
            <a:off x="5207794" y="3584823"/>
            <a:ext cx="3386138" cy="351028"/>
          </a:xfrm>
          <a:prstGeom prst="rect">
            <a:avLst/>
          </a:prstGeom>
          <a:noFill/>
          <a:ln/>
        </p:spPr>
        <p:txBody>
          <a:bodyPr wrap="square" lIns="0" tIns="0" rIns="0" bIns="0" rtlCol="0" anchor="t"/>
          <a:lstStyle/>
          <a:p>
            <a:pPr algn="l" indent="0" marL="0">
              <a:lnSpc>
                <a:spcPts val="1215"/>
              </a:lnSpc>
              <a:buNone/>
            </a:pPr>
            <a:r>
              <a:rPr lang="en-US" sz="800" dirty="0">
                <a:solidFill>
                  <a:srgbClr val="4A4A4A"/>
                </a:solidFill>
                <a:latin typeface="Carlito" pitchFamily="34" charset="0"/>
                <a:ea typeface="Carlito" pitchFamily="34" charset="-122"/>
                <a:cs typeface="Carlito" pitchFamily="34" charset="-120"/>
              </a:rPr>
              <a:t>একাধিক রাসায়নিক অননুমোদিতভাবে মিশ্রিত। কোনো পরীক্ষা ছাড়াই কৃষকের কাছে বিক্রি। ফসল, মাটি, ও স্বাস্থ্যের জন্য অপূরণীয় ক্ষতি।</a:t>
            </a:r>
            <a:endParaRPr lang="en-US" sz="800" dirty="0"/>
          </a:p>
        </p:txBody>
      </p:sp>
      <p:pic>
        <p:nvPicPr>
          <p:cNvPr id="28" name="Image 0" descr="preencoded.png">    </p:cNvPr>
          <p:cNvPicPr>
            <a:picLocks noChangeAspect="1"/>
          </p:cNvPicPr>
          <p:nvPr/>
        </p:nvPicPr>
        <p:blipFill>
          <a:blip r:embed="rId1"/>
          <a:stretch>
            <a:fillRect/>
          </a:stretch>
        </p:blipFill>
        <p:spPr>
          <a:xfrm>
            <a:off x="0" y="5100638"/>
            <a:ext cx="9144000" cy="42863"/>
          </a:xfrm>
          <a:prstGeom prst="rect">
            <a:avLst/>
          </a:prstGeom>
        </p:spPr>
      </p:pic>
      <p:sp>
        <p:nvSpPr>
          <p:cNvPr id="29" name="Text 26"/>
          <p:cNvSpPr/>
          <p:nvPr/>
        </p:nvSpPr>
        <p:spPr>
          <a:xfrm>
            <a:off x="8694725" y="4706392"/>
            <a:ext cx="30736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০৮</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00050" y="417240"/>
            <a:ext cx="3110320"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০২ · ভেজাল চেনার বিজ্ঞান</a:t>
            </a:r>
            <a:endParaRPr lang="en-US" sz="1350" dirty="0"/>
          </a:p>
        </p:txBody>
      </p:sp>
      <p:sp>
        <p:nvSpPr>
          <p:cNvPr id="3" name="Text 1"/>
          <p:cNvSpPr/>
          <p:nvPr/>
        </p:nvSpPr>
        <p:spPr>
          <a:xfrm>
            <a:off x="400050" y="768623"/>
            <a:ext cx="8636000" cy="509809"/>
          </a:xfrm>
          <a:prstGeom prst="rect">
            <a:avLst/>
          </a:prstGeom>
          <a:noFill/>
          <a:ln/>
        </p:spPr>
        <p:txBody>
          <a:bodyPr wrap="square" lIns="0" tIns="0" rIns="0" bIns="0" rtlCol="0" anchor="t"/>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আসল বনাম ভেজাল — প্যাকেজিং পার্থক্য</a:t>
            </a:r>
            <a:endParaRPr lang="en-US" sz="3150" dirty="0"/>
          </a:p>
        </p:txBody>
      </p:sp>
      <p:sp>
        <p:nvSpPr>
          <p:cNvPr id="4" name="Text 2"/>
          <p:cNvSpPr/>
          <p:nvPr/>
        </p:nvSpPr>
        <p:spPr>
          <a:xfrm>
            <a:off x="403622" y="1344253"/>
            <a:ext cx="3864769" cy="3027722"/>
          </a:xfrm>
          <a:prstGeom prst="roundRect">
            <a:avLst>
              <a:gd name="adj" fmla="val 4404"/>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5" name="Text 3"/>
          <p:cNvSpPr/>
          <p:nvPr/>
        </p:nvSpPr>
        <p:spPr>
          <a:xfrm>
            <a:off x="407194" y="1347825"/>
            <a:ext cx="3857625" cy="582885"/>
          </a:xfrm>
          <a:prstGeom prst="rect">
            <a:avLst/>
          </a:prstGeom>
          <a:solidFill>
            <a:srgbClr val="1E4D3B"/>
          </a:solidFill>
          <a:ln/>
        </p:spPr>
        <p:txBody>
          <a:bodyPr wrap="square" rtlCol="0" anchor="ctr"/>
          <a:lstStyle/>
          <a:p>
            <a:pPr indent="0" marL="0">
              <a:buNone/>
            </a:pPr>
            <a:endParaRPr lang="en-US" dirty="0"/>
          </a:p>
        </p:txBody>
      </p:sp>
      <p:sp>
        <p:nvSpPr>
          <p:cNvPr id="6" name="Text 4"/>
          <p:cNvSpPr/>
          <p:nvPr/>
        </p:nvSpPr>
        <p:spPr>
          <a:xfrm>
            <a:off x="564356" y="1539255"/>
            <a:ext cx="200025" cy="200025"/>
          </a:xfrm>
          <a:prstGeom prst="rect">
            <a:avLst/>
          </a:prstGeom>
          <a:noFill/>
          <a:ln/>
        </p:spPr>
        <p:txBody>
          <a:bodyPr wrap="none" lIns="0" tIns="0" rIns="0" bIns="0" rtlCol="0" anchor="ctr"/>
          <a:lstStyle/>
          <a:p>
            <a:pPr algn="ctr" indent="0" marL="0">
              <a:buNone/>
            </a:pPr>
            <a:r>
              <a:rPr lang="en-US" sz="1969" dirty="0">
                <a:solidFill>
                  <a:srgbClr val="FAF6EE"/>
                </a:solidFill>
                <a:latin typeface="Segoe UI Symbol" pitchFamily="34" charset="0"/>
                <a:ea typeface="Segoe UI Symbol" pitchFamily="34" charset="-122"/>
                <a:cs typeface="Segoe UI Symbol" pitchFamily="34" charset="-120"/>
              </a:rPr>
              <a:t>✓</a:t>
            </a:r>
            <a:endParaRPr lang="en-US" sz="1969" dirty="0"/>
          </a:p>
        </p:txBody>
      </p:sp>
      <p:sp>
        <p:nvSpPr>
          <p:cNvPr id="7" name="Text 5"/>
          <p:cNvSpPr/>
          <p:nvPr/>
        </p:nvSpPr>
        <p:spPr>
          <a:xfrm>
            <a:off x="828758" y="1462125"/>
            <a:ext cx="913140" cy="91440"/>
          </a:xfrm>
          <a:prstGeom prst="rect">
            <a:avLst/>
          </a:prstGeom>
          <a:noFill/>
          <a:ln/>
        </p:spPr>
        <p:txBody>
          <a:bodyPr wrap="none" lIns="0" tIns="0" rIns="0" bIns="0" rtlCol="0" anchor="t">
            <a:normAutofit/>
          </a:bodyPr>
          <a:lstStyle/>
          <a:p>
            <a:pPr algn="l" indent="0" marL="0">
              <a:lnSpc>
                <a:spcPts val="872"/>
              </a:lnSpc>
              <a:buNone/>
            </a:pPr>
            <a:r>
              <a:rPr lang="en-US" sz="800" spc="90" kern="0" dirty="0">
                <a:solidFill>
                  <a:srgbClr val="FAF6EE">
                    <a:alpha val="85000"/>
                  </a:srgbClr>
                </a:solidFill>
                <a:latin typeface="Carlito" pitchFamily="34" charset="0"/>
                <a:ea typeface="Carlito" pitchFamily="34" charset="-122"/>
                <a:cs typeface="Carlito" pitchFamily="34" charset="-120"/>
              </a:rPr>
              <a:t>VERIFIED · আসল</a:t>
            </a:r>
            <a:endParaRPr lang="en-US" sz="800" dirty="0"/>
          </a:p>
        </p:txBody>
      </p:sp>
      <p:sp>
        <p:nvSpPr>
          <p:cNvPr id="8" name="Text 6"/>
          <p:cNvSpPr/>
          <p:nvPr/>
        </p:nvSpPr>
        <p:spPr>
          <a:xfrm>
            <a:off x="850106" y="1572853"/>
            <a:ext cx="867394" cy="243557"/>
          </a:xfrm>
          <a:prstGeom prst="rect">
            <a:avLst/>
          </a:prstGeom>
          <a:noFill/>
          <a:ln/>
        </p:spPr>
        <p:txBody>
          <a:bodyPr wrap="none" lIns="0" tIns="0" rIns="0" bIns="0" rtlCol="0" anchor="t"/>
          <a:lstStyle/>
          <a:p>
            <a:pPr algn="l" indent="0" marL="0">
              <a:lnSpc>
                <a:spcPts val="1918"/>
              </a:lnSpc>
              <a:buNone/>
            </a:pPr>
            <a:r>
              <a:rPr lang="en-US" sz="1238" b="1" dirty="0">
                <a:solidFill>
                  <a:srgbClr val="FAF6EE"/>
                </a:solidFill>
                <a:latin typeface="Tinos" pitchFamily="34" charset="0"/>
                <a:ea typeface="Tinos" pitchFamily="34" charset="-122"/>
                <a:cs typeface="Tinos" pitchFamily="34" charset="-120"/>
              </a:rPr>
              <a:t>আসল পণ্য</a:t>
            </a:r>
            <a:endParaRPr lang="en-US" sz="1238" dirty="0"/>
          </a:p>
        </p:txBody>
      </p:sp>
      <p:sp>
        <p:nvSpPr>
          <p:cNvPr id="9" name="Text 7"/>
          <p:cNvSpPr/>
          <p:nvPr/>
        </p:nvSpPr>
        <p:spPr>
          <a:xfrm>
            <a:off x="564356" y="2059298"/>
            <a:ext cx="3543300" cy="1076849"/>
          </a:xfrm>
          <a:prstGeom prst="rect">
            <a:avLst/>
          </a:prstGeom>
          <a:noFill/>
          <a:ln/>
        </p:spPr>
        <p:txBody>
          <a:bodyPr wrap="square" lIns="0" tIns="0" rIns="0" bIns="0" rtlCol="0" anchor="t"/>
          <a:lstStyle/>
          <a:p>
            <a:pPr algn="l" indent="0" marL="0">
              <a:lnSpc>
                <a:spcPts val="1223"/>
              </a:lnSpc>
              <a:spcAft>
                <a:spcPts val="788"/>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নির্মাতার অস্বচ্ছ, মসৃণ ও মানসম্মত প্যাকেজিং</a:t>
            </a:r>
            <a:endParaRPr lang="en-US" sz="816" dirty="0"/>
          </a:p>
          <a:p>
            <a:pPr algn="l" indent="0" marL="0">
              <a:lnSpc>
                <a:spcPts val="1223"/>
              </a:lnSpc>
              <a:spcAft>
                <a:spcPts val="788"/>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হোলোগ্রাম সিল ও ট্যাম্পার-প্রুফ ক্যাপ, সম্পূর্ণ অক্ষত</a:t>
            </a:r>
            <a:endParaRPr lang="en-US" sz="816" dirty="0"/>
          </a:p>
          <a:p>
            <a:pPr algn="l" indent="0" marL="0">
              <a:lnSpc>
                <a:spcPts val="1223"/>
              </a:lnSpc>
              <a:spcAft>
                <a:spcPts val="788"/>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ব্যাচ নম্বর ও উৎপাদন তারিখ স্পষ্ট, মুদ্রিত বা খোদাই</a:t>
            </a:r>
            <a:endParaRPr lang="en-US" sz="816" dirty="0"/>
          </a:p>
          <a:p>
            <a:pPr algn="l" indent="0" marL="0">
              <a:lnSpc>
                <a:spcPts val="1223"/>
              </a:lnSpc>
              <a:spcAft>
                <a:spcPts val="788"/>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প্যাকেজিং উপাদান নমনীয় কিন্তু মজবুত, ক্ষতিগ্রস্ত নয়</a:t>
            </a:r>
            <a:endParaRPr lang="en-US" sz="816" dirty="0"/>
          </a:p>
        </p:txBody>
      </p:sp>
      <p:sp>
        <p:nvSpPr>
          <p:cNvPr id="10" name="Text 8"/>
          <p:cNvSpPr/>
          <p:nvPr/>
        </p:nvSpPr>
        <p:spPr>
          <a:xfrm>
            <a:off x="4407694" y="1347825"/>
            <a:ext cx="328613" cy="328613"/>
          </a:xfrm>
          <a:prstGeom prst="ellipse">
            <a:avLst/>
          </a:prstGeom>
          <a:solidFill>
            <a:srgbClr val="F2ECDD"/>
          </a:solidFill>
          <a:ln w="14288">
            <a:solidFill>
              <a:srgbClr val="D9D2BF"/>
            </a:solidFill>
            <a:prstDash val="solid"/>
          </a:ln>
        </p:spPr>
        <p:txBody>
          <a:bodyPr wrap="square" rtlCol="0" anchor="ctr"/>
          <a:lstStyle/>
          <a:p>
            <a:pPr indent="0" marL="0">
              <a:buNone/>
            </a:pPr>
            <a:endParaRPr lang="en-US" dirty="0"/>
          </a:p>
        </p:txBody>
      </p:sp>
      <p:sp>
        <p:nvSpPr>
          <p:cNvPr id="11" name="Text 9"/>
          <p:cNvSpPr/>
          <p:nvPr/>
        </p:nvSpPr>
        <p:spPr>
          <a:xfrm>
            <a:off x="4400550" y="1340681"/>
            <a:ext cx="342900" cy="342900"/>
          </a:xfrm>
          <a:prstGeom prst="rect">
            <a:avLst/>
          </a:prstGeom>
          <a:noFill/>
          <a:ln/>
        </p:spPr>
        <p:txBody>
          <a:bodyPr wrap="none" lIns="0" tIns="0" rIns="0" bIns="0" rtlCol="0" anchor="ctr"/>
          <a:lstStyle/>
          <a:p>
            <a:pPr algn="ctr" indent="0" marL="0">
              <a:lnSpc>
                <a:spcPts val="1221"/>
              </a:lnSpc>
              <a:buNone/>
            </a:pPr>
            <a:r>
              <a:rPr lang="en-US" sz="800" b="1" spc="32" kern="0" dirty="0">
                <a:solidFill>
                  <a:srgbClr val="1E4D3B"/>
                </a:solidFill>
                <a:latin typeface="Carlito" pitchFamily="34" charset="0"/>
                <a:ea typeface="Carlito" pitchFamily="34" charset="-122"/>
                <a:cs typeface="Carlito" pitchFamily="34" charset="-120"/>
              </a:rPr>
              <a:t>VS</a:t>
            </a:r>
            <a:endParaRPr lang="en-US" sz="800" dirty="0"/>
          </a:p>
        </p:txBody>
      </p:sp>
      <p:sp>
        <p:nvSpPr>
          <p:cNvPr id="12" name="Text 10"/>
          <p:cNvSpPr/>
          <p:nvPr/>
        </p:nvSpPr>
        <p:spPr>
          <a:xfrm>
            <a:off x="4564856" y="1740731"/>
            <a:ext cx="14288" cy="2577666"/>
          </a:xfrm>
          <a:prstGeom prst="rect">
            <a:avLst/>
          </a:prstGeom>
          <a:solidFill>
            <a:srgbClr val="D9D2BF"/>
          </a:solidFill>
          <a:ln/>
        </p:spPr>
        <p:txBody>
          <a:bodyPr wrap="square" rtlCol="0" anchor="ctr"/>
          <a:lstStyle/>
          <a:p>
            <a:pPr indent="0" marL="0">
              <a:buNone/>
            </a:pPr>
            <a:endParaRPr lang="en-US" dirty="0"/>
          </a:p>
        </p:txBody>
      </p:sp>
      <p:sp>
        <p:nvSpPr>
          <p:cNvPr id="13" name="Text 11"/>
          <p:cNvSpPr/>
          <p:nvPr/>
        </p:nvSpPr>
        <p:spPr>
          <a:xfrm>
            <a:off x="4875609" y="1344253"/>
            <a:ext cx="3864769" cy="3027722"/>
          </a:xfrm>
          <a:prstGeom prst="roundRect">
            <a:avLst>
              <a:gd name="adj" fmla="val 4404"/>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4" name="Text 12"/>
          <p:cNvSpPr/>
          <p:nvPr/>
        </p:nvSpPr>
        <p:spPr>
          <a:xfrm>
            <a:off x="4879181" y="1347825"/>
            <a:ext cx="3857625" cy="582885"/>
          </a:xfrm>
          <a:prstGeom prst="rect">
            <a:avLst/>
          </a:prstGeom>
          <a:solidFill>
            <a:srgbClr val="F2E0DC"/>
          </a:solidFill>
          <a:ln/>
        </p:spPr>
        <p:txBody>
          <a:bodyPr wrap="square" rtlCol="0" anchor="ctr"/>
          <a:lstStyle/>
          <a:p>
            <a:pPr indent="0" marL="0">
              <a:buNone/>
            </a:pPr>
            <a:endParaRPr lang="en-US" dirty="0"/>
          </a:p>
        </p:txBody>
      </p:sp>
      <p:sp>
        <p:nvSpPr>
          <p:cNvPr id="15" name="Text 13"/>
          <p:cNvSpPr/>
          <p:nvPr/>
        </p:nvSpPr>
        <p:spPr>
          <a:xfrm>
            <a:off x="5036344" y="1539255"/>
            <a:ext cx="200025" cy="200025"/>
          </a:xfrm>
          <a:prstGeom prst="rect">
            <a:avLst/>
          </a:prstGeom>
          <a:noFill/>
          <a:ln/>
        </p:spPr>
        <p:txBody>
          <a:bodyPr wrap="none" lIns="0" tIns="0" rIns="0" bIns="0" rtlCol="0" anchor="ctr"/>
          <a:lstStyle/>
          <a:p>
            <a:pPr algn="ctr" indent="0" marL="0">
              <a:buNone/>
            </a:pPr>
            <a:r>
              <a:rPr lang="en-US" sz="1969" dirty="0">
                <a:solidFill>
                  <a:srgbClr val="B23A2A"/>
                </a:solidFill>
                <a:latin typeface="Segoe UI Symbol" pitchFamily="34" charset="0"/>
                <a:ea typeface="Segoe UI Symbol" pitchFamily="34" charset="-122"/>
                <a:cs typeface="Segoe UI Symbol" pitchFamily="34" charset="-120"/>
              </a:rPr>
              <a:t>✕</a:t>
            </a:r>
            <a:endParaRPr lang="en-US" sz="1969" dirty="0"/>
          </a:p>
        </p:txBody>
      </p:sp>
      <p:sp>
        <p:nvSpPr>
          <p:cNvPr id="16" name="Text 14"/>
          <p:cNvSpPr/>
          <p:nvPr/>
        </p:nvSpPr>
        <p:spPr>
          <a:xfrm>
            <a:off x="5322094" y="1462125"/>
            <a:ext cx="902703" cy="91440"/>
          </a:xfrm>
          <a:prstGeom prst="rect">
            <a:avLst/>
          </a:prstGeom>
          <a:noFill/>
          <a:ln/>
        </p:spPr>
        <p:txBody>
          <a:bodyPr wrap="none" lIns="0" tIns="0" rIns="0" bIns="0" rtlCol="0" anchor="t">
            <a:normAutofit/>
          </a:bodyPr>
          <a:lstStyle/>
          <a:p>
            <a:pPr algn="l" indent="0" marL="0">
              <a:lnSpc>
                <a:spcPts val="872"/>
              </a:lnSpc>
              <a:buNone/>
            </a:pPr>
            <a:r>
              <a:rPr lang="en-US" sz="800" spc="90" kern="0" dirty="0">
                <a:solidFill>
                  <a:srgbClr val="B23A2A">
                    <a:alpha val="85000"/>
                  </a:srgbClr>
                </a:solidFill>
                <a:latin typeface="Carlito" pitchFamily="34" charset="0"/>
                <a:ea typeface="Carlito" pitchFamily="34" charset="-122"/>
                <a:cs typeface="Carlito" pitchFamily="34" charset="-120"/>
              </a:rPr>
              <a:t>SUSPECT · ভেজাল</a:t>
            </a:r>
            <a:endParaRPr lang="en-US" sz="800" dirty="0"/>
          </a:p>
        </p:txBody>
      </p:sp>
      <p:sp>
        <p:nvSpPr>
          <p:cNvPr id="17" name="Text 15"/>
          <p:cNvSpPr/>
          <p:nvPr/>
        </p:nvSpPr>
        <p:spPr>
          <a:xfrm>
            <a:off x="5304908" y="1572853"/>
            <a:ext cx="858013" cy="243557"/>
          </a:xfrm>
          <a:prstGeom prst="rect">
            <a:avLst/>
          </a:prstGeom>
          <a:noFill/>
          <a:ln/>
        </p:spPr>
        <p:txBody>
          <a:bodyPr wrap="none" lIns="0" tIns="0" rIns="0" bIns="0" rtlCol="0" anchor="t"/>
          <a:lstStyle/>
          <a:p>
            <a:pPr algn="l" indent="0" marL="0">
              <a:lnSpc>
                <a:spcPts val="1918"/>
              </a:lnSpc>
              <a:buNone/>
            </a:pPr>
            <a:r>
              <a:rPr lang="en-US" sz="1238" b="1" dirty="0">
                <a:solidFill>
                  <a:srgbClr val="B23A2A"/>
                </a:solidFill>
                <a:latin typeface="Tinos" pitchFamily="34" charset="0"/>
                <a:ea typeface="Tinos" pitchFamily="34" charset="-122"/>
                <a:cs typeface="Tinos" pitchFamily="34" charset="-120"/>
              </a:rPr>
              <a:t>ভেজাল পণ্য</a:t>
            </a:r>
            <a:endParaRPr lang="en-US" sz="1238" dirty="0"/>
          </a:p>
        </p:txBody>
      </p:sp>
      <p:sp>
        <p:nvSpPr>
          <p:cNvPr id="18" name="Text 16"/>
          <p:cNvSpPr/>
          <p:nvPr/>
        </p:nvSpPr>
        <p:spPr>
          <a:xfrm>
            <a:off x="5036344" y="2059298"/>
            <a:ext cx="3543300" cy="1076849"/>
          </a:xfrm>
          <a:prstGeom prst="rect">
            <a:avLst/>
          </a:prstGeom>
          <a:noFill/>
          <a:ln/>
        </p:spPr>
        <p:txBody>
          <a:bodyPr wrap="square" lIns="0" tIns="0" rIns="0" bIns="0" rtlCol="0" anchor="t"/>
          <a:lstStyle/>
          <a:p>
            <a:pPr algn="l" indent="0" marL="0">
              <a:lnSpc>
                <a:spcPts val="1223"/>
              </a:lnSpc>
              <a:spcAft>
                <a:spcPts val="788"/>
              </a:spcAft>
              <a:buNone/>
            </a:pPr>
            <a:r>
              <a:rPr lang="en-US" sz="600" dirty="0">
                <a:solidFill>
                  <a:srgbClr val="B23A2A"/>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প্যাকেজিং মলিন, অস্বচ্ছ বা পুনঃব্যবহৃত চিহ্ন দৃশ্যমান</a:t>
            </a:r>
            <a:endParaRPr lang="en-US" sz="816" dirty="0"/>
          </a:p>
          <a:p>
            <a:pPr algn="l" indent="0" marL="0">
              <a:lnSpc>
                <a:spcPts val="1223"/>
              </a:lnSpc>
              <a:spcAft>
                <a:spcPts val="788"/>
              </a:spcAft>
              <a:buNone/>
            </a:pPr>
            <a:r>
              <a:rPr lang="en-US" sz="600" dirty="0">
                <a:solidFill>
                  <a:srgbClr val="B23A2A"/>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সিল অসম্পূর্ণ বা নকল হোলোগ্রাম, প্রতিফলন কম</a:t>
            </a:r>
            <a:endParaRPr lang="en-US" sz="816" dirty="0"/>
          </a:p>
          <a:p>
            <a:pPr algn="l" indent="0" marL="0">
              <a:lnSpc>
                <a:spcPts val="1223"/>
              </a:lnSpc>
              <a:spcAft>
                <a:spcPts val="788"/>
              </a:spcAft>
              <a:buNone/>
            </a:pPr>
            <a:r>
              <a:rPr lang="en-US" sz="600" dirty="0">
                <a:solidFill>
                  <a:srgbClr val="B23A2A"/>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ব্যাচ নম্বর অস্পষ্ট, অনুপস্থিত বা মুছে ফেলা</a:t>
            </a:r>
            <a:endParaRPr lang="en-US" sz="816" dirty="0"/>
          </a:p>
          <a:p>
            <a:pPr algn="l" indent="0" marL="0">
              <a:lnSpc>
                <a:spcPts val="1223"/>
              </a:lnSpc>
              <a:spcAft>
                <a:spcPts val="788"/>
              </a:spcAft>
              <a:buNone/>
            </a:pPr>
            <a:r>
              <a:rPr lang="en-US" sz="600" dirty="0">
                <a:solidFill>
                  <a:srgbClr val="B23A2A"/>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প্যাকেজিংয়ে ছেঁড়া, আঠার দাগ বা রঙের প্রলেপ</a:t>
            </a:r>
            <a:endParaRPr lang="en-US" sz="816" dirty="0"/>
          </a:p>
        </p:txBody>
      </p:sp>
      <p:sp>
        <p:nvSpPr>
          <p:cNvPr id="19" name="Text 17"/>
          <p:cNvSpPr/>
          <p:nvPr/>
        </p:nvSpPr>
        <p:spPr>
          <a:xfrm>
            <a:off x="400050" y="4475559"/>
            <a:ext cx="8343900" cy="310753"/>
          </a:xfrm>
          <a:prstGeom prst="roundRect">
            <a:avLst>
              <a:gd name="adj" fmla="val 24521"/>
            </a:avLst>
          </a:prstGeom>
          <a:solidFill>
            <a:srgbClr val="F2ECDD"/>
          </a:solidFill>
          <a:ln/>
        </p:spPr>
        <p:txBody>
          <a:bodyPr wrap="square" rtlCol="0" anchor="ctr"/>
          <a:lstStyle/>
          <a:p>
            <a:pPr indent="0" marL="0">
              <a:buNone/>
            </a:pPr>
            <a:endParaRPr lang="en-US" dirty="0"/>
          </a:p>
        </p:txBody>
      </p:sp>
      <p:sp>
        <p:nvSpPr>
          <p:cNvPr id="20" name="Text 18"/>
          <p:cNvSpPr/>
          <p:nvPr/>
        </p:nvSpPr>
        <p:spPr>
          <a:xfrm>
            <a:off x="400050" y="4475559"/>
            <a:ext cx="8343900" cy="367167"/>
          </a:xfrm>
          <a:prstGeom prst="rect">
            <a:avLst/>
          </a:prstGeom>
          <a:noFill/>
          <a:ln/>
        </p:spPr>
        <p:txBody>
          <a:bodyPr wrap="square" lIns="171450" tIns="85725" rIns="171450" bIns="85725" rtlCol="0" anchor="t"/>
          <a:lstStyle/>
          <a:p>
            <a:pPr algn="ctr" indent="0" marL="0">
              <a:lnSpc>
                <a:spcPts val="1097"/>
              </a:lnSpc>
              <a:buNone/>
            </a:pPr>
            <a:r>
              <a:rPr lang="en-US" sz="800" b="1" dirty="0">
                <a:solidFill>
                  <a:srgbClr val="9A6E1E"/>
                </a:solidFill>
                <a:latin typeface="Carlito" pitchFamily="34" charset="0"/>
                <a:ea typeface="Carlito" pitchFamily="34" charset="-122"/>
                <a:cs typeface="Carlito" pitchFamily="34" charset="-120"/>
              </a:rPr>
              <a:t>মনে রাখুন —</a:t>
            </a:r>
            <a:pPr algn="ctr" indent="0" marL="0">
              <a:lnSpc>
                <a:spcPts val="1097"/>
              </a:lnSpc>
              <a:buNone/>
            </a:pPr>
            <a:r>
              <a:rPr lang="en-US" sz="800" dirty="0">
                <a:solidFill>
                  <a:srgbClr val="6B6B6B"/>
                </a:solidFill>
                <a:latin typeface="Carlito" pitchFamily="34" charset="0"/>
                <a:ea typeface="Carlito" pitchFamily="34" charset="-122"/>
                <a:cs typeface="Carlito" pitchFamily="34" charset="-120"/>
              </a:rPr>
              <a:t> ভেজাল প্যাকেজিং সবসময় সস্তা নয়, অনেক ক্ষেত্রে আসলের মতোই দেখতে হতে পারে। একাধিক লক্ষণ একসাথে থাকলেই সন্দেহ দৃঢ় হয়।</a:t>
            </a:r>
            <a:endParaRPr lang="en-US" sz="800" dirty="0"/>
          </a:p>
        </p:txBody>
      </p:sp>
      <p:pic>
        <p:nvPicPr>
          <p:cNvPr id="21" name="Image 0" descr="preencoded.png">    </p:cNvPr>
          <p:cNvPicPr>
            <a:picLocks noChangeAspect="1"/>
          </p:cNvPicPr>
          <p:nvPr/>
        </p:nvPicPr>
        <p:blipFill>
          <a:blip r:embed="rId1"/>
          <a:stretch>
            <a:fillRect/>
          </a:stretch>
        </p:blipFill>
        <p:spPr>
          <a:xfrm>
            <a:off x="0" y="5100638"/>
            <a:ext cx="9144000" cy="42863"/>
          </a:xfrm>
          <a:prstGeom prst="rect">
            <a:avLst/>
          </a:prstGeom>
        </p:spPr>
      </p:pic>
      <p:sp>
        <p:nvSpPr>
          <p:cNvPr id="22" name="Text 19"/>
          <p:cNvSpPr/>
          <p:nvPr/>
        </p:nvSpPr>
        <p:spPr>
          <a:xfrm>
            <a:off x="8694725" y="4706392"/>
            <a:ext cx="30736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০৯</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00050" y="417240"/>
            <a:ext cx="3110320"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০২ · ভেজাল চেনার বিজ্ঞান</a:t>
            </a:r>
            <a:endParaRPr lang="en-US" sz="1350" dirty="0"/>
          </a:p>
        </p:txBody>
      </p:sp>
      <p:sp>
        <p:nvSpPr>
          <p:cNvPr id="3" name="Text 1"/>
          <p:cNvSpPr/>
          <p:nvPr/>
        </p:nvSpPr>
        <p:spPr>
          <a:xfrm>
            <a:off x="400050" y="768623"/>
            <a:ext cx="8636000" cy="509809"/>
          </a:xfrm>
          <a:prstGeom prst="rect">
            <a:avLst/>
          </a:prstGeom>
          <a:noFill/>
          <a:ln/>
        </p:spPr>
        <p:txBody>
          <a:bodyPr wrap="square" lIns="0" tIns="0" rIns="0" bIns="0" rtlCol="0" anchor="t"/>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আসল বনাম ভেজাল — লেবেল যাচাই</a:t>
            </a:r>
            <a:endParaRPr lang="en-US" sz="3150" dirty="0"/>
          </a:p>
        </p:txBody>
      </p:sp>
      <p:sp>
        <p:nvSpPr>
          <p:cNvPr id="4" name="Text 2"/>
          <p:cNvSpPr/>
          <p:nvPr/>
        </p:nvSpPr>
        <p:spPr>
          <a:xfrm>
            <a:off x="403622" y="1344253"/>
            <a:ext cx="3864769" cy="3027722"/>
          </a:xfrm>
          <a:prstGeom prst="roundRect">
            <a:avLst>
              <a:gd name="adj" fmla="val 4404"/>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5" name="Text 3"/>
          <p:cNvSpPr/>
          <p:nvPr/>
        </p:nvSpPr>
        <p:spPr>
          <a:xfrm>
            <a:off x="407194" y="1347825"/>
            <a:ext cx="3857625" cy="582885"/>
          </a:xfrm>
          <a:prstGeom prst="rect">
            <a:avLst/>
          </a:prstGeom>
          <a:solidFill>
            <a:srgbClr val="1E4D3B"/>
          </a:solidFill>
          <a:ln/>
        </p:spPr>
        <p:txBody>
          <a:bodyPr wrap="square" rtlCol="0" anchor="ctr"/>
          <a:lstStyle/>
          <a:p>
            <a:pPr indent="0" marL="0">
              <a:buNone/>
            </a:pPr>
            <a:endParaRPr lang="en-US" dirty="0"/>
          </a:p>
        </p:txBody>
      </p:sp>
      <p:sp>
        <p:nvSpPr>
          <p:cNvPr id="6" name="Text 4"/>
          <p:cNvSpPr/>
          <p:nvPr/>
        </p:nvSpPr>
        <p:spPr>
          <a:xfrm>
            <a:off x="564356" y="1539255"/>
            <a:ext cx="200025" cy="200025"/>
          </a:xfrm>
          <a:prstGeom prst="rect">
            <a:avLst/>
          </a:prstGeom>
          <a:noFill/>
          <a:ln/>
        </p:spPr>
        <p:txBody>
          <a:bodyPr wrap="none" lIns="0" tIns="0" rIns="0" bIns="0" rtlCol="0" anchor="ctr"/>
          <a:lstStyle/>
          <a:p>
            <a:pPr algn="ctr" indent="0" marL="0">
              <a:buNone/>
            </a:pPr>
            <a:r>
              <a:rPr lang="en-US" sz="1969" dirty="0">
                <a:solidFill>
                  <a:srgbClr val="FAF6EE"/>
                </a:solidFill>
                <a:latin typeface="Segoe UI Symbol" pitchFamily="34" charset="0"/>
                <a:ea typeface="Segoe UI Symbol" pitchFamily="34" charset="-122"/>
                <a:cs typeface="Segoe UI Symbol" pitchFamily="34" charset="-120"/>
              </a:rPr>
              <a:t>✓</a:t>
            </a:r>
            <a:endParaRPr lang="en-US" sz="1969" dirty="0"/>
          </a:p>
        </p:txBody>
      </p:sp>
      <p:sp>
        <p:nvSpPr>
          <p:cNvPr id="7" name="Text 5"/>
          <p:cNvSpPr/>
          <p:nvPr/>
        </p:nvSpPr>
        <p:spPr>
          <a:xfrm>
            <a:off x="828758" y="1462125"/>
            <a:ext cx="913140" cy="91440"/>
          </a:xfrm>
          <a:prstGeom prst="rect">
            <a:avLst/>
          </a:prstGeom>
          <a:noFill/>
          <a:ln/>
        </p:spPr>
        <p:txBody>
          <a:bodyPr wrap="none" lIns="0" tIns="0" rIns="0" bIns="0" rtlCol="0" anchor="t">
            <a:normAutofit/>
          </a:bodyPr>
          <a:lstStyle/>
          <a:p>
            <a:pPr algn="l" indent="0" marL="0">
              <a:lnSpc>
                <a:spcPts val="872"/>
              </a:lnSpc>
              <a:buNone/>
            </a:pPr>
            <a:r>
              <a:rPr lang="en-US" sz="800" spc="90" kern="0" dirty="0">
                <a:solidFill>
                  <a:srgbClr val="FAF6EE">
                    <a:alpha val="85000"/>
                  </a:srgbClr>
                </a:solidFill>
                <a:latin typeface="Carlito" pitchFamily="34" charset="0"/>
                <a:ea typeface="Carlito" pitchFamily="34" charset="-122"/>
                <a:cs typeface="Carlito" pitchFamily="34" charset="-120"/>
              </a:rPr>
              <a:t>VERIFIED · আসল</a:t>
            </a:r>
            <a:endParaRPr lang="en-US" sz="800" dirty="0"/>
          </a:p>
        </p:txBody>
      </p:sp>
      <p:sp>
        <p:nvSpPr>
          <p:cNvPr id="8" name="Text 6"/>
          <p:cNvSpPr/>
          <p:nvPr/>
        </p:nvSpPr>
        <p:spPr>
          <a:xfrm>
            <a:off x="850106" y="1572853"/>
            <a:ext cx="867394" cy="243557"/>
          </a:xfrm>
          <a:prstGeom prst="rect">
            <a:avLst/>
          </a:prstGeom>
          <a:noFill/>
          <a:ln/>
        </p:spPr>
        <p:txBody>
          <a:bodyPr wrap="none" lIns="0" tIns="0" rIns="0" bIns="0" rtlCol="0" anchor="t"/>
          <a:lstStyle/>
          <a:p>
            <a:pPr algn="l" indent="0" marL="0">
              <a:lnSpc>
                <a:spcPts val="1918"/>
              </a:lnSpc>
              <a:buNone/>
            </a:pPr>
            <a:r>
              <a:rPr lang="en-US" sz="1238" b="1" dirty="0">
                <a:solidFill>
                  <a:srgbClr val="FAF6EE"/>
                </a:solidFill>
                <a:latin typeface="Tinos" pitchFamily="34" charset="0"/>
                <a:ea typeface="Tinos" pitchFamily="34" charset="-122"/>
                <a:cs typeface="Tinos" pitchFamily="34" charset="-120"/>
              </a:rPr>
              <a:t>আসল লেবেল</a:t>
            </a:r>
            <a:endParaRPr lang="en-US" sz="1238" dirty="0"/>
          </a:p>
        </p:txBody>
      </p:sp>
      <p:sp>
        <p:nvSpPr>
          <p:cNvPr id="9" name="Text 7"/>
          <p:cNvSpPr/>
          <p:nvPr/>
        </p:nvSpPr>
        <p:spPr>
          <a:xfrm>
            <a:off x="564356" y="2059298"/>
            <a:ext cx="3543300" cy="1076849"/>
          </a:xfrm>
          <a:prstGeom prst="rect">
            <a:avLst/>
          </a:prstGeom>
          <a:noFill/>
          <a:ln/>
        </p:spPr>
        <p:txBody>
          <a:bodyPr wrap="square" lIns="0" tIns="0" rIns="0" bIns="0" rtlCol="0" anchor="t"/>
          <a:lstStyle/>
          <a:p>
            <a:pPr algn="l" indent="0" marL="0">
              <a:lnSpc>
                <a:spcPts val="1223"/>
              </a:lnSpc>
              <a:spcAft>
                <a:spcPts val="788"/>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বাংলা ও ইংরেজি দ্বিভাষিক লেবেল, স্পষ্ট মুদ্রণ</a:t>
            </a:r>
            <a:endParaRPr lang="en-US" sz="816" dirty="0"/>
          </a:p>
          <a:p>
            <a:pPr algn="l" indent="0" marL="0">
              <a:lnSpc>
                <a:spcPts val="1223"/>
              </a:lnSpc>
              <a:spcAft>
                <a:spcPts val="788"/>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নিবন্ধন নম্বর, উপাদান, মাত্রা স্পষ্টভাবে উল্লেখিত</a:t>
            </a:r>
            <a:endParaRPr lang="en-US" sz="816" dirty="0"/>
          </a:p>
          <a:p>
            <a:pPr algn="l" indent="0" marL="0">
              <a:lnSpc>
                <a:spcPts val="1223"/>
              </a:lnSpc>
              <a:spcAft>
                <a:spcPts val="788"/>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সতর্কতা চিহ্ন, বিষাক্ততা স্তর ও প্রথম সহায়তা তথ্য</a:t>
            </a:r>
            <a:endParaRPr lang="en-US" sz="816" dirty="0"/>
          </a:p>
          <a:p>
            <a:pPr algn="l" indent="0" marL="0">
              <a:lnSpc>
                <a:spcPts val="1223"/>
              </a:lnSpc>
              <a:spcAft>
                <a:spcPts val="788"/>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কোম্পানির সম্পূর্ণ ঠিকানা, ফোন ও ইমেইল</a:t>
            </a:r>
            <a:endParaRPr lang="en-US" sz="816" dirty="0"/>
          </a:p>
        </p:txBody>
      </p:sp>
      <p:sp>
        <p:nvSpPr>
          <p:cNvPr id="10" name="Text 8"/>
          <p:cNvSpPr/>
          <p:nvPr/>
        </p:nvSpPr>
        <p:spPr>
          <a:xfrm>
            <a:off x="4407694" y="1347825"/>
            <a:ext cx="328613" cy="328613"/>
          </a:xfrm>
          <a:prstGeom prst="ellipse">
            <a:avLst/>
          </a:prstGeom>
          <a:solidFill>
            <a:srgbClr val="F2ECDD"/>
          </a:solidFill>
          <a:ln w="14288">
            <a:solidFill>
              <a:srgbClr val="D9D2BF"/>
            </a:solidFill>
            <a:prstDash val="solid"/>
          </a:ln>
        </p:spPr>
        <p:txBody>
          <a:bodyPr wrap="square" rtlCol="0" anchor="ctr"/>
          <a:lstStyle/>
          <a:p>
            <a:pPr indent="0" marL="0">
              <a:buNone/>
            </a:pPr>
            <a:endParaRPr lang="en-US" dirty="0"/>
          </a:p>
        </p:txBody>
      </p:sp>
      <p:sp>
        <p:nvSpPr>
          <p:cNvPr id="11" name="Text 9"/>
          <p:cNvSpPr/>
          <p:nvPr/>
        </p:nvSpPr>
        <p:spPr>
          <a:xfrm>
            <a:off x="4400550" y="1340681"/>
            <a:ext cx="342900" cy="342900"/>
          </a:xfrm>
          <a:prstGeom prst="rect">
            <a:avLst/>
          </a:prstGeom>
          <a:noFill/>
          <a:ln/>
        </p:spPr>
        <p:txBody>
          <a:bodyPr wrap="none" lIns="0" tIns="0" rIns="0" bIns="0" rtlCol="0" anchor="ctr"/>
          <a:lstStyle/>
          <a:p>
            <a:pPr algn="ctr" indent="0" marL="0">
              <a:lnSpc>
                <a:spcPts val="1221"/>
              </a:lnSpc>
              <a:buNone/>
            </a:pPr>
            <a:r>
              <a:rPr lang="en-US" sz="800" b="1" spc="32" kern="0" dirty="0">
                <a:solidFill>
                  <a:srgbClr val="1E4D3B"/>
                </a:solidFill>
                <a:latin typeface="Carlito" pitchFamily="34" charset="0"/>
                <a:ea typeface="Carlito" pitchFamily="34" charset="-122"/>
                <a:cs typeface="Carlito" pitchFamily="34" charset="-120"/>
              </a:rPr>
              <a:t>VS</a:t>
            </a:r>
            <a:endParaRPr lang="en-US" sz="800" dirty="0"/>
          </a:p>
        </p:txBody>
      </p:sp>
      <p:sp>
        <p:nvSpPr>
          <p:cNvPr id="12" name="Text 10"/>
          <p:cNvSpPr/>
          <p:nvPr/>
        </p:nvSpPr>
        <p:spPr>
          <a:xfrm>
            <a:off x="4564856" y="1740731"/>
            <a:ext cx="14288" cy="2577666"/>
          </a:xfrm>
          <a:prstGeom prst="rect">
            <a:avLst/>
          </a:prstGeom>
          <a:solidFill>
            <a:srgbClr val="D9D2BF"/>
          </a:solidFill>
          <a:ln/>
        </p:spPr>
        <p:txBody>
          <a:bodyPr wrap="square" rtlCol="0" anchor="ctr"/>
          <a:lstStyle/>
          <a:p>
            <a:pPr indent="0" marL="0">
              <a:buNone/>
            </a:pPr>
            <a:endParaRPr lang="en-US" dirty="0"/>
          </a:p>
        </p:txBody>
      </p:sp>
      <p:sp>
        <p:nvSpPr>
          <p:cNvPr id="13" name="Text 11"/>
          <p:cNvSpPr/>
          <p:nvPr/>
        </p:nvSpPr>
        <p:spPr>
          <a:xfrm>
            <a:off x="4875609" y="1344253"/>
            <a:ext cx="3864769" cy="3027722"/>
          </a:xfrm>
          <a:prstGeom prst="roundRect">
            <a:avLst>
              <a:gd name="adj" fmla="val 4404"/>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4" name="Text 12"/>
          <p:cNvSpPr/>
          <p:nvPr/>
        </p:nvSpPr>
        <p:spPr>
          <a:xfrm>
            <a:off x="4879181" y="1347825"/>
            <a:ext cx="3857625" cy="582885"/>
          </a:xfrm>
          <a:prstGeom prst="rect">
            <a:avLst/>
          </a:prstGeom>
          <a:solidFill>
            <a:srgbClr val="F2E0DC"/>
          </a:solidFill>
          <a:ln/>
        </p:spPr>
        <p:txBody>
          <a:bodyPr wrap="square" rtlCol="0" anchor="ctr"/>
          <a:lstStyle/>
          <a:p>
            <a:pPr indent="0" marL="0">
              <a:buNone/>
            </a:pPr>
            <a:endParaRPr lang="en-US" dirty="0"/>
          </a:p>
        </p:txBody>
      </p:sp>
      <p:sp>
        <p:nvSpPr>
          <p:cNvPr id="15" name="Text 13"/>
          <p:cNvSpPr/>
          <p:nvPr/>
        </p:nvSpPr>
        <p:spPr>
          <a:xfrm>
            <a:off x="5036344" y="1539255"/>
            <a:ext cx="200025" cy="200025"/>
          </a:xfrm>
          <a:prstGeom prst="rect">
            <a:avLst/>
          </a:prstGeom>
          <a:noFill/>
          <a:ln/>
        </p:spPr>
        <p:txBody>
          <a:bodyPr wrap="none" lIns="0" tIns="0" rIns="0" bIns="0" rtlCol="0" anchor="ctr"/>
          <a:lstStyle/>
          <a:p>
            <a:pPr algn="ctr" indent="0" marL="0">
              <a:buNone/>
            </a:pPr>
            <a:r>
              <a:rPr lang="en-US" sz="1969" dirty="0">
                <a:solidFill>
                  <a:srgbClr val="B23A2A"/>
                </a:solidFill>
                <a:latin typeface="Segoe UI Symbol" pitchFamily="34" charset="0"/>
                <a:ea typeface="Segoe UI Symbol" pitchFamily="34" charset="-122"/>
                <a:cs typeface="Segoe UI Symbol" pitchFamily="34" charset="-120"/>
              </a:rPr>
              <a:t>⚠</a:t>
            </a:r>
            <a:endParaRPr lang="en-US" sz="1969" dirty="0"/>
          </a:p>
        </p:txBody>
      </p:sp>
      <p:sp>
        <p:nvSpPr>
          <p:cNvPr id="16" name="Text 14"/>
          <p:cNvSpPr/>
          <p:nvPr/>
        </p:nvSpPr>
        <p:spPr>
          <a:xfrm>
            <a:off x="5322094" y="1462125"/>
            <a:ext cx="902703" cy="91440"/>
          </a:xfrm>
          <a:prstGeom prst="rect">
            <a:avLst/>
          </a:prstGeom>
          <a:noFill/>
          <a:ln/>
        </p:spPr>
        <p:txBody>
          <a:bodyPr wrap="none" lIns="0" tIns="0" rIns="0" bIns="0" rtlCol="0" anchor="t">
            <a:normAutofit/>
          </a:bodyPr>
          <a:lstStyle/>
          <a:p>
            <a:pPr algn="l" indent="0" marL="0">
              <a:lnSpc>
                <a:spcPts val="872"/>
              </a:lnSpc>
              <a:buNone/>
            </a:pPr>
            <a:r>
              <a:rPr lang="en-US" sz="800" spc="90" kern="0" dirty="0">
                <a:solidFill>
                  <a:srgbClr val="B23A2A">
                    <a:alpha val="85000"/>
                  </a:srgbClr>
                </a:solidFill>
                <a:latin typeface="Carlito" pitchFamily="34" charset="0"/>
                <a:ea typeface="Carlito" pitchFamily="34" charset="-122"/>
                <a:cs typeface="Carlito" pitchFamily="34" charset="-120"/>
              </a:rPr>
              <a:t>SUSPECT · ভেজাল</a:t>
            </a:r>
            <a:endParaRPr lang="en-US" sz="800" dirty="0"/>
          </a:p>
        </p:txBody>
      </p:sp>
      <p:sp>
        <p:nvSpPr>
          <p:cNvPr id="17" name="Text 15"/>
          <p:cNvSpPr/>
          <p:nvPr/>
        </p:nvSpPr>
        <p:spPr>
          <a:xfrm>
            <a:off x="5263182" y="1572853"/>
            <a:ext cx="941466" cy="243557"/>
          </a:xfrm>
          <a:prstGeom prst="rect">
            <a:avLst/>
          </a:prstGeom>
          <a:noFill/>
          <a:ln/>
        </p:spPr>
        <p:txBody>
          <a:bodyPr wrap="none" lIns="0" tIns="0" rIns="0" bIns="0" rtlCol="0" anchor="t"/>
          <a:lstStyle/>
          <a:p>
            <a:pPr algn="l" indent="0" marL="0">
              <a:lnSpc>
                <a:spcPts val="1918"/>
              </a:lnSpc>
              <a:buNone/>
            </a:pPr>
            <a:r>
              <a:rPr lang="en-US" sz="1238" b="1" dirty="0">
                <a:solidFill>
                  <a:srgbClr val="B23A2A"/>
                </a:solidFill>
                <a:latin typeface="Tinos" pitchFamily="34" charset="0"/>
                <a:ea typeface="Tinos" pitchFamily="34" charset="-122"/>
                <a:cs typeface="Tinos" pitchFamily="34" charset="-120"/>
              </a:rPr>
              <a:t>ভেজাল লেবেল</a:t>
            </a:r>
            <a:endParaRPr lang="en-US" sz="1238" dirty="0"/>
          </a:p>
        </p:txBody>
      </p:sp>
      <p:sp>
        <p:nvSpPr>
          <p:cNvPr id="18" name="Text 16"/>
          <p:cNvSpPr/>
          <p:nvPr/>
        </p:nvSpPr>
        <p:spPr>
          <a:xfrm>
            <a:off x="5036344" y="2059298"/>
            <a:ext cx="3543300" cy="1076849"/>
          </a:xfrm>
          <a:prstGeom prst="rect">
            <a:avLst/>
          </a:prstGeom>
          <a:noFill/>
          <a:ln/>
        </p:spPr>
        <p:txBody>
          <a:bodyPr wrap="square" lIns="0" tIns="0" rIns="0" bIns="0" rtlCol="0" anchor="t"/>
          <a:lstStyle/>
          <a:p>
            <a:pPr algn="l" indent="0" marL="0">
              <a:lnSpc>
                <a:spcPts val="1223"/>
              </a:lnSpc>
              <a:spcAft>
                <a:spcPts val="788"/>
              </a:spcAft>
              <a:buNone/>
            </a:pPr>
            <a:r>
              <a:rPr lang="en-US" sz="600" dirty="0">
                <a:solidFill>
                  <a:srgbClr val="B23A2A"/>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বানান ভুল, অদ্ভুত ফন্ট বা মুদ্রণ অস্পষ্ট</a:t>
            </a:r>
            <a:endParaRPr lang="en-US" sz="816" dirty="0"/>
          </a:p>
          <a:p>
            <a:pPr algn="l" indent="0" marL="0">
              <a:lnSpc>
                <a:spcPts val="1223"/>
              </a:lnSpc>
              <a:spcAft>
                <a:spcPts val="788"/>
              </a:spcAft>
              <a:buNone/>
            </a:pPr>
            <a:r>
              <a:rPr lang="en-US" sz="600" dirty="0">
                <a:solidFill>
                  <a:srgbClr val="B23A2A"/>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নিবন্ধন নম্বর অনুপস্থিত বা সন্দেহজনক ফরম্যাট</a:t>
            </a:r>
            <a:endParaRPr lang="en-US" sz="816" dirty="0"/>
          </a:p>
          <a:p>
            <a:pPr algn="l" indent="0" marL="0">
              <a:lnSpc>
                <a:spcPts val="1223"/>
              </a:lnSpc>
              <a:spcAft>
                <a:spcPts val="788"/>
              </a:spcAft>
              <a:buNone/>
            </a:pPr>
            <a:r>
              <a:rPr lang="en-US" sz="600" dirty="0">
                <a:solidFill>
                  <a:srgbClr val="B23A2A"/>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সতর্কতা চিহ্ন অসম্পূর্ণ বা সম্পূর্ণ অনুপস্থিত</a:t>
            </a:r>
            <a:endParaRPr lang="en-US" sz="816" dirty="0"/>
          </a:p>
          <a:p>
            <a:pPr algn="l" indent="0" marL="0">
              <a:lnSpc>
                <a:spcPts val="1223"/>
              </a:lnSpc>
              <a:spcAft>
                <a:spcPts val="788"/>
              </a:spcAft>
              <a:buNone/>
            </a:pPr>
            <a:r>
              <a:rPr lang="en-US" sz="600" dirty="0">
                <a:solidFill>
                  <a:srgbClr val="B23A2A"/>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কোম্পানির ঠিকানা সাধারণ — শুধু বিভাগ/জেলা</a:t>
            </a:r>
            <a:endParaRPr lang="en-US" sz="816" dirty="0"/>
          </a:p>
        </p:txBody>
      </p:sp>
      <p:sp>
        <p:nvSpPr>
          <p:cNvPr id="19" name="Text 17"/>
          <p:cNvSpPr/>
          <p:nvPr/>
        </p:nvSpPr>
        <p:spPr>
          <a:xfrm>
            <a:off x="400050" y="4475559"/>
            <a:ext cx="8343900" cy="310753"/>
          </a:xfrm>
          <a:prstGeom prst="roundRect">
            <a:avLst>
              <a:gd name="adj" fmla="val 24521"/>
            </a:avLst>
          </a:prstGeom>
          <a:solidFill>
            <a:srgbClr val="F2ECDD"/>
          </a:solidFill>
          <a:ln/>
        </p:spPr>
        <p:txBody>
          <a:bodyPr wrap="square" rtlCol="0" anchor="ctr"/>
          <a:lstStyle/>
          <a:p>
            <a:pPr indent="0" marL="0">
              <a:buNone/>
            </a:pPr>
            <a:endParaRPr lang="en-US" dirty="0"/>
          </a:p>
        </p:txBody>
      </p:sp>
      <p:sp>
        <p:nvSpPr>
          <p:cNvPr id="20" name="Text 18"/>
          <p:cNvSpPr/>
          <p:nvPr/>
        </p:nvSpPr>
        <p:spPr>
          <a:xfrm>
            <a:off x="4769904" y="4554141"/>
            <a:ext cx="1042095" cy="150019"/>
          </a:xfrm>
          <a:prstGeom prst="roundRect">
            <a:avLst>
              <a:gd name="adj" fmla="val 25397"/>
            </a:avLst>
          </a:prstGeom>
          <a:solidFill>
            <a:srgbClr val="FFFFFF"/>
          </a:solidFill>
          <a:ln/>
        </p:spPr>
        <p:txBody>
          <a:bodyPr wrap="square" rtlCol="0" anchor="ctr"/>
          <a:lstStyle/>
          <a:p>
            <a:pPr indent="0" marL="0">
              <a:buNone/>
            </a:pPr>
            <a:endParaRPr lang="en-US" dirty="0"/>
          </a:p>
        </p:txBody>
      </p:sp>
      <p:sp>
        <p:nvSpPr>
          <p:cNvPr id="21" name="Text 19"/>
          <p:cNvSpPr/>
          <p:nvPr/>
        </p:nvSpPr>
        <p:spPr>
          <a:xfrm>
            <a:off x="400050" y="4475559"/>
            <a:ext cx="8343900" cy="367167"/>
          </a:xfrm>
          <a:prstGeom prst="rect">
            <a:avLst/>
          </a:prstGeom>
          <a:noFill/>
          <a:ln/>
        </p:spPr>
        <p:txBody>
          <a:bodyPr wrap="square" lIns="171450" tIns="85725" rIns="171450" bIns="85725" rtlCol="0" anchor="t"/>
          <a:lstStyle/>
          <a:p>
            <a:pPr algn="ctr" indent="0" marL="0">
              <a:lnSpc>
                <a:spcPts val="1097"/>
              </a:lnSpc>
              <a:buNone/>
            </a:pPr>
            <a:r>
              <a:rPr lang="en-US" sz="800" b="1" dirty="0">
                <a:solidFill>
                  <a:srgbClr val="9A6E1E"/>
                </a:solidFill>
                <a:latin typeface="Carlito" pitchFamily="34" charset="0"/>
                <a:ea typeface="Carlito" pitchFamily="34" charset="-122"/>
                <a:cs typeface="Carlito" pitchFamily="34" charset="-120"/>
              </a:rPr>
              <a:t>টিপ —</a:t>
            </a:r>
            <a:pPr algn="ctr" indent="0" marL="0">
              <a:lnSpc>
                <a:spcPts val="1097"/>
              </a:lnSpc>
              <a:buNone/>
            </a:pPr>
            <a:r>
              <a:rPr lang="en-US" sz="800" dirty="0">
                <a:solidFill>
                  <a:srgbClr val="6B6B6B"/>
                </a:solidFill>
                <a:latin typeface="Carlito" pitchFamily="34" charset="0"/>
                <a:ea typeface="Carlito" pitchFamily="34" charset="-122"/>
                <a:cs typeface="Carlito" pitchFamily="34" charset="-120"/>
              </a:rPr>
              <a:t> নিবন্ধন নম্বর বালাইনাশক অধিদপ্তরের ওয়েবসাইটে যাচাই করা যায়। ফরম্যাট হয় </a:t>
            </a:r>
            <a:pPr algn="ctr" indent="0" marL="0">
              <a:lnSpc>
                <a:spcPts val="1097"/>
              </a:lnSpc>
              <a:buNone/>
            </a:pPr>
            <a:r>
              <a:rPr lang="en-US" sz="800" dirty="0">
                <a:solidFill>
                  <a:srgbClr val="14342A"/>
                </a:solidFill>
                <a:highlight>
                  <a:srgbClr val="FFFFFF"/>
                </a:highlight>
                <a:latin typeface="Courier New" pitchFamily="34" charset="0"/>
                <a:ea typeface="Courier New" pitchFamily="34" charset="-122"/>
                <a:cs typeface="Courier New" pitchFamily="34" charset="-120"/>
              </a:rPr>
              <a:t>BAN-XXXX-XXXX-XX</a:t>
            </a:r>
            <a:pPr algn="ctr" indent="0" marL="0">
              <a:lnSpc>
                <a:spcPts val="1097"/>
              </a:lnSpc>
              <a:buNone/>
            </a:pPr>
            <a:r>
              <a:rPr lang="en-US" sz="800" dirty="0">
                <a:solidFill>
                  <a:srgbClr val="6B6B6B"/>
                </a:solidFill>
                <a:latin typeface="Carlito" pitchFamily="34" charset="0"/>
                <a:ea typeface="Carlito" pitchFamily="34" charset="-122"/>
                <a:cs typeface="Carlito" pitchFamily="34" charset="-120"/>
              </a:rPr>
              <a:t> — যেকোনো ভিন্ন ফরম্যাট সন্দেহজনক।</a:t>
            </a:r>
            <a:endParaRPr lang="en-US" sz="800" dirty="0"/>
          </a:p>
        </p:txBody>
      </p:sp>
      <p:pic>
        <p:nvPicPr>
          <p:cNvPr id="22" name="Image 0" descr="preencoded.png">    </p:cNvPr>
          <p:cNvPicPr>
            <a:picLocks noChangeAspect="1"/>
          </p:cNvPicPr>
          <p:nvPr/>
        </p:nvPicPr>
        <p:blipFill>
          <a:blip r:embed="rId1"/>
          <a:stretch>
            <a:fillRect/>
          </a:stretch>
        </p:blipFill>
        <p:spPr>
          <a:xfrm>
            <a:off x="0" y="5100638"/>
            <a:ext cx="9144000" cy="42863"/>
          </a:xfrm>
          <a:prstGeom prst="rect">
            <a:avLst/>
          </a:prstGeom>
        </p:spPr>
      </p:pic>
      <p:sp>
        <p:nvSpPr>
          <p:cNvPr id="23" name="Text 20"/>
          <p:cNvSpPr/>
          <p:nvPr/>
        </p:nvSpPr>
        <p:spPr>
          <a:xfrm>
            <a:off x="8709013" y="4706392"/>
            <a:ext cx="28450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১০</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00050" y="417240"/>
            <a:ext cx="3110320"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০২ · ভেজাল চেনার বিজ্ঞান</a:t>
            </a:r>
            <a:endParaRPr lang="en-US" sz="1350" dirty="0"/>
          </a:p>
        </p:txBody>
      </p:sp>
      <p:sp>
        <p:nvSpPr>
          <p:cNvPr id="3" name="Text 1"/>
          <p:cNvSpPr/>
          <p:nvPr/>
        </p:nvSpPr>
        <p:spPr>
          <a:xfrm>
            <a:off x="400050" y="768623"/>
            <a:ext cx="8636000" cy="509809"/>
          </a:xfrm>
          <a:prstGeom prst="rect">
            <a:avLst/>
          </a:prstGeom>
          <a:noFill/>
          <a:ln/>
        </p:spPr>
        <p:txBody>
          <a:bodyPr wrap="square" lIns="0" tIns="0" rIns="0" bIns="0" rtlCol="0" anchor="t"/>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আসল বনাম ভেজাল — রাসায়নিক বৈশিষ্ট্য</a:t>
            </a:r>
            <a:endParaRPr lang="en-US" sz="3150" dirty="0"/>
          </a:p>
        </p:txBody>
      </p:sp>
      <p:sp>
        <p:nvSpPr>
          <p:cNvPr id="4" name="Text 2"/>
          <p:cNvSpPr/>
          <p:nvPr/>
        </p:nvSpPr>
        <p:spPr>
          <a:xfrm>
            <a:off x="403622" y="1344253"/>
            <a:ext cx="3864769" cy="3027722"/>
          </a:xfrm>
          <a:prstGeom prst="roundRect">
            <a:avLst>
              <a:gd name="adj" fmla="val 4404"/>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5" name="Text 3"/>
          <p:cNvSpPr/>
          <p:nvPr/>
        </p:nvSpPr>
        <p:spPr>
          <a:xfrm>
            <a:off x="407194" y="1347825"/>
            <a:ext cx="3857625" cy="582885"/>
          </a:xfrm>
          <a:prstGeom prst="rect">
            <a:avLst/>
          </a:prstGeom>
          <a:solidFill>
            <a:srgbClr val="1E4D3B"/>
          </a:solidFill>
          <a:ln/>
        </p:spPr>
        <p:txBody>
          <a:bodyPr wrap="square" rtlCol="0" anchor="ctr"/>
          <a:lstStyle/>
          <a:p>
            <a:pPr indent="0" marL="0">
              <a:buNone/>
            </a:pPr>
            <a:endParaRPr lang="en-US" dirty="0"/>
          </a:p>
        </p:txBody>
      </p:sp>
      <p:sp>
        <p:nvSpPr>
          <p:cNvPr id="6" name="Text 4"/>
          <p:cNvSpPr/>
          <p:nvPr/>
        </p:nvSpPr>
        <p:spPr>
          <a:xfrm>
            <a:off x="564356" y="1539255"/>
            <a:ext cx="200025" cy="200025"/>
          </a:xfrm>
          <a:prstGeom prst="rect">
            <a:avLst/>
          </a:prstGeom>
          <a:noFill/>
          <a:ln/>
        </p:spPr>
        <p:txBody>
          <a:bodyPr wrap="none" lIns="0" tIns="0" rIns="0" bIns="0" rtlCol="0" anchor="ctr"/>
          <a:lstStyle/>
          <a:p>
            <a:pPr algn="ctr" indent="0" marL="0">
              <a:buNone/>
            </a:pPr>
            <a:r>
              <a:rPr lang="en-US" sz="1969" dirty="0">
                <a:solidFill>
                  <a:srgbClr val="FAF6EE"/>
                </a:solidFill>
                <a:latin typeface="Segoe UI Symbol" pitchFamily="34" charset="0"/>
                <a:ea typeface="Segoe UI Symbol" pitchFamily="34" charset="-122"/>
                <a:cs typeface="Segoe UI Symbol" pitchFamily="34" charset="-120"/>
              </a:rPr>
              <a:t>⚗</a:t>
            </a:r>
            <a:endParaRPr lang="en-US" sz="1969" dirty="0"/>
          </a:p>
        </p:txBody>
      </p:sp>
      <p:sp>
        <p:nvSpPr>
          <p:cNvPr id="7" name="Text 5"/>
          <p:cNvSpPr/>
          <p:nvPr/>
        </p:nvSpPr>
        <p:spPr>
          <a:xfrm>
            <a:off x="828758" y="1462125"/>
            <a:ext cx="913140" cy="91440"/>
          </a:xfrm>
          <a:prstGeom prst="rect">
            <a:avLst/>
          </a:prstGeom>
          <a:noFill/>
          <a:ln/>
        </p:spPr>
        <p:txBody>
          <a:bodyPr wrap="none" lIns="0" tIns="0" rIns="0" bIns="0" rtlCol="0" anchor="t">
            <a:normAutofit/>
          </a:bodyPr>
          <a:lstStyle/>
          <a:p>
            <a:pPr algn="l" indent="0" marL="0">
              <a:lnSpc>
                <a:spcPts val="872"/>
              </a:lnSpc>
              <a:buNone/>
            </a:pPr>
            <a:r>
              <a:rPr lang="en-US" sz="800" spc="90" kern="0" dirty="0">
                <a:solidFill>
                  <a:srgbClr val="FAF6EE">
                    <a:alpha val="85000"/>
                  </a:srgbClr>
                </a:solidFill>
                <a:latin typeface="Carlito" pitchFamily="34" charset="0"/>
                <a:ea typeface="Carlito" pitchFamily="34" charset="-122"/>
                <a:cs typeface="Carlito" pitchFamily="34" charset="-120"/>
              </a:rPr>
              <a:t>VERIFIED · আসল</a:t>
            </a:r>
            <a:endParaRPr lang="en-US" sz="800" dirty="0"/>
          </a:p>
        </p:txBody>
      </p:sp>
      <p:sp>
        <p:nvSpPr>
          <p:cNvPr id="8" name="Text 6"/>
          <p:cNvSpPr/>
          <p:nvPr/>
        </p:nvSpPr>
        <p:spPr>
          <a:xfrm>
            <a:off x="850106" y="1572853"/>
            <a:ext cx="867394" cy="243557"/>
          </a:xfrm>
          <a:prstGeom prst="rect">
            <a:avLst/>
          </a:prstGeom>
          <a:noFill/>
          <a:ln/>
        </p:spPr>
        <p:txBody>
          <a:bodyPr wrap="none" lIns="0" tIns="0" rIns="0" bIns="0" rtlCol="0" anchor="t"/>
          <a:lstStyle/>
          <a:p>
            <a:pPr algn="l" indent="0" marL="0">
              <a:lnSpc>
                <a:spcPts val="1918"/>
              </a:lnSpc>
              <a:buNone/>
            </a:pPr>
            <a:r>
              <a:rPr lang="en-US" sz="1238" b="1" dirty="0">
                <a:solidFill>
                  <a:srgbClr val="FAF6EE"/>
                </a:solidFill>
                <a:latin typeface="Tinos" pitchFamily="34" charset="0"/>
                <a:ea typeface="Tinos" pitchFamily="34" charset="-122"/>
                <a:cs typeface="Tinos" pitchFamily="34" charset="-120"/>
              </a:rPr>
              <a:t>আসল পণ্য</a:t>
            </a:r>
            <a:endParaRPr lang="en-US" sz="1238" dirty="0"/>
          </a:p>
        </p:txBody>
      </p:sp>
      <p:sp>
        <p:nvSpPr>
          <p:cNvPr id="9" name="Text 7"/>
          <p:cNvSpPr/>
          <p:nvPr/>
        </p:nvSpPr>
        <p:spPr>
          <a:xfrm>
            <a:off x="564356" y="2059298"/>
            <a:ext cx="3543300" cy="1076849"/>
          </a:xfrm>
          <a:prstGeom prst="rect">
            <a:avLst/>
          </a:prstGeom>
          <a:noFill/>
          <a:ln/>
        </p:spPr>
        <p:txBody>
          <a:bodyPr wrap="square" lIns="0" tIns="0" rIns="0" bIns="0" rtlCol="0" anchor="t"/>
          <a:lstStyle/>
          <a:p>
            <a:pPr algn="l" indent="0" marL="0">
              <a:lnSpc>
                <a:spcPts val="1223"/>
              </a:lnSpc>
              <a:spcAft>
                <a:spcPts val="788"/>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স্থির রঙ ও সান্দ্রতা, প্রতি ব্যাচে অভিন্ন চেহারা</a:t>
            </a:r>
            <a:endParaRPr lang="en-US" sz="816" dirty="0"/>
          </a:p>
          <a:p>
            <a:pPr algn="l" indent="0" marL="0">
              <a:lnSpc>
                <a:spcPts val="1223"/>
              </a:lnSpc>
              <a:spcAft>
                <a:spcPts val="788"/>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স্বাভাবিক রাসায়নিক গন্ধ — তীক্ষ্ণ কিন্তু সুনির্দিষ্ট</a:t>
            </a:r>
            <a:endParaRPr lang="en-US" sz="816" dirty="0"/>
          </a:p>
          <a:p>
            <a:pPr algn="l" indent="0" marL="0">
              <a:lnSpc>
                <a:spcPts val="1223"/>
              </a:lnSpc>
              <a:spcAft>
                <a:spcPts val="788"/>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পানিতে সহজে দ্রবীভূত, সমরূপ মিশ্রণ গঠন</a:t>
            </a:r>
            <a:endParaRPr lang="en-US" sz="816" dirty="0"/>
          </a:p>
          <a:p>
            <a:pPr algn="l" indent="0" marL="0">
              <a:lnSpc>
                <a:spcPts val="1223"/>
              </a:lnSpc>
              <a:spcAft>
                <a:spcPts val="788"/>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কোনো তলানি বা অদ্রবণীয় কণা নেই</a:t>
            </a:r>
            <a:endParaRPr lang="en-US" sz="816" dirty="0"/>
          </a:p>
        </p:txBody>
      </p:sp>
      <p:sp>
        <p:nvSpPr>
          <p:cNvPr id="10" name="Text 8"/>
          <p:cNvSpPr/>
          <p:nvPr/>
        </p:nvSpPr>
        <p:spPr>
          <a:xfrm>
            <a:off x="4407694" y="1347825"/>
            <a:ext cx="328613" cy="328613"/>
          </a:xfrm>
          <a:prstGeom prst="ellipse">
            <a:avLst/>
          </a:prstGeom>
          <a:solidFill>
            <a:srgbClr val="F2ECDD"/>
          </a:solidFill>
          <a:ln w="14288">
            <a:solidFill>
              <a:srgbClr val="D9D2BF"/>
            </a:solidFill>
            <a:prstDash val="solid"/>
          </a:ln>
        </p:spPr>
        <p:txBody>
          <a:bodyPr wrap="square" rtlCol="0" anchor="ctr"/>
          <a:lstStyle/>
          <a:p>
            <a:pPr indent="0" marL="0">
              <a:buNone/>
            </a:pPr>
            <a:endParaRPr lang="en-US" dirty="0"/>
          </a:p>
        </p:txBody>
      </p:sp>
      <p:sp>
        <p:nvSpPr>
          <p:cNvPr id="11" name="Text 9"/>
          <p:cNvSpPr/>
          <p:nvPr/>
        </p:nvSpPr>
        <p:spPr>
          <a:xfrm>
            <a:off x="4400550" y="1340681"/>
            <a:ext cx="342900" cy="342900"/>
          </a:xfrm>
          <a:prstGeom prst="rect">
            <a:avLst/>
          </a:prstGeom>
          <a:noFill/>
          <a:ln/>
        </p:spPr>
        <p:txBody>
          <a:bodyPr wrap="none" lIns="0" tIns="0" rIns="0" bIns="0" rtlCol="0" anchor="ctr"/>
          <a:lstStyle/>
          <a:p>
            <a:pPr algn="ctr" indent="0" marL="0">
              <a:lnSpc>
                <a:spcPts val="1221"/>
              </a:lnSpc>
              <a:buNone/>
            </a:pPr>
            <a:r>
              <a:rPr lang="en-US" sz="800" b="1" spc="32" kern="0" dirty="0">
                <a:solidFill>
                  <a:srgbClr val="1E4D3B"/>
                </a:solidFill>
                <a:latin typeface="Carlito" pitchFamily="34" charset="0"/>
                <a:ea typeface="Carlito" pitchFamily="34" charset="-122"/>
                <a:cs typeface="Carlito" pitchFamily="34" charset="-120"/>
              </a:rPr>
              <a:t>VS</a:t>
            </a:r>
            <a:endParaRPr lang="en-US" sz="800" dirty="0"/>
          </a:p>
        </p:txBody>
      </p:sp>
      <p:sp>
        <p:nvSpPr>
          <p:cNvPr id="12" name="Text 10"/>
          <p:cNvSpPr/>
          <p:nvPr/>
        </p:nvSpPr>
        <p:spPr>
          <a:xfrm>
            <a:off x="4564856" y="1740731"/>
            <a:ext cx="14288" cy="2577666"/>
          </a:xfrm>
          <a:prstGeom prst="rect">
            <a:avLst/>
          </a:prstGeom>
          <a:solidFill>
            <a:srgbClr val="D9D2BF"/>
          </a:solidFill>
          <a:ln/>
        </p:spPr>
        <p:txBody>
          <a:bodyPr wrap="square" rtlCol="0" anchor="ctr"/>
          <a:lstStyle/>
          <a:p>
            <a:pPr indent="0" marL="0">
              <a:buNone/>
            </a:pPr>
            <a:endParaRPr lang="en-US" dirty="0"/>
          </a:p>
        </p:txBody>
      </p:sp>
      <p:sp>
        <p:nvSpPr>
          <p:cNvPr id="13" name="Text 11"/>
          <p:cNvSpPr/>
          <p:nvPr/>
        </p:nvSpPr>
        <p:spPr>
          <a:xfrm>
            <a:off x="4875609" y="1344253"/>
            <a:ext cx="3864769" cy="3027722"/>
          </a:xfrm>
          <a:prstGeom prst="roundRect">
            <a:avLst>
              <a:gd name="adj" fmla="val 4404"/>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4" name="Text 12"/>
          <p:cNvSpPr/>
          <p:nvPr/>
        </p:nvSpPr>
        <p:spPr>
          <a:xfrm>
            <a:off x="4879181" y="1347825"/>
            <a:ext cx="3857625" cy="582885"/>
          </a:xfrm>
          <a:prstGeom prst="rect">
            <a:avLst/>
          </a:prstGeom>
          <a:solidFill>
            <a:srgbClr val="F2E0DC"/>
          </a:solidFill>
          <a:ln/>
        </p:spPr>
        <p:txBody>
          <a:bodyPr wrap="square" rtlCol="0" anchor="ctr"/>
          <a:lstStyle/>
          <a:p>
            <a:pPr indent="0" marL="0">
              <a:buNone/>
            </a:pPr>
            <a:endParaRPr lang="en-US" dirty="0"/>
          </a:p>
        </p:txBody>
      </p:sp>
      <p:sp>
        <p:nvSpPr>
          <p:cNvPr id="15" name="Text 13"/>
          <p:cNvSpPr/>
          <p:nvPr/>
        </p:nvSpPr>
        <p:spPr>
          <a:xfrm>
            <a:off x="5036344" y="1539255"/>
            <a:ext cx="200025" cy="200025"/>
          </a:xfrm>
          <a:prstGeom prst="rect">
            <a:avLst/>
          </a:prstGeom>
          <a:noFill/>
          <a:ln/>
        </p:spPr>
        <p:txBody>
          <a:bodyPr wrap="none" lIns="0" tIns="0" rIns="0" bIns="0" rtlCol="0" anchor="ctr"/>
          <a:lstStyle/>
          <a:p>
            <a:pPr algn="ctr" indent="0" marL="0">
              <a:buNone/>
            </a:pPr>
            <a:r>
              <a:rPr lang="en-US" sz="1969" dirty="0">
                <a:solidFill>
                  <a:srgbClr val="B23A2A"/>
                </a:solidFill>
                <a:latin typeface="Segoe UI Symbol" pitchFamily="34" charset="0"/>
                <a:ea typeface="Segoe UI Symbol" pitchFamily="34" charset="-122"/>
                <a:cs typeface="Segoe UI Symbol" pitchFamily="34" charset="-120"/>
              </a:rPr>
              <a:t>⚠</a:t>
            </a:r>
            <a:endParaRPr lang="en-US" sz="1969" dirty="0"/>
          </a:p>
        </p:txBody>
      </p:sp>
      <p:sp>
        <p:nvSpPr>
          <p:cNvPr id="16" name="Text 14"/>
          <p:cNvSpPr/>
          <p:nvPr/>
        </p:nvSpPr>
        <p:spPr>
          <a:xfrm>
            <a:off x="5322094" y="1462125"/>
            <a:ext cx="902703" cy="91440"/>
          </a:xfrm>
          <a:prstGeom prst="rect">
            <a:avLst/>
          </a:prstGeom>
          <a:noFill/>
          <a:ln/>
        </p:spPr>
        <p:txBody>
          <a:bodyPr wrap="none" lIns="0" tIns="0" rIns="0" bIns="0" rtlCol="0" anchor="t">
            <a:normAutofit/>
          </a:bodyPr>
          <a:lstStyle/>
          <a:p>
            <a:pPr algn="l" indent="0" marL="0">
              <a:lnSpc>
                <a:spcPts val="872"/>
              </a:lnSpc>
              <a:buNone/>
            </a:pPr>
            <a:r>
              <a:rPr lang="en-US" sz="800" spc="90" kern="0" dirty="0">
                <a:solidFill>
                  <a:srgbClr val="B23A2A">
                    <a:alpha val="85000"/>
                  </a:srgbClr>
                </a:solidFill>
                <a:latin typeface="Carlito" pitchFamily="34" charset="0"/>
                <a:ea typeface="Carlito" pitchFamily="34" charset="-122"/>
                <a:cs typeface="Carlito" pitchFamily="34" charset="-120"/>
              </a:rPr>
              <a:t>SUSPECT · ভেজাল</a:t>
            </a:r>
            <a:endParaRPr lang="en-US" sz="800" dirty="0"/>
          </a:p>
        </p:txBody>
      </p:sp>
      <p:sp>
        <p:nvSpPr>
          <p:cNvPr id="17" name="Text 15"/>
          <p:cNvSpPr/>
          <p:nvPr/>
        </p:nvSpPr>
        <p:spPr>
          <a:xfrm>
            <a:off x="5304908" y="1572853"/>
            <a:ext cx="858013" cy="243557"/>
          </a:xfrm>
          <a:prstGeom prst="rect">
            <a:avLst/>
          </a:prstGeom>
          <a:noFill/>
          <a:ln/>
        </p:spPr>
        <p:txBody>
          <a:bodyPr wrap="none" lIns="0" tIns="0" rIns="0" bIns="0" rtlCol="0" anchor="t"/>
          <a:lstStyle/>
          <a:p>
            <a:pPr algn="l" indent="0" marL="0">
              <a:lnSpc>
                <a:spcPts val="1918"/>
              </a:lnSpc>
              <a:buNone/>
            </a:pPr>
            <a:r>
              <a:rPr lang="en-US" sz="1238" b="1" dirty="0">
                <a:solidFill>
                  <a:srgbClr val="B23A2A"/>
                </a:solidFill>
                <a:latin typeface="Tinos" pitchFamily="34" charset="0"/>
                <a:ea typeface="Tinos" pitchFamily="34" charset="-122"/>
                <a:cs typeface="Tinos" pitchFamily="34" charset="-120"/>
              </a:rPr>
              <a:t>ভেজাল পণ্য</a:t>
            </a:r>
            <a:endParaRPr lang="en-US" sz="1238" dirty="0"/>
          </a:p>
        </p:txBody>
      </p:sp>
      <p:sp>
        <p:nvSpPr>
          <p:cNvPr id="18" name="Text 16"/>
          <p:cNvSpPr/>
          <p:nvPr/>
        </p:nvSpPr>
        <p:spPr>
          <a:xfrm>
            <a:off x="5036344" y="2059298"/>
            <a:ext cx="3543300" cy="1076849"/>
          </a:xfrm>
          <a:prstGeom prst="rect">
            <a:avLst/>
          </a:prstGeom>
          <a:noFill/>
          <a:ln/>
        </p:spPr>
        <p:txBody>
          <a:bodyPr wrap="square" lIns="0" tIns="0" rIns="0" bIns="0" rtlCol="0" anchor="t"/>
          <a:lstStyle/>
          <a:p>
            <a:pPr algn="l" indent="0" marL="0">
              <a:lnSpc>
                <a:spcPts val="1223"/>
              </a:lnSpc>
              <a:spcAft>
                <a:spcPts val="788"/>
              </a:spcAft>
              <a:buNone/>
            </a:pPr>
            <a:r>
              <a:rPr lang="en-US" sz="600" dirty="0">
                <a:solidFill>
                  <a:srgbClr val="B23A2A"/>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রঙ পরিবর্তনশীল, অস্বচ্ছ বা অস্বাভাবিক ঘন</a:t>
            </a:r>
            <a:endParaRPr lang="en-US" sz="816" dirty="0"/>
          </a:p>
          <a:p>
            <a:pPr algn="l" indent="0" marL="0">
              <a:lnSpc>
                <a:spcPts val="1223"/>
              </a:lnSpc>
              <a:spcAft>
                <a:spcPts val="788"/>
              </a:spcAft>
              <a:buNone/>
            </a:pPr>
            <a:r>
              <a:rPr lang="en-US" sz="600" dirty="0">
                <a:solidFill>
                  <a:srgbClr val="B23A2A"/>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অস্বাভাবিক গন্ধ বা সম্পূর্ণ গন্ধহীন</a:t>
            </a:r>
            <a:endParaRPr lang="en-US" sz="816" dirty="0"/>
          </a:p>
          <a:p>
            <a:pPr algn="l" indent="0" marL="0">
              <a:lnSpc>
                <a:spcPts val="1223"/>
              </a:lnSpc>
              <a:spcAft>
                <a:spcPts val="788"/>
              </a:spcAft>
              <a:buNone/>
            </a:pPr>
            <a:r>
              <a:rPr lang="en-US" sz="600" dirty="0">
                <a:solidFill>
                  <a:srgbClr val="B23A2A"/>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পানিতে আংশিক দ্রবীভূত, তৈলাক্ত স্তর ভাসমান</a:t>
            </a:r>
            <a:endParaRPr lang="en-US" sz="816" dirty="0"/>
          </a:p>
          <a:p>
            <a:pPr algn="l" indent="0" marL="0">
              <a:lnSpc>
                <a:spcPts val="1223"/>
              </a:lnSpc>
              <a:spcAft>
                <a:spcPts val="788"/>
              </a:spcAft>
              <a:buNone/>
            </a:pPr>
            <a:r>
              <a:rPr lang="en-US" sz="600" dirty="0">
                <a:solidFill>
                  <a:srgbClr val="B23A2A"/>
                </a:solidFill>
                <a:latin typeface="Carlito" pitchFamily="34" charset="0"/>
                <a:ea typeface="Carlito" pitchFamily="34" charset="-122"/>
                <a:cs typeface="Carlito" pitchFamily="34" charset="-120"/>
              </a:rPr>
              <a:t>●  </a:t>
            </a:r>
            <a:pPr algn="l" indent="0" marL="0">
              <a:lnSpc>
                <a:spcPts val="1223"/>
              </a:lnSpc>
              <a:spcAft>
                <a:spcPts val="788"/>
              </a:spcAft>
              <a:buNone/>
            </a:pPr>
            <a:r>
              <a:rPr lang="en-US" sz="816" dirty="0">
                <a:solidFill>
                  <a:srgbClr val="1A1A1A"/>
                </a:solidFill>
                <a:latin typeface="Carlito" pitchFamily="34" charset="0"/>
                <a:ea typeface="Carlito" pitchFamily="34" charset="-122"/>
                <a:cs typeface="Carlito" pitchFamily="34" charset="-120"/>
              </a:rPr>
              <a:t>তলানি বা অদ্রবণীয় কণা দৃশ্যমান</a:t>
            </a:r>
            <a:endParaRPr lang="en-US" sz="816" dirty="0"/>
          </a:p>
        </p:txBody>
      </p:sp>
      <p:sp>
        <p:nvSpPr>
          <p:cNvPr id="19" name="Text 17"/>
          <p:cNvSpPr/>
          <p:nvPr/>
        </p:nvSpPr>
        <p:spPr>
          <a:xfrm>
            <a:off x="400050" y="4475559"/>
            <a:ext cx="8343900" cy="310753"/>
          </a:xfrm>
          <a:prstGeom prst="roundRect">
            <a:avLst>
              <a:gd name="adj" fmla="val 24521"/>
            </a:avLst>
          </a:prstGeom>
          <a:solidFill>
            <a:srgbClr val="F2E0DC"/>
          </a:solidFill>
          <a:ln/>
        </p:spPr>
        <p:txBody>
          <a:bodyPr wrap="square" rtlCol="0" anchor="ctr"/>
          <a:lstStyle/>
          <a:p>
            <a:pPr indent="0" marL="0">
              <a:buNone/>
            </a:pPr>
            <a:endParaRPr lang="en-US" dirty="0"/>
          </a:p>
        </p:txBody>
      </p:sp>
      <p:sp>
        <p:nvSpPr>
          <p:cNvPr id="20" name="Shape 18"/>
          <p:cNvSpPr/>
          <p:nvPr/>
        </p:nvSpPr>
        <p:spPr>
          <a:xfrm>
            <a:off x="414338" y="4475559"/>
            <a:ext cx="0" cy="310753"/>
          </a:xfrm>
          <a:prstGeom prst="line">
            <a:avLst/>
          </a:prstGeom>
          <a:noFill/>
          <a:ln w="28575">
            <a:solidFill>
              <a:srgbClr val="B23A2A"/>
            </a:solidFill>
            <a:prstDash val="solid"/>
          </a:ln>
        </p:spPr>
        <p:txBody>
          <a:bodyPr/>
          <a:p/>
        </p:txBody>
      </p:sp>
      <p:sp>
        <p:nvSpPr>
          <p:cNvPr id="21" name="Text 19"/>
          <p:cNvSpPr/>
          <p:nvPr/>
        </p:nvSpPr>
        <p:spPr>
          <a:xfrm>
            <a:off x="400050" y="4475559"/>
            <a:ext cx="8343900" cy="367167"/>
          </a:xfrm>
          <a:prstGeom prst="rect">
            <a:avLst/>
          </a:prstGeom>
          <a:noFill/>
          <a:ln/>
        </p:spPr>
        <p:txBody>
          <a:bodyPr wrap="square" lIns="171450" tIns="85725" rIns="171450" bIns="85725" rtlCol="0" anchor="t"/>
          <a:lstStyle/>
          <a:p>
            <a:pPr algn="ctr" indent="0" marL="0">
              <a:lnSpc>
                <a:spcPts val="1097"/>
              </a:lnSpc>
              <a:buNone/>
            </a:pPr>
            <a:r>
              <a:rPr lang="en-US" sz="800" b="1" dirty="0">
                <a:solidFill>
                  <a:srgbClr val="B23A2A"/>
                </a:solidFill>
                <a:latin typeface="Carlito" pitchFamily="34" charset="0"/>
                <a:ea typeface="Carlito" pitchFamily="34" charset="-122"/>
                <a:cs typeface="Carlito" pitchFamily="34" charset="-120"/>
              </a:rPr>
              <a:t>সতর্কতা —</a:t>
            </a:r>
            <a:pPr algn="ctr" indent="0" marL="0">
              <a:lnSpc>
                <a:spcPts val="1097"/>
              </a:lnSpc>
              <a:buNone/>
            </a:pPr>
            <a:r>
              <a:rPr lang="en-US" sz="800" dirty="0">
                <a:solidFill>
                  <a:srgbClr val="6B6B6B"/>
                </a:solidFill>
                <a:latin typeface="Carlito" pitchFamily="34" charset="0"/>
                <a:ea typeface="Carlito" pitchFamily="34" charset="-122"/>
                <a:cs typeface="Carlito" pitchFamily="34" charset="-120"/>
              </a:rPr>
              <a:t> কখনোই সরাসরি গন্ধ শোঁওয়া বা স্বাদ নেওয়া উচিত নয়। শুধু প্যাকেজ খুলে দূর থেকে পর্যবেক্ষণ করুন। রাসায়নিক পরীক্ষার জন্য পরীক্ষাগারে পাঠান।</a:t>
            </a:r>
            <a:endParaRPr lang="en-US" sz="800" dirty="0"/>
          </a:p>
        </p:txBody>
      </p:sp>
      <p:pic>
        <p:nvPicPr>
          <p:cNvPr id="22" name="Image 0" descr="preencoded.png">    </p:cNvPr>
          <p:cNvPicPr>
            <a:picLocks noChangeAspect="1"/>
          </p:cNvPicPr>
          <p:nvPr/>
        </p:nvPicPr>
        <p:blipFill>
          <a:blip r:embed="rId1"/>
          <a:stretch>
            <a:fillRect/>
          </a:stretch>
        </p:blipFill>
        <p:spPr>
          <a:xfrm>
            <a:off x="0" y="5100638"/>
            <a:ext cx="9144000" cy="42863"/>
          </a:xfrm>
          <a:prstGeom prst="rect">
            <a:avLst/>
          </a:prstGeom>
        </p:spPr>
      </p:pic>
      <p:sp>
        <p:nvSpPr>
          <p:cNvPr id="23" name="Text 20"/>
          <p:cNvSpPr/>
          <p:nvPr/>
        </p:nvSpPr>
        <p:spPr>
          <a:xfrm>
            <a:off x="8723300" y="4706392"/>
            <a:ext cx="26164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১১</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57200" y="400050"/>
            <a:ext cx="6823996"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০২ · ভেজাল চেনার বিজ্ঞান</a:t>
            </a:r>
            <a:endParaRPr lang="en-US" sz="1350" dirty="0"/>
          </a:p>
        </p:txBody>
      </p:sp>
      <p:sp>
        <p:nvSpPr>
          <p:cNvPr id="3" name="Text 1"/>
          <p:cNvSpPr/>
          <p:nvPr/>
        </p:nvSpPr>
        <p:spPr>
          <a:xfrm>
            <a:off x="457200" y="765721"/>
            <a:ext cx="5249228" cy="509809"/>
          </a:xfrm>
          <a:prstGeom prst="rect">
            <a:avLst/>
          </a:prstGeom>
          <a:noFill/>
          <a:ln/>
        </p:spPr>
        <p:txBody>
          <a:bodyPr wrap="square" lIns="0" tIns="0" rIns="0" bIns="0" rtlCol="0" anchor="t"/>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পরীক্ষাগার যাচাইয়ের গুরুত্ব</a:t>
            </a:r>
            <a:endParaRPr lang="en-US" sz="3150" dirty="0"/>
          </a:p>
        </p:txBody>
      </p:sp>
      <p:sp>
        <p:nvSpPr>
          <p:cNvPr id="4" name="Shape 2"/>
          <p:cNvSpPr/>
          <p:nvPr/>
        </p:nvSpPr>
        <p:spPr>
          <a:xfrm>
            <a:off x="457200" y="1377069"/>
            <a:ext cx="400050" cy="0"/>
          </a:xfrm>
          <a:prstGeom prst="line">
            <a:avLst/>
          </a:prstGeom>
          <a:noFill/>
          <a:ln w="7144">
            <a:solidFill>
              <a:srgbClr val="1A1A1A"/>
            </a:solidFill>
            <a:prstDash val="solid"/>
          </a:ln>
        </p:spPr>
        <p:txBody>
          <a:bodyPr/>
          <a:p/>
        </p:txBody>
      </p:sp>
      <p:sp>
        <p:nvSpPr>
          <p:cNvPr id="5" name="Text 3"/>
          <p:cNvSpPr/>
          <p:nvPr/>
        </p:nvSpPr>
        <p:spPr>
          <a:xfrm>
            <a:off x="457200" y="1530660"/>
            <a:ext cx="4772025" cy="609746"/>
          </a:xfrm>
          <a:prstGeom prst="rect">
            <a:avLst/>
          </a:prstGeom>
          <a:noFill/>
          <a:ln/>
        </p:spPr>
        <p:txBody>
          <a:bodyPr wrap="square" lIns="0" tIns="0" rIns="0" bIns="0" rtlCol="0" anchor="t"/>
          <a:lstStyle/>
          <a:p>
            <a:pPr algn="l" indent="0" marL="0">
              <a:lnSpc>
                <a:spcPts val="1482"/>
              </a:lnSpc>
              <a:buNone/>
            </a:pPr>
            <a:r>
              <a:rPr lang="en-US" sz="872" dirty="0">
                <a:solidFill>
                  <a:srgbClr val="1A1A1A"/>
                </a:solidFill>
                <a:latin typeface="Carlito" pitchFamily="34" charset="0"/>
                <a:ea typeface="Carlito" pitchFamily="34" charset="-122"/>
                <a:cs typeface="Carlito" pitchFamily="34" charset="-120"/>
              </a:rPr>
              <a:t>চাক্ষুষ পর্যবেক্ষণ ভেজাল শনাক্তকরণের প্রথম ধাপ মাত্র। নিশ্চিত শনাক্তকরণের জন্য পরীক্ষাগার বিশ্লেষণ অপরিহার্য — </a:t>
            </a:r>
            <a:pPr algn="l" indent="0" marL="0">
              <a:lnSpc>
                <a:spcPts val="1482"/>
              </a:lnSpc>
              <a:buNone/>
            </a:pPr>
            <a:r>
              <a:rPr lang="en-US" sz="872" b="1" dirty="0">
                <a:solidFill>
                  <a:srgbClr val="14342A"/>
                </a:solidFill>
                <a:latin typeface="Carlito" pitchFamily="34" charset="0"/>
                <a:ea typeface="Carlito" pitchFamily="34" charset="-122"/>
                <a:cs typeface="Carlito" pitchFamily="34" charset="-120"/>
              </a:rPr>
              <a:t>HPLC (High Performance Liquid Chromatography)</a:t>
            </a:r>
            <a:pPr algn="l" indent="0" marL="0">
              <a:lnSpc>
                <a:spcPts val="1482"/>
              </a:lnSpc>
              <a:buNone/>
            </a:pPr>
            <a:r>
              <a:rPr lang="en-US" sz="872" dirty="0">
                <a:solidFill>
                  <a:srgbClr val="1A1A1A"/>
                </a:solidFill>
                <a:latin typeface="Carlito" pitchFamily="34" charset="0"/>
                <a:ea typeface="Carlito" pitchFamily="34" charset="-122"/>
                <a:cs typeface="Carlito" pitchFamily="34" charset="-120"/>
              </a:rPr>
              <a:t> ও </a:t>
            </a:r>
            <a:pPr algn="l" indent="0" marL="0">
              <a:lnSpc>
                <a:spcPts val="1482"/>
              </a:lnSpc>
              <a:buNone/>
            </a:pPr>
            <a:r>
              <a:rPr lang="en-US" sz="872" b="1" dirty="0">
                <a:solidFill>
                  <a:srgbClr val="14342A"/>
                </a:solidFill>
                <a:latin typeface="Carlito" pitchFamily="34" charset="0"/>
                <a:ea typeface="Carlito" pitchFamily="34" charset="-122"/>
                <a:cs typeface="Carlito" pitchFamily="34" charset="-120"/>
              </a:rPr>
              <a:t>GC (Gas Chromatography)</a:t>
            </a:r>
            <a:pPr algn="l" indent="0" marL="0">
              <a:lnSpc>
                <a:spcPts val="1482"/>
              </a:lnSpc>
              <a:buNone/>
            </a:pPr>
            <a:r>
              <a:rPr lang="en-US" sz="872" dirty="0">
                <a:solidFill>
                  <a:srgbClr val="1A1A1A"/>
                </a:solidFill>
                <a:latin typeface="Carlito" pitchFamily="34" charset="0"/>
                <a:ea typeface="Carlito" pitchFamily="34" charset="-122"/>
                <a:cs typeface="Carlito" pitchFamily="34" charset="-120"/>
              </a:rPr>
              <a:t> পদ্ধতিতে সক্রিয় উপাদানের সঠিক শতকরা হার নির্ণয় করা হয়।</a:t>
            </a:r>
            <a:endParaRPr lang="en-US" sz="872" dirty="0"/>
          </a:p>
        </p:txBody>
      </p:sp>
      <p:sp>
        <p:nvSpPr>
          <p:cNvPr id="6" name="Text 4"/>
          <p:cNvSpPr/>
          <p:nvPr/>
        </p:nvSpPr>
        <p:spPr>
          <a:xfrm>
            <a:off x="457200" y="2195252"/>
            <a:ext cx="4772025" cy="406497"/>
          </a:xfrm>
          <a:prstGeom prst="rect">
            <a:avLst/>
          </a:prstGeom>
          <a:noFill/>
          <a:ln/>
        </p:spPr>
        <p:txBody>
          <a:bodyPr wrap="square" lIns="0" tIns="0" rIns="0" bIns="0" rtlCol="0" anchor="t"/>
          <a:lstStyle/>
          <a:p>
            <a:pPr algn="l" indent="0" marL="0">
              <a:lnSpc>
                <a:spcPts val="1482"/>
              </a:lnSpc>
              <a:buNone/>
            </a:pPr>
            <a:r>
              <a:rPr lang="en-US" sz="872" dirty="0">
                <a:solidFill>
                  <a:srgbClr val="1A1A1A"/>
                </a:solidFill>
                <a:latin typeface="Carlito" pitchFamily="34" charset="0"/>
                <a:ea typeface="Carlito" pitchFamily="34" charset="-122"/>
                <a:cs typeface="Carlito" pitchFamily="34" charset="-120"/>
              </a:rPr>
              <a:t>বাংলাদেশে কেন্দ্রীয় বালাইনাশক পরীক্ষাগার, ঢাকা-তে নমুনা পাঠানো যায়। স্থানীয় কৃষি সম্প্রসারণ অফিসের মাধ্যমে নমুনা সংগ্রহ ও পরীক্ষা বিনামূল্যে বা নামমাত্র ফিতে। ফলাফল ৩০ দিনের মধ্যে পাওয়া যায়।</a:t>
            </a:r>
            <a:endParaRPr lang="en-US" sz="872" dirty="0"/>
          </a:p>
        </p:txBody>
      </p:sp>
      <p:sp>
        <p:nvSpPr>
          <p:cNvPr id="7" name="Text 5"/>
          <p:cNvSpPr/>
          <p:nvPr/>
        </p:nvSpPr>
        <p:spPr>
          <a:xfrm>
            <a:off x="457200" y="2701712"/>
            <a:ext cx="952686" cy="258445"/>
          </a:xfrm>
          <a:prstGeom prst="roundRect">
            <a:avLst>
              <a:gd name="adj" fmla="val 3681818"/>
            </a:avLst>
          </a:prstGeom>
          <a:solidFill>
            <a:srgbClr val="F2ECDD"/>
          </a:solidFill>
          <a:ln w="7144">
            <a:solidFill>
              <a:srgbClr val="D9D2BF"/>
            </a:solidFill>
            <a:prstDash val="solid"/>
          </a:ln>
        </p:spPr>
        <p:txBody>
          <a:bodyPr wrap="square" rtlCol="0" anchor="ctr"/>
          <a:lstStyle/>
          <a:p>
            <a:pPr indent="0" marL="0">
              <a:buNone/>
            </a:pPr>
            <a:endParaRPr lang="en-US" dirty="0"/>
          </a:p>
        </p:txBody>
      </p:sp>
      <p:sp>
        <p:nvSpPr>
          <p:cNvPr id="8" name="Text 6"/>
          <p:cNvSpPr/>
          <p:nvPr/>
        </p:nvSpPr>
        <p:spPr>
          <a:xfrm>
            <a:off x="457200" y="2714513"/>
            <a:ext cx="988405" cy="298037"/>
          </a:xfrm>
          <a:prstGeom prst="rect">
            <a:avLst/>
          </a:prstGeom>
          <a:noFill/>
          <a:ln/>
        </p:spPr>
        <p:txBody>
          <a:bodyPr wrap="none" lIns="0" tIns="0" rIns="0" bIns="0" rtlCol="0" anchor="t"/>
          <a:lstStyle/>
          <a:p>
            <a:pPr algn="l" indent="0" marL="0">
              <a:lnSpc>
                <a:spcPts val="1046"/>
              </a:lnSpc>
              <a:buNone/>
            </a:pPr>
            <a:r>
              <a:rPr lang="en-US" sz="800" b="1" spc="27" kern="0" dirty="0">
                <a:solidFill>
                  <a:srgbClr val="9A6E1E"/>
                </a:solidFill>
                <a:latin typeface="Carlito" pitchFamily="34" charset="0"/>
                <a:ea typeface="Carlito" pitchFamily="34" charset="-122"/>
                <a:cs typeface="Carlito" pitchFamily="34" charset="-120"/>
              </a:rPr>
              <a:t>পদ্ধতি</a:t>
            </a:r>
            <a:pPr algn="l" indent="0" marL="0">
              <a:lnSpc>
                <a:spcPts val="1046"/>
              </a:lnSpc>
              <a:buNone/>
            </a:pPr>
            <a:r>
              <a:rPr lang="en-US" sz="800" spc="27" kern="0" dirty="0">
                <a:solidFill>
                  <a:srgbClr val="1E4D3B"/>
                </a:solidFill>
                <a:latin typeface="Carlito" pitchFamily="34" charset="0"/>
                <a:ea typeface="Carlito" pitchFamily="34" charset="-122"/>
                <a:cs typeface="Carlito" pitchFamily="34" charset="-120"/>
              </a:rPr>
              <a:t> · HPLC · GC</a:t>
            </a:r>
            <a:endParaRPr lang="en-US" sz="800" dirty="0"/>
          </a:p>
        </p:txBody>
      </p:sp>
      <p:sp>
        <p:nvSpPr>
          <p:cNvPr id="9" name="Text 7"/>
          <p:cNvSpPr/>
          <p:nvPr/>
        </p:nvSpPr>
        <p:spPr>
          <a:xfrm>
            <a:off x="1481324" y="2701712"/>
            <a:ext cx="691604" cy="258445"/>
          </a:xfrm>
          <a:prstGeom prst="roundRect">
            <a:avLst>
              <a:gd name="adj" fmla="val 3681818"/>
            </a:avLst>
          </a:prstGeom>
          <a:solidFill>
            <a:srgbClr val="F2ECDD"/>
          </a:solidFill>
          <a:ln w="7144">
            <a:solidFill>
              <a:srgbClr val="D9D2BF"/>
            </a:solidFill>
            <a:prstDash val="solid"/>
          </a:ln>
        </p:spPr>
        <p:txBody>
          <a:bodyPr wrap="square" rtlCol="0" anchor="ctr"/>
          <a:lstStyle/>
          <a:p>
            <a:pPr indent="0" marL="0">
              <a:buNone/>
            </a:pPr>
            <a:endParaRPr lang="en-US" dirty="0"/>
          </a:p>
        </p:txBody>
      </p:sp>
      <p:sp>
        <p:nvSpPr>
          <p:cNvPr id="10" name="Text 8"/>
          <p:cNvSpPr/>
          <p:nvPr/>
        </p:nvSpPr>
        <p:spPr>
          <a:xfrm>
            <a:off x="1481324" y="2714513"/>
            <a:ext cx="727323" cy="298037"/>
          </a:xfrm>
          <a:prstGeom prst="rect">
            <a:avLst/>
          </a:prstGeom>
          <a:noFill/>
          <a:ln/>
        </p:spPr>
        <p:txBody>
          <a:bodyPr wrap="none" lIns="0" tIns="0" rIns="0" bIns="0" rtlCol="0" anchor="t"/>
          <a:lstStyle/>
          <a:p>
            <a:pPr algn="l" indent="0" marL="0">
              <a:lnSpc>
                <a:spcPts val="1046"/>
              </a:lnSpc>
              <a:buNone/>
            </a:pPr>
            <a:r>
              <a:rPr lang="en-US" sz="675" b="1" spc="27" kern="0" dirty="0">
                <a:solidFill>
                  <a:srgbClr val="9A6E1E"/>
                </a:solidFill>
                <a:latin typeface="Carlito" pitchFamily="34" charset="0"/>
                <a:ea typeface="Carlito" pitchFamily="34" charset="-122"/>
                <a:cs typeface="Carlito" pitchFamily="34" charset="-120"/>
              </a:rPr>
              <a:t>পরীক্ষাগার</a:t>
            </a:r>
            <a:pPr algn="l" indent="0" marL="0">
              <a:lnSpc>
                <a:spcPts val="1046"/>
              </a:lnSpc>
              <a:buNone/>
            </a:pPr>
            <a:r>
              <a:rPr lang="en-US" sz="675" spc="27" kern="0" dirty="0">
                <a:solidFill>
                  <a:srgbClr val="1E4D3B"/>
                </a:solidFill>
                <a:latin typeface="Carlito" pitchFamily="34" charset="0"/>
                <a:ea typeface="Carlito" pitchFamily="34" charset="-122"/>
                <a:cs typeface="Carlito" pitchFamily="34" charset="-120"/>
              </a:rPr>
              <a:t> · ঢাকা</a:t>
            </a:r>
            <a:endParaRPr lang="en-US" sz="675" dirty="0"/>
          </a:p>
        </p:txBody>
      </p:sp>
      <p:sp>
        <p:nvSpPr>
          <p:cNvPr id="11" name="Text 9"/>
          <p:cNvSpPr/>
          <p:nvPr/>
        </p:nvSpPr>
        <p:spPr>
          <a:xfrm>
            <a:off x="2244365" y="2701712"/>
            <a:ext cx="640370" cy="258445"/>
          </a:xfrm>
          <a:prstGeom prst="roundRect">
            <a:avLst>
              <a:gd name="adj" fmla="val 3681818"/>
            </a:avLst>
          </a:prstGeom>
          <a:solidFill>
            <a:srgbClr val="F2ECDD"/>
          </a:solidFill>
          <a:ln w="7144">
            <a:solidFill>
              <a:srgbClr val="D9D2BF"/>
            </a:solidFill>
            <a:prstDash val="solid"/>
          </a:ln>
        </p:spPr>
        <p:txBody>
          <a:bodyPr wrap="square" rtlCol="0" anchor="ctr"/>
          <a:lstStyle/>
          <a:p>
            <a:pPr indent="0" marL="0">
              <a:buNone/>
            </a:pPr>
            <a:endParaRPr lang="en-US" dirty="0"/>
          </a:p>
        </p:txBody>
      </p:sp>
      <p:sp>
        <p:nvSpPr>
          <p:cNvPr id="12" name="Text 10"/>
          <p:cNvSpPr/>
          <p:nvPr/>
        </p:nvSpPr>
        <p:spPr>
          <a:xfrm>
            <a:off x="2244365" y="2714513"/>
            <a:ext cx="2984860" cy="298037"/>
          </a:xfrm>
          <a:prstGeom prst="rect">
            <a:avLst/>
          </a:prstGeom>
          <a:noFill/>
          <a:ln/>
        </p:spPr>
        <p:txBody>
          <a:bodyPr wrap="none" lIns="0" tIns="0" rIns="0" bIns="0" rtlCol="0" anchor="t"/>
          <a:lstStyle/>
          <a:p>
            <a:pPr algn="l" indent="0" marL="0">
              <a:lnSpc>
                <a:spcPts val="1046"/>
              </a:lnSpc>
              <a:buNone/>
            </a:pPr>
            <a:r>
              <a:rPr lang="en-US" sz="800" b="1" spc="27" kern="0" dirty="0">
                <a:solidFill>
                  <a:srgbClr val="9A6E1E"/>
                </a:solidFill>
                <a:latin typeface="Carlito" pitchFamily="34" charset="0"/>
                <a:ea typeface="Carlito" pitchFamily="34" charset="-122"/>
                <a:cs typeface="Carlito" pitchFamily="34" charset="-120"/>
              </a:rPr>
              <a:t>সময়</a:t>
            </a:r>
            <a:pPr algn="l" indent="0" marL="0">
              <a:lnSpc>
                <a:spcPts val="1046"/>
              </a:lnSpc>
              <a:buNone/>
            </a:pPr>
            <a:r>
              <a:rPr lang="en-US" sz="800" spc="27" kern="0" dirty="0">
                <a:solidFill>
                  <a:srgbClr val="1E4D3B"/>
                </a:solidFill>
                <a:latin typeface="Carlito" pitchFamily="34" charset="0"/>
                <a:ea typeface="Carlito" pitchFamily="34" charset="-122"/>
                <a:cs typeface="Carlito" pitchFamily="34" charset="-120"/>
              </a:rPr>
              <a:t> · ৩০ দিন</a:t>
            </a:r>
            <a:endParaRPr lang="en-US" sz="800" dirty="0"/>
          </a:p>
        </p:txBody>
      </p:sp>
      <p:pic>
        <p:nvPicPr>
          <p:cNvPr id="13" name="Image 0" descr="/tmp/h2p-fit-1789050409390-hl4rmj.png">    </p:cNvPr>
          <p:cNvPicPr>
            <a:picLocks noChangeAspect="1"/>
          </p:cNvPicPr>
          <p:nvPr/>
        </p:nvPicPr>
        <p:blipFill>
          <a:blip r:embed="rId1"/>
          <a:stretch>
            <a:fillRect/>
          </a:stretch>
        </p:blipFill>
        <p:spPr>
          <a:xfrm>
            <a:off x="5657850" y="727993"/>
            <a:ext cx="3086100" cy="3429000"/>
          </a:xfrm>
          <a:prstGeom prst="rect">
            <a:avLst/>
          </a:prstGeom>
        </p:spPr>
      </p:pic>
      <p:sp>
        <p:nvSpPr>
          <p:cNvPr id="14" name="Text 11"/>
          <p:cNvSpPr/>
          <p:nvPr/>
        </p:nvSpPr>
        <p:spPr>
          <a:xfrm>
            <a:off x="5534406" y="4257005"/>
            <a:ext cx="3332988" cy="153514"/>
          </a:xfrm>
          <a:prstGeom prst="rect">
            <a:avLst/>
          </a:prstGeom>
          <a:noFill/>
          <a:ln/>
        </p:spPr>
        <p:txBody>
          <a:bodyPr wrap="square" lIns="0" tIns="0" rIns="0" bIns="0" rtlCol="0" anchor="t"/>
          <a:lstStyle/>
          <a:p>
            <a:pPr algn="ctr" indent="0" marL="0">
              <a:lnSpc>
                <a:spcPts val="1024"/>
              </a:lnSpc>
              <a:buNone/>
            </a:pPr>
            <a:r>
              <a:rPr lang="en-US" sz="800" i="1" dirty="0">
                <a:solidFill>
                  <a:srgbClr val="6B6B6B"/>
                </a:solidFill>
                <a:latin typeface="Carlito" pitchFamily="34" charset="0"/>
                <a:ea typeface="Carlito" pitchFamily="34" charset="-122"/>
                <a:cs typeface="Carlito" pitchFamily="34" charset="-120"/>
              </a:rPr>
              <a:t>রসায়নিক পরীক্ষাগারে সক্রিয় উপাদান নির্ণয়</a:t>
            </a:r>
            <a:endParaRPr lang="en-US" sz="800" dirty="0"/>
          </a:p>
        </p:txBody>
      </p:sp>
      <p:pic>
        <p:nvPicPr>
          <p:cNvPr id="15" name="Image 1" descr="preencoded.png">    </p:cNvPr>
          <p:cNvPicPr>
            <a:picLocks noChangeAspect="1"/>
          </p:cNvPicPr>
          <p:nvPr/>
        </p:nvPicPr>
        <p:blipFill>
          <a:blip r:embed="rId2"/>
          <a:stretch>
            <a:fillRect/>
          </a:stretch>
        </p:blipFill>
        <p:spPr>
          <a:xfrm>
            <a:off x="0" y="5100638"/>
            <a:ext cx="9144000" cy="42863"/>
          </a:xfrm>
          <a:prstGeom prst="rect">
            <a:avLst/>
          </a:prstGeom>
        </p:spPr>
      </p:pic>
      <p:sp>
        <p:nvSpPr>
          <p:cNvPr id="16" name="Text 12"/>
          <p:cNvSpPr/>
          <p:nvPr/>
        </p:nvSpPr>
        <p:spPr>
          <a:xfrm>
            <a:off x="8709013" y="4706392"/>
            <a:ext cx="28450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১২</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8000"/>
          </a:blip>
          <a:stretch>
            <a:fillRect/>
          </a:stretch>
        </p:blipFill>
        <p:spPr>
          <a:xfrm>
            <a:off x="7000875" y="0"/>
            <a:ext cx="2143125" cy="5143500"/>
          </a:xfrm>
          <a:prstGeom prst="rect">
            <a:avLst/>
          </a:prstGeom>
        </p:spPr>
      </p:pic>
      <p:sp>
        <p:nvSpPr>
          <p:cNvPr id="3" name="Text 0"/>
          <p:cNvSpPr/>
          <p:nvPr/>
        </p:nvSpPr>
        <p:spPr>
          <a:xfrm>
            <a:off x="571500" y="1679116"/>
            <a:ext cx="5309358" cy="1558481"/>
          </a:xfrm>
          <a:prstGeom prst="rect">
            <a:avLst/>
          </a:prstGeom>
          <a:noFill/>
          <a:ln/>
          <a:effectLst>
            <a:outerShdw sx="100000" sy="100000" kx="0" ky="0" algn="bl" rotWithShape="0" blurRad="101600" dist="53882" dir="2700000">
              <a:srgbClr val="E0B659">
                <a:alpha val="50000"/>
              </a:srgbClr>
            </a:outerShdw>
          </a:effectLst>
        </p:spPr>
        <p:txBody>
          <a:bodyPr wrap="none" lIns="0" tIns="0" rIns="0" bIns="0" rtlCol="0" anchor="t">
            <a:normAutofit/>
          </a:bodyPr>
          <a:lstStyle/>
          <a:p>
            <a:pPr algn="l" indent="0" marL="0">
              <a:lnSpc>
                <a:spcPts val="11475"/>
              </a:lnSpc>
              <a:buNone/>
            </a:pPr>
            <a:r>
              <a:rPr lang="en-US" sz="13500" b="1" spc="-540" kern="0" dirty="0">
                <a:solidFill>
                  <a:srgbClr val="1E4D3B"/>
                </a:solidFill>
                <a:latin typeface="Carlito" pitchFamily="34" charset="0"/>
                <a:ea typeface="Carlito" pitchFamily="34" charset="-122"/>
                <a:cs typeface="Carlito" pitchFamily="34" charset="-120"/>
              </a:rPr>
              <a:t>০৩</a:t>
            </a:r>
            <a:endParaRPr lang="en-US" sz="13500" dirty="0"/>
          </a:p>
        </p:txBody>
      </p:sp>
      <p:sp>
        <p:nvSpPr>
          <p:cNvPr id="4" name="Text 1"/>
          <p:cNvSpPr/>
          <p:nvPr/>
        </p:nvSpPr>
        <p:spPr>
          <a:xfrm>
            <a:off x="571500" y="3265029"/>
            <a:ext cx="4207162" cy="215183"/>
          </a:xfrm>
          <a:prstGeom prst="rect">
            <a:avLst/>
          </a:prstGeom>
          <a:noFill/>
          <a:ln/>
        </p:spPr>
        <p:txBody>
          <a:bodyPr wrap="none" lIns="0" tIns="0" rIns="0" bIns="0" rtlCol="0" anchor="t"/>
          <a:lstStyle/>
          <a:p>
            <a:pPr algn="l" indent="0" marL="0">
              <a:lnSpc>
                <a:spcPts val="1569"/>
              </a:lnSpc>
              <a:buNone/>
            </a:pPr>
            <a:r>
              <a:rPr lang="en-US" sz="1013" b="1" spc="81" kern="0" dirty="0">
                <a:solidFill>
                  <a:srgbClr val="9A6E1E"/>
                </a:solidFill>
                <a:latin typeface="Carlito" pitchFamily="34" charset="0"/>
                <a:ea typeface="Carlito" pitchFamily="34" charset="-122"/>
                <a:cs typeface="Carlito" pitchFamily="34" charset="-120"/>
              </a:rPr>
              <a:t>/</a:t>
            </a:r>
            <a:pPr algn="l" indent="0" marL="0">
              <a:lnSpc>
                <a:spcPts val="1569"/>
              </a:lnSpc>
              <a:buNone/>
            </a:pPr>
            <a:r>
              <a:rPr lang="en-US" sz="1013" spc="81" kern="0" dirty="0">
                <a:solidFill>
                  <a:srgbClr val="6B6B6B"/>
                </a:solidFill>
                <a:latin typeface="Carlito" pitchFamily="34" charset="0"/>
                <a:ea typeface="Carlito" pitchFamily="34" charset="-122"/>
                <a:cs typeface="Carlito" pitchFamily="34" charset="-120"/>
              </a:rPr>
              <a:t> ০৭ অধ্যায়</a:t>
            </a:r>
            <a:endParaRPr lang="en-US" sz="1013" dirty="0"/>
          </a:p>
        </p:txBody>
      </p:sp>
      <p:sp>
        <p:nvSpPr>
          <p:cNvPr id="5" name="Shape 2"/>
          <p:cNvSpPr/>
          <p:nvPr/>
        </p:nvSpPr>
        <p:spPr>
          <a:xfrm>
            <a:off x="4389053" y="2433451"/>
            <a:ext cx="400050" cy="0"/>
          </a:xfrm>
          <a:prstGeom prst="line">
            <a:avLst/>
          </a:prstGeom>
          <a:noFill/>
          <a:ln w="7144">
            <a:solidFill>
              <a:srgbClr val="1A1A1A"/>
            </a:solidFill>
            <a:prstDash val="solid"/>
          </a:ln>
        </p:spPr>
        <p:txBody>
          <a:bodyPr/>
          <a:p/>
        </p:txBody>
      </p:sp>
      <p:pic>
        <p:nvPicPr>
          <p:cNvPr id="6" name="Image 1" descr="preencoded.png">    </p:cNvPr>
          <p:cNvPicPr>
            <a:picLocks noChangeAspect="1"/>
          </p:cNvPicPr>
          <p:nvPr/>
        </p:nvPicPr>
        <p:blipFill>
          <a:blip r:embed="rId2"/>
          <a:stretch>
            <a:fillRect/>
          </a:stretch>
        </p:blipFill>
        <p:spPr>
          <a:xfrm>
            <a:off x="0" y="5100638"/>
            <a:ext cx="9144000" cy="42863"/>
          </a:xfrm>
          <a:prstGeom prst="rect">
            <a:avLst/>
          </a:prstGeom>
        </p:spPr>
      </p:pic>
      <p:sp>
        <p:nvSpPr>
          <p:cNvPr id="7" name="Text 3"/>
          <p:cNvSpPr/>
          <p:nvPr/>
        </p:nvSpPr>
        <p:spPr>
          <a:xfrm>
            <a:off x="8701869" y="4706392"/>
            <a:ext cx="29593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১৩</a:t>
            </a:r>
            <a:endParaRPr lang="en-US" sz="1350" dirty="0"/>
          </a:p>
        </p:txBody>
      </p:sp>
      <p:sp>
        <p:nvSpPr>
          <p:cNvPr id="8" name="Text 4"/>
          <p:cNvSpPr/>
          <p:nvPr/>
        </p:nvSpPr>
        <p:spPr>
          <a:xfrm>
            <a:off x="4389053" y="1387897"/>
            <a:ext cx="2851738"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অধ্যায় · আইনি কাঠামো</a:t>
            </a:r>
            <a:endParaRPr lang="en-US" sz="1350" dirty="0"/>
          </a:p>
        </p:txBody>
      </p:sp>
      <p:sp>
        <p:nvSpPr>
          <p:cNvPr id="9" name="Text 5"/>
          <p:cNvSpPr/>
          <p:nvPr/>
        </p:nvSpPr>
        <p:spPr>
          <a:xfrm>
            <a:off x="4389053" y="1767855"/>
            <a:ext cx="4754947" cy="552966"/>
          </a:xfrm>
          <a:prstGeom prst="rect">
            <a:avLst/>
          </a:prstGeom>
          <a:noFill/>
          <a:ln/>
        </p:spPr>
        <p:txBody>
          <a:bodyPr wrap="none" lIns="0" tIns="0" rIns="0" bIns="0" rtlCol="0" anchor="t"/>
          <a:lstStyle/>
          <a:p>
            <a:pPr algn="l" indent="0" marL="0">
              <a:lnSpc>
                <a:spcPts val="4032"/>
              </a:lnSpc>
              <a:buNone/>
            </a:pPr>
            <a:r>
              <a:rPr lang="en-US" sz="3600" b="1" spc="-36" kern="0" dirty="0">
                <a:solidFill>
                  <a:srgbClr val="14342A"/>
                </a:solidFill>
                <a:latin typeface="Tinos" pitchFamily="34" charset="0"/>
                <a:ea typeface="Tinos" pitchFamily="34" charset="-122"/>
                <a:cs typeface="Tinos" pitchFamily="34" charset="-120"/>
              </a:rPr>
              <a:t>বালাইনাশক আইন, ২০১৮</a:t>
            </a:r>
            <a:endParaRPr lang="en-US" sz="3600" dirty="0"/>
          </a:p>
        </p:txBody>
      </p:sp>
      <p:sp>
        <p:nvSpPr>
          <p:cNvPr id="10" name="Text 6"/>
          <p:cNvSpPr/>
          <p:nvPr/>
        </p:nvSpPr>
        <p:spPr>
          <a:xfrm>
            <a:off x="4389053" y="2587042"/>
            <a:ext cx="4000500" cy="708115"/>
          </a:xfrm>
          <a:prstGeom prst="rect">
            <a:avLst/>
          </a:prstGeom>
          <a:noFill/>
          <a:ln/>
        </p:spPr>
        <p:txBody>
          <a:bodyPr wrap="square" lIns="0" tIns="0" rIns="0" bIns="0" rtlCol="0" anchor="t"/>
          <a:lstStyle/>
          <a:p>
            <a:pPr algn="l" indent="0" marL="0">
              <a:lnSpc>
                <a:spcPts val="1721"/>
              </a:lnSpc>
              <a:buNone/>
            </a:pPr>
            <a:r>
              <a:rPr lang="en-US" sz="1013" dirty="0">
                <a:solidFill>
                  <a:srgbClr val="1A1A1A"/>
                </a:solidFill>
                <a:latin typeface="Carlito" pitchFamily="34" charset="0"/>
                <a:ea typeface="Carlito" pitchFamily="34" charset="-122"/>
                <a:cs typeface="Carlito" pitchFamily="34" charset="-120"/>
              </a:rPr>
              <a:t>বালাইনাশক আইন, ২০১৮ — ৩৬টি ধারায় বিভক্ত একটি সমন্বিত আইনি কাঠামো। নিবন্ধন, লাইসেন্সিং, MRP নির্ধারণ, লেবেলিং বিধিমালা — প্রতিটি পর্যায়ে খুচরা বিক্রেতার দায়িত্ব ও আইনি বাধ্যবাধকতা সুনির্দিষ্ট।</a:t>
            </a:r>
            <a:endParaRPr lang="en-US" sz="1013" dirty="0"/>
          </a:p>
        </p:txBody>
      </p:sp>
      <p:sp>
        <p:nvSpPr>
          <p:cNvPr id="11" name="Text 7"/>
          <p:cNvSpPr/>
          <p:nvPr/>
        </p:nvSpPr>
        <p:spPr>
          <a:xfrm>
            <a:off x="4392625" y="3446301"/>
            <a:ext cx="1492039" cy="437108"/>
          </a:xfrm>
          <a:prstGeom prst="roundRect">
            <a:avLst>
              <a:gd name="adj" fmla="val 21791"/>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2" name="Text 8"/>
          <p:cNvSpPr/>
          <p:nvPr/>
        </p:nvSpPr>
        <p:spPr>
          <a:xfrm>
            <a:off x="4496209" y="3681264"/>
            <a:ext cx="1427745" cy="128016"/>
          </a:xfrm>
          <a:prstGeom prst="rect">
            <a:avLst/>
          </a:prstGeom>
          <a:noFill/>
          <a:ln/>
        </p:spPr>
        <p:txBody>
          <a:bodyPr wrap="square" lIns="0" tIns="0" rIns="0" bIns="0" rtlCol="0" anchor="t"/>
          <a:lstStyle/>
          <a:p>
            <a:pPr algn="l" indent="0" marL="0">
              <a:lnSpc>
                <a:spcPts val="945"/>
              </a:lnSpc>
              <a:buNone/>
            </a:pPr>
            <a:r>
              <a:rPr lang="en-US" sz="800" dirty="0">
                <a:solidFill>
                  <a:srgbClr val="4A4A4A"/>
                </a:solidFill>
                <a:latin typeface="Carlito" pitchFamily="34" charset="0"/>
                <a:ea typeface="Carlito" pitchFamily="34" charset="-122"/>
                <a:cs typeface="Carlito" pitchFamily="34" charset="-120"/>
              </a:rPr>
              <a:t>আইনের উদ্দেশ্য</a:t>
            </a:r>
            <a:endParaRPr lang="en-US" sz="800" dirty="0"/>
          </a:p>
        </p:txBody>
      </p:sp>
      <p:sp>
        <p:nvSpPr>
          <p:cNvPr id="13" name="Text 9"/>
          <p:cNvSpPr/>
          <p:nvPr/>
        </p:nvSpPr>
        <p:spPr>
          <a:xfrm>
            <a:off x="4496209" y="3535598"/>
            <a:ext cx="1284870" cy="153526"/>
          </a:xfrm>
          <a:prstGeom prst="rect">
            <a:avLst/>
          </a:prstGeom>
          <a:noFill/>
          <a:ln/>
        </p:spPr>
        <p:txBody>
          <a:bodyPr wrap="none" lIns="0" tIns="0" rIns="0" bIns="0" rtlCol="0" anchor="t"/>
          <a:lstStyle/>
          <a:p>
            <a:pPr algn="l" indent="0" marL="0">
              <a:lnSpc>
                <a:spcPts val="866"/>
              </a:lnSpc>
              <a:buNone/>
            </a:pPr>
            <a:r>
              <a:rPr lang="en-US" sz="800" b="1" spc="62" kern="0" dirty="0">
                <a:solidFill>
                  <a:srgbClr val="9A6E1E"/>
                </a:solidFill>
                <a:latin typeface="Carlito" pitchFamily="34" charset="0"/>
                <a:ea typeface="Carlito" pitchFamily="34" charset="-122"/>
                <a:cs typeface="Carlito" pitchFamily="34" charset="-120"/>
              </a:rPr>
              <a:t>১৪</a:t>
            </a:r>
            <a:endParaRPr lang="en-US" sz="800" dirty="0"/>
          </a:p>
        </p:txBody>
      </p:sp>
      <p:sp>
        <p:nvSpPr>
          <p:cNvPr id="14" name="Text 10"/>
          <p:cNvSpPr/>
          <p:nvPr/>
        </p:nvSpPr>
        <p:spPr>
          <a:xfrm>
            <a:off x="5963245" y="3446301"/>
            <a:ext cx="1492151" cy="437108"/>
          </a:xfrm>
          <a:prstGeom prst="roundRect">
            <a:avLst>
              <a:gd name="adj" fmla="val 21791"/>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5" name="Text 11"/>
          <p:cNvSpPr/>
          <p:nvPr/>
        </p:nvSpPr>
        <p:spPr>
          <a:xfrm>
            <a:off x="6066830" y="3681264"/>
            <a:ext cx="1427857" cy="128016"/>
          </a:xfrm>
          <a:prstGeom prst="rect">
            <a:avLst/>
          </a:prstGeom>
          <a:noFill/>
          <a:ln/>
        </p:spPr>
        <p:txBody>
          <a:bodyPr wrap="square" lIns="0" tIns="0" rIns="0" bIns="0" rtlCol="0" anchor="t"/>
          <a:lstStyle/>
          <a:p>
            <a:pPr algn="l" indent="0" marL="0">
              <a:lnSpc>
                <a:spcPts val="945"/>
              </a:lnSpc>
              <a:buNone/>
            </a:pPr>
            <a:r>
              <a:rPr lang="en-US" sz="800" dirty="0">
                <a:solidFill>
                  <a:srgbClr val="4A4A4A"/>
                </a:solidFill>
                <a:latin typeface="Carlito" pitchFamily="34" charset="0"/>
                <a:ea typeface="Carlito" pitchFamily="34" charset="-122"/>
                <a:cs typeface="Carlito" pitchFamily="34" charset="-120"/>
              </a:rPr>
              <a:t>নিবন্ধন প্রক্রিয়া</a:t>
            </a:r>
            <a:endParaRPr lang="en-US" sz="800" dirty="0"/>
          </a:p>
        </p:txBody>
      </p:sp>
      <p:sp>
        <p:nvSpPr>
          <p:cNvPr id="16" name="Text 12"/>
          <p:cNvSpPr/>
          <p:nvPr/>
        </p:nvSpPr>
        <p:spPr>
          <a:xfrm>
            <a:off x="6066830" y="3535598"/>
            <a:ext cx="1284982" cy="153526"/>
          </a:xfrm>
          <a:prstGeom prst="rect">
            <a:avLst/>
          </a:prstGeom>
          <a:noFill/>
          <a:ln/>
        </p:spPr>
        <p:txBody>
          <a:bodyPr wrap="none" lIns="0" tIns="0" rIns="0" bIns="0" rtlCol="0" anchor="t"/>
          <a:lstStyle/>
          <a:p>
            <a:pPr algn="l" indent="0" marL="0">
              <a:lnSpc>
                <a:spcPts val="866"/>
              </a:lnSpc>
              <a:buNone/>
            </a:pPr>
            <a:r>
              <a:rPr lang="en-US" sz="800" b="1" spc="62" kern="0" dirty="0">
                <a:solidFill>
                  <a:srgbClr val="9A6E1E"/>
                </a:solidFill>
                <a:latin typeface="Carlito" pitchFamily="34" charset="0"/>
                <a:ea typeface="Carlito" pitchFamily="34" charset="-122"/>
                <a:cs typeface="Carlito" pitchFamily="34" charset="-120"/>
              </a:rPr>
              <a:t>১৫</a:t>
            </a:r>
            <a:endParaRPr lang="en-US" sz="800" dirty="0"/>
          </a:p>
        </p:txBody>
      </p:sp>
      <p:sp>
        <p:nvSpPr>
          <p:cNvPr id="17" name="Text 13"/>
          <p:cNvSpPr/>
          <p:nvPr/>
        </p:nvSpPr>
        <p:spPr>
          <a:xfrm>
            <a:off x="7533977" y="3446301"/>
            <a:ext cx="1492039" cy="437108"/>
          </a:xfrm>
          <a:prstGeom prst="roundRect">
            <a:avLst>
              <a:gd name="adj" fmla="val 21791"/>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8" name="Text 14"/>
          <p:cNvSpPr/>
          <p:nvPr/>
        </p:nvSpPr>
        <p:spPr>
          <a:xfrm>
            <a:off x="7637562" y="3681264"/>
            <a:ext cx="1392027" cy="128016"/>
          </a:xfrm>
          <a:prstGeom prst="rect">
            <a:avLst/>
          </a:prstGeom>
          <a:noFill/>
          <a:ln/>
        </p:spPr>
        <p:txBody>
          <a:bodyPr wrap="square" lIns="0" tIns="0" rIns="0" bIns="0" rtlCol="0" anchor="t"/>
          <a:lstStyle/>
          <a:p>
            <a:pPr algn="l" indent="0" marL="0">
              <a:lnSpc>
                <a:spcPts val="945"/>
              </a:lnSpc>
              <a:buNone/>
            </a:pPr>
            <a:r>
              <a:rPr lang="en-US" sz="800" dirty="0">
                <a:solidFill>
                  <a:srgbClr val="4A4A4A"/>
                </a:solidFill>
                <a:latin typeface="Carlito" pitchFamily="34" charset="0"/>
                <a:ea typeface="Carlito" pitchFamily="34" charset="-122"/>
                <a:cs typeface="Carlito" pitchFamily="34" charset="-120"/>
              </a:rPr>
              <a:t>লাইসেন্সিং শর্ত</a:t>
            </a:r>
            <a:endParaRPr lang="en-US" sz="800" dirty="0"/>
          </a:p>
        </p:txBody>
      </p:sp>
      <p:sp>
        <p:nvSpPr>
          <p:cNvPr id="19" name="Text 15"/>
          <p:cNvSpPr/>
          <p:nvPr/>
        </p:nvSpPr>
        <p:spPr>
          <a:xfrm>
            <a:off x="7637562" y="3535598"/>
            <a:ext cx="1284870" cy="153526"/>
          </a:xfrm>
          <a:prstGeom prst="rect">
            <a:avLst/>
          </a:prstGeom>
          <a:noFill/>
          <a:ln/>
        </p:spPr>
        <p:txBody>
          <a:bodyPr wrap="none" lIns="0" tIns="0" rIns="0" bIns="0" rtlCol="0" anchor="t"/>
          <a:lstStyle/>
          <a:p>
            <a:pPr algn="l" indent="0" marL="0">
              <a:lnSpc>
                <a:spcPts val="866"/>
              </a:lnSpc>
              <a:buNone/>
            </a:pPr>
            <a:r>
              <a:rPr lang="en-US" sz="800" b="1" spc="62" kern="0" dirty="0">
                <a:solidFill>
                  <a:srgbClr val="9A6E1E"/>
                </a:solidFill>
                <a:latin typeface="Carlito" pitchFamily="34" charset="0"/>
                <a:ea typeface="Carlito" pitchFamily="34" charset="-122"/>
                <a:cs typeface="Carlito" pitchFamily="34" charset="-120"/>
              </a:rPr>
              <a:t>১৬</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57200" y="445815"/>
            <a:ext cx="3746398"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০৩ · বালাইনাশক আইন, ২০১৮</a:t>
            </a:r>
            <a:endParaRPr lang="en-US" sz="1350" dirty="0"/>
          </a:p>
        </p:txBody>
      </p:sp>
      <p:sp>
        <p:nvSpPr>
          <p:cNvPr id="3" name="Text 1"/>
          <p:cNvSpPr/>
          <p:nvPr/>
        </p:nvSpPr>
        <p:spPr>
          <a:xfrm>
            <a:off x="457200" y="797198"/>
            <a:ext cx="8636000" cy="509809"/>
          </a:xfrm>
          <a:prstGeom prst="rect">
            <a:avLst/>
          </a:prstGeom>
          <a:noFill/>
          <a:ln/>
        </p:spPr>
        <p:txBody>
          <a:bodyPr wrap="none" lIns="0" tIns="0" rIns="0" bIns="0" rtlCol="0" anchor="t"/>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আইনের উদ্দেশ্য ও পরিধি</a:t>
            </a:r>
            <a:endParaRPr lang="en-US" sz="3150" dirty="0"/>
          </a:p>
        </p:txBody>
      </p:sp>
      <p:sp>
        <p:nvSpPr>
          <p:cNvPr id="4" name="Text 2"/>
          <p:cNvSpPr/>
          <p:nvPr/>
        </p:nvSpPr>
        <p:spPr>
          <a:xfrm>
            <a:off x="457200" y="1397831"/>
            <a:ext cx="8229600" cy="2631244"/>
          </a:xfrm>
          <a:prstGeom prst="roundRect">
            <a:avLst>
              <a:gd name="adj" fmla="val 6516"/>
            </a:avLst>
          </a:prstGeom>
          <a:solidFill>
            <a:srgbClr val="1E4D3B"/>
          </a:solidFill>
          <a:ln/>
        </p:spPr>
        <p:txBody>
          <a:bodyPr wrap="square" rtlCol="0" anchor="ctr"/>
          <a:lstStyle/>
          <a:p>
            <a:pPr indent="0" marL="0">
              <a:buNone/>
            </a:pPr>
            <a:endParaRPr lang="en-US" dirty="0"/>
          </a:p>
        </p:txBody>
      </p:sp>
      <p:sp>
        <p:nvSpPr>
          <p:cNvPr id="5" name="Text 3"/>
          <p:cNvSpPr/>
          <p:nvPr/>
        </p:nvSpPr>
        <p:spPr>
          <a:xfrm>
            <a:off x="8015288" y="1569281"/>
            <a:ext cx="457200" cy="457200"/>
          </a:xfrm>
          <a:prstGeom prst="rect">
            <a:avLst/>
          </a:prstGeom>
          <a:noFill/>
          <a:ln/>
        </p:spPr>
        <p:txBody>
          <a:bodyPr wrap="none" lIns="0" tIns="0" rIns="0" bIns="0" rtlCol="0" anchor="ctr"/>
          <a:lstStyle/>
          <a:p>
            <a:pPr algn="ctr" indent="0" marL="0">
              <a:buNone/>
            </a:pPr>
            <a:r>
              <a:rPr lang="en-US" sz="4500" dirty="0">
                <a:solidFill>
                  <a:srgbClr val="E0B659"/>
                </a:solidFill>
                <a:latin typeface="Segoe UI Symbol" pitchFamily="34" charset="0"/>
                <a:ea typeface="Segoe UI Symbol" pitchFamily="34" charset="-122"/>
                <a:cs typeface="Segoe UI Symbol" pitchFamily="34" charset="-120"/>
              </a:rPr>
              <a:t>⚖</a:t>
            </a:r>
            <a:endParaRPr lang="en-US" sz="4500" dirty="0"/>
          </a:p>
        </p:txBody>
      </p:sp>
      <p:sp>
        <p:nvSpPr>
          <p:cNvPr id="6" name="Text 4"/>
          <p:cNvSpPr/>
          <p:nvPr/>
        </p:nvSpPr>
        <p:spPr>
          <a:xfrm>
            <a:off x="771525" y="2358330"/>
            <a:ext cx="7600950" cy="170047"/>
          </a:xfrm>
          <a:prstGeom prst="rect">
            <a:avLst/>
          </a:prstGeom>
          <a:noFill/>
          <a:ln/>
        </p:spPr>
        <p:txBody>
          <a:bodyPr wrap="none" lIns="0" tIns="0" rIns="0" bIns="0" rtlCol="0" anchor="t"/>
          <a:lstStyle/>
          <a:p>
            <a:pPr algn="l" indent="0" marL="0">
              <a:lnSpc>
                <a:spcPts val="959"/>
              </a:lnSpc>
              <a:buNone/>
            </a:pPr>
            <a:r>
              <a:rPr lang="en-US" sz="800" b="1" spc="111" kern="0" dirty="0">
                <a:solidFill>
                  <a:srgbClr val="E0B659"/>
                </a:solidFill>
                <a:latin typeface="Carlito" pitchFamily="34" charset="0"/>
                <a:ea typeface="Carlito" pitchFamily="34" charset="-122"/>
                <a:cs typeface="Carlito" pitchFamily="34" charset="-120"/>
              </a:rPr>
              <a:t>CORE MESSAGE · মূল বার্তা</a:t>
            </a:r>
            <a:endParaRPr lang="en-US" sz="800" dirty="0"/>
          </a:p>
        </p:txBody>
      </p:sp>
      <p:sp>
        <p:nvSpPr>
          <p:cNvPr id="7" name="Text 5"/>
          <p:cNvSpPr/>
          <p:nvPr/>
        </p:nvSpPr>
        <p:spPr>
          <a:xfrm>
            <a:off x="457200" y="4157663"/>
            <a:ext cx="2676451" cy="585788"/>
          </a:xfrm>
          <a:prstGeom prst="roundRect">
            <a:avLst>
              <a:gd name="adj" fmla="val 19512"/>
            </a:avLst>
          </a:prstGeom>
          <a:solidFill>
            <a:srgbClr val="F2ECDD"/>
          </a:solidFill>
          <a:ln/>
        </p:spPr>
        <p:txBody>
          <a:bodyPr wrap="square" rtlCol="0" anchor="ctr"/>
          <a:lstStyle/>
          <a:p>
            <a:pPr indent="0" marL="0">
              <a:buNone/>
            </a:pPr>
            <a:endParaRPr lang="en-US" dirty="0"/>
          </a:p>
        </p:txBody>
      </p:sp>
      <p:sp>
        <p:nvSpPr>
          <p:cNvPr id="8" name="Text 6"/>
          <p:cNvSpPr/>
          <p:nvPr/>
        </p:nvSpPr>
        <p:spPr>
          <a:xfrm>
            <a:off x="617934" y="4289822"/>
            <a:ext cx="321469" cy="321469"/>
          </a:xfrm>
          <a:prstGeom prst="roundRect">
            <a:avLst>
              <a:gd name="adj" fmla="val 2963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9" name="Text 7"/>
          <p:cNvSpPr/>
          <p:nvPr/>
        </p:nvSpPr>
        <p:spPr>
          <a:xfrm>
            <a:off x="654368" y="4326255"/>
            <a:ext cx="248602" cy="248602"/>
          </a:xfrm>
          <a:prstGeom prst="rect">
            <a:avLst/>
          </a:prstGeom>
          <a:noFill/>
          <a:ln/>
        </p:spPr>
        <p:txBody>
          <a:bodyPr wrap="none" lIns="0" tIns="0" rIns="0" bIns="0" rtlCol="0" anchor="ctr"/>
          <a:lstStyle/>
          <a:p>
            <a:pPr algn="ctr" indent="0" marL="0">
              <a:buNone/>
            </a:pPr>
            <a:r>
              <a:rPr lang="en-US" sz="1688" dirty="0">
                <a:solidFill>
                  <a:srgbClr val="9A6E1E"/>
                </a:solidFill>
                <a:latin typeface="Segoe UI Symbol" pitchFamily="34" charset="0"/>
                <a:ea typeface="Segoe UI Symbol" pitchFamily="34" charset="-122"/>
                <a:cs typeface="Segoe UI Symbol" pitchFamily="34" charset="-120"/>
              </a:rPr>
              <a:t>⚖</a:t>
            </a:r>
            <a:endParaRPr lang="en-US" sz="1688" dirty="0"/>
          </a:p>
        </p:txBody>
      </p:sp>
      <p:sp>
        <p:nvSpPr>
          <p:cNvPr id="10" name="Text 8"/>
          <p:cNvSpPr/>
          <p:nvPr/>
        </p:nvSpPr>
        <p:spPr>
          <a:xfrm>
            <a:off x="1042988" y="4298975"/>
            <a:ext cx="1150715" cy="141116"/>
          </a:xfrm>
          <a:prstGeom prst="rect">
            <a:avLst/>
          </a:prstGeom>
          <a:noFill/>
          <a:ln/>
        </p:spPr>
        <p:txBody>
          <a:bodyPr wrap="none" lIns="0" tIns="0" rIns="0" bIns="0" rtlCol="0" anchor="t">
            <a:normAutofit/>
          </a:bodyPr>
          <a:lstStyle/>
          <a:p>
            <a:pPr algn="l" indent="0" marL="0">
              <a:lnSpc>
                <a:spcPts val="1215"/>
              </a:lnSpc>
              <a:buNone/>
            </a:pPr>
            <a:r>
              <a:rPr lang="en-US" sz="1013" b="1" dirty="0">
                <a:solidFill>
                  <a:srgbClr val="14342A"/>
                </a:solidFill>
                <a:latin typeface="Tinos" pitchFamily="34" charset="0"/>
                <a:ea typeface="Tinos" pitchFamily="34" charset="-122"/>
                <a:cs typeface="Tinos" pitchFamily="34" charset="-120"/>
              </a:rPr>
              <a:t>৩৬ ধারা</a:t>
            </a:r>
            <a:endParaRPr lang="en-US" sz="1013" dirty="0"/>
          </a:p>
        </p:txBody>
      </p:sp>
      <p:sp>
        <p:nvSpPr>
          <p:cNvPr id="11" name="Text 9"/>
          <p:cNvSpPr/>
          <p:nvPr/>
        </p:nvSpPr>
        <p:spPr>
          <a:xfrm>
            <a:off x="1042988" y="4467523"/>
            <a:ext cx="988896" cy="147340"/>
          </a:xfrm>
          <a:prstGeom prst="rect">
            <a:avLst/>
          </a:prstGeom>
          <a:noFill/>
          <a:ln/>
        </p:spPr>
        <p:txBody>
          <a:bodyPr wrap="none" lIns="0" tIns="0" rIns="0" bIns="0" rtlCol="0" anchor="t"/>
          <a:lstStyle/>
          <a:p>
            <a:pPr algn="l" indent="0" marL="0">
              <a:lnSpc>
                <a:spcPts val="1060"/>
              </a:lnSpc>
              <a:buNone/>
            </a:pPr>
            <a:r>
              <a:rPr lang="en-US" sz="731" dirty="0">
                <a:solidFill>
                  <a:srgbClr val="4A4A4A"/>
                </a:solidFill>
                <a:latin typeface="Carlito" pitchFamily="34" charset="0"/>
                <a:ea typeface="Carlito" pitchFamily="34" charset="-122"/>
                <a:cs typeface="Carlito" pitchFamily="34" charset="-120"/>
              </a:rPr>
              <a:t>আইনের মূল কাঠামো সুসংগঠিত</a:t>
            </a:r>
            <a:endParaRPr lang="en-US" sz="731" dirty="0"/>
          </a:p>
        </p:txBody>
      </p:sp>
      <p:sp>
        <p:nvSpPr>
          <p:cNvPr id="12" name="Text 10"/>
          <p:cNvSpPr/>
          <p:nvPr/>
        </p:nvSpPr>
        <p:spPr>
          <a:xfrm>
            <a:off x="3233663" y="4157663"/>
            <a:ext cx="2676562" cy="585788"/>
          </a:xfrm>
          <a:prstGeom prst="roundRect">
            <a:avLst>
              <a:gd name="adj" fmla="val 19512"/>
            </a:avLst>
          </a:prstGeom>
          <a:solidFill>
            <a:srgbClr val="F2ECDD"/>
          </a:solidFill>
          <a:ln/>
        </p:spPr>
        <p:txBody>
          <a:bodyPr wrap="square" rtlCol="0" anchor="ctr"/>
          <a:lstStyle/>
          <a:p>
            <a:pPr indent="0" marL="0">
              <a:buNone/>
            </a:pPr>
            <a:endParaRPr lang="en-US" dirty="0"/>
          </a:p>
        </p:txBody>
      </p:sp>
      <p:sp>
        <p:nvSpPr>
          <p:cNvPr id="13" name="Text 11"/>
          <p:cNvSpPr/>
          <p:nvPr/>
        </p:nvSpPr>
        <p:spPr>
          <a:xfrm>
            <a:off x="3394397" y="4289822"/>
            <a:ext cx="321469" cy="321469"/>
          </a:xfrm>
          <a:prstGeom prst="roundRect">
            <a:avLst>
              <a:gd name="adj" fmla="val 2963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4" name="Text 12"/>
          <p:cNvSpPr/>
          <p:nvPr/>
        </p:nvSpPr>
        <p:spPr>
          <a:xfrm>
            <a:off x="3430831" y="4326255"/>
            <a:ext cx="248602" cy="248602"/>
          </a:xfrm>
          <a:prstGeom prst="rect">
            <a:avLst/>
          </a:prstGeom>
          <a:noFill/>
          <a:ln/>
        </p:spPr>
        <p:txBody>
          <a:bodyPr wrap="none" lIns="0" tIns="0" rIns="0" bIns="0" rtlCol="0" anchor="ctr"/>
          <a:lstStyle/>
          <a:p>
            <a:pPr algn="ctr" indent="0" marL="0">
              <a:buNone/>
            </a:pPr>
            <a:r>
              <a:rPr lang="en-US" sz="1688" dirty="0">
                <a:solidFill>
                  <a:srgbClr val="9A6E1E"/>
                </a:solidFill>
                <a:latin typeface="Segoe UI Symbol" pitchFamily="34" charset="0"/>
                <a:ea typeface="Segoe UI Symbol" pitchFamily="34" charset="-122"/>
                <a:cs typeface="Segoe UI Symbol" pitchFamily="34" charset="-120"/>
              </a:rPr>
              <a:t>▤</a:t>
            </a:r>
            <a:endParaRPr lang="en-US" sz="1688" dirty="0"/>
          </a:p>
        </p:txBody>
      </p:sp>
      <p:sp>
        <p:nvSpPr>
          <p:cNvPr id="15" name="Text 13"/>
          <p:cNvSpPr/>
          <p:nvPr/>
        </p:nvSpPr>
        <p:spPr>
          <a:xfrm>
            <a:off x="3819451" y="4298975"/>
            <a:ext cx="1095851" cy="141116"/>
          </a:xfrm>
          <a:prstGeom prst="rect">
            <a:avLst/>
          </a:prstGeom>
          <a:noFill/>
          <a:ln/>
        </p:spPr>
        <p:txBody>
          <a:bodyPr wrap="none" lIns="0" tIns="0" rIns="0" bIns="0" rtlCol="0" anchor="t">
            <a:normAutofit/>
          </a:bodyPr>
          <a:lstStyle/>
          <a:p>
            <a:pPr algn="l" indent="0" marL="0">
              <a:lnSpc>
                <a:spcPts val="1215"/>
              </a:lnSpc>
              <a:buNone/>
            </a:pPr>
            <a:r>
              <a:rPr lang="en-US" sz="1013" b="1" dirty="0">
                <a:solidFill>
                  <a:srgbClr val="14342A"/>
                </a:solidFill>
                <a:latin typeface="Tinos" pitchFamily="34" charset="0"/>
                <a:ea typeface="Tinos" pitchFamily="34" charset="-122"/>
                <a:cs typeface="Tinos" pitchFamily="34" charset="-120"/>
              </a:rPr>
              <a:t>৩৬ ধারা</a:t>
            </a:r>
            <a:endParaRPr lang="en-US" sz="1013" dirty="0"/>
          </a:p>
        </p:txBody>
      </p:sp>
      <p:sp>
        <p:nvSpPr>
          <p:cNvPr id="16" name="Text 14"/>
          <p:cNvSpPr/>
          <p:nvPr/>
        </p:nvSpPr>
        <p:spPr>
          <a:xfrm>
            <a:off x="3819451" y="4467523"/>
            <a:ext cx="924624" cy="147340"/>
          </a:xfrm>
          <a:prstGeom prst="rect">
            <a:avLst/>
          </a:prstGeom>
          <a:noFill/>
          <a:ln/>
        </p:spPr>
        <p:txBody>
          <a:bodyPr wrap="square" lIns="0" tIns="0" rIns="0" bIns="0" rtlCol="0" anchor="t"/>
          <a:lstStyle/>
          <a:p>
            <a:pPr algn="l" indent="0" marL="0">
              <a:lnSpc>
                <a:spcPts val="1060"/>
              </a:lnSpc>
              <a:buNone/>
            </a:pPr>
            <a:r>
              <a:rPr lang="en-US" sz="731" dirty="0">
                <a:solidFill>
                  <a:srgbClr val="4A4A4A"/>
                </a:solidFill>
                <a:latin typeface="Carlito" pitchFamily="34" charset="0"/>
                <a:ea typeface="Carlito" pitchFamily="34" charset="-122"/>
                <a:cs typeface="Carlito" pitchFamily="34" charset="-120"/>
              </a:rPr>
              <a:t>প্রতিটি বিষয়ে বিস্তারিত বিধান</a:t>
            </a:r>
            <a:endParaRPr lang="en-US" sz="731" dirty="0"/>
          </a:p>
        </p:txBody>
      </p:sp>
      <p:sp>
        <p:nvSpPr>
          <p:cNvPr id="17" name="Text 15"/>
          <p:cNvSpPr/>
          <p:nvPr/>
        </p:nvSpPr>
        <p:spPr>
          <a:xfrm>
            <a:off x="6010238" y="4157663"/>
            <a:ext cx="2676451" cy="585788"/>
          </a:xfrm>
          <a:prstGeom prst="roundRect">
            <a:avLst>
              <a:gd name="adj" fmla="val 19512"/>
            </a:avLst>
          </a:prstGeom>
          <a:solidFill>
            <a:srgbClr val="F2ECDD"/>
          </a:solidFill>
          <a:ln/>
        </p:spPr>
        <p:txBody>
          <a:bodyPr wrap="square" rtlCol="0" anchor="ctr"/>
          <a:lstStyle/>
          <a:p>
            <a:pPr indent="0" marL="0">
              <a:buNone/>
            </a:pPr>
            <a:endParaRPr lang="en-US" dirty="0"/>
          </a:p>
        </p:txBody>
      </p:sp>
      <p:sp>
        <p:nvSpPr>
          <p:cNvPr id="18" name="Text 16"/>
          <p:cNvSpPr/>
          <p:nvPr/>
        </p:nvSpPr>
        <p:spPr>
          <a:xfrm>
            <a:off x="6170972" y="4289822"/>
            <a:ext cx="321469" cy="321469"/>
          </a:xfrm>
          <a:prstGeom prst="roundRect">
            <a:avLst>
              <a:gd name="adj" fmla="val 2963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9" name="Text 17"/>
          <p:cNvSpPr/>
          <p:nvPr/>
        </p:nvSpPr>
        <p:spPr>
          <a:xfrm>
            <a:off x="6207405" y="4326255"/>
            <a:ext cx="248602" cy="248602"/>
          </a:xfrm>
          <a:prstGeom prst="rect">
            <a:avLst/>
          </a:prstGeom>
          <a:noFill/>
          <a:ln/>
        </p:spPr>
        <p:txBody>
          <a:bodyPr wrap="none" lIns="0" tIns="0" rIns="0" bIns="0" rtlCol="0" anchor="ctr"/>
          <a:lstStyle/>
          <a:p>
            <a:pPr algn="ctr" indent="0" marL="0">
              <a:buNone/>
            </a:pPr>
            <a:r>
              <a:rPr lang="en-US" sz="1688" dirty="0">
                <a:solidFill>
                  <a:srgbClr val="9A6E1E"/>
                </a:solidFill>
                <a:latin typeface="Segoe UI Symbol" pitchFamily="34" charset="0"/>
                <a:ea typeface="Segoe UI Symbol" pitchFamily="34" charset="-122"/>
                <a:cs typeface="Segoe UI Symbol" pitchFamily="34" charset="-120"/>
              </a:rPr>
              <a:t>⛨</a:t>
            </a:r>
            <a:endParaRPr lang="en-US" sz="1688" dirty="0"/>
          </a:p>
        </p:txBody>
      </p:sp>
      <p:sp>
        <p:nvSpPr>
          <p:cNvPr id="20" name="Text 18"/>
          <p:cNvSpPr/>
          <p:nvPr/>
        </p:nvSpPr>
        <p:spPr>
          <a:xfrm>
            <a:off x="6596025" y="4298975"/>
            <a:ext cx="1562906" cy="141116"/>
          </a:xfrm>
          <a:prstGeom prst="rect">
            <a:avLst/>
          </a:prstGeom>
          <a:noFill/>
          <a:ln/>
        </p:spPr>
        <p:txBody>
          <a:bodyPr wrap="none" lIns="0" tIns="0" rIns="0" bIns="0" rtlCol="0" anchor="t">
            <a:normAutofit/>
          </a:bodyPr>
          <a:lstStyle/>
          <a:p>
            <a:pPr algn="l" indent="0" marL="0">
              <a:lnSpc>
                <a:spcPts val="1215"/>
              </a:lnSpc>
              <a:buNone/>
            </a:pPr>
            <a:r>
              <a:rPr lang="en-US" sz="1013" b="1" dirty="0">
                <a:solidFill>
                  <a:srgbClr val="14342A"/>
                </a:solidFill>
                <a:latin typeface="Tinos" pitchFamily="34" charset="0"/>
                <a:ea typeface="Tinos" pitchFamily="34" charset="-122"/>
                <a:cs typeface="Tinos" pitchFamily="34" charset="-120"/>
              </a:rPr>
              <a:t>সকল পর্যায়</a:t>
            </a:r>
            <a:endParaRPr lang="en-US" sz="1013" dirty="0"/>
          </a:p>
        </p:txBody>
      </p:sp>
      <p:sp>
        <p:nvSpPr>
          <p:cNvPr id="21" name="Text 19"/>
          <p:cNvSpPr/>
          <p:nvPr/>
        </p:nvSpPr>
        <p:spPr>
          <a:xfrm>
            <a:off x="6596025" y="4467523"/>
            <a:ext cx="1440220" cy="147340"/>
          </a:xfrm>
          <a:prstGeom prst="rect">
            <a:avLst/>
          </a:prstGeom>
          <a:noFill/>
          <a:ln/>
        </p:spPr>
        <p:txBody>
          <a:bodyPr wrap="square" lIns="0" tIns="0" rIns="0" bIns="0" rtlCol="0" anchor="t"/>
          <a:lstStyle/>
          <a:p>
            <a:pPr algn="l" indent="0" marL="0">
              <a:lnSpc>
                <a:spcPts val="1060"/>
              </a:lnSpc>
              <a:buNone/>
            </a:pPr>
            <a:r>
              <a:rPr lang="en-US" sz="731" dirty="0">
                <a:solidFill>
                  <a:srgbClr val="4A4A4A"/>
                </a:solidFill>
                <a:latin typeface="Carlito" pitchFamily="34" charset="0"/>
                <a:ea typeface="Carlito" pitchFamily="34" charset="-122"/>
                <a:cs typeface="Carlito" pitchFamily="34" charset="-120"/>
              </a:rPr>
              <a:t>আমদানি থেকে ব্যবহার — সব আইনের অধীন</a:t>
            </a:r>
            <a:endParaRPr lang="en-US" sz="731" dirty="0"/>
          </a:p>
        </p:txBody>
      </p:sp>
      <p:pic>
        <p:nvPicPr>
          <p:cNvPr id="22" name="Image 0" descr="preencoded.png">    </p:cNvPr>
          <p:cNvPicPr>
            <a:picLocks noChangeAspect="1"/>
          </p:cNvPicPr>
          <p:nvPr/>
        </p:nvPicPr>
        <p:blipFill>
          <a:blip r:embed="rId1"/>
          <a:stretch>
            <a:fillRect/>
          </a:stretch>
        </p:blipFill>
        <p:spPr>
          <a:xfrm>
            <a:off x="0" y="5100638"/>
            <a:ext cx="9144000" cy="42863"/>
          </a:xfrm>
          <a:prstGeom prst="rect">
            <a:avLst/>
          </a:prstGeom>
        </p:spPr>
      </p:pic>
      <p:sp>
        <p:nvSpPr>
          <p:cNvPr id="23" name="Text 20"/>
          <p:cNvSpPr/>
          <p:nvPr/>
        </p:nvSpPr>
        <p:spPr>
          <a:xfrm>
            <a:off x="8709013" y="4706392"/>
            <a:ext cx="28450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১৪</a:t>
            </a:r>
            <a:endParaRPr lang="en-US" sz="1350" dirty="0"/>
          </a:p>
        </p:txBody>
      </p:sp>
      <p:sp>
        <p:nvSpPr>
          <p:cNvPr id="24" name="Text 21"/>
          <p:cNvSpPr/>
          <p:nvPr/>
        </p:nvSpPr>
        <p:spPr>
          <a:xfrm>
            <a:off x="771525" y="2565834"/>
            <a:ext cx="7286625" cy="542961"/>
          </a:xfrm>
          <a:prstGeom prst="rect">
            <a:avLst/>
          </a:prstGeom>
          <a:noFill/>
          <a:ln/>
        </p:spPr>
        <p:txBody>
          <a:bodyPr wrap="square" lIns="0" tIns="0" rIns="0" bIns="0" rtlCol="0" anchor="t"/>
          <a:lstStyle/>
          <a:p>
            <a:pPr algn="l" indent="0" marL="0">
              <a:lnSpc>
                <a:spcPts val="1980"/>
              </a:lnSpc>
              <a:buNone/>
            </a:pPr>
            <a:r>
              <a:rPr lang="en-US" sz="1238" b="1" dirty="0">
                <a:solidFill>
                  <a:srgbClr val="E0B659"/>
                </a:solidFill>
                <a:latin typeface="Tinos" pitchFamily="34" charset="0"/>
                <a:ea typeface="Tinos" pitchFamily="34" charset="-122"/>
                <a:cs typeface="Tinos" pitchFamily="34" charset="-120"/>
              </a:rPr>
              <a:t>বালাইনাশক আইন, ২০১৮</a:t>
            </a:r>
            <a:pPr algn="l" indent="0" marL="0">
              <a:lnSpc>
                <a:spcPts val="1980"/>
              </a:lnSpc>
              <a:buNone/>
            </a:pPr>
            <a:r>
              <a:rPr lang="en-US" sz="1238" dirty="0">
                <a:solidFill>
                  <a:srgbClr val="FAF6EE"/>
                </a:solidFill>
                <a:latin typeface="Tinos" pitchFamily="34" charset="0"/>
                <a:ea typeface="Tinos" pitchFamily="34" charset="-122"/>
                <a:cs typeface="Tinos" pitchFamily="34" charset="-120"/>
              </a:rPr>
              <a:t> — পূর্ববর্তী ১৯৭৬ অধ্যাদেশের স্থলাভিষিক্ত একটি সমন্বিত আইনি কাঠামো। এর মূল উদ্দেশ্য — কৃষক ও পরিবেশের সুরক্ষা, মানসম্মত বালাইনাশক নিশ্চিতকরণ, এবং নিয়ন্ত্রণহীন ব্যবহার রোধ।</a:t>
            </a:r>
            <a:endParaRPr lang="en-US" sz="1238"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00050" y="445815"/>
            <a:ext cx="3746398"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০৩ · বালাইনাশক আইন, ২০১৮</a:t>
            </a:r>
            <a:endParaRPr lang="en-US" sz="1350" dirty="0"/>
          </a:p>
        </p:txBody>
      </p:sp>
      <p:sp>
        <p:nvSpPr>
          <p:cNvPr id="3" name="Text 1"/>
          <p:cNvSpPr/>
          <p:nvPr/>
        </p:nvSpPr>
        <p:spPr>
          <a:xfrm>
            <a:off x="400050" y="797198"/>
            <a:ext cx="8636000" cy="501764"/>
          </a:xfrm>
          <a:prstGeom prst="rect">
            <a:avLst/>
          </a:prstGeom>
          <a:noFill/>
          <a:ln/>
        </p:spPr>
        <p:txBody>
          <a:bodyPr wrap="square" lIns="0" tIns="0" rIns="0" bIns="0" rtlCol="0" anchor="t">
            <a:normAutofit/>
          </a:bodyPr>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বালাইনাশক নিবন্ধন প্রক্রিয়া</a:t>
            </a:r>
            <a:endParaRPr lang="en-US" sz="3150" dirty="0"/>
          </a:p>
        </p:txBody>
      </p:sp>
      <p:sp>
        <p:nvSpPr>
          <p:cNvPr id="4" name="Text 2"/>
          <p:cNvSpPr/>
          <p:nvPr/>
        </p:nvSpPr>
        <p:spPr>
          <a:xfrm>
            <a:off x="400050" y="1326393"/>
            <a:ext cx="8343900" cy="173352"/>
          </a:xfrm>
          <a:prstGeom prst="rect">
            <a:avLst/>
          </a:prstGeom>
          <a:noFill/>
          <a:ln/>
        </p:spPr>
        <p:txBody>
          <a:bodyPr wrap="square" lIns="0" tIns="0" rIns="0" bIns="0" rtlCol="0" anchor="t"/>
          <a:lstStyle/>
          <a:p>
            <a:pPr algn="l" indent="0" marL="0">
              <a:lnSpc>
                <a:spcPts val="1264"/>
              </a:lnSpc>
              <a:buNone/>
            </a:pPr>
            <a:r>
              <a:rPr lang="en-US" sz="816" dirty="0">
                <a:solidFill>
                  <a:srgbClr val="4A4A4A"/>
                </a:solidFill>
                <a:latin typeface="Carlito" pitchFamily="34" charset="0"/>
                <a:ea typeface="Carlito" pitchFamily="34" charset="-122"/>
                <a:cs typeface="Carlito" pitchFamily="34" charset="-120"/>
              </a:rPr>
              <a:t>নির্মাতা/আমদানিকারকের জন্য বাধ্যতামূলক — খুচরা বিক্রেতা শুধু নিবন্ধিত পণ্যই বিক্রি করতে পারেন</a:t>
            </a:r>
            <a:endParaRPr lang="en-US" sz="816" dirty="0"/>
          </a:p>
        </p:txBody>
      </p:sp>
      <p:sp>
        <p:nvSpPr>
          <p:cNvPr id="5" name="Text 3"/>
          <p:cNvSpPr/>
          <p:nvPr/>
        </p:nvSpPr>
        <p:spPr>
          <a:xfrm>
            <a:off x="400050" y="4388495"/>
            <a:ext cx="8343900" cy="354955"/>
          </a:xfrm>
          <a:prstGeom prst="roundRect">
            <a:avLst>
              <a:gd name="adj" fmla="val 26834"/>
            </a:avLst>
          </a:prstGeom>
          <a:solidFill>
            <a:srgbClr val="F2ECDD"/>
          </a:solidFill>
          <a:ln/>
        </p:spPr>
        <p:txBody>
          <a:bodyPr wrap="square" rtlCol="0" anchor="ctr"/>
          <a:lstStyle/>
          <a:p>
            <a:pPr indent="0" marL="0">
              <a:buNone/>
            </a:pPr>
            <a:endParaRPr lang="en-US" dirty="0"/>
          </a:p>
        </p:txBody>
      </p:sp>
      <p:sp>
        <p:nvSpPr>
          <p:cNvPr id="6" name="Shape 4"/>
          <p:cNvSpPr/>
          <p:nvPr/>
        </p:nvSpPr>
        <p:spPr>
          <a:xfrm>
            <a:off x="414338" y="4388495"/>
            <a:ext cx="0" cy="354955"/>
          </a:xfrm>
          <a:prstGeom prst="line">
            <a:avLst/>
          </a:prstGeom>
          <a:noFill/>
          <a:ln w="28575">
            <a:solidFill>
              <a:srgbClr val="1E4D3B"/>
            </a:solidFill>
            <a:prstDash val="solid"/>
          </a:ln>
        </p:spPr>
        <p:txBody>
          <a:bodyPr/>
          <a:p/>
        </p:txBody>
      </p:sp>
      <p:sp>
        <p:nvSpPr>
          <p:cNvPr id="7" name="Text 5"/>
          <p:cNvSpPr/>
          <p:nvPr/>
        </p:nvSpPr>
        <p:spPr>
          <a:xfrm>
            <a:off x="400050" y="4388495"/>
            <a:ext cx="8343900" cy="389436"/>
          </a:xfrm>
          <a:prstGeom prst="rect">
            <a:avLst/>
          </a:prstGeom>
          <a:noFill/>
          <a:ln/>
        </p:spPr>
        <p:txBody>
          <a:bodyPr wrap="square" lIns="157163" tIns="100013" rIns="157163" bIns="100013" rtlCol="0" anchor="t"/>
          <a:lstStyle/>
          <a:p>
            <a:pPr algn="l" indent="0" marL="0">
              <a:lnSpc>
                <a:spcPts val="1221"/>
              </a:lnSpc>
              <a:buNone/>
            </a:pPr>
            <a:r>
              <a:rPr lang="en-US" sz="800" dirty="0">
                <a:solidFill>
                  <a:srgbClr val="9A6E1E"/>
                </a:solidFill>
                <a:latin typeface="Segoe UI Symbol" pitchFamily="34" charset="0"/>
                <a:ea typeface="Segoe UI Symbol" pitchFamily="34" charset="-122"/>
                <a:cs typeface="Segoe UI Symbol" pitchFamily="34" charset="-120"/>
              </a:rPr>
              <a:t>🏪</a:t>
            </a:r>
            <a:pPr algn="l" indent="0" marL="0">
              <a:lnSpc>
                <a:spcPts val="1221"/>
              </a:lnSpc>
              <a:buNone/>
            </a:pPr>
            <a:r>
              <a:rPr lang="en-US" sz="800" dirty="0">
                <a:solidFill>
                  <a:srgbClr val="1A1A1A"/>
                </a:solidFill>
                <a:latin typeface="Carlito" pitchFamily="34" charset="0"/>
                <a:ea typeface="Carlito" pitchFamily="34" charset="-122"/>
                <a:cs typeface="Carlito" pitchFamily="34" charset="-120"/>
              </a:rPr>
              <a:t> </a:t>
            </a:r>
            <a:pPr algn="l" indent="0" marL="0">
              <a:lnSpc>
                <a:spcPts val="1221"/>
              </a:lnSpc>
              <a:buNone/>
            </a:pPr>
            <a:r>
              <a:rPr lang="en-US" sz="800" b="1" dirty="0">
                <a:solidFill>
                  <a:srgbClr val="14342A"/>
                </a:solidFill>
                <a:latin typeface="Carlito" pitchFamily="34" charset="0"/>
                <a:ea typeface="Carlito" pitchFamily="34" charset="-122"/>
                <a:cs typeface="Carlito" pitchFamily="34" charset="-120"/>
              </a:rPr>
              <a:t>খুচরা বিক্রেতার দায়িত্ব —</a:t>
            </a:r>
            <a:pPr algn="l" indent="0" marL="0">
              <a:lnSpc>
                <a:spcPts val="1221"/>
              </a:lnSpc>
              <a:buNone/>
            </a:pPr>
            <a:r>
              <a:rPr lang="en-US" sz="800" dirty="0">
                <a:solidFill>
                  <a:srgbClr val="1A1A1A"/>
                </a:solidFill>
                <a:latin typeface="Carlito" pitchFamily="34" charset="0"/>
                <a:ea typeface="Carlito" pitchFamily="34" charset="-122"/>
                <a:cs typeface="Carlito" pitchFamily="34" charset="-120"/>
              </a:rPr>
              <a:t> প্রতিটি পণ্যের নিবন্ধন নম্বর বালাইনাশক অধিদপ্তরের তালিকায় যাচাই করা।</a:t>
            </a:r>
            <a:endParaRPr lang="en-US" sz="800" dirty="0"/>
          </a:p>
        </p:txBody>
      </p:sp>
      <p:pic>
        <p:nvPicPr>
          <p:cNvPr id="8" name="Image 0" descr="preencoded.png">    </p:cNvPr>
          <p:cNvPicPr>
            <a:picLocks noChangeAspect="1"/>
          </p:cNvPicPr>
          <p:nvPr/>
        </p:nvPicPr>
        <p:blipFill>
          <a:blip r:embed="rId1"/>
          <a:stretch>
            <a:fillRect/>
          </a:stretch>
        </p:blipFill>
        <p:spPr>
          <a:xfrm>
            <a:off x="0" y="5100638"/>
            <a:ext cx="9144000" cy="42863"/>
          </a:xfrm>
          <a:prstGeom prst="rect">
            <a:avLst/>
          </a:prstGeom>
        </p:spPr>
      </p:pic>
      <p:sp>
        <p:nvSpPr>
          <p:cNvPr id="9" name="Text 6"/>
          <p:cNvSpPr/>
          <p:nvPr/>
        </p:nvSpPr>
        <p:spPr>
          <a:xfrm>
            <a:off x="8709013" y="4706392"/>
            <a:ext cx="28450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১৫</a:t>
            </a:r>
            <a:endParaRPr lang="en-US" sz="1350" dirty="0"/>
          </a:p>
        </p:txBody>
      </p:sp>
      <p:sp>
        <p:nvSpPr>
          <p:cNvPr id="10" name="Text 7"/>
          <p:cNvSpPr/>
          <p:nvPr/>
        </p:nvSpPr>
        <p:spPr>
          <a:xfrm>
            <a:off x="873882" y="1672642"/>
            <a:ext cx="371475" cy="371475"/>
          </a:xfrm>
          <a:prstGeom prst="ellipse">
            <a:avLst/>
          </a:prstGeom>
          <a:solidFill>
            <a:srgbClr val="C7912C"/>
          </a:solidFill>
          <a:ln w="28575">
            <a:solidFill>
              <a:srgbClr val="FAF6EE"/>
            </a:solidFill>
            <a:prstDash val="solid"/>
          </a:ln>
          <a:effectLst>
            <a:outerShdw sx="100000" sy="100000" kx="0" ky="0" algn="bl" rotWithShape="0" blurRad="171450" dist="57150" dir="5400000">
              <a:srgbClr val="C7912C">
                <a:alpha val="35000"/>
              </a:srgbClr>
            </a:outerShdw>
          </a:effectLst>
        </p:spPr>
        <p:txBody>
          <a:bodyPr wrap="square" rtlCol="0" anchor="ctr"/>
          <a:lstStyle/>
          <a:p>
            <a:pPr indent="0" marL="0">
              <a:buNone/>
            </a:pPr>
            <a:endParaRPr lang="en-US" dirty="0"/>
          </a:p>
        </p:txBody>
      </p:sp>
      <p:sp>
        <p:nvSpPr>
          <p:cNvPr id="11" name="Text 8"/>
          <p:cNvSpPr/>
          <p:nvPr/>
        </p:nvSpPr>
        <p:spPr>
          <a:xfrm>
            <a:off x="859594" y="1658355"/>
            <a:ext cx="400050" cy="400050"/>
          </a:xfrm>
          <a:prstGeom prst="rect">
            <a:avLst/>
          </a:prstGeom>
          <a:noFill/>
          <a:ln/>
        </p:spPr>
        <p:txBody>
          <a:bodyPr wrap="none" lIns="0" tIns="0" rIns="0" bIns="0" rtlCol="0" anchor="ctr"/>
          <a:lstStyle/>
          <a:p>
            <a:pPr algn="ctr" indent="0" marL="0">
              <a:lnSpc>
                <a:spcPts val="1569"/>
              </a:lnSpc>
              <a:buNone/>
            </a:pPr>
            <a:r>
              <a:rPr lang="en-US" sz="1013" b="1" dirty="0">
                <a:solidFill>
                  <a:srgbClr val="FFFFFF"/>
                </a:solidFill>
                <a:latin typeface="Carlito" pitchFamily="34" charset="0"/>
                <a:ea typeface="Carlito" pitchFamily="34" charset="-122"/>
                <a:cs typeface="Carlito" pitchFamily="34" charset="-120"/>
              </a:rPr>
              <a:t>০১</a:t>
            </a:r>
            <a:endParaRPr lang="en-US" sz="1013" dirty="0"/>
          </a:p>
        </p:txBody>
      </p:sp>
      <p:sp>
        <p:nvSpPr>
          <p:cNvPr id="12" name="Text 9"/>
          <p:cNvSpPr/>
          <p:nvPr/>
        </p:nvSpPr>
        <p:spPr>
          <a:xfrm>
            <a:off x="973894" y="2158417"/>
            <a:ext cx="171450" cy="171450"/>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13" name="Text 10"/>
          <p:cNvSpPr/>
          <p:nvPr/>
        </p:nvSpPr>
        <p:spPr>
          <a:xfrm>
            <a:off x="845164" y="2401305"/>
            <a:ext cx="428911" cy="154305"/>
          </a:xfrm>
          <a:prstGeom prst="rect">
            <a:avLst/>
          </a:prstGeom>
          <a:noFill/>
          <a:ln/>
        </p:spPr>
        <p:txBody>
          <a:bodyPr wrap="none" lIns="0" tIns="0" rIns="0" bIns="0" rtlCol="0" anchor="t"/>
          <a:lstStyle/>
          <a:p>
            <a:pPr algn="ctr" indent="0" marL="0">
              <a:lnSpc>
                <a:spcPts val="1125"/>
              </a:lnSpc>
              <a:buNone/>
            </a:pPr>
            <a:r>
              <a:rPr lang="en-US" sz="900" b="1" dirty="0">
                <a:solidFill>
                  <a:srgbClr val="14342A"/>
                </a:solidFill>
                <a:latin typeface="Tinos" pitchFamily="34" charset="0"/>
                <a:ea typeface="Tinos" pitchFamily="34" charset="-122"/>
                <a:cs typeface="Tinos" pitchFamily="34" charset="-120"/>
              </a:rPr>
              <a:t>আবেদন</a:t>
            </a:r>
            <a:endParaRPr lang="en-US" sz="900" dirty="0"/>
          </a:p>
        </p:txBody>
      </p:sp>
      <p:sp>
        <p:nvSpPr>
          <p:cNvPr id="14" name="Text 11"/>
          <p:cNvSpPr/>
          <p:nvPr/>
        </p:nvSpPr>
        <p:spPr>
          <a:xfrm>
            <a:off x="456146" y="2615617"/>
            <a:ext cx="1206834" cy="159106"/>
          </a:xfrm>
          <a:prstGeom prst="rect">
            <a:avLst/>
          </a:prstGeom>
          <a:noFill/>
          <a:ln/>
        </p:spPr>
        <p:txBody>
          <a:bodyPr wrap="square" lIns="0" tIns="0" rIns="0" bIns="0" rtlCol="0" anchor="t"/>
          <a:lstStyle/>
          <a:p>
            <a:pPr algn="ctr" indent="0" marL="0">
              <a:lnSpc>
                <a:spcPts val="1020"/>
              </a:lnSpc>
              <a:buNone/>
            </a:pPr>
            <a:r>
              <a:rPr lang="en-US" sz="703" dirty="0">
                <a:solidFill>
                  <a:srgbClr val="4A4A4A"/>
                </a:solidFill>
                <a:latin typeface="Carlito" pitchFamily="34" charset="0"/>
                <a:ea typeface="Carlito" pitchFamily="34" charset="-122"/>
                <a:cs typeface="Carlito" pitchFamily="34" charset="-120"/>
              </a:rPr>
              <a:t>বালাইনাশক অধিদপ্তরে নির্ধারিত ফরমে</a:t>
            </a:r>
            <a:endParaRPr lang="en-US" sz="703" dirty="0"/>
          </a:p>
        </p:txBody>
      </p:sp>
      <p:sp>
        <p:nvSpPr>
          <p:cNvPr id="15" name="Text 12"/>
          <p:cNvSpPr/>
          <p:nvPr/>
        </p:nvSpPr>
        <p:spPr>
          <a:xfrm>
            <a:off x="2278745" y="1672642"/>
            <a:ext cx="371475" cy="371475"/>
          </a:xfrm>
          <a:prstGeom prst="ellipse">
            <a:avLst/>
          </a:prstGeom>
          <a:solidFill>
            <a:srgbClr val="C7912C"/>
          </a:solidFill>
          <a:ln w="28575">
            <a:solidFill>
              <a:srgbClr val="FAF6EE"/>
            </a:solidFill>
            <a:prstDash val="solid"/>
          </a:ln>
          <a:effectLst>
            <a:outerShdw sx="100000" sy="100000" kx="0" ky="0" algn="bl" rotWithShape="0" blurRad="171450" dist="57150" dir="5400000">
              <a:srgbClr val="C7912C">
                <a:alpha val="35000"/>
              </a:srgbClr>
            </a:outerShdw>
          </a:effectLst>
        </p:spPr>
        <p:txBody>
          <a:bodyPr wrap="square" rtlCol="0" anchor="ctr"/>
          <a:lstStyle/>
          <a:p>
            <a:pPr indent="0" marL="0">
              <a:buNone/>
            </a:pPr>
            <a:endParaRPr lang="en-US" dirty="0"/>
          </a:p>
        </p:txBody>
      </p:sp>
      <p:sp>
        <p:nvSpPr>
          <p:cNvPr id="16" name="Text 13"/>
          <p:cNvSpPr/>
          <p:nvPr/>
        </p:nvSpPr>
        <p:spPr>
          <a:xfrm>
            <a:off x="2264457" y="1658355"/>
            <a:ext cx="400050" cy="400050"/>
          </a:xfrm>
          <a:prstGeom prst="rect">
            <a:avLst/>
          </a:prstGeom>
          <a:noFill/>
          <a:ln/>
        </p:spPr>
        <p:txBody>
          <a:bodyPr wrap="none" lIns="0" tIns="0" rIns="0" bIns="0" rtlCol="0" anchor="ctr"/>
          <a:lstStyle/>
          <a:p>
            <a:pPr algn="ctr" indent="0" marL="0">
              <a:lnSpc>
                <a:spcPts val="1569"/>
              </a:lnSpc>
              <a:buNone/>
            </a:pPr>
            <a:r>
              <a:rPr lang="en-US" sz="1013" b="1" dirty="0">
                <a:solidFill>
                  <a:srgbClr val="FFFFFF"/>
                </a:solidFill>
                <a:latin typeface="Carlito" pitchFamily="34" charset="0"/>
                <a:ea typeface="Carlito" pitchFamily="34" charset="-122"/>
                <a:cs typeface="Carlito" pitchFamily="34" charset="-120"/>
              </a:rPr>
              <a:t>০২</a:t>
            </a:r>
            <a:endParaRPr lang="en-US" sz="1013" dirty="0"/>
          </a:p>
        </p:txBody>
      </p:sp>
      <p:sp>
        <p:nvSpPr>
          <p:cNvPr id="17" name="Text 14"/>
          <p:cNvSpPr/>
          <p:nvPr/>
        </p:nvSpPr>
        <p:spPr>
          <a:xfrm>
            <a:off x="2378757" y="2158417"/>
            <a:ext cx="171450" cy="171450"/>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18" name="Text 15"/>
          <p:cNvSpPr/>
          <p:nvPr/>
        </p:nvSpPr>
        <p:spPr>
          <a:xfrm>
            <a:off x="2179818" y="2401305"/>
            <a:ext cx="569328" cy="154305"/>
          </a:xfrm>
          <a:prstGeom prst="rect">
            <a:avLst/>
          </a:prstGeom>
          <a:noFill/>
          <a:ln/>
        </p:spPr>
        <p:txBody>
          <a:bodyPr wrap="square" lIns="0" tIns="0" rIns="0" bIns="0" rtlCol="0" anchor="t"/>
          <a:lstStyle/>
          <a:p>
            <a:pPr algn="ctr" indent="0" marL="0">
              <a:lnSpc>
                <a:spcPts val="1125"/>
              </a:lnSpc>
              <a:buNone/>
            </a:pPr>
            <a:r>
              <a:rPr lang="en-US" sz="900" b="1" dirty="0">
                <a:solidFill>
                  <a:srgbClr val="14342A"/>
                </a:solidFill>
                <a:latin typeface="Tinos" pitchFamily="34" charset="0"/>
                <a:ea typeface="Tinos" pitchFamily="34" charset="-122"/>
                <a:cs typeface="Tinos" pitchFamily="34" charset="-120"/>
              </a:rPr>
              <a:t>ডকুমেন্ট যাচাই</a:t>
            </a:r>
            <a:endParaRPr lang="en-US" sz="900" dirty="0"/>
          </a:p>
        </p:txBody>
      </p:sp>
      <p:sp>
        <p:nvSpPr>
          <p:cNvPr id="19" name="Text 16"/>
          <p:cNvSpPr/>
          <p:nvPr/>
        </p:nvSpPr>
        <p:spPr>
          <a:xfrm>
            <a:off x="1974925" y="2615617"/>
            <a:ext cx="979113" cy="159106"/>
          </a:xfrm>
          <a:prstGeom prst="rect">
            <a:avLst/>
          </a:prstGeom>
          <a:noFill/>
          <a:ln/>
        </p:spPr>
        <p:txBody>
          <a:bodyPr wrap="square" lIns="0" tIns="0" rIns="0" bIns="0" rtlCol="0" anchor="t"/>
          <a:lstStyle/>
          <a:p>
            <a:pPr algn="ctr" indent="0" marL="0">
              <a:lnSpc>
                <a:spcPts val="1020"/>
              </a:lnSpc>
              <a:buNone/>
            </a:pPr>
            <a:r>
              <a:rPr lang="en-US" sz="703" dirty="0">
                <a:solidFill>
                  <a:srgbClr val="4A4A4A"/>
                </a:solidFill>
                <a:latin typeface="Carlito" pitchFamily="34" charset="0"/>
                <a:ea typeface="Carlito" pitchFamily="34" charset="-122"/>
                <a:cs typeface="Carlito" pitchFamily="34" charset="-120"/>
              </a:rPr>
              <a:t>উপাদান, কার্যকারিতা, বিষাক্ততা</a:t>
            </a:r>
            <a:endParaRPr lang="en-US" sz="703" dirty="0"/>
          </a:p>
        </p:txBody>
      </p:sp>
      <p:sp>
        <p:nvSpPr>
          <p:cNvPr id="20" name="Text 17"/>
          <p:cNvSpPr/>
          <p:nvPr/>
        </p:nvSpPr>
        <p:spPr>
          <a:xfrm>
            <a:off x="3683719" y="1672642"/>
            <a:ext cx="371475" cy="371475"/>
          </a:xfrm>
          <a:prstGeom prst="ellipse">
            <a:avLst/>
          </a:prstGeom>
          <a:solidFill>
            <a:srgbClr val="C7912C"/>
          </a:solidFill>
          <a:ln w="28575">
            <a:solidFill>
              <a:srgbClr val="FAF6EE"/>
            </a:solidFill>
            <a:prstDash val="solid"/>
          </a:ln>
          <a:effectLst>
            <a:outerShdw sx="100000" sy="100000" kx="0" ky="0" algn="bl" rotWithShape="0" blurRad="171450" dist="57150" dir="5400000">
              <a:srgbClr val="C7912C">
                <a:alpha val="35000"/>
              </a:srgbClr>
            </a:outerShdw>
          </a:effectLst>
        </p:spPr>
        <p:txBody>
          <a:bodyPr wrap="square" rtlCol="0" anchor="ctr"/>
          <a:lstStyle/>
          <a:p>
            <a:pPr indent="0" marL="0">
              <a:buNone/>
            </a:pPr>
            <a:endParaRPr lang="en-US" dirty="0"/>
          </a:p>
        </p:txBody>
      </p:sp>
      <p:sp>
        <p:nvSpPr>
          <p:cNvPr id="21" name="Text 18"/>
          <p:cNvSpPr/>
          <p:nvPr/>
        </p:nvSpPr>
        <p:spPr>
          <a:xfrm>
            <a:off x="3669432" y="1658355"/>
            <a:ext cx="400050" cy="400050"/>
          </a:xfrm>
          <a:prstGeom prst="rect">
            <a:avLst/>
          </a:prstGeom>
          <a:noFill/>
          <a:ln/>
        </p:spPr>
        <p:txBody>
          <a:bodyPr wrap="none" lIns="0" tIns="0" rIns="0" bIns="0" rtlCol="0" anchor="ctr"/>
          <a:lstStyle/>
          <a:p>
            <a:pPr algn="ctr" indent="0" marL="0">
              <a:lnSpc>
                <a:spcPts val="1569"/>
              </a:lnSpc>
              <a:buNone/>
            </a:pPr>
            <a:r>
              <a:rPr lang="en-US" sz="1013" b="1" dirty="0">
                <a:solidFill>
                  <a:srgbClr val="FFFFFF"/>
                </a:solidFill>
                <a:latin typeface="Carlito" pitchFamily="34" charset="0"/>
                <a:ea typeface="Carlito" pitchFamily="34" charset="-122"/>
                <a:cs typeface="Carlito" pitchFamily="34" charset="-120"/>
              </a:rPr>
              <a:t>০৩</a:t>
            </a:r>
            <a:endParaRPr lang="en-US" sz="1013" dirty="0"/>
          </a:p>
        </p:txBody>
      </p:sp>
      <p:sp>
        <p:nvSpPr>
          <p:cNvPr id="22" name="Text 19"/>
          <p:cNvSpPr/>
          <p:nvPr/>
        </p:nvSpPr>
        <p:spPr>
          <a:xfrm>
            <a:off x="3783732" y="2158417"/>
            <a:ext cx="171450" cy="171450"/>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23" name="Text 20"/>
          <p:cNvSpPr/>
          <p:nvPr/>
        </p:nvSpPr>
        <p:spPr>
          <a:xfrm>
            <a:off x="3622469" y="2401305"/>
            <a:ext cx="493976" cy="154305"/>
          </a:xfrm>
          <a:prstGeom prst="rect">
            <a:avLst/>
          </a:prstGeom>
          <a:noFill/>
          <a:ln/>
        </p:spPr>
        <p:txBody>
          <a:bodyPr wrap="square" lIns="0" tIns="0" rIns="0" bIns="0" rtlCol="0" anchor="t"/>
          <a:lstStyle/>
          <a:p>
            <a:pPr algn="ctr" indent="0" marL="0">
              <a:lnSpc>
                <a:spcPts val="1125"/>
              </a:lnSpc>
              <a:buNone/>
            </a:pPr>
            <a:r>
              <a:rPr lang="en-US" sz="900" b="1" dirty="0">
                <a:solidFill>
                  <a:srgbClr val="14342A"/>
                </a:solidFill>
                <a:latin typeface="Tinos" pitchFamily="34" charset="0"/>
                <a:ea typeface="Tinos" pitchFamily="34" charset="-122"/>
                <a:cs typeface="Tinos" pitchFamily="34" charset="-120"/>
              </a:rPr>
              <a:t>ফিল্ড ট্রায়াল</a:t>
            </a:r>
            <a:endParaRPr lang="en-US" sz="900" dirty="0"/>
          </a:p>
        </p:txBody>
      </p:sp>
      <p:sp>
        <p:nvSpPr>
          <p:cNvPr id="24" name="Text 21"/>
          <p:cNvSpPr/>
          <p:nvPr/>
        </p:nvSpPr>
        <p:spPr>
          <a:xfrm>
            <a:off x="3323960" y="2615617"/>
            <a:ext cx="1091105" cy="159106"/>
          </a:xfrm>
          <a:prstGeom prst="rect">
            <a:avLst/>
          </a:prstGeom>
          <a:noFill/>
          <a:ln/>
        </p:spPr>
        <p:txBody>
          <a:bodyPr wrap="square" lIns="0" tIns="0" rIns="0" bIns="0" rtlCol="0" anchor="t"/>
          <a:lstStyle/>
          <a:p>
            <a:pPr algn="ctr" indent="0" marL="0">
              <a:lnSpc>
                <a:spcPts val="1020"/>
              </a:lnSpc>
              <a:buNone/>
            </a:pPr>
            <a:r>
              <a:rPr lang="en-US" sz="703" dirty="0">
                <a:solidFill>
                  <a:srgbClr val="4A4A4A"/>
                </a:solidFill>
                <a:latin typeface="Carlito" pitchFamily="34" charset="0"/>
                <a:ea typeface="Carlito" pitchFamily="34" charset="-122"/>
                <a:cs typeface="Carlito" pitchFamily="34" charset="-120"/>
              </a:rPr>
              <a:t>বাংলাদেশ কৃষি গবেষণা ইনস্টিটিউটে</a:t>
            </a:r>
            <a:endParaRPr lang="en-US" sz="703" dirty="0"/>
          </a:p>
        </p:txBody>
      </p:sp>
      <p:sp>
        <p:nvSpPr>
          <p:cNvPr id="25" name="Text 22"/>
          <p:cNvSpPr/>
          <p:nvPr/>
        </p:nvSpPr>
        <p:spPr>
          <a:xfrm>
            <a:off x="5088694" y="1672642"/>
            <a:ext cx="371475" cy="371475"/>
          </a:xfrm>
          <a:prstGeom prst="ellipse">
            <a:avLst/>
          </a:prstGeom>
          <a:solidFill>
            <a:srgbClr val="C7912C"/>
          </a:solidFill>
          <a:ln w="28575">
            <a:solidFill>
              <a:srgbClr val="FAF6EE"/>
            </a:solidFill>
            <a:prstDash val="solid"/>
          </a:ln>
          <a:effectLst>
            <a:outerShdw sx="100000" sy="100000" kx="0" ky="0" algn="bl" rotWithShape="0" blurRad="171450" dist="57150" dir="5400000">
              <a:srgbClr val="C7912C">
                <a:alpha val="35000"/>
              </a:srgbClr>
            </a:outerShdw>
          </a:effectLst>
        </p:spPr>
        <p:txBody>
          <a:bodyPr wrap="square" rtlCol="0" anchor="ctr"/>
          <a:lstStyle/>
          <a:p>
            <a:pPr indent="0" marL="0">
              <a:buNone/>
            </a:pPr>
            <a:endParaRPr lang="en-US" dirty="0"/>
          </a:p>
        </p:txBody>
      </p:sp>
      <p:sp>
        <p:nvSpPr>
          <p:cNvPr id="26" name="Text 23"/>
          <p:cNvSpPr/>
          <p:nvPr/>
        </p:nvSpPr>
        <p:spPr>
          <a:xfrm>
            <a:off x="5074407" y="1658355"/>
            <a:ext cx="400050" cy="400050"/>
          </a:xfrm>
          <a:prstGeom prst="rect">
            <a:avLst/>
          </a:prstGeom>
          <a:noFill/>
          <a:ln/>
        </p:spPr>
        <p:txBody>
          <a:bodyPr wrap="none" lIns="0" tIns="0" rIns="0" bIns="0" rtlCol="0" anchor="ctr"/>
          <a:lstStyle/>
          <a:p>
            <a:pPr algn="ctr" indent="0" marL="0">
              <a:lnSpc>
                <a:spcPts val="1569"/>
              </a:lnSpc>
              <a:buNone/>
            </a:pPr>
            <a:r>
              <a:rPr lang="en-US" sz="1013" b="1" dirty="0">
                <a:solidFill>
                  <a:srgbClr val="FFFFFF"/>
                </a:solidFill>
                <a:latin typeface="Carlito" pitchFamily="34" charset="0"/>
                <a:ea typeface="Carlito" pitchFamily="34" charset="-122"/>
                <a:cs typeface="Carlito" pitchFamily="34" charset="-120"/>
              </a:rPr>
              <a:t>০৪</a:t>
            </a:r>
            <a:endParaRPr lang="en-US" sz="1013" dirty="0"/>
          </a:p>
        </p:txBody>
      </p:sp>
      <p:sp>
        <p:nvSpPr>
          <p:cNvPr id="27" name="Text 24"/>
          <p:cNvSpPr/>
          <p:nvPr/>
        </p:nvSpPr>
        <p:spPr>
          <a:xfrm>
            <a:off x="5188707" y="2158417"/>
            <a:ext cx="171450" cy="171450"/>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28" name="Text 25"/>
          <p:cNvSpPr/>
          <p:nvPr/>
        </p:nvSpPr>
        <p:spPr>
          <a:xfrm>
            <a:off x="4901856" y="2401305"/>
            <a:ext cx="745150" cy="154305"/>
          </a:xfrm>
          <a:prstGeom prst="rect">
            <a:avLst/>
          </a:prstGeom>
          <a:noFill/>
          <a:ln/>
        </p:spPr>
        <p:txBody>
          <a:bodyPr wrap="square" lIns="0" tIns="0" rIns="0" bIns="0" rtlCol="0" anchor="t"/>
          <a:lstStyle/>
          <a:p>
            <a:pPr algn="ctr" indent="0" marL="0">
              <a:lnSpc>
                <a:spcPts val="1125"/>
              </a:lnSpc>
              <a:buNone/>
            </a:pPr>
            <a:r>
              <a:rPr lang="en-US" sz="900" b="1" dirty="0">
                <a:solidFill>
                  <a:srgbClr val="14342A"/>
                </a:solidFill>
                <a:latin typeface="Tinos" pitchFamily="34" charset="0"/>
                <a:ea typeface="Tinos" pitchFamily="34" charset="-122"/>
                <a:cs typeface="Tinos" pitchFamily="34" charset="-120"/>
              </a:rPr>
              <a:t>টেকনিক্যাল কমিটি</a:t>
            </a:r>
            <a:endParaRPr lang="en-US" sz="900" dirty="0"/>
          </a:p>
        </p:txBody>
      </p:sp>
      <p:sp>
        <p:nvSpPr>
          <p:cNvPr id="29" name="Text 26"/>
          <p:cNvSpPr/>
          <p:nvPr/>
        </p:nvSpPr>
        <p:spPr>
          <a:xfrm>
            <a:off x="4759684" y="2615617"/>
            <a:ext cx="1029383" cy="159106"/>
          </a:xfrm>
          <a:prstGeom prst="rect">
            <a:avLst/>
          </a:prstGeom>
          <a:noFill/>
          <a:ln/>
        </p:spPr>
        <p:txBody>
          <a:bodyPr wrap="square" lIns="0" tIns="0" rIns="0" bIns="0" rtlCol="0" anchor="t"/>
          <a:lstStyle/>
          <a:p>
            <a:pPr algn="ctr" indent="0" marL="0">
              <a:lnSpc>
                <a:spcPts val="1020"/>
              </a:lnSpc>
              <a:buNone/>
            </a:pPr>
            <a:r>
              <a:rPr lang="en-US" sz="703" dirty="0">
                <a:solidFill>
                  <a:srgbClr val="4A4A4A"/>
                </a:solidFill>
                <a:latin typeface="Carlito" pitchFamily="34" charset="0"/>
                <a:ea typeface="Carlito" pitchFamily="34" charset="-122"/>
                <a:cs typeface="Carlito" pitchFamily="34" charset="-120"/>
              </a:rPr>
              <a:t>উপাদান ও কার্যকারিতা পর্যালোচনা</a:t>
            </a:r>
            <a:endParaRPr lang="en-US" sz="703" dirty="0"/>
          </a:p>
        </p:txBody>
      </p:sp>
      <p:sp>
        <p:nvSpPr>
          <p:cNvPr id="30" name="Text 27"/>
          <p:cNvSpPr/>
          <p:nvPr/>
        </p:nvSpPr>
        <p:spPr>
          <a:xfrm>
            <a:off x="6493557" y="1672642"/>
            <a:ext cx="371475" cy="371475"/>
          </a:xfrm>
          <a:prstGeom prst="ellipse">
            <a:avLst/>
          </a:prstGeom>
          <a:solidFill>
            <a:srgbClr val="C7912C"/>
          </a:solidFill>
          <a:ln w="28575">
            <a:solidFill>
              <a:srgbClr val="FAF6EE"/>
            </a:solidFill>
            <a:prstDash val="solid"/>
          </a:ln>
          <a:effectLst>
            <a:outerShdw sx="100000" sy="100000" kx="0" ky="0" algn="bl" rotWithShape="0" blurRad="171450" dist="57150" dir="5400000">
              <a:srgbClr val="C7912C">
                <a:alpha val="35000"/>
              </a:srgbClr>
            </a:outerShdw>
          </a:effectLst>
        </p:spPr>
        <p:txBody>
          <a:bodyPr wrap="square" rtlCol="0" anchor="ctr"/>
          <a:lstStyle/>
          <a:p>
            <a:pPr indent="0" marL="0">
              <a:buNone/>
            </a:pPr>
            <a:endParaRPr lang="en-US" dirty="0"/>
          </a:p>
        </p:txBody>
      </p:sp>
      <p:sp>
        <p:nvSpPr>
          <p:cNvPr id="31" name="Text 28"/>
          <p:cNvSpPr/>
          <p:nvPr/>
        </p:nvSpPr>
        <p:spPr>
          <a:xfrm>
            <a:off x="6479270" y="1658355"/>
            <a:ext cx="400050" cy="400050"/>
          </a:xfrm>
          <a:prstGeom prst="rect">
            <a:avLst/>
          </a:prstGeom>
          <a:noFill/>
          <a:ln/>
        </p:spPr>
        <p:txBody>
          <a:bodyPr wrap="none" lIns="0" tIns="0" rIns="0" bIns="0" rtlCol="0" anchor="ctr"/>
          <a:lstStyle/>
          <a:p>
            <a:pPr algn="ctr" indent="0" marL="0">
              <a:lnSpc>
                <a:spcPts val="1569"/>
              </a:lnSpc>
              <a:buNone/>
            </a:pPr>
            <a:r>
              <a:rPr lang="en-US" sz="1013" b="1" dirty="0">
                <a:solidFill>
                  <a:srgbClr val="FFFFFF"/>
                </a:solidFill>
                <a:latin typeface="Carlito" pitchFamily="34" charset="0"/>
                <a:ea typeface="Carlito" pitchFamily="34" charset="-122"/>
                <a:cs typeface="Carlito" pitchFamily="34" charset="-120"/>
              </a:rPr>
              <a:t>০৫</a:t>
            </a:r>
            <a:endParaRPr lang="en-US" sz="1013" dirty="0"/>
          </a:p>
        </p:txBody>
      </p:sp>
      <p:sp>
        <p:nvSpPr>
          <p:cNvPr id="32" name="Text 29"/>
          <p:cNvSpPr/>
          <p:nvPr/>
        </p:nvSpPr>
        <p:spPr>
          <a:xfrm>
            <a:off x="6593570" y="2158417"/>
            <a:ext cx="171450" cy="171450"/>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33" name="Text 30"/>
          <p:cNvSpPr/>
          <p:nvPr/>
        </p:nvSpPr>
        <p:spPr>
          <a:xfrm>
            <a:off x="6377886" y="2401305"/>
            <a:ext cx="602818" cy="154305"/>
          </a:xfrm>
          <a:prstGeom prst="rect">
            <a:avLst/>
          </a:prstGeom>
          <a:noFill/>
          <a:ln/>
        </p:spPr>
        <p:txBody>
          <a:bodyPr wrap="square" lIns="0" tIns="0" rIns="0" bIns="0" rtlCol="0" anchor="t"/>
          <a:lstStyle/>
          <a:p>
            <a:pPr algn="ctr" indent="0" marL="0">
              <a:lnSpc>
                <a:spcPts val="1125"/>
              </a:lnSpc>
              <a:buNone/>
            </a:pPr>
            <a:r>
              <a:rPr lang="en-US" sz="900" b="1" dirty="0">
                <a:solidFill>
                  <a:srgbClr val="14342A"/>
                </a:solidFill>
                <a:latin typeface="Tinos" pitchFamily="34" charset="0"/>
                <a:ea typeface="Tinos" pitchFamily="34" charset="-122"/>
                <a:cs typeface="Tinos" pitchFamily="34" charset="-120"/>
              </a:rPr>
              <a:t>নিবন্ধন প্রদান</a:t>
            </a:r>
            <a:endParaRPr lang="en-US" sz="900" dirty="0"/>
          </a:p>
        </p:txBody>
      </p:sp>
      <p:sp>
        <p:nvSpPr>
          <p:cNvPr id="34" name="Text 31"/>
          <p:cNvSpPr/>
          <p:nvPr/>
        </p:nvSpPr>
        <p:spPr>
          <a:xfrm>
            <a:off x="6263147" y="2615617"/>
            <a:ext cx="832407" cy="159106"/>
          </a:xfrm>
          <a:prstGeom prst="rect">
            <a:avLst/>
          </a:prstGeom>
          <a:noFill/>
          <a:ln/>
        </p:spPr>
        <p:txBody>
          <a:bodyPr wrap="none" lIns="0" tIns="0" rIns="0" bIns="0" rtlCol="0" anchor="t"/>
          <a:lstStyle/>
          <a:p>
            <a:pPr algn="ctr" indent="0" marL="0">
              <a:lnSpc>
                <a:spcPts val="1020"/>
              </a:lnSpc>
              <a:buNone/>
            </a:pPr>
            <a:r>
              <a:rPr lang="en-US" sz="703" dirty="0">
                <a:solidFill>
                  <a:srgbClr val="4A4A4A"/>
                </a:solidFill>
                <a:latin typeface="Carlito" pitchFamily="34" charset="0"/>
                <a:ea typeface="Carlito" pitchFamily="34" charset="-122"/>
                <a:cs typeface="Carlito" pitchFamily="34" charset="-120"/>
              </a:rPr>
              <a:t>৫ বছর মেয়াদী অনুমোদন</a:t>
            </a:r>
            <a:endParaRPr lang="en-US" sz="703" dirty="0"/>
          </a:p>
        </p:txBody>
      </p:sp>
      <p:sp>
        <p:nvSpPr>
          <p:cNvPr id="35" name="Text 32"/>
          <p:cNvSpPr/>
          <p:nvPr/>
        </p:nvSpPr>
        <p:spPr>
          <a:xfrm>
            <a:off x="7898532" y="1672642"/>
            <a:ext cx="371475" cy="371475"/>
          </a:xfrm>
          <a:prstGeom prst="ellipse">
            <a:avLst/>
          </a:prstGeom>
          <a:solidFill>
            <a:srgbClr val="C7912C"/>
          </a:solidFill>
          <a:ln w="28575">
            <a:solidFill>
              <a:srgbClr val="FAF6EE"/>
            </a:solidFill>
            <a:prstDash val="solid"/>
          </a:ln>
          <a:effectLst>
            <a:outerShdw sx="100000" sy="100000" kx="0" ky="0" algn="bl" rotWithShape="0" blurRad="171450" dist="57150" dir="5400000">
              <a:srgbClr val="C7912C">
                <a:alpha val="35000"/>
              </a:srgbClr>
            </a:outerShdw>
          </a:effectLst>
        </p:spPr>
        <p:txBody>
          <a:bodyPr wrap="square" rtlCol="0" anchor="ctr"/>
          <a:lstStyle/>
          <a:p>
            <a:pPr indent="0" marL="0">
              <a:buNone/>
            </a:pPr>
            <a:endParaRPr lang="en-US" dirty="0"/>
          </a:p>
        </p:txBody>
      </p:sp>
      <p:sp>
        <p:nvSpPr>
          <p:cNvPr id="36" name="Text 33"/>
          <p:cNvSpPr/>
          <p:nvPr/>
        </p:nvSpPr>
        <p:spPr>
          <a:xfrm>
            <a:off x="7884244" y="1658355"/>
            <a:ext cx="400050" cy="400050"/>
          </a:xfrm>
          <a:prstGeom prst="rect">
            <a:avLst/>
          </a:prstGeom>
          <a:noFill/>
          <a:ln/>
        </p:spPr>
        <p:txBody>
          <a:bodyPr wrap="none" lIns="0" tIns="0" rIns="0" bIns="0" rtlCol="0" anchor="ctr"/>
          <a:lstStyle/>
          <a:p>
            <a:pPr algn="ctr" indent="0" marL="0">
              <a:lnSpc>
                <a:spcPts val="1569"/>
              </a:lnSpc>
              <a:buNone/>
            </a:pPr>
            <a:r>
              <a:rPr lang="en-US" sz="1013" b="1" dirty="0">
                <a:solidFill>
                  <a:srgbClr val="FFFFFF"/>
                </a:solidFill>
                <a:latin typeface="Carlito" pitchFamily="34" charset="0"/>
                <a:ea typeface="Carlito" pitchFamily="34" charset="-122"/>
                <a:cs typeface="Carlito" pitchFamily="34" charset="-120"/>
              </a:rPr>
              <a:t>০৬</a:t>
            </a:r>
            <a:endParaRPr lang="en-US" sz="1013" dirty="0"/>
          </a:p>
        </p:txBody>
      </p:sp>
      <p:sp>
        <p:nvSpPr>
          <p:cNvPr id="37" name="Text 34"/>
          <p:cNvSpPr/>
          <p:nvPr/>
        </p:nvSpPr>
        <p:spPr>
          <a:xfrm>
            <a:off x="7998544" y="2158417"/>
            <a:ext cx="171450" cy="171450"/>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38" name="Text 35"/>
          <p:cNvSpPr/>
          <p:nvPr/>
        </p:nvSpPr>
        <p:spPr>
          <a:xfrm>
            <a:off x="7882187" y="2401305"/>
            <a:ext cx="404165" cy="154305"/>
          </a:xfrm>
          <a:prstGeom prst="rect">
            <a:avLst/>
          </a:prstGeom>
          <a:noFill/>
          <a:ln/>
        </p:spPr>
        <p:txBody>
          <a:bodyPr wrap="square" lIns="0" tIns="0" rIns="0" bIns="0" rtlCol="0" anchor="t"/>
          <a:lstStyle/>
          <a:p>
            <a:pPr algn="ctr" indent="0" marL="0">
              <a:lnSpc>
                <a:spcPts val="1125"/>
              </a:lnSpc>
              <a:buNone/>
            </a:pPr>
            <a:r>
              <a:rPr lang="en-US" sz="900" b="1" dirty="0">
                <a:solidFill>
                  <a:srgbClr val="14342A"/>
                </a:solidFill>
                <a:latin typeface="Tinos" pitchFamily="34" charset="0"/>
                <a:ea typeface="Tinos" pitchFamily="34" charset="-122"/>
                <a:cs typeface="Tinos" pitchFamily="34" charset="-120"/>
              </a:rPr>
              <a:t>নবায়ন</a:t>
            </a:r>
            <a:endParaRPr lang="en-US" sz="900" dirty="0"/>
          </a:p>
        </p:txBody>
      </p:sp>
      <p:sp>
        <p:nvSpPr>
          <p:cNvPr id="39" name="Text 36"/>
          <p:cNvSpPr/>
          <p:nvPr/>
        </p:nvSpPr>
        <p:spPr>
          <a:xfrm>
            <a:off x="7500196" y="2615617"/>
            <a:ext cx="1168258" cy="159106"/>
          </a:xfrm>
          <a:prstGeom prst="rect">
            <a:avLst/>
          </a:prstGeom>
          <a:noFill/>
          <a:ln/>
        </p:spPr>
        <p:txBody>
          <a:bodyPr wrap="square" lIns="0" tIns="0" rIns="0" bIns="0" rtlCol="0" anchor="t"/>
          <a:lstStyle/>
          <a:p>
            <a:pPr algn="ctr" indent="0" marL="0">
              <a:lnSpc>
                <a:spcPts val="1020"/>
              </a:lnSpc>
              <a:buNone/>
            </a:pPr>
            <a:r>
              <a:rPr lang="en-US" sz="703" dirty="0">
                <a:solidFill>
                  <a:srgbClr val="4A4A4A"/>
                </a:solidFill>
                <a:latin typeface="Carlito" pitchFamily="34" charset="0"/>
                <a:ea typeface="Carlito" pitchFamily="34" charset="-122"/>
                <a:cs typeface="Carlito" pitchFamily="34" charset="-120"/>
              </a:rPr>
              <a:t>মেয়াদ শেষে পুনঃনিবন্ধন বাধ্যতামূলক</a:t>
            </a:r>
            <a:endParaRPr lang="en-US" sz="703"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00050" y="445815"/>
            <a:ext cx="3746398"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০৩ · বালাইনাশক আইন, ২০১৮</a:t>
            </a:r>
            <a:endParaRPr lang="en-US" sz="1350" dirty="0"/>
          </a:p>
        </p:txBody>
      </p:sp>
      <p:sp>
        <p:nvSpPr>
          <p:cNvPr id="3" name="Text 1"/>
          <p:cNvSpPr/>
          <p:nvPr/>
        </p:nvSpPr>
        <p:spPr>
          <a:xfrm>
            <a:off x="400050" y="797198"/>
            <a:ext cx="8636000" cy="509809"/>
          </a:xfrm>
          <a:prstGeom prst="rect">
            <a:avLst/>
          </a:prstGeom>
          <a:noFill/>
          <a:ln/>
        </p:spPr>
        <p:txBody>
          <a:bodyPr wrap="square" lIns="0" tIns="0" rIns="0" bIns="0" rtlCol="0" anchor="t"/>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খুচরা বিক্রেতার লাইসেন্সিং শর্ত</a:t>
            </a:r>
            <a:endParaRPr lang="en-US" sz="3150" dirty="0"/>
          </a:p>
        </p:txBody>
      </p:sp>
      <p:sp>
        <p:nvSpPr>
          <p:cNvPr id="4" name="Text 2"/>
          <p:cNvSpPr/>
          <p:nvPr/>
        </p:nvSpPr>
        <p:spPr>
          <a:xfrm>
            <a:off x="400050" y="1397831"/>
            <a:ext cx="3170597" cy="3345619"/>
          </a:xfrm>
          <a:prstGeom prst="roundRect">
            <a:avLst>
              <a:gd name="adj" fmla="val 4206"/>
            </a:avLst>
          </a:prstGeom>
          <a:solidFill>
            <a:srgbClr val="F2ECDD"/>
          </a:solidFill>
          <a:ln/>
        </p:spPr>
        <p:txBody>
          <a:bodyPr wrap="square" rtlCol="0" anchor="ctr"/>
          <a:lstStyle/>
          <a:p>
            <a:pPr indent="0" marL="0">
              <a:buNone/>
            </a:pPr>
            <a:endParaRPr lang="en-US" dirty="0"/>
          </a:p>
        </p:txBody>
      </p:sp>
      <p:sp>
        <p:nvSpPr>
          <p:cNvPr id="5" name="Text 3"/>
          <p:cNvSpPr/>
          <p:nvPr/>
        </p:nvSpPr>
        <p:spPr>
          <a:xfrm>
            <a:off x="585788" y="1597856"/>
            <a:ext cx="400050" cy="400050"/>
          </a:xfrm>
          <a:prstGeom prst="roundRect">
            <a:avLst>
              <a:gd name="adj" fmla="val 28571"/>
            </a:avLst>
          </a:prstGeom>
          <a:solidFill>
            <a:srgbClr val="1E4D3B"/>
          </a:solidFill>
          <a:ln/>
        </p:spPr>
        <p:txBody>
          <a:bodyPr wrap="square" rtlCol="0" anchor="ctr"/>
          <a:lstStyle/>
          <a:p>
            <a:pPr indent="0" marL="0">
              <a:buNone/>
            </a:pPr>
            <a:endParaRPr lang="en-US" dirty="0"/>
          </a:p>
        </p:txBody>
      </p:sp>
      <p:sp>
        <p:nvSpPr>
          <p:cNvPr id="6" name="Text 4"/>
          <p:cNvSpPr/>
          <p:nvPr/>
        </p:nvSpPr>
        <p:spPr>
          <a:xfrm>
            <a:off x="620078" y="1632146"/>
            <a:ext cx="331470" cy="331470"/>
          </a:xfrm>
          <a:prstGeom prst="rect">
            <a:avLst/>
          </a:prstGeom>
          <a:noFill/>
          <a:ln/>
        </p:spPr>
        <p:txBody>
          <a:bodyPr wrap="none" lIns="0" tIns="0" rIns="0" bIns="0" rtlCol="0" anchor="ctr"/>
          <a:lstStyle/>
          <a:p>
            <a:pPr algn="ctr" indent="0" marL="0">
              <a:buNone/>
            </a:pPr>
            <a:r>
              <a:rPr lang="en-US" sz="2250" dirty="0">
                <a:solidFill>
                  <a:srgbClr val="FAF6EE"/>
                </a:solidFill>
                <a:latin typeface="Segoe UI Symbol" pitchFamily="34" charset="0"/>
                <a:ea typeface="Segoe UI Symbol" pitchFamily="34" charset="-122"/>
                <a:cs typeface="Segoe UI Symbol" pitchFamily="34" charset="-120"/>
              </a:rPr>
              <a:t>✦</a:t>
            </a:r>
            <a:endParaRPr lang="en-US" sz="2250" dirty="0"/>
          </a:p>
        </p:txBody>
      </p:sp>
      <p:sp>
        <p:nvSpPr>
          <p:cNvPr id="7" name="Text 5"/>
          <p:cNvSpPr/>
          <p:nvPr/>
        </p:nvSpPr>
        <p:spPr>
          <a:xfrm>
            <a:off x="585788" y="2097918"/>
            <a:ext cx="2799122" cy="170078"/>
          </a:xfrm>
          <a:prstGeom prst="rect">
            <a:avLst/>
          </a:prstGeom>
          <a:noFill/>
          <a:ln/>
        </p:spPr>
        <p:txBody>
          <a:bodyPr wrap="none" lIns="0" tIns="0" rIns="0" bIns="0" rtlCol="0" anchor="t"/>
          <a:lstStyle/>
          <a:p>
            <a:pPr algn="l" indent="0" marL="0">
              <a:lnSpc>
                <a:spcPts val="872"/>
              </a:lnSpc>
              <a:buNone/>
            </a:pPr>
            <a:r>
              <a:rPr lang="en-US" sz="800" b="1" spc="90" kern="0" dirty="0">
                <a:solidFill>
                  <a:srgbClr val="9A6E1E"/>
                </a:solidFill>
                <a:latin typeface="Carlito" pitchFamily="34" charset="0"/>
                <a:ea typeface="Carlito" pitchFamily="34" charset="-122"/>
                <a:cs typeface="Carlito" pitchFamily="34" charset="-120"/>
              </a:rPr>
              <a:t>SECTION · ধারা ১৮</a:t>
            </a:r>
            <a:endParaRPr lang="en-US" sz="800" dirty="0"/>
          </a:p>
        </p:txBody>
      </p:sp>
      <p:sp>
        <p:nvSpPr>
          <p:cNvPr id="8" name="Text 6"/>
          <p:cNvSpPr/>
          <p:nvPr/>
        </p:nvSpPr>
        <p:spPr>
          <a:xfrm>
            <a:off x="585788" y="2308659"/>
            <a:ext cx="2799122" cy="217233"/>
          </a:xfrm>
          <a:prstGeom prst="rect">
            <a:avLst/>
          </a:prstGeom>
          <a:noFill/>
          <a:ln/>
        </p:spPr>
        <p:txBody>
          <a:bodyPr wrap="none" lIns="0" tIns="0" rIns="0" bIns="0" rtlCol="0" anchor="t"/>
          <a:lstStyle/>
          <a:p>
            <a:pPr algn="l" indent="0" marL="0">
              <a:lnSpc>
                <a:spcPts val="1584"/>
              </a:lnSpc>
              <a:buNone/>
            </a:pPr>
            <a:r>
              <a:rPr lang="en-US" sz="1238" dirty="0">
                <a:solidFill>
                  <a:srgbClr val="1E4D3B"/>
                </a:solidFill>
                <a:latin typeface="Tinos" pitchFamily="34" charset="0"/>
                <a:ea typeface="Tinos" pitchFamily="34" charset="-122"/>
                <a:cs typeface="Tinos" pitchFamily="34" charset="-120"/>
              </a:rPr>
              <a:t>ধারা ১৮ অনুসারে</a:t>
            </a:r>
            <a:endParaRPr lang="en-US" sz="1238" dirty="0"/>
          </a:p>
        </p:txBody>
      </p:sp>
      <p:sp>
        <p:nvSpPr>
          <p:cNvPr id="9" name="Text 7"/>
          <p:cNvSpPr/>
          <p:nvPr/>
        </p:nvSpPr>
        <p:spPr>
          <a:xfrm>
            <a:off x="585788" y="2609813"/>
            <a:ext cx="2799122" cy="553690"/>
          </a:xfrm>
          <a:prstGeom prst="rect">
            <a:avLst/>
          </a:prstGeom>
          <a:noFill/>
          <a:ln/>
        </p:spPr>
        <p:txBody>
          <a:bodyPr wrap="square" lIns="0" tIns="0" rIns="0" bIns="0" rtlCol="0" anchor="t"/>
          <a:lstStyle/>
          <a:p>
            <a:pPr algn="l" indent="0" marL="0">
              <a:lnSpc>
                <a:spcPts val="1346"/>
              </a:lnSpc>
              <a:buNone/>
            </a:pPr>
            <a:r>
              <a:rPr lang="en-US" sz="816" dirty="0">
                <a:solidFill>
                  <a:srgbClr val="1A1A1A"/>
                </a:solidFill>
                <a:latin typeface="Carlito" pitchFamily="34" charset="0"/>
                <a:ea typeface="Carlito" pitchFamily="34" charset="-122"/>
                <a:cs typeface="Carlito" pitchFamily="34" charset="-120"/>
              </a:rPr>
              <a:t>প্রতিটি খুচরা বিক্রেতার বালাইনাশক অধিদপ্তর থেকে বার্ষিক লাইসেন্স গ্রহণ বাধ্যতামূলক। লাইসেন্স ছাড়া বিক্রি আইনত দণ্ডনীয়। নবায়ন প্রতি ২ বছর অন্তর।</a:t>
            </a:r>
            <a:endParaRPr lang="en-US" sz="816" dirty="0"/>
          </a:p>
        </p:txBody>
      </p:sp>
      <p:sp>
        <p:nvSpPr>
          <p:cNvPr id="10" name="Text 8"/>
          <p:cNvSpPr/>
          <p:nvPr/>
        </p:nvSpPr>
        <p:spPr>
          <a:xfrm>
            <a:off x="589359" y="3268935"/>
            <a:ext cx="1342355" cy="423602"/>
          </a:xfrm>
          <a:prstGeom prst="roundRect">
            <a:avLst>
              <a:gd name="adj" fmla="val 17989"/>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1" name="Text 9"/>
          <p:cNvSpPr/>
          <p:nvPr/>
        </p:nvSpPr>
        <p:spPr>
          <a:xfrm>
            <a:off x="678656" y="3343945"/>
            <a:ext cx="1163762" cy="144018"/>
          </a:xfrm>
          <a:prstGeom prst="rect">
            <a:avLst/>
          </a:prstGeom>
          <a:noFill/>
          <a:ln/>
        </p:spPr>
        <p:txBody>
          <a:bodyPr wrap="none" lIns="0" tIns="0" rIns="0" bIns="0" rtlCol="0" anchor="t">
            <a:normAutofit/>
          </a:bodyPr>
          <a:lstStyle/>
          <a:p>
            <a:pPr algn="l" indent="0" marL="0">
              <a:lnSpc>
                <a:spcPts val="1125"/>
              </a:lnSpc>
              <a:buNone/>
            </a:pPr>
            <a:r>
              <a:rPr lang="en-US" sz="1125" b="1" dirty="0">
                <a:solidFill>
                  <a:srgbClr val="14342A"/>
                </a:solidFill>
                <a:latin typeface="Carlito" pitchFamily="34" charset="0"/>
                <a:ea typeface="Carlito" pitchFamily="34" charset="-122"/>
                <a:cs typeface="Carlito" pitchFamily="34" charset="-120"/>
              </a:rPr>
              <a:t>৩,০০০৳</a:t>
            </a:r>
            <a:endParaRPr lang="en-US" sz="1125" dirty="0"/>
          </a:p>
        </p:txBody>
      </p:sp>
      <p:sp>
        <p:nvSpPr>
          <p:cNvPr id="12" name="Text 10"/>
          <p:cNvSpPr/>
          <p:nvPr/>
        </p:nvSpPr>
        <p:spPr>
          <a:xfrm>
            <a:off x="678656" y="3515395"/>
            <a:ext cx="1163762" cy="102133"/>
          </a:xfrm>
          <a:prstGeom prst="rect">
            <a:avLst/>
          </a:prstGeom>
          <a:noFill/>
          <a:ln/>
        </p:spPr>
        <p:txBody>
          <a:bodyPr wrap="none" lIns="0" tIns="0" rIns="0" bIns="0" rtlCol="0" anchor="t"/>
          <a:lstStyle/>
          <a:p>
            <a:pPr algn="l" indent="0" marL="0">
              <a:lnSpc>
                <a:spcPts val="804"/>
              </a:lnSpc>
              <a:buNone/>
            </a:pPr>
            <a:r>
              <a:rPr lang="en-US" sz="800" dirty="0">
                <a:solidFill>
                  <a:srgbClr val="6B6B6B"/>
                </a:solidFill>
                <a:latin typeface="Carlito" pitchFamily="34" charset="0"/>
                <a:ea typeface="Carlito" pitchFamily="34" charset="-122"/>
                <a:cs typeface="Carlito" pitchFamily="34" charset="-120"/>
              </a:rPr>
              <a:t>আবেদন ফি</a:t>
            </a:r>
            <a:endParaRPr lang="en-US" sz="800" dirty="0"/>
          </a:p>
        </p:txBody>
      </p:sp>
      <p:sp>
        <p:nvSpPr>
          <p:cNvPr id="13" name="Text 11"/>
          <p:cNvSpPr/>
          <p:nvPr/>
        </p:nvSpPr>
        <p:spPr>
          <a:xfrm>
            <a:off x="2038871" y="3268935"/>
            <a:ext cx="1342467" cy="423602"/>
          </a:xfrm>
          <a:prstGeom prst="roundRect">
            <a:avLst>
              <a:gd name="adj" fmla="val 17989"/>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4" name="Text 12"/>
          <p:cNvSpPr/>
          <p:nvPr/>
        </p:nvSpPr>
        <p:spPr>
          <a:xfrm>
            <a:off x="2128168" y="3343945"/>
            <a:ext cx="1163873" cy="144018"/>
          </a:xfrm>
          <a:prstGeom prst="rect">
            <a:avLst/>
          </a:prstGeom>
          <a:noFill/>
          <a:ln/>
        </p:spPr>
        <p:txBody>
          <a:bodyPr wrap="none" lIns="0" tIns="0" rIns="0" bIns="0" rtlCol="0" anchor="t">
            <a:normAutofit/>
          </a:bodyPr>
          <a:lstStyle/>
          <a:p>
            <a:pPr algn="l" indent="0" marL="0">
              <a:lnSpc>
                <a:spcPts val="1125"/>
              </a:lnSpc>
              <a:buNone/>
            </a:pPr>
            <a:r>
              <a:rPr lang="en-US" sz="1125" b="1" dirty="0">
                <a:solidFill>
                  <a:srgbClr val="14342A"/>
                </a:solidFill>
                <a:latin typeface="Carlito" pitchFamily="34" charset="0"/>
                <a:ea typeface="Carlito" pitchFamily="34" charset="-122"/>
                <a:cs typeface="Carlito" pitchFamily="34" charset="-120"/>
              </a:rPr>
              <a:t>২ বছর</a:t>
            </a:r>
            <a:endParaRPr lang="en-US" sz="1125" dirty="0"/>
          </a:p>
        </p:txBody>
      </p:sp>
      <p:sp>
        <p:nvSpPr>
          <p:cNvPr id="15" name="Text 13"/>
          <p:cNvSpPr/>
          <p:nvPr/>
        </p:nvSpPr>
        <p:spPr>
          <a:xfrm>
            <a:off x="2128168" y="3515395"/>
            <a:ext cx="1163873" cy="102133"/>
          </a:xfrm>
          <a:prstGeom prst="rect">
            <a:avLst/>
          </a:prstGeom>
          <a:noFill/>
          <a:ln/>
        </p:spPr>
        <p:txBody>
          <a:bodyPr wrap="none" lIns="0" tIns="0" rIns="0" bIns="0" rtlCol="0" anchor="t"/>
          <a:lstStyle/>
          <a:p>
            <a:pPr algn="l" indent="0" marL="0">
              <a:lnSpc>
                <a:spcPts val="804"/>
              </a:lnSpc>
              <a:buNone/>
            </a:pPr>
            <a:r>
              <a:rPr lang="en-US" sz="800" dirty="0">
                <a:solidFill>
                  <a:srgbClr val="6B6B6B"/>
                </a:solidFill>
                <a:latin typeface="Carlito" pitchFamily="34" charset="0"/>
                <a:ea typeface="Carlito" pitchFamily="34" charset="-122"/>
                <a:cs typeface="Carlito" pitchFamily="34" charset="-120"/>
              </a:rPr>
              <a:t>নবায়ন মেয়াদ</a:t>
            </a:r>
            <a:endParaRPr lang="en-US" sz="800" dirty="0"/>
          </a:p>
        </p:txBody>
      </p:sp>
      <p:sp>
        <p:nvSpPr>
          <p:cNvPr id="16" name="Text 14"/>
          <p:cNvSpPr/>
          <p:nvPr/>
        </p:nvSpPr>
        <p:spPr>
          <a:xfrm>
            <a:off x="3742097" y="1397831"/>
            <a:ext cx="5173191" cy="428960"/>
          </a:xfrm>
          <a:prstGeom prst="roundRect">
            <a:avLst>
              <a:gd name="adj" fmla="val 22205"/>
            </a:avLst>
          </a:prstGeom>
          <a:solidFill>
            <a:srgbClr val="FFFFFF"/>
          </a:solidFill>
          <a:ln/>
        </p:spPr>
        <p:txBody>
          <a:bodyPr wrap="square" rtlCol="0" anchor="ctr"/>
          <a:lstStyle/>
          <a:p>
            <a:pPr indent="0" marL="0">
              <a:buNone/>
            </a:pPr>
            <a:endParaRPr lang="en-US" dirty="0"/>
          </a:p>
        </p:txBody>
      </p:sp>
      <p:sp>
        <p:nvSpPr>
          <p:cNvPr id="17" name="Shape 15"/>
          <p:cNvSpPr/>
          <p:nvPr/>
        </p:nvSpPr>
        <p:spPr>
          <a:xfrm>
            <a:off x="3742097" y="1401403"/>
            <a:ext cx="5173191" cy="0"/>
          </a:xfrm>
          <a:prstGeom prst="line">
            <a:avLst/>
          </a:prstGeom>
          <a:noFill/>
          <a:ln w="7144">
            <a:solidFill>
              <a:srgbClr val="D9D2BF"/>
            </a:solidFill>
            <a:prstDash val="solid"/>
          </a:ln>
        </p:spPr>
        <p:txBody>
          <a:bodyPr/>
          <a:p/>
        </p:txBody>
      </p:sp>
      <p:sp>
        <p:nvSpPr>
          <p:cNvPr id="18" name="Shape 16"/>
          <p:cNvSpPr/>
          <p:nvPr/>
        </p:nvSpPr>
        <p:spPr>
          <a:xfrm>
            <a:off x="8911717" y="1397831"/>
            <a:ext cx="0" cy="428960"/>
          </a:xfrm>
          <a:prstGeom prst="line">
            <a:avLst/>
          </a:prstGeom>
          <a:noFill/>
          <a:ln w="7144">
            <a:solidFill>
              <a:srgbClr val="D9D2BF"/>
            </a:solidFill>
            <a:prstDash val="solid"/>
          </a:ln>
        </p:spPr>
        <p:txBody>
          <a:bodyPr/>
          <a:p/>
        </p:txBody>
      </p:sp>
      <p:sp>
        <p:nvSpPr>
          <p:cNvPr id="19" name="Shape 17"/>
          <p:cNvSpPr/>
          <p:nvPr/>
        </p:nvSpPr>
        <p:spPr>
          <a:xfrm>
            <a:off x="3742097" y="1823219"/>
            <a:ext cx="5173191" cy="0"/>
          </a:xfrm>
          <a:prstGeom prst="line">
            <a:avLst/>
          </a:prstGeom>
          <a:noFill/>
          <a:ln w="7144">
            <a:solidFill>
              <a:srgbClr val="D9D2BF"/>
            </a:solidFill>
            <a:prstDash val="solid"/>
          </a:ln>
        </p:spPr>
        <p:txBody>
          <a:bodyPr/>
          <a:p/>
        </p:txBody>
      </p:sp>
      <p:sp>
        <p:nvSpPr>
          <p:cNvPr id="20" name="Shape 18"/>
          <p:cNvSpPr/>
          <p:nvPr/>
        </p:nvSpPr>
        <p:spPr>
          <a:xfrm>
            <a:off x="3756385" y="1397831"/>
            <a:ext cx="0" cy="428960"/>
          </a:xfrm>
          <a:prstGeom prst="line">
            <a:avLst/>
          </a:prstGeom>
          <a:noFill/>
          <a:ln w="28575">
            <a:solidFill>
              <a:srgbClr val="C7912C"/>
            </a:solidFill>
            <a:prstDash val="solid"/>
          </a:ln>
        </p:spPr>
        <p:txBody>
          <a:bodyPr/>
          <a:p/>
        </p:txBody>
      </p:sp>
      <p:sp>
        <p:nvSpPr>
          <p:cNvPr id="21" name="Text 19"/>
          <p:cNvSpPr/>
          <p:nvPr/>
        </p:nvSpPr>
        <p:spPr>
          <a:xfrm>
            <a:off x="3884972" y="1540371"/>
            <a:ext cx="251460" cy="169999"/>
          </a:xfrm>
          <a:prstGeom prst="rect">
            <a:avLst/>
          </a:prstGeom>
          <a:noFill/>
          <a:ln/>
        </p:spPr>
        <p:txBody>
          <a:bodyPr wrap="none" lIns="0" tIns="0" rIns="0" bIns="0" rtlCol="0" anchor="t"/>
          <a:lstStyle/>
          <a:p>
            <a:pPr algn="l" indent="0" marL="0">
              <a:lnSpc>
                <a:spcPts val="1133"/>
              </a:lnSpc>
              <a:buNone/>
            </a:pPr>
            <a:r>
              <a:rPr lang="en-US" sz="800" b="1" dirty="0">
                <a:solidFill>
                  <a:srgbClr val="9A6E1E"/>
                </a:solidFill>
                <a:latin typeface="Carlito" pitchFamily="34" charset="0"/>
                <a:ea typeface="Carlito" pitchFamily="34" charset="-122"/>
                <a:cs typeface="Carlito" pitchFamily="34" charset="-120"/>
              </a:rPr>
              <a:t>০১</a:t>
            </a:r>
            <a:endParaRPr lang="en-US" sz="800" dirty="0"/>
          </a:p>
        </p:txBody>
      </p:sp>
      <p:sp>
        <p:nvSpPr>
          <p:cNvPr id="22" name="Text 20"/>
          <p:cNvSpPr/>
          <p:nvPr/>
        </p:nvSpPr>
        <p:spPr>
          <a:xfrm>
            <a:off x="4142147" y="1512243"/>
            <a:ext cx="200025" cy="200025"/>
          </a:xfrm>
          <a:prstGeom prst="ellipse">
            <a:avLst/>
          </a:prstGeom>
          <a:solidFill>
            <a:srgbClr val="1E4D3B"/>
          </a:solidFill>
          <a:ln/>
        </p:spPr>
        <p:txBody>
          <a:bodyPr wrap="square" rtlCol="0" anchor="ctr"/>
          <a:lstStyle/>
          <a:p>
            <a:pPr indent="0" marL="0">
              <a:buNone/>
            </a:pPr>
            <a:endParaRPr lang="en-US" dirty="0"/>
          </a:p>
        </p:txBody>
      </p:sp>
      <p:sp>
        <p:nvSpPr>
          <p:cNvPr id="23" name="Text 21"/>
          <p:cNvSpPr/>
          <p:nvPr/>
        </p:nvSpPr>
        <p:spPr>
          <a:xfrm>
            <a:off x="4148934" y="1519029"/>
            <a:ext cx="186452" cy="186452"/>
          </a:xfrm>
          <a:prstGeom prst="rect">
            <a:avLst/>
          </a:prstGeom>
          <a:noFill/>
          <a:ln/>
        </p:spPr>
        <p:txBody>
          <a:bodyPr wrap="none" lIns="0" tIns="0" rIns="0" bIns="0" rtlCol="0" anchor="ctr"/>
          <a:lstStyle/>
          <a:p>
            <a:pPr algn="ctr" indent="0" marL="0">
              <a:buNone/>
            </a:pPr>
            <a:r>
              <a:rPr lang="en-US" sz="1266" dirty="0">
                <a:solidFill>
                  <a:srgbClr val="FAF6EE"/>
                </a:solidFill>
                <a:latin typeface="Segoe UI Symbol" pitchFamily="34" charset="0"/>
                <a:ea typeface="Segoe UI Symbol" pitchFamily="34" charset="-122"/>
                <a:cs typeface="Segoe UI Symbol" pitchFamily="34" charset="-120"/>
              </a:rPr>
              <a:t>✓</a:t>
            </a:r>
            <a:endParaRPr lang="en-US" sz="1266" dirty="0"/>
          </a:p>
        </p:txBody>
      </p:sp>
      <p:sp>
        <p:nvSpPr>
          <p:cNvPr id="24" name="Text 22"/>
          <p:cNvSpPr/>
          <p:nvPr/>
        </p:nvSpPr>
        <p:spPr>
          <a:xfrm>
            <a:off x="4442185" y="1537246"/>
            <a:ext cx="4358804" cy="162141"/>
          </a:xfrm>
          <a:prstGeom prst="rect">
            <a:avLst/>
          </a:prstGeom>
          <a:noFill/>
          <a:ln/>
        </p:spPr>
        <p:txBody>
          <a:bodyPr wrap="square" lIns="0" tIns="0" rIns="0" bIns="0" rtlCol="0" anchor="t"/>
          <a:lstStyle/>
          <a:p>
            <a:pPr algn="l" indent="0" marL="0">
              <a:lnSpc>
                <a:spcPts val="1183"/>
              </a:lnSpc>
              <a:buNone/>
            </a:pPr>
            <a:r>
              <a:rPr lang="en-US" sz="816" b="1" dirty="0">
                <a:solidFill>
                  <a:srgbClr val="14342A"/>
                </a:solidFill>
                <a:latin typeface="Carlito" pitchFamily="34" charset="0"/>
                <a:ea typeface="Carlito" pitchFamily="34" charset="-122"/>
                <a:cs typeface="Carlito" pitchFamily="34" charset="-120"/>
              </a:rPr>
              <a:t>নির্ধারিত ফরমে আবেদন ও ফি পরিশোধ</a:t>
            </a:r>
            <a:pPr algn="l" indent="0" marL="0">
              <a:lnSpc>
                <a:spcPts val="1183"/>
              </a:lnSpc>
              <a:buNone/>
            </a:pPr>
            <a:r>
              <a:rPr lang="en-US" sz="816" dirty="0">
                <a:solidFill>
                  <a:srgbClr val="1A1A1A"/>
                </a:solidFill>
                <a:latin typeface="Carlito" pitchFamily="34" charset="0"/>
                <a:ea typeface="Carlito" pitchFamily="34" charset="-122"/>
                <a:cs typeface="Carlito" pitchFamily="34" charset="-120"/>
              </a:rPr>
              <a:t> (৩,০০০ টাকা)</a:t>
            </a:r>
            <a:endParaRPr lang="en-US" sz="816" dirty="0"/>
          </a:p>
        </p:txBody>
      </p:sp>
      <p:sp>
        <p:nvSpPr>
          <p:cNvPr id="25" name="Text 23"/>
          <p:cNvSpPr/>
          <p:nvPr/>
        </p:nvSpPr>
        <p:spPr>
          <a:xfrm>
            <a:off x="3742097" y="1883941"/>
            <a:ext cx="5173191" cy="428960"/>
          </a:xfrm>
          <a:prstGeom prst="roundRect">
            <a:avLst>
              <a:gd name="adj" fmla="val 22205"/>
            </a:avLst>
          </a:prstGeom>
          <a:solidFill>
            <a:srgbClr val="FFFFFF"/>
          </a:solidFill>
          <a:ln/>
        </p:spPr>
        <p:txBody>
          <a:bodyPr wrap="square" rtlCol="0" anchor="ctr"/>
          <a:lstStyle/>
          <a:p>
            <a:pPr indent="0" marL="0">
              <a:buNone/>
            </a:pPr>
            <a:endParaRPr lang="en-US" dirty="0"/>
          </a:p>
        </p:txBody>
      </p:sp>
      <p:sp>
        <p:nvSpPr>
          <p:cNvPr id="26" name="Shape 24"/>
          <p:cNvSpPr/>
          <p:nvPr/>
        </p:nvSpPr>
        <p:spPr>
          <a:xfrm>
            <a:off x="3742097" y="1887513"/>
            <a:ext cx="5173191" cy="0"/>
          </a:xfrm>
          <a:prstGeom prst="line">
            <a:avLst/>
          </a:prstGeom>
          <a:noFill/>
          <a:ln w="7144">
            <a:solidFill>
              <a:srgbClr val="D9D2BF"/>
            </a:solidFill>
            <a:prstDash val="solid"/>
          </a:ln>
        </p:spPr>
        <p:txBody>
          <a:bodyPr/>
          <a:p/>
        </p:txBody>
      </p:sp>
      <p:sp>
        <p:nvSpPr>
          <p:cNvPr id="27" name="Shape 25"/>
          <p:cNvSpPr/>
          <p:nvPr/>
        </p:nvSpPr>
        <p:spPr>
          <a:xfrm>
            <a:off x="8911717" y="1883941"/>
            <a:ext cx="0" cy="428960"/>
          </a:xfrm>
          <a:prstGeom prst="line">
            <a:avLst/>
          </a:prstGeom>
          <a:noFill/>
          <a:ln w="7144">
            <a:solidFill>
              <a:srgbClr val="D9D2BF"/>
            </a:solidFill>
            <a:prstDash val="solid"/>
          </a:ln>
        </p:spPr>
        <p:txBody>
          <a:bodyPr/>
          <a:p/>
        </p:txBody>
      </p:sp>
      <p:sp>
        <p:nvSpPr>
          <p:cNvPr id="28" name="Shape 26"/>
          <p:cNvSpPr/>
          <p:nvPr/>
        </p:nvSpPr>
        <p:spPr>
          <a:xfrm>
            <a:off x="3742097" y="2309329"/>
            <a:ext cx="5173191" cy="0"/>
          </a:xfrm>
          <a:prstGeom prst="line">
            <a:avLst/>
          </a:prstGeom>
          <a:noFill/>
          <a:ln w="7144">
            <a:solidFill>
              <a:srgbClr val="D9D2BF"/>
            </a:solidFill>
            <a:prstDash val="solid"/>
          </a:ln>
        </p:spPr>
        <p:txBody>
          <a:bodyPr/>
          <a:p/>
        </p:txBody>
      </p:sp>
      <p:sp>
        <p:nvSpPr>
          <p:cNvPr id="29" name="Shape 27"/>
          <p:cNvSpPr/>
          <p:nvPr/>
        </p:nvSpPr>
        <p:spPr>
          <a:xfrm>
            <a:off x="3756385" y="1883941"/>
            <a:ext cx="0" cy="428960"/>
          </a:xfrm>
          <a:prstGeom prst="line">
            <a:avLst/>
          </a:prstGeom>
          <a:noFill/>
          <a:ln w="28575">
            <a:solidFill>
              <a:srgbClr val="C7912C"/>
            </a:solidFill>
            <a:prstDash val="solid"/>
          </a:ln>
        </p:spPr>
        <p:txBody>
          <a:bodyPr/>
          <a:p/>
        </p:txBody>
      </p:sp>
      <p:sp>
        <p:nvSpPr>
          <p:cNvPr id="30" name="Text 28"/>
          <p:cNvSpPr/>
          <p:nvPr/>
        </p:nvSpPr>
        <p:spPr>
          <a:xfrm>
            <a:off x="3884972" y="2026481"/>
            <a:ext cx="251460" cy="169999"/>
          </a:xfrm>
          <a:prstGeom prst="rect">
            <a:avLst/>
          </a:prstGeom>
          <a:noFill/>
          <a:ln/>
        </p:spPr>
        <p:txBody>
          <a:bodyPr wrap="none" lIns="0" tIns="0" rIns="0" bIns="0" rtlCol="0" anchor="t"/>
          <a:lstStyle/>
          <a:p>
            <a:pPr algn="l" indent="0" marL="0">
              <a:lnSpc>
                <a:spcPts val="1133"/>
              </a:lnSpc>
              <a:buNone/>
            </a:pPr>
            <a:r>
              <a:rPr lang="en-US" sz="800" b="1" dirty="0">
                <a:solidFill>
                  <a:srgbClr val="9A6E1E"/>
                </a:solidFill>
                <a:latin typeface="Carlito" pitchFamily="34" charset="0"/>
                <a:ea typeface="Carlito" pitchFamily="34" charset="-122"/>
                <a:cs typeface="Carlito" pitchFamily="34" charset="-120"/>
              </a:rPr>
              <a:t>০২</a:t>
            </a:r>
            <a:endParaRPr lang="en-US" sz="800" dirty="0"/>
          </a:p>
        </p:txBody>
      </p:sp>
      <p:sp>
        <p:nvSpPr>
          <p:cNvPr id="31" name="Text 29"/>
          <p:cNvSpPr/>
          <p:nvPr/>
        </p:nvSpPr>
        <p:spPr>
          <a:xfrm>
            <a:off x="4142147" y="1998352"/>
            <a:ext cx="200025" cy="200025"/>
          </a:xfrm>
          <a:prstGeom prst="ellipse">
            <a:avLst/>
          </a:prstGeom>
          <a:solidFill>
            <a:srgbClr val="1E4D3B"/>
          </a:solidFill>
          <a:ln/>
        </p:spPr>
        <p:txBody>
          <a:bodyPr wrap="square" rtlCol="0" anchor="ctr"/>
          <a:lstStyle/>
          <a:p>
            <a:pPr indent="0" marL="0">
              <a:buNone/>
            </a:pPr>
            <a:endParaRPr lang="en-US" dirty="0"/>
          </a:p>
        </p:txBody>
      </p:sp>
      <p:sp>
        <p:nvSpPr>
          <p:cNvPr id="32" name="Text 30"/>
          <p:cNvSpPr/>
          <p:nvPr/>
        </p:nvSpPr>
        <p:spPr>
          <a:xfrm>
            <a:off x="4148934" y="2005139"/>
            <a:ext cx="186452" cy="186452"/>
          </a:xfrm>
          <a:prstGeom prst="rect">
            <a:avLst/>
          </a:prstGeom>
          <a:noFill/>
          <a:ln/>
        </p:spPr>
        <p:txBody>
          <a:bodyPr wrap="none" lIns="0" tIns="0" rIns="0" bIns="0" rtlCol="0" anchor="ctr"/>
          <a:lstStyle/>
          <a:p>
            <a:pPr algn="ctr" indent="0" marL="0">
              <a:buNone/>
            </a:pPr>
            <a:r>
              <a:rPr lang="en-US" sz="1266" dirty="0">
                <a:solidFill>
                  <a:srgbClr val="FAF6EE"/>
                </a:solidFill>
                <a:latin typeface="Segoe UI Symbol" pitchFamily="34" charset="0"/>
                <a:ea typeface="Segoe UI Symbol" pitchFamily="34" charset="-122"/>
                <a:cs typeface="Segoe UI Symbol" pitchFamily="34" charset="-120"/>
              </a:rPr>
              <a:t>✓</a:t>
            </a:r>
            <a:endParaRPr lang="en-US" sz="1266" dirty="0"/>
          </a:p>
        </p:txBody>
      </p:sp>
      <p:sp>
        <p:nvSpPr>
          <p:cNvPr id="33" name="Text 31"/>
          <p:cNvSpPr/>
          <p:nvPr/>
        </p:nvSpPr>
        <p:spPr>
          <a:xfrm>
            <a:off x="4442185" y="2023356"/>
            <a:ext cx="4358804" cy="162141"/>
          </a:xfrm>
          <a:prstGeom prst="rect">
            <a:avLst/>
          </a:prstGeom>
          <a:noFill/>
          <a:ln/>
        </p:spPr>
        <p:txBody>
          <a:bodyPr wrap="square" lIns="0" tIns="0" rIns="0" bIns="0" rtlCol="0" anchor="t"/>
          <a:lstStyle/>
          <a:p>
            <a:pPr algn="l" indent="0" marL="0">
              <a:lnSpc>
                <a:spcPts val="1183"/>
              </a:lnSpc>
              <a:buNone/>
            </a:pPr>
            <a:r>
              <a:rPr lang="en-US" sz="816" b="1" dirty="0">
                <a:solidFill>
                  <a:srgbClr val="14342A"/>
                </a:solidFill>
                <a:latin typeface="Carlito" pitchFamily="34" charset="0"/>
                <a:ea typeface="Carlito" pitchFamily="34" charset="-122"/>
                <a:cs typeface="Carlito" pitchFamily="34" charset="-120"/>
              </a:rPr>
              <a:t>এসএসসি</a:t>
            </a:r>
            <a:pPr algn="l" indent="0" marL="0">
              <a:lnSpc>
                <a:spcPts val="1183"/>
              </a:lnSpc>
              <a:buNone/>
            </a:pPr>
            <a:r>
              <a:rPr lang="en-US" sz="816" dirty="0">
                <a:solidFill>
                  <a:srgbClr val="1A1A1A"/>
                </a:solidFill>
                <a:latin typeface="Carlito" pitchFamily="34" charset="0"/>
                <a:ea typeface="Carlito" pitchFamily="34" charset="-122"/>
                <a:cs typeface="Carlito" pitchFamily="34" charset="-120"/>
              </a:rPr>
              <a:t> বা সমমান শিক্ষাগত যোগ্যতা</a:t>
            </a:r>
            <a:endParaRPr lang="en-US" sz="816" dirty="0"/>
          </a:p>
        </p:txBody>
      </p:sp>
      <p:sp>
        <p:nvSpPr>
          <p:cNvPr id="34" name="Text 32"/>
          <p:cNvSpPr/>
          <p:nvPr/>
        </p:nvSpPr>
        <p:spPr>
          <a:xfrm>
            <a:off x="3742097" y="2370051"/>
            <a:ext cx="5173191" cy="428960"/>
          </a:xfrm>
          <a:prstGeom prst="roundRect">
            <a:avLst>
              <a:gd name="adj" fmla="val 22205"/>
            </a:avLst>
          </a:prstGeom>
          <a:solidFill>
            <a:srgbClr val="FFFFFF"/>
          </a:solidFill>
          <a:ln/>
        </p:spPr>
        <p:txBody>
          <a:bodyPr wrap="square" rtlCol="0" anchor="ctr"/>
          <a:lstStyle/>
          <a:p>
            <a:pPr indent="0" marL="0">
              <a:buNone/>
            </a:pPr>
            <a:endParaRPr lang="en-US" dirty="0"/>
          </a:p>
        </p:txBody>
      </p:sp>
      <p:sp>
        <p:nvSpPr>
          <p:cNvPr id="35" name="Shape 33"/>
          <p:cNvSpPr/>
          <p:nvPr/>
        </p:nvSpPr>
        <p:spPr>
          <a:xfrm>
            <a:off x="3742097" y="2373623"/>
            <a:ext cx="5173191" cy="0"/>
          </a:xfrm>
          <a:prstGeom prst="line">
            <a:avLst/>
          </a:prstGeom>
          <a:noFill/>
          <a:ln w="7144">
            <a:solidFill>
              <a:srgbClr val="D9D2BF"/>
            </a:solidFill>
            <a:prstDash val="solid"/>
          </a:ln>
        </p:spPr>
        <p:txBody>
          <a:bodyPr/>
          <a:p/>
        </p:txBody>
      </p:sp>
      <p:sp>
        <p:nvSpPr>
          <p:cNvPr id="36" name="Shape 34"/>
          <p:cNvSpPr/>
          <p:nvPr/>
        </p:nvSpPr>
        <p:spPr>
          <a:xfrm>
            <a:off x="8911717" y="2370051"/>
            <a:ext cx="0" cy="428960"/>
          </a:xfrm>
          <a:prstGeom prst="line">
            <a:avLst/>
          </a:prstGeom>
          <a:noFill/>
          <a:ln w="7144">
            <a:solidFill>
              <a:srgbClr val="D9D2BF"/>
            </a:solidFill>
            <a:prstDash val="solid"/>
          </a:ln>
        </p:spPr>
        <p:txBody>
          <a:bodyPr/>
          <a:p/>
        </p:txBody>
      </p:sp>
      <p:sp>
        <p:nvSpPr>
          <p:cNvPr id="37" name="Shape 35"/>
          <p:cNvSpPr/>
          <p:nvPr/>
        </p:nvSpPr>
        <p:spPr>
          <a:xfrm>
            <a:off x="3742097" y="2795439"/>
            <a:ext cx="5173191" cy="0"/>
          </a:xfrm>
          <a:prstGeom prst="line">
            <a:avLst/>
          </a:prstGeom>
          <a:noFill/>
          <a:ln w="7144">
            <a:solidFill>
              <a:srgbClr val="D9D2BF"/>
            </a:solidFill>
            <a:prstDash val="solid"/>
          </a:ln>
        </p:spPr>
        <p:txBody>
          <a:bodyPr/>
          <a:p/>
        </p:txBody>
      </p:sp>
      <p:sp>
        <p:nvSpPr>
          <p:cNvPr id="38" name="Shape 36"/>
          <p:cNvSpPr/>
          <p:nvPr/>
        </p:nvSpPr>
        <p:spPr>
          <a:xfrm>
            <a:off x="3756385" y="2370051"/>
            <a:ext cx="0" cy="428960"/>
          </a:xfrm>
          <a:prstGeom prst="line">
            <a:avLst/>
          </a:prstGeom>
          <a:noFill/>
          <a:ln w="28575">
            <a:solidFill>
              <a:srgbClr val="C7912C"/>
            </a:solidFill>
            <a:prstDash val="solid"/>
          </a:ln>
        </p:spPr>
        <p:txBody>
          <a:bodyPr/>
          <a:p/>
        </p:txBody>
      </p:sp>
      <p:sp>
        <p:nvSpPr>
          <p:cNvPr id="39" name="Text 37"/>
          <p:cNvSpPr/>
          <p:nvPr/>
        </p:nvSpPr>
        <p:spPr>
          <a:xfrm>
            <a:off x="3884972" y="2512591"/>
            <a:ext cx="251460" cy="169999"/>
          </a:xfrm>
          <a:prstGeom prst="rect">
            <a:avLst/>
          </a:prstGeom>
          <a:noFill/>
          <a:ln/>
        </p:spPr>
        <p:txBody>
          <a:bodyPr wrap="none" lIns="0" tIns="0" rIns="0" bIns="0" rtlCol="0" anchor="t"/>
          <a:lstStyle/>
          <a:p>
            <a:pPr algn="l" indent="0" marL="0">
              <a:lnSpc>
                <a:spcPts val="1133"/>
              </a:lnSpc>
              <a:buNone/>
            </a:pPr>
            <a:r>
              <a:rPr lang="en-US" sz="800" b="1" dirty="0">
                <a:solidFill>
                  <a:srgbClr val="9A6E1E"/>
                </a:solidFill>
                <a:latin typeface="Carlito" pitchFamily="34" charset="0"/>
                <a:ea typeface="Carlito" pitchFamily="34" charset="-122"/>
                <a:cs typeface="Carlito" pitchFamily="34" charset="-120"/>
              </a:rPr>
              <a:t>০৩</a:t>
            </a:r>
            <a:endParaRPr lang="en-US" sz="800" dirty="0"/>
          </a:p>
        </p:txBody>
      </p:sp>
      <p:sp>
        <p:nvSpPr>
          <p:cNvPr id="40" name="Text 38"/>
          <p:cNvSpPr/>
          <p:nvPr/>
        </p:nvSpPr>
        <p:spPr>
          <a:xfrm>
            <a:off x="4142147" y="2484462"/>
            <a:ext cx="200025" cy="200025"/>
          </a:xfrm>
          <a:prstGeom prst="ellipse">
            <a:avLst/>
          </a:prstGeom>
          <a:solidFill>
            <a:srgbClr val="1E4D3B"/>
          </a:solidFill>
          <a:ln/>
        </p:spPr>
        <p:txBody>
          <a:bodyPr wrap="square" rtlCol="0" anchor="ctr"/>
          <a:lstStyle/>
          <a:p>
            <a:pPr indent="0" marL="0">
              <a:buNone/>
            </a:pPr>
            <a:endParaRPr lang="en-US" dirty="0"/>
          </a:p>
        </p:txBody>
      </p:sp>
      <p:sp>
        <p:nvSpPr>
          <p:cNvPr id="41" name="Text 39"/>
          <p:cNvSpPr/>
          <p:nvPr/>
        </p:nvSpPr>
        <p:spPr>
          <a:xfrm>
            <a:off x="4148934" y="2491249"/>
            <a:ext cx="186452" cy="186452"/>
          </a:xfrm>
          <a:prstGeom prst="rect">
            <a:avLst/>
          </a:prstGeom>
          <a:noFill/>
          <a:ln/>
        </p:spPr>
        <p:txBody>
          <a:bodyPr wrap="none" lIns="0" tIns="0" rIns="0" bIns="0" rtlCol="0" anchor="ctr"/>
          <a:lstStyle/>
          <a:p>
            <a:pPr algn="ctr" indent="0" marL="0">
              <a:buNone/>
            </a:pPr>
            <a:r>
              <a:rPr lang="en-US" sz="1266" dirty="0">
                <a:solidFill>
                  <a:srgbClr val="FAF6EE"/>
                </a:solidFill>
                <a:latin typeface="Segoe UI Symbol" pitchFamily="34" charset="0"/>
                <a:ea typeface="Segoe UI Symbol" pitchFamily="34" charset="-122"/>
                <a:cs typeface="Segoe UI Symbol" pitchFamily="34" charset="-120"/>
              </a:rPr>
              <a:t>✓</a:t>
            </a:r>
            <a:endParaRPr lang="en-US" sz="1266" dirty="0"/>
          </a:p>
        </p:txBody>
      </p:sp>
      <p:sp>
        <p:nvSpPr>
          <p:cNvPr id="42" name="Text 40"/>
          <p:cNvSpPr/>
          <p:nvPr/>
        </p:nvSpPr>
        <p:spPr>
          <a:xfrm>
            <a:off x="4442185" y="2509465"/>
            <a:ext cx="4358804" cy="162141"/>
          </a:xfrm>
          <a:prstGeom prst="rect">
            <a:avLst/>
          </a:prstGeom>
          <a:noFill/>
          <a:ln/>
        </p:spPr>
        <p:txBody>
          <a:bodyPr wrap="square" lIns="0" tIns="0" rIns="0" bIns="0" rtlCol="0" anchor="t"/>
          <a:lstStyle/>
          <a:p>
            <a:pPr algn="l" indent="0" marL="0">
              <a:lnSpc>
                <a:spcPts val="1183"/>
              </a:lnSpc>
              <a:buNone/>
            </a:pPr>
            <a:r>
              <a:rPr lang="en-US" sz="816" b="1" dirty="0">
                <a:solidFill>
                  <a:srgbClr val="14342A"/>
                </a:solidFill>
                <a:latin typeface="Carlito" pitchFamily="34" charset="0"/>
                <a:ea typeface="Carlito" pitchFamily="34" charset="-122"/>
                <a:cs typeface="Carlito" pitchFamily="34" charset="-120"/>
              </a:rPr>
              <a:t>কৃষি/বিজ্ঞান</a:t>
            </a:r>
            <a:pPr algn="l" indent="0" marL="0">
              <a:lnSpc>
                <a:spcPts val="1183"/>
              </a:lnSpc>
              <a:buNone/>
            </a:pPr>
            <a:r>
              <a:rPr lang="en-US" sz="816" dirty="0">
                <a:solidFill>
                  <a:srgbClr val="1A1A1A"/>
                </a:solidFill>
                <a:latin typeface="Carlito" pitchFamily="34" charset="0"/>
                <a:ea typeface="Carlito" pitchFamily="34" charset="-122"/>
                <a:cs typeface="Carlito" pitchFamily="34" charset="-120"/>
              </a:rPr>
              <a:t> বিষয়ে প্রশিক্ষণ সনদ</a:t>
            </a:r>
            <a:endParaRPr lang="en-US" sz="816" dirty="0"/>
          </a:p>
        </p:txBody>
      </p:sp>
      <p:sp>
        <p:nvSpPr>
          <p:cNvPr id="43" name="Text 41"/>
          <p:cNvSpPr/>
          <p:nvPr/>
        </p:nvSpPr>
        <p:spPr>
          <a:xfrm>
            <a:off x="3742097" y="2856161"/>
            <a:ext cx="5173191" cy="428960"/>
          </a:xfrm>
          <a:prstGeom prst="roundRect">
            <a:avLst>
              <a:gd name="adj" fmla="val 22205"/>
            </a:avLst>
          </a:prstGeom>
          <a:solidFill>
            <a:srgbClr val="FFFFFF"/>
          </a:solidFill>
          <a:ln/>
        </p:spPr>
        <p:txBody>
          <a:bodyPr wrap="square" rtlCol="0" anchor="ctr"/>
          <a:lstStyle/>
          <a:p>
            <a:pPr indent="0" marL="0">
              <a:buNone/>
            </a:pPr>
            <a:endParaRPr lang="en-US" dirty="0"/>
          </a:p>
        </p:txBody>
      </p:sp>
      <p:sp>
        <p:nvSpPr>
          <p:cNvPr id="44" name="Shape 42"/>
          <p:cNvSpPr/>
          <p:nvPr/>
        </p:nvSpPr>
        <p:spPr>
          <a:xfrm>
            <a:off x="3742097" y="2859732"/>
            <a:ext cx="5173191" cy="0"/>
          </a:xfrm>
          <a:prstGeom prst="line">
            <a:avLst/>
          </a:prstGeom>
          <a:noFill/>
          <a:ln w="7144">
            <a:solidFill>
              <a:srgbClr val="D9D2BF"/>
            </a:solidFill>
            <a:prstDash val="solid"/>
          </a:ln>
        </p:spPr>
        <p:txBody>
          <a:bodyPr/>
          <a:p/>
        </p:txBody>
      </p:sp>
      <p:sp>
        <p:nvSpPr>
          <p:cNvPr id="45" name="Shape 43"/>
          <p:cNvSpPr/>
          <p:nvPr/>
        </p:nvSpPr>
        <p:spPr>
          <a:xfrm>
            <a:off x="8911717" y="2856161"/>
            <a:ext cx="0" cy="428960"/>
          </a:xfrm>
          <a:prstGeom prst="line">
            <a:avLst/>
          </a:prstGeom>
          <a:noFill/>
          <a:ln w="7144">
            <a:solidFill>
              <a:srgbClr val="D9D2BF"/>
            </a:solidFill>
            <a:prstDash val="solid"/>
          </a:ln>
        </p:spPr>
        <p:txBody>
          <a:bodyPr/>
          <a:p/>
        </p:txBody>
      </p:sp>
      <p:sp>
        <p:nvSpPr>
          <p:cNvPr id="46" name="Shape 44"/>
          <p:cNvSpPr/>
          <p:nvPr/>
        </p:nvSpPr>
        <p:spPr>
          <a:xfrm>
            <a:off x="3742097" y="3281549"/>
            <a:ext cx="5173191" cy="0"/>
          </a:xfrm>
          <a:prstGeom prst="line">
            <a:avLst/>
          </a:prstGeom>
          <a:noFill/>
          <a:ln w="7144">
            <a:solidFill>
              <a:srgbClr val="D9D2BF"/>
            </a:solidFill>
            <a:prstDash val="solid"/>
          </a:ln>
        </p:spPr>
        <p:txBody>
          <a:bodyPr/>
          <a:p/>
        </p:txBody>
      </p:sp>
      <p:sp>
        <p:nvSpPr>
          <p:cNvPr id="47" name="Shape 45"/>
          <p:cNvSpPr/>
          <p:nvPr/>
        </p:nvSpPr>
        <p:spPr>
          <a:xfrm>
            <a:off x="3756385" y="2856161"/>
            <a:ext cx="0" cy="428960"/>
          </a:xfrm>
          <a:prstGeom prst="line">
            <a:avLst/>
          </a:prstGeom>
          <a:noFill/>
          <a:ln w="28575">
            <a:solidFill>
              <a:srgbClr val="C7912C"/>
            </a:solidFill>
            <a:prstDash val="solid"/>
          </a:ln>
        </p:spPr>
        <p:txBody>
          <a:bodyPr/>
          <a:p/>
        </p:txBody>
      </p:sp>
      <p:sp>
        <p:nvSpPr>
          <p:cNvPr id="48" name="Text 46"/>
          <p:cNvSpPr/>
          <p:nvPr/>
        </p:nvSpPr>
        <p:spPr>
          <a:xfrm>
            <a:off x="3884972" y="2998701"/>
            <a:ext cx="251460" cy="169999"/>
          </a:xfrm>
          <a:prstGeom prst="rect">
            <a:avLst/>
          </a:prstGeom>
          <a:noFill/>
          <a:ln/>
        </p:spPr>
        <p:txBody>
          <a:bodyPr wrap="none" lIns="0" tIns="0" rIns="0" bIns="0" rtlCol="0" anchor="t"/>
          <a:lstStyle/>
          <a:p>
            <a:pPr algn="l" indent="0" marL="0">
              <a:lnSpc>
                <a:spcPts val="1133"/>
              </a:lnSpc>
              <a:buNone/>
            </a:pPr>
            <a:r>
              <a:rPr lang="en-US" sz="800" b="1" dirty="0">
                <a:solidFill>
                  <a:srgbClr val="9A6E1E"/>
                </a:solidFill>
                <a:latin typeface="Carlito" pitchFamily="34" charset="0"/>
                <a:ea typeface="Carlito" pitchFamily="34" charset="-122"/>
                <a:cs typeface="Carlito" pitchFamily="34" charset="-120"/>
              </a:rPr>
              <a:t>০৪</a:t>
            </a:r>
            <a:endParaRPr lang="en-US" sz="800" dirty="0"/>
          </a:p>
        </p:txBody>
      </p:sp>
      <p:sp>
        <p:nvSpPr>
          <p:cNvPr id="49" name="Text 47"/>
          <p:cNvSpPr/>
          <p:nvPr/>
        </p:nvSpPr>
        <p:spPr>
          <a:xfrm>
            <a:off x="4142147" y="2970572"/>
            <a:ext cx="200025" cy="200025"/>
          </a:xfrm>
          <a:prstGeom prst="ellipse">
            <a:avLst/>
          </a:prstGeom>
          <a:solidFill>
            <a:srgbClr val="1E4D3B"/>
          </a:solidFill>
          <a:ln/>
        </p:spPr>
        <p:txBody>
          <a:bodyPr wrap="square" rtlCol="0" anchor="ctr"/>
          <a:lstStyle/>
          <a:p>
            <a:pPr indent="0" marL="0">
              <a:buNone/>
            </a:pPr>
            <a:endParaRPr lang="en-US" dirty="0"/>
          </a:p>
        </p:txBody>
      </p:sp>
      <p:sp>
        <p:nvSpPr>
          <p:cNvPr id="50" name="Text 48"/>
          <p:cNvSpPr/>
          <p:nvPr/>
        </p:nvSpPr>
        <p:spPr>
          <a:xfrm>
            <a:off x="4148934" y="2977359"/>
            <a:ext cx="186452" cy="186452"/>
          </a:xfrm>
          <a:prstGeom prst="rect">
            <a:avLst/>
          </a:prstGeom>
          <a:noFill/>
          <a:ln/>
        </p:spPr>
        <p:txBody>
          <a:bodyPr wrap="none" lIns="0" tIns="0" rIns="0" bIns="0" rtlCol="0" anchor="ctr"/>
          <a:lstStyle/>
          <a:p>
            <a:pPr algn="ctr" indent="0" marL="0">
              <a:buNone/>
            </a:pPr>
            <a:r>
              <a:rPr lang="en-US" sz="1266" dirty="0">
                <a:solidFill>
                  <a:srgbClr val="FAF6EE"/>
                </a:solidFill>
                <a:latin typeface="Segoe UI Symbol" pitchFamily="34" charset="0"/>
                <a:ea typeface="Segoe UI Symbol" pitchFamily="34" charset="-122"/>
                <a:cs typeface="Segoe UI Symbol" pitchFamily="34" charset="-120"/>
              </a:rPr>
              <a:t>✓</a:t>
            </a:r>
            <a:endParaRPr lang="en-US" sz="1266" dirty="0"/>
          </a:p>
        </p:txBody>
      </p:sp>
      <p:sp>
        <p:nvSpPr>
          <p:cNvPr id="51" name="Text 49"/>
          <p:cNvSpPr/>
          <p:nvPr/>
        </p:nvSpPr>
        <p:spPr>
          <a:xfrm>
            <a:off x="4442185" y="2995575"/>
            <a:ext cx="4358804" cy="162141"/>
          </a:xfrm>
          <a:prstGeom prst="rect">
            <a:avLst/>
          </a:prstGeom>
          <a:noFill/>
          <a:ln/>
        </p:spPr>
        <p:txBody>
          <a:bodyPr wrap="square" lIns="0" tIns="0" rIns="0" bIns="0" rtlCol="0" anchor="t"/>
          <a:lstStyle/>
          <a:p>
            <a:pPr algn="l" indent="0" marL="0">
              <a:lnSpc>
                <a:spcPts val="1183"/>
              </a:lnSpc>
              <a:buNone/>
            </a:pPr>
            <a:r>
              <a:rPr lang="en-US" sz="816" b="1" dirty="0">
                <a:solidFill>
                  <a:srgbClr val="14342A"/>
                </a:solidFill>
                <a:latin typeface="Carlito" pitchFamily="34" charset="0"/>
                <a:ea typeface="Carlito" pitchFamily="34" charset="-122"/>
                <a:cs typeface="Carlito" pitchFamily="34" charset="-120"/>
              </a:rPr>
              <a:t>নির্ধারিত স্থানে দোকান</a:t>
            </a:r>
            <a:pPr algn="l" indent="0" marL="0">
              <a:lnSpc>
                <a:spcPts val="1183"/>
              </a:lnSpc>
              <a:buNone/>
            </a:pPr>
            <a:r>
              <a:rPr lang="en-US" sz="816" dirty="0">
                <a:solidFill>
                  <a:srgbClr val="1A1A1A"/>
                </a:solidFill>
                <a:latin typeface="Carlito" pitchFamily="34" charset="0"/>
                <a:ea typeface="Carlito" pitchFamily="34" charset="-122"/>
                <a:cs typeface="Carlito" pitchFamily="34" charset="-120"/>
              </a:rPr>
              <a:t>, স্টক সংরক্ষণের ব্যবস্থা</a:t>
            </a:r>
            <a:endParaRPr lang="en-US" sz="816" dirty="0"/>
          </a:p>
        </p:txBody>
      </p:sp>
      <p:sp>
        <p:nvSpPr>
          <p:cNvPr id="52" name="Text 50"/>
          <p:cNvSpPr/>
          <p:nvPr/>
        </p:nvSpPr>
        <p:spPr>
          <a:xfrm>
            <a:off x="3742097" y="3342270"/>
            <a:ext cx="5173191" cy="428960"/>
          </a:xfrm>
          <a:prstGeom prst="roundRect">
            <a:avLst>
              <a:gd name="adj" fmla="val 22205"/>
            </a:avLst>
          </a:prstGeom>
          <a:solidFill>
            <a:srgbClr val="FFFFFF"/>
          </a:solidFill>
          <a:ln/>
        </p:spPr>
        <p:txBody>
          <a:bodyPr wrap="square" rtlCol="0" anchor="ctr"/>
          <a:lstStyle/>
          <a:p>
            <a:pPr indent="0" marL="0">
              <a:buNone/>
            </a:pPr>
            <a:endParaRPr lang="en-US" dirty="0"/>
          </a:p>
        </p:txBody>
      </p:sp>
      <p:sp>
        <p:nvSpPr>
          <p:cNvPr id="53" name="Shape 51"/>
          <p:cNvSpPr/>
          <p:nvPr/>
        </p:nvSpPr>
        <p:spPr>
          <a:xfrm>
            <a:off x="3742097" y="3345842"/>
            <a:ext cx="5173191" cy="0"/>
          </a:xfrm>
          <a:prstGeom prst="line">
            <a:avLst/>
          </a:prstGeom>
          <a:noFill/>
          <a:ln w="7144">
            <a:solidFill>
              <a:srgbClr val="D9D2BF"/>
            </a:solidFill>
            <a:prstDash val="solid"/>
          </a:ln>
        </p:spPr>
        <p:txBody>
          <a:bodyPr/>
          <a:p/>
        </p:txBody>
      </p:sp>
      <p:sp>
        <p:nvSpPr>
          <p:cNvPr id="54" name="Shape 52"/>
          <p:cNvSpPr/>
          <p:nvPr/>
        </p:nvSpPr>
        <p:spPr>
          <a:xfrm>
            <a:off x="8911717" y="3342270"/>
            <a:ext cx="0" cy="428960"/>
          </a:xfrm>
          <a:prstGeom prst="line">
            <a:avLst/>
          </a:prstGeom>
          <a:noFill/>
          <a:ln w="7144">
            <a:solidFill>
              <a:srgbClr val="D9D2BF"/>
            </a:solidFill>
            <a:prstDash val="solid"/>
          </a:ln>
        </p:spPr>
        <p:txBody>
          <a:bodyPr/>
          <a:p/>
        </p:txBody>
      </p:sp>
      <p:sp>
        <p:nvSpPr>
          <p:cNvPr id="55" name="Shape 53"/>
          <p:cNvSpPr/>
          <p:nvPr/>
        </p:nvSpPr>
        <p:spPr>
          <a:xfrm>
            <a:off x="3742097" y="3767658"/>
            <a:ext cx="5173191" cy="0"/>
          </a:xfrm>
          <a:prstGeom prst="line">
            <a:avLst/>
          </a:prstGeom>
          <a:noFill/>
          <a:ln w="7144">
            <a:solidFill>
              <a:srgbClr val="D9D2BF"/>
            </a:solidFill>
            <a:prstDash val="solid"/>
          </a:ln>
        </p:spPr>
        <p:txBody>
          <a:bodyPr/>
          <a:p/>
        </p:txBody>
      </p:sp>
      <p:sp>
        <p:nvSpPr>
          <p:cNvPr id="56" name="Shape 54"/>
          <p:cNvSpPr/>
          <p:nvPr/>
        </p:nvSpPr>
        <p:spPr>
          <a:xfrm>
            <a:off x="3756385" y="3342270"/>
            <a:ext cx="0" cy="428960"/>
          </a:xfrm>
          <a:prstGeom prst="line">
            <a:avLst/>
          </a:prstGeom>
          <a:noFill/>
          <a:ln w="28575">
            <a:solidFill>
              <a:srgbClr val="C7912C"/>
            </a:solidFill>
            <a:prstDash val="solid"/>
          </a:ln>
        </p:spPr>
        <p:txBody>
          <a:bodyPr/>
          <a:p/>
        </p:txBody>
      </p:sp>
      <p:sp>
        <p:nvSpPr>
          <p:cNvPr id="57" name="Text 55"/>
          <p:cNvSpPr/>
          <p:nvPr/>
        </p:nvSpPr>
        <p:spPr>
          <a:xfrm>
            <a:off x="3884972" y="3484811"/>
            <a:ext cx="251460" cy="169999"/>
          </a:xfrm>
          <a:prstGeom prst="rect">
            <a:avLst/>
          </a:prstGeom>
          <a:noFill/>
          <a:ln/>
        </p:spPr>
        <p:txBody>
          <a:bodyPr wrap="none" lIns="0" tIns="0" rIns="0" bIns="0" rtlCol="0" anchor="t"/>
          <a:lstStyle/>
          <a:p>
            <a:pPr algn="l" indent="0" marL="0">
              <a:lnSpc>
                <a:spcPts val="1133"/>
              </a:lnSpc>
              <a:buNone/>
            </a:pPr>
            <a:r>
              <a:rPr lang="en-US" sz="800" b="1" dirty="0">
                <a:solidFill>
                  <a:srgbClr val="9A6E1E"/>
                </a:solidFill>
                <a:latin typeface="Carlito" pitchFamily="34" charset="0"/>
                <a:ea typeface="Carlito" pitchFamily="34" charset="-122"/>
                <a:cs typeface="Carlito" pitchFamily="34" charset="-120"/>
              </a:rPr>
              <a:t>০৫</a:t>
            </a:r>
            <a:endParaRPr lang="en-US" sz="800" dirty="0"/>
          </a:p>
        </p:txBody>
      </p:sp>
      <p:sp>
        <p:nvSpPr>
          <p:cNvPr id="58" name="Text 56"/>
          <p:cNvSpPr/>
          <p:nvPr/>
        </p:nvSpPr>
        <p:spPr>
          <a:xfrm>
            <a:off x="4142147" y="3456682"/>
            <a:ext cx="200025" cy="200025"/>
          </a:xfrm>
          <a:prstGeom prst="ellipse">
            <a:avLst/>
          </a:prstGeom>
          <a:solidFill>
            <a:srgbClr val="1E4D3B"/>
          </a:solidFill>
          <a:ln/>
        </p:spPr>
        <p:txBody>
          <a:bodyPr wrap="square" rtlCol="0" anchor="ctr"/>
          <a:lstStyle/>
          <a:p>
            <a:pPr indent="0" marL="0">
              <a:buNone/>
            </a:pPr>
            <a:endParaRPr lang="en-US" dirty="0"/>
          </a:p>
        </p:txBody>
      </p:sp>
      <p:sp>
        <p:nvSpPr>
          <p:cNvPr id="59" name="Text 57"/>
          <p:cNvSpPr/>
          <p:nvPr/>
        </p:nvSpPr>
        <p:spPr>
          <a:xfrm>
            <a:off x="4148934" y="3463469"/>
            <a:ext cx="186452" cy="186452"/>
          </a:xfrm>
          <a:prstGeom prst="rect">
            <a:avLst/>
          </a:prstGeom>
          <a:noFill/>
          <a:ln/>
        </p:spPr>
        <p:txBody>
          <a:bodyPr wrap="none" lIns="0" tIns="0" rIns="0" bIns="0" rtlCol="0" anchor="ctr"/>
          <a:lstStyle/>
          <a:p>
            <a:pPr algn="ctr" indent="0" marL="0">
              <a:buNone/>
            </a:pPr>
            <a:r>
              <a:rPr lang="en-US" sz="1266" dirty="0">
                <a:solidFill>
                  <a:srgbClr val="FAF6EE"/>
                </a:solidFill>
                <a:latin typeface="Segoe UI Symbol" pitchFamily="34" charset="0"/>
                <a:ea typeface="Segoe UI Symbol" pitchFamily="34" charset="-122"/>
                <a:cs typeface="Segoe UI Symbol" pitchFamily="34" charset="-120"/>
              </a:rPr>
              <a:t>✓</a:t>
            </a:r>
            <a:endParaRPr lang="en-US" sz="1266" dirty="0"/>
          </a:p>
        </p:txBody>
      </p:sp>
      <p:sp>
        <p:nvSpPr>
          <p:cNvPr id="60" name="Text 58"/>
          <p:cNvSpPr/>
          <p:nvPr/>
        </p:nvSpPr>
        <p:spPr>
          <a:xfrm>
            <a:off x="4442185" y="3481685"/>
            <a:ext cx="4358804" cy="162141"/>
          </a:xfrm>
          <a:prstGeom prst="rect">
            <a:avLst/>
          </a:prstGeom>
          <a:noFill/>
          <a:ln/>
        </p:spPr>
        <p:txBody>
          <a:bodyPr wrap="square" lIns="0" tIns="0" rIns="0" bIns="0" rtlCol="0" anchor="t"/>
          <a:lstStyle/>
          <a:p>
            <a:pPr algn="l" indent="0" marL="0">
              <a:lnSpc>
                <a:spcPts val="1183"/>
              </a:lnSpc>
              <a:buNone/>
            </a:pPr>
            <a:r>
              <a:rPr lang="en-US" sz="816" b="1" dirty="0">
                <a:solidFill>
                  <a:srgbClr val="14342A"/>
                </a:solidFill>
                <a:latin typeface="Carlito" pitchFamily="34" charset="0"/>
                <a:ea typeface="Carlito" pitchFamily="34" charset="-122"/>
                <a:cs typeface="Carlito" pitchFamily="34" charset="-120"/>
              </a:rPr>
              <a:t>পৌরসভা/ইউনিয়ন পরিষদ</a:t>
            </a:r>
            <a:pPr algn="l" indent="0" marL="0">
              <a:lnSpc>
                <a:spcPts val="1183"/>
              </a:lnSpc>
              <a:buNone/>
            </a:pPr>
            <a:r>
              <a:rPr lang="en-US" sz="816" dirty="0">
                <a:solidFill>
                  <a:srgbClr val="1A1A1A"/>
                </a:solidFill>
                <a:latin typeface="Carlito" pitchFamily="34" charset="0"/>
                <a:ea typeface="Carlito" pitchFamily="34" charset="-122"/>
                <a:cs typeface="Carlito" pitchFamily="34" charset="-120"/>
              </a:rPr>
              <a:t>ের বাণিজ্যিক লাইসেন্স</a:t>
            </a:r>
            <a:endParaRPr lang="en-US" sz="816" dirty="0"/>
          </a:p>
        </p:txBody>
      </p:sp>
      <p:sp>
        <p:nvSpPr>
          <p:cNvPr id="61" name="Text 59"/>
          <p:cNvSpPr/>
          <p:nvPr/>
        </p:nvSpPr>
        <p:spPr>
          <a:xfrm>
            <a:off x="3742097" y="3828380"/>
            <a:ext cx="5173191" cy="428960"/>
          </a:xfrm>
          <a:prstGeom prst="roundRect">
            <a:avLst>
              <a:gd name="adj" fmla="val 22205"/>
            </a:avLst>
          </a:prstGeom>
          <a:solidFill>
            <a:srgbClr val="FFFFFF"/>
          </a:solidFill>
          <a:ln/>
        </p:spPr>
        <p:txBody>
          <a:bodyPr wrap="square" rtlCol="0" anchor="ctr"/>
          <a:lstStyle/>
          <a:p>
            <a:pPr indent="0" marL="0">
              <a:buNone/>
            </a:pPr>
            <a:endParaRPr lang="en-US" dirty="0"/>
          </a:p>
        </p:txBody>
      </p:sp>
      <p:sp>
        <p:nvSpPr>
          <p:cNvPr id="62" name="Shape 60"/>
          <p:cNvSpPr/>
          <p:nvPr/>
        </p:nvSpPr>
        <p:spPr>
          <a:xfrm>
            <a:off x="3742097" y="3831952"/>
            <a:ext cx="5173191" cy="0"/>
          </a:xfrm>
          <a:prstGeom prst="line">
            <a:avLst/>
          </a:prstGeom>
          <a:noFill/>
          <a:ln w="7144">
            <a:solidFill>
              <a:srgbClr val="D9D2BF"/>
            </a:solidFill>
            <a:prstDash val="solid"/>
          </a:ln>
        </p:spPr>
        <p:txBody>
          <a:bodyPr/>
          <a:p/>
        </p:txBody>
      </p:sp>
      <p:sp>
        <p:nvSpPr>
          <p:cNvPr id="63" name="Shape 61"/>
          <p:cNvSpPr/>
          <p:nvPr/>
        </p:nvSpPr>
        <p:spPr>
          <a:xfrm>
            <a:off x="8911717" y="3828380"/>
            <a:ext cx="0" cy="428960"/>
          </a:xfrm>
          <a:prstGeom prst="line">
            <a:avLst/>
          </a:prstGeom>
          <a:noFill/>
          <a:ln w="7144">
            <a:solidFill>
              <a:srgbClr val="D9D2BF"/>
            </a:solidFill>
            <a:prstDash val="solid"/>
          </a:ln>
        </p:spPr>
        <p:txBody>
          <a:bodyPr/>
          <a:p/>
        </p:txBody>
      </p:sp>
      <p:sp>
        <p:nvSpPr>
          <p:cNvPr id="64" name="Shape 62"/>
          <p:cNvSpPr/>
          <p:nvPr/>
        </p:nvSpPr>
        <p:spPr>
          <a:xfrm>
            <a:off x="3742097" y="4253768"/>
            <a:ext cx="5173191" cy="0"/>
          </a:xfrm>
          <a:prstGeom prst="line">
            <a:avLst/>
          </a:prstGeom>
          <a:noFill/>
          <a:ln w="7144">
            <a:solidFill>
              <a:srgbClr val="D9D2BF"/>
            </a:solidFill>
            <a:prstDash val="solid"/>
          </a:ln>
        </p:spPr>
        <p:txBody>
          <a:bodyPr/>
          <a:p/>
        </p:txBody>
      </p:sp>
      <p:sp>
        <p:nvSpPr>
          <p:cNvPr id="65" name="Shape 63"/>
          <p:cNvSpPr/>
          <p:nvPr/>
        </p:nvSpPr>
        <p:spPr>
          <a:xfrm>
            <a:off x="3756385" y="3828380"/>
            <a:ext cx="0" cy="428960"/>
          </a:xfrm>
          <a:prstGeom prst="line">
            <a:avLst/>
          </a:prstGeom>
          <a:noFill/>
          <a:ln w="28575">
            <a:solidFill>
              <a:srgbClr val="C7912C"/>
            </a:solidFill>
            <a:prstDash val="solid"/>
          </a:ln>
        </p:spPr>
        <p:txBody>
          <a:bodyPr/>
          <a:p/>
        </p:txBody>
      </p:sp>
      <p:sp>
        <p:nvSpPr>
          <p:cNvPr id="66" name="Text 64"/>
          <p:cNvSpPr/>
          <p:nvPr/>
        </p:nvSpPr>
        <p:spPr>
          <a:xfrm>
            <a:off x="3884972" y="3970920"/>
            <a:ext cx="251460" cy="169999"/>
          </a:xfrm>
          <a:prstGeom prst="rect">
            <a:avLst/>
          </a:prstGeom>
          <a:noFill/>
          <a:ln/>
        </p:spPr>
        <p:txBody>
          <a:bodyPr wrap="none" lIns="0" tIns="0" rIns="0" bIns="0" rtlCol="0" anchor="t"/>
          <a:lstStyle/>
          <a:p>
            <a:pPr algn="l" indent="0" marL="0">
              <a:lnSpc>
                <a:spcPts val="1133"/>
              </a:lnSpc>
              <a:buNone/>
            </a:pPr>
            <a:r>
              <a:rPr lang="en-US" sz="800" b="1" dirty="0">
                <a:solidFill>
                  <a:srgbClr val="9A6E1E"/>
                </a:solidFill>
                <a:latin typeface="Carlito" pitchFamily="34" charset="0"/>
                <a:ea typeface="Carlito" pitchFamily="34" charset="-122"/>
                <a:cs typeface="Carlito" pitchFamily="34" charset="-120"/>
              </a:rPr>
              <a:t>০৬</a:t>
            </a:r>
            <a:endParaRPr lang="en-US" sz="800" dirty="0"/>
          </a:p>
        </p:txBody>
      </p:sp>
      <p:sp>
        <p:nvSpPr>
          <p:cNvPr id="67" name="Text 65"/>
          <p:cNvSpPr/>
          <p:nvPr/>
        </p:nvSpPr>
        <p:spPr>
          <a:xfrm>
            <a:off x="4142147" y="3942792"/>
            <a:ext cx="200025" cy="200025"/>
          </a:xfrm>
          <a:prstGeom prst="ellipse">
            <a:avLst/>
          </a:prstGeom>
          <a:solidFill>
            <a:srgbClr val="1E4D3B"/>
          </a:solidFill>
          <a:ln/>
        </p:spPr>
        <p:txBody>
          <a:bodyPr wrap="square" rtlCol="0" anchor="ctr"/>
          <a:lstStyle/>
          <a:p>
            <a:pPr indent="0" marL="0">
              <a:buNone/>
            </a:pPr>
            <a:endParaRPr lang="en-US" dirty="0"/>
          </a:p>
        </p:txBody>
      </p:sp>
      <p:sp>
        <p:nvSpPr>
          <p:cNvPr id="68" name="Text 66"/>
          <p:cNvSpPr/>
          <p:nvPr/>
        </p:nvSpPr>
        <p:spPr>
          <a:xfrm>
            <a:off x="4148934" y="3949578"/>
            <a:ext cx="186452" cy="186452"/>
          </a:xfrm>
          <a:prstGeom prst="rect">
            <a:avLst/>
          </a:prstGeom>
          <a:noFill/>
          <a:ln/>
        </p:spPr>
        <p:txBody>
          <a:bodyPr wrap="none" lIns="0" tIns="0" rIns="0" bIns="0" rtlCol="0" anchor="ctr"/>
          <a:lstStyle/>
          <a:p>
            <a:pPr algn="ctr" indent="0" marL="0">
              <a:buNone/>
            </a:pPr>
            <a:r>
              <a:rPr lang="en-US" sz="1266" dirty="0">
                <a:solidFill>
                  <a:srgbClr val="FAF6EE"/>
                </a:solidFill>
                <a:latin typeface="Segoe UI Symbol" pitchFamily="34" charset="0"/>
                <a:ea typeface="Segoe UI Symbol" pitchFamily="34" charset="-122"/>
                <a:cs typeface="Segoe UI Symbol" pitchFamily="34" charset="-120"/>
              </a:rPr>
              <a:t>✓</a:t>
            </a:r>
            <a:endParaRPr lang="en-US" sz="1266" dirty="0"/>
          </a:p>
        </p:txBody>
      </p:sp>
      <p:sp>
        <p:nvSpPr>
          <p:cNvPr id="69" name="Text 67"/>
          <p:cNvSpPr/>
          <p:nvPr/>
        </p:nvSpPr>
        <p:spPr>
          <a:xfrm>
            <a:off x="4442185" y="3967795"/>
            <a:ext cx="4358804" cy="162141"/>
          </a:xfrm>
          <a:prstGeom prst="rect">
            <a:avLst/>
          </a:prstGeom>
          <a:noFill/>
          <a:ln/>
        </p:spPr>
        <p:txBody>
          <a:bodyPr wrap="square" lIns="0" tIns="0" rIns="0" bIns="0" rtlCol="0" anchor="t"/>
          <a:lstStyle/>
          <a:p>
            <a:pPr algn="l" indent="0" marL="0">
              <a:lnSpc>
                <a:spcPts val="1183"/>
              </a:lnSpc>
              <a:buNone/>
            </a:pPr>
            <a:r>
              <a:rPr lang="en-US" sz="816" b="1" dirty="0">
                <a:solidFill>
                  <a:srgbClr val="14342A"/>
                </a:solidFill>
                <a:latin typeface="Carlito" pitchFamily="34" charset="0"/>
                <a:ea typeface="Carlito" pitchFamily="34" charset="-122"/>
                <a:cs typeface="Carlito" pitchFamily="34" charset="-120"/>
              </a:rPr>
              <a:t>পূর্ববর্তী আইনি লঙ্ঘন</a:t>
            </a:r>
            <a:pPr algn="l" indent="0" marL="0">
              <a:lnSpc>
                <a:spcPts val="1183"/>
              </a:lnSpc>
              <a:buNone/>
            </a:pPr>
            <a:r>
              <a:rPr lang="en-US" sz="816" dirty="0">
                <a:solidFill>
                  <a:srgbClr val="1A1A1A"/>
                </a:solidFill>
                <a:latin typeface="Carlito" pitchFamily="34" charset="0"/>
                <a:ea typeface="Carlito" pitchFamily="34" charset="-122"/>
                <a:cs typeface="Carlito" pitchFamily="34" charset="-120"/>
              </a:rPr>
              <a:t>ের রেকর্ড নেই</a:t>
            </a:r>
            <a:endParaRPr lang="en-US" sz="816" dirty="0"/>
          </a:p>
        </p:txBody>
      </p:sp>
      <p:sp>
        <p:nvSpPr>
          <p:cNvPr id="70" name="Text 68"/>
          <p:cNvSpPr/>
          <p:nvPr/>
        </p:nvSpPr>
        <p:spPr>
          <a:xfrm>
            <a:off x="3742097" y="4314490"/>
            <a:ext cx="5173191" cy="428960"/>
          </a:xfrm>
          <a:prstGeom prst="roundRect">
            <a:avLst>
              <a:gd name="adj" fmla="val 22205"/>
            </a:avLst>
          </a:prstGeom>
          <a:solidFill>
            <a:srgbClr val="FFFFFF"/>
          </a:solidFill>
          <a:ln/>
        </p:spPr>
        <p:txBody>
          <a:bodyPr wrap="square" rtlCol="0" anchor="ctr"/>
          <a:lstStyle/>
          <a:p>
            <a:pPr indent="0" marL="0">
              <a:buNone/>
            </a:pPr>
            <a:endParaRPr lang="en-US" dirty="0"/>
          </a:p>
        </p:txBody>
      </p:sp>
      <p:sp>
        <p:nvSpPr>
          <p:cNvPr id="71" name="Shape 69"/>
          <p:cNvSpPr/>
          <p:nvPr/>
        </p:nvSpPr>
        <p:spPr>
          <a:xfrm>
            <a:off x="3742097" y="4318062"/>
            <a:ext cx="5173191" cy="0"/>
          </a:xfrm>
          <a:prstGeom prst="line">
            <a:avLst/>
          </a:prstGeom>
          <a:noFill/>
          <a:ln w="7144">
            <a:solidFill>
              <a:srgbClr val="D9D2BF"/>
            </a:solidFill>
            <a:prstDash val="solid"/>
          </a:ln>
        </p:spPr>
        <p:txBody>
          <a:bodyPr/>
          <a:p/>
        </p:txBody>
      </p:sp>
      <p:sp>
        <p:nvSpPr>
          <p:cNvPr id="72" name="Shape 70"/>
          <p:cNvSpPr/>
          <p:nvPr/>
        </p:nvSpPr>
        <p:spPr>
          <a:xfrm>
            <a:off x="8911717" y="4314490"/>
            <a:ext cx="0" cy="428960"/>
          </a:xfrm>
          <a:prstGeom prst="line">
            <a:avLst/>
          </a:prstGeom>
          <a:noFill/>
          <a:ln w="7144">
            <a:solidFill>
              <a:srgbClr val="D9D2BF"/>
            </a:solidFill>
            <a:prstDash val="solid"/>
          </a:ln>
        </p:spPr>
        <p:txBody>
          <a:bodyPr/>
          <a:p/>
        </p:txBody>
      </p:sp>
      <p:sp>
        <p:nvSpPr>
          <p:cNvPr id="73" name="Shape 71"/>
          <p:cNvSpPr/>
          <p:nvPr/>
        </p:nvSpPr>
        <p:spPr>
          <a:xfrm>
            <a:off x="3742097" y="4739878"/>
            <a:ext cx="5173191" cy="0"/>
          </a:xfrm>
          <a:prstGeom prst="line">
            <a:avLst/>
          </a:prstGeom>
          <a:noFill/>
          <a:ln w="7144">
            <a:solidFill>
              <a:srgbClr val="D9D2BF"/>
            </a:solidFill>
            <a:prstDash val="solid"/>
          </a:ln>
        </p:spPr>
        <p:txBody>
          <a:bodyPr/>
          <a:p/>
        </p:txBody>
      </p:sp>
      <p:sp>
        <p:nvSpPr>
          <p:cNvPr id="74" name="Shape 72"/>
          <p:cNvSpPr/>
          <p:nvPr/>
        </p:nvSpPr>
        <p:spPr>
          <a:xfrm>
            <a:off x="3756385" y="4314490"/>
            <a:ext cx="0" cy="428960"/>
          </a:xfrm>
          <a:prstGeom prst="line">
            <a:avLst/>
          </a:prstGeom>
          <a:noFill/>
          <a:ln w="28575">
            <a:solidFill>
              <a:srgbClr val="C7912C"/>
            </a:solidFill>
            <a:prstDash val="solid"/>
          </a:ln>
        </p:spPr>
        <p:txBody>
          <a:bodyPr/>
          <a:p/>
        </p:txBody>
      </p:sp>
      <p:sp>
        <p:nvSpPr>
          <p:cNvPr id="75" name="Text 73"/>
          <p:cNvSpPr/>
          <p:nvPr/>
        </p:nvSpPr>
        <p:spPr>
          <a:xfrm>
            <a:off x="3884972" y="4457030"/>
            <a:ext cx="251460" cy="169999"/>
          </a:xfrm>
          <a:prstGeom prst="rect">
            <a:avLst/>
          </a:prstGeom>
          <a:noFill/>
          <a:ln/>
        </p:spPr>
        <p:txBody>
          <a:bodyPr wrap="none" lIns="0" tIns="0" rIns="0" bIns="0" rtlCol="0" anchor="t"/>
          <a:lstStyle/>
          <a:p>
            <a:pPr algn="l" indent="0" marL="0">
              <a:lnSpc>
                <a:spcPts val="1133"/>
              </a:lnSpc>
              <a:buNone/>
            </a:pPr>
            <a:r>
              <a:rPr lang="en-US" sz="800" b="1" dirty="0">
                <a:solidFill>
                  <a:srgbClr val="9A6E1E"/>
                </a:solidFill>
                <a:latin typeface="Carlito" pitchFamily="34" charset="0"/>
                <a:ea typeface="Carlito" pitchFamily="34" charset="-122"/>
                <a:cs typeface="Carlito" pitchFamily="34" charset="-120"/>
              </a:rPr>
              <a:t>০৭</a:t>
            </a:r>
            <a:endParaRPr lang="en-US" sz="800" dirty="0"/>
          </a:p>
        </p:txBody>
      </p:sp>
      <p:sp>
        <p:nvSpPr>
          <p:cNvPr id="76" name="Text 74"/>
          <p:cNvSpPr/>
          <p:nvPr/>
        </p:nvSpPr>
        <p:spPr>
          <a:xfrm>
            <a:off x="4142147" y="4428902"/>
            <a:ext cx="200025" cy="200025"/>
          </a:xfrm>
          <a:prstGeom prst="ellipse">
            <a:avLst/>
          </a:prstGeom>
          <a:solidFill>
            <a:srgbClr val="1E4D3B"/>
          </a:solidFill>
          <a:ln/>
        </p:spPr>
        <p:txBody>
          <a:bodyPr wrap="square" rtlCol="0" anchor="ctr"/>
          <a:lstStyle/>
          <a:p>
            <a:pPr indent="0" marL="0">
              <a:buNone/>
            </a:pPr>
            <a:endParaRPr lang="en-US" dirty="0"/>
          </a:p>
        </p:txBody>
      </p:sp>
      <p:sp>
        <p:nvSpPr>
          <p:cNvPr id="77" name="Text 75"/>
          <p:cNvSpPr/>
          <p:nvPr/>
        </p:nvSpPr>
        <p:spPr>
          <a:xfrm>
            <a:off x="4148934" y="4435688"/>
            <a:ext cx="186452" cy="186452"/>
          </a:xfrm>
          <a:prstGeom prst="rect">
            <a:avLst/>
          </a:prstGeom>
          <a:noFill/>
          <a:ln/>
        </p:spPr>
        <p:txBody>
          <a:bodyPr wrap="none" lIns="0" tIns="0" rIns="0" bIns="0" rtlCol="0" anchor="ctr"/>
          <a:lstStyle/>
          <a:p>
            <a:pPr algn="ctr" indent="0" marL="0">
              <a:buNone/>
            </a:pPr>
            <a:r>
              <a:rPr lang="en-US" sz="1266" dirty="0">
                <a:solidFill>
                  <a:srgbClr val="FAF6EE"/>
                </a:solidFill>
                <a:latin typeface="Segoe UI Symbol" pitchFamily="34" charset="0"/>
                <a:ea typeface="Segoe UI Symbol" pitchFamily="34" charset="-122"/>
                <a:cs typeface="Segoe UI Symbol" pitchFamily="34" charset="-120"/>
              </a:rPr>
              <a:t>✓</a:t>
            </a:r>
            <a:endParaRPr lang="en-US" sz="1266" dirty="0"/>
          </a:p>
        </p:txBody>
      </p:sp>
      <p:sp>
        <p:nvSpPr>
          <p:cNvPr id="78" name="Text 76"/>
          <p:cNvSpPr/>
          <p:nvPr/>
        </p:nvSpPr>
        <p:spPr>
          <a:xfrm>
            <a:off x="4442185" y="4453905"/>
            <a:ext cx="4358804" cy="162141"/>
          </a:xfrm>
          <a:prstGeom prst="rect">
            <a:avLst/>
          </a:prstGeom>
          <a:noFill/>
          <a:ln/>
        </p:spPr>
        <p:txBody>
          <a:bodyPr wrap="square" lIns="0" tIns="0" rIns="0" bIns="0" rtlCol="0" anchor="t"/>
          <a:lstStyle/>
          <a:p>
            <a:pPr algn="l" indent="0" marL="0">
              <a:lnSpc>
                <a:spcPts val="1183"/>
              </a:lnSpc>
              <a:buNone/>
            </a:pPr>
            <a:r>
              <a:rPr lang="en-US" sz="816" b="1" dirty="0">
                <a:solidFill>
                  <a:srgbClr val="14342A"/>
                </a:solidFill>
                <a:latin typeface="Carlito" pitchFamily="34" charset="0"/>
                <a:ea typeface="Carlito" pitchFamily="34" charset="-122"/>
                <a:cs typeface="Carlito" pitchFamily="34" charset="-120"/>
              </a:rPr>
              <a:t>নবায়ন</a:t>
            </a:r>
            <a:pPr algn="l" indent="0" marL="0">
              <a:lnSpc>
                <a:spcPts val="1183"/>
              </a:lnSpc>
              <a:buNone/>
            </a:pPr>
            <a:r>
              <a:rPr lang="en-US" sz="816" dirty="0">
                <a:solidFill>
                  <a:srgbClr val="1A1A1A"/>
                </a:solidFill>
                <a:latin typeface="Carlito" pitchFamily="34" charset="0"/>
                <a:ea typeface="Carlito" pitchFamily="34" charset="-122"/>
                <a:cs typeface="Carlito" pitchFamily="34" charset="-120"/>
              </a:rPr>
              <a:t> প্রতি ২ বছর অন্তর বাধ্যতামূলক</a:t>
            </a:r>
            <a:endParaRPr lang="en-US" sz="816" dirty="0"/>
          </a:p>
        </p:txBody>
      </p:sp>
      <p:pic>
        <p:nvPicPr>
          <p:cNvPr id="79" name="Image 0" descr="preencoded.png">    </p:cNvPr>
          <p:cNvPicPr>
            <a:picLocks noChangeAspect="1"/>
          </p:cNvPicPr>
          <p:nvPr/>
        </p:nvPicPr>
        <p:blipFill>
          <a:blip r:embed="rId1"/>
          <a:stretch>
            <a:fillRect/>
          </a:stretch>
        </p:blipFill>
        <p:spPr>
          <a:xfrm>
            <a:off x="0" y="5100638"/>
            <a:ext cx="9144000" cy="42863"/>
          </a:xfrm>
          <a:prstGeom prst="rect">
            <a:avLst/>
          </a:prstGeom>
        </p:spPr>
      </p:pic>
      <p:sp>
        <p:nvSpPr>
          <p:cNvPr id="80" name="Text 77"/>
          <p:cNvSpPr/>
          <p:nvPr/>
        </p:nvSpPr>
        <p:spPr>
          <a:xfrm>
            <a:off x="8709013" y="4706392"/>
            <a:ext cx="28450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১৬</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6319647" y="-285750"/>
            <a:ext cx="2824353" cy="2160270"/>
          </a:xfrm>
          <a:prstGeom prst="rect">
            <a:avLst/>
          </a:prstGeom>
          <a:noFill/>
          <a:ln/>
        </p:spPr>
        <p:txBody>
          <a:bodyPr wrap="none" lIns="0" tIns="0" rIns="0" bIns="0" rtlCol="0" anchor="t"/>
          <a:lstStyle/>
          <a:p>
            <a:pPr algn="l" indent="0" marL="0">
              <a:lnSpc>
                <a:spcPts val="15750"/>
              </a:lnSpc>
              <a:buNone/>
            </a:pPr>
            <a:r>
              <a:rPr lang="en-US" sz="15750" b="1" spc="-630" kern="0" dirty="0">
                <a:solidFill>
                  <a:srgbClr val="1E4D3B">
                    <a:alpha val="4000"/>
                  </a:srgbClr>
                </a:solidFill>
                <a:latin typeface="Carlito" pitchFamily="34" charset="0"/>
                <a:ea typeface="Carlito" pitchFamily="34" charset="-122"/>
                <a:cs typeface="Carlito" pitchFamily="34" charset="-120"/>
              </a:rPr>
              <a:t>২৫</a:t>
            </a:r>
            <a:endParaRPr lang="en-US" sz="15750" dirty="0"/>
          </a:p>
        </p:txBody>
      </p:sp>
      <p:sp>
        <p:nvSpPr>
          <p:cNvPr id="3" name="Text 1"/>
          <p:cNvSpPr/>
          <p:nvPr/>
        </p:nvSpPr>
        <p:spPr>
          <a:xfrm>
            <a:off x="457200" y="474390"/>
            <a:ext cx="3746398"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০৩ · বালাইনাশক আইন, ২০১৮</a:t>
            </a:r>
            <a:endParaRPr lang="en-US" sz="1350" dirty="0"/>
          </a:p>
        </p:txBody>
      </p:sp>
      <p:sp>
        <p:nvSpPr>
          <p:cNvPr id="4" name="Text 2"/>
          <p:cNvSpPr/>
          <p:nvPr/>
        </p:nvSpPr>
        <p:spPr>
          <a:xfrm>
            <a:off x="457200" y="840060"/>
            <a:ext cx="8636000" cy="509809"/>
          </a:xfrm>
          <a:prstGeom prst="rect">
            <a:avLst/>
          </a:prstGeom>
          <a:noFill/>
          <a:ln/>
        </p:spPr>
        <p:txBody>
          <a:bodyPr wrap="square" lIns="0" tIns="0" rIns="0" bIns="0" rtlCol="0" anchor="t"/>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MRP — সর্বোচ্চ খুচরা মূল্য নির্ধারণ</a:t>
            </a:r>
            <a:endParaRPr lang="en-US" sz="3150" dirty="0"/>
          </a:p>
        </p:txBody>
      </p:sp>
      <p:sp>
        <p:nvSpPr>
          <p:cNvPr id="5" name="Shape 3"/>
          <p:cNvSpPr/>
          <p:nvPr/>
        </p:nvSpPr>
        <p:spPr>
          <a:xfrm>
            <a:off x="457200" y="1422834"/>
            <a:ext cx="400050" cy="0"/>
          </a:xfrm>
          <a:prstGeom prst="line">
            <a:avLst/>
          </a:prstGeom>
          <a:noFill/>
          <a:ln w="7144">
            <a:solidFill>
              <a:srgbClr val="1A1A1A"/>
            </a:solidFill>
            <a:prstDash val="solid"/>
          </a:ln>
        </p:spPr>
        <p:txBody>
          <a:bodyPr/>
          <a:p/>
        </p:txBody>
      </p:sp>
      <p:sp>
        <p:nvSpPr>
          <p:cNvPr id="6" name="Text 4"/>
          <p:cNvSpPr/>
          <p:nvPr/>
        </p:nvSpPr>
        <p:spPr>
          <a:xfrm>
            <a:off x="457200" y="1428750"/>
            <a:ext cx="8229600" cy="1088194"/>
          </a:xfrm>
          <a:prstGeom prst="roundRect">
            <a:avLst>
              <a:gd name="adj" fmla="val 12254"/>
            </a:avLst>
          </a:prstGeom>
          <a:solidFill>
            <a:srgbClr val="1E4D3B"/>
          </a:solidFill>
          <a:ln/>
        </p:spPr>
        <p:txBody>
          <a:bodyPr wrap="square" rtlCol="0" anchor="ctr"/>
          <a:lstStyle/>
          <a:p>
            <a:pPr indent="0" marL="0">
              <a:buNone/>
            </a:pPr>
            <a:endParaRPr lang="en-US" dirty="0"/>
          </a:p>
        </p:txBody>
      </p:sp>
      <p:sp>
        <p:nvSpPr>
          <p:cNvPr id="7" name="Shape 5"/>
          <p:cNvSpPr/>
          <p:nvPr/>
        </p:nvSpPr>
        <p:spPr>
          <a:xfrm>
            <a:off x="471488" y="1428750"/>
            <a:ext cx="0" cy="1088194"/>
          </a:xfrm>
          <a:prstGeom prst="line">
            <a:avLst/>
          </a:prstGeom>
          <a:noFill/>
          <a:ln w="28575">
            <a:solidFill>
              <a:srgbClr val="C7912C"/>
            </a:solidFill>
            <a:prstDash val="solid"/>
          </a:ln>
        </p:spPr>
        <p:txBody>
          <a:bodyPr/>
          <a:p/>
        </p:txBody>
      </p:sp>
      <p:sp>
        <p:nvSpPr>
          <p:cNvPr id="8" name="Text 6"/>
          <p:cNvSpPr/>
          <p:nvPr/>
        </p:nvSpPr>
        <p:spPr>
          <a:xfrm>
            <a:off x="714375" y="1628775"/>
            <a:ext cx="300038" cy="300038"/>
          </a:xfrm>
          <a:prstGeom prst="rect">
            <a:avLst/>
          </a:prstGeom>
          <a:noFill/>
          <a:ln/>
        </p:spPr>
        <p:txBody>
          <a:bodyPr wrap="none" lIns="0" tIns="0" rIns="0" bIns="0" rtlCol="0" anchor="ctr"/>
          <a:lstStyle/>
          <a:p>
            <a:pPr algn="ctr" indent="0" marL="0">
              <a:buNone/>
            </a:pPr>
            <a:r>
              <a:rPr lang="en-US" sz="2953" dirty="0">
                <a:solidFill>
                  <a:srgbClr val="C7912C"/>
                </a:solidFill>
                <a:latin typeface="Segoe UI Symbol" pitchFamily="34" charset="0"/>
                <a:ea typeface="Segoe UI Symbol" pitchFamily="34" charset="-122"/>
                <a:cs typeface="Segoe UI Symbol" pitchFamily="34" charset="-120"/>
              </a:rPr>
              <a:t>✓</a:t>
            </a:r>
            <a:endParaRPr lang="en-US" sz="2953" dirty="0"/>
          </a:p>
        </p:txBody>
      </p:sp>
      <p:sp>
        <p:nvSpPr>
          <p:cNvPr id="9" name="Text 7"/>
          <p:cNvSpPr/>
          <p:nvPr/>
        </p:nvSpPr>
        <p:spPr>
          <a:xfrm>
            <a:off x="1143000" y="1628775"/>
            <a:ext cx="7315200" cy="169999"/>
          </a:xfrm>
          <a:prstGeom prst="rect">
            <a:avLst/>
          </a:prstGeom>
          <a:noFill/>
          <a:ln/>
        </p:spPr>
        <p:txBody>
          <a:bodyPr wrap="none" lIns="0" tIns="0" rIns="0" bIns="0" rtlCol="0" anchor="t"/>
          <a:lstStyle/>
          <a:p>
            <a:pPr algn="l" indent="0" marL="0">
              <a:lnSpc>
                <a:spcPts val="1133"/>
              </a:lnSpc>
              <a:buNone/>
            </a:pPr>
            <a:r>
              <a:rPr lang="en-US" sz="800" spc="132" kern="0" dirty="0">
                <a:solidFill>
                  <a:srgbClr val="C7912C"/>
                </a:solidFill>
                <a:latin typeface="Carlito" pitchFamily="34" charset="0"/>
                <a:ea typeface="Carlito" pitchFamily="34" charset="-122"/>
                <a:cs typeface="Carlito" pitchFamily="34" charset="-120"/>
              </a:rPr>
              <a:t>মূল বার্তা · ধারা ২৫</a:t>
            </a:r>
            <a:endParaRPr lang="en-US" sz="800" dirty="0"/>
          </a:p>
        </p:txBody>
      </p:sp>
      <p:sp>
        <p:nvSpPr>
          <p:cNvPr id="10" name="Text 8"/>
          <p:cNvSpPr/>
          <p:nvPr/>
        </p:nvSpPr>
        <p:spPr>
          <a:xfrm>
            <a:off x="1143000" y="1829805"/>
            <a:ext cx="7315200" cy="487114"/>
          </a:xfrm>
          <a:prstGeom prst="rect">
            <a:avLst/>
          </a:prstGeom>
          <a:noFill/>
          <a:ln/>
        </p:spPr>
        <p:txBody>
          <a:bodyPr wrap="square" lIns="0" tIns="0" rIns="0" bIns="0" rtlCol="0" anchor="t"/>
          <a:lstStyle/>
          <a:p>
            <a:pPr algn="l" indent="0" marL="0">
              <a:lnSpc>
                <a:spcPts val="1918"/>
              </a:lnSpc>
              <a:buNone/>
            </a:pPr>
            <a:r>
              <a:rPr lang="en-US" sz="1238" dirty="0">
                <a:solidFill>
                  <a:srgbClr val="FAF6EE"/>
                </a:solidFill>
                <a:latin typeface="Tinos" pitchFamily="34" charset="0"/>
                <a:ea typeface="Tinos" pitchFamily="34" charset="-122"/>
                <a:cs typeface="Tinos" pitchFamily="34" charset="-120"/>
              </a:rPr>
              <a:t>প্রতিটি বালাইনাশক পণ্যের গায়ে </a:t>
            </a:r>
            <a:pPr algn="l" indent="0" marL="0">
              <a:lnSpc>
                <a:spcPts val="1918"/>
              </a:lnSpc>
              <a:buNone/>
            </a:pPr>
            <a:r>
              <a:rPr lang="en-US" sz="1238" b="1" dirty="0">
                <a:solidFill>
                  <a:srgbClr val="E0B659"/>
                </a:solidFill>
                <a:latin typeface="Tinos" pitchFamily="34" charset="0"/>
                <a:ea typeface="Tinos" pitchFamily="34" charset="-122"/>
                <a:cs typeface="Tinos" pitchFamily="34" charset="-120"/>
              </a:rPr>
              <a:t>MRP মুদ্রণ বাধ্যতামূলক</a:t>
            </a:r>
            <a:pPr algn="l" indent="0" marL="0">
              <a:lnSpc>
                <a:spcPts val="1918"/>
              </a:lnSpc>
              <a:buNone/>
            </a:pPr>
            <a:r>
              <a:rPr lang="en-US" sz="1238" dirty="0">
                <a:solidFill>
                  <a:srgbClr val="FAF6EE"/>
                </a:solidFill>
                <a:latin typeface="Tinos" pitchFamily="34" charset="0"/>
                <a:ea typeface="Tinos" pitchFamily="34" charset="-122"/>
                <a:cs typeface="Tinos" pitchFamily="34" charset="-120"/>
              </a:rPr>
              <a:t> — সরকার নির্ধারিত মূল্যের চেয়ে বেশি বিক্রি আইনত দণ্ডনীয় (ধারা ২৫)। প্রতি ৬ মাসে সরকার মূল্য তালিকা প্রকাশ করে।</a:t>
            </a:r>
            <a:endParaRPr lang="en-US" sz="1238" dirty="0"/>
          </a:p>
        </p:txBody>
      </p:sp>
      <p:sp>
        <p:nvSpPr>
          <p:cNvPr id="11" name="Text 9"/>
          <p:cNvSpPr/>
          <p:nvPr/>
        </p:nvSpPr>
        <p:spPr>
          <a:xfrm>
            <a:off x="457200" y="3909640"/>
            <a:ext cx="2657475" cy="705222"/>
          </a:xfrm>
          <a:prstGeom prst="roundRect">
            <a:avLst>
              <a:gd name="adj" fmla="val 18909"/>
            </a:avLst>
          </a:prstGeom>
          <a:solidFill>
            <a:srgbClr val="FFFFFF"/>
          </a:solidFill>
          <a:ln/>
        </p:spPr>
        <p:txBody>
          <a:bodyPr wrap="square" rtlCol="0" anchor="ctr"/>
          <a:lstStyle/>
          <a:p>
            <a:pPr indent="0" marL="0">
              <a:buNone/>
            </a:pPr>
            <a:endParaRPr lang="en-US" dirty="0"/>
          </a:p>
        </p:txBody>
      </p:sp>
      <p:sp>
        <p:nvSpPr>
          <p:cNvPr id="12" name="Shape 10"/>
          <p:cNvSpPr/>
          <p:nvPr/>
        </p:nvSpPr>
        <p:spPr>
          <a:xfrm>
            <a:off x="457200" y="3913212"/>
            <a:ext cx="2657475" cy="0"/>
          </a:xfrm>
          <a:prstGeom prst="line">
            <a:avLst/>
          </a:prstGeom>
          <a:noFill/>
          <a:ln w="7144">
            <a:solidFill>
              <a:srgbClr val="D9D2BF"/>
            </a:solidFill>
            <a:prstDash val="solid"/>
          </a:ln>
        </p:spPr>
        <p:txBody>
          <a:bodyPr/>
          <a:p/>
        </p:txBody>
      </p:sp>
      <p:sp>
        <p:nvSpPr>
          <p:cNvPr id="13" name="Shape 11"/>
          <p:cNvSpPr/>
          <p:nvPr/>
        </p:nvSpPr>
        <p:spPr>
          <a:xfrm>
            <a:off x="3111103" y="3909640"/>
            <a:ext cx="0" cy="705222"/>
          </a:xfrm>
          <a:prstGeom prst="line">
            <a:avLst/>
          </a:prstGeom>
          <a:noFill/>
          <a:ln w="7144">
            <a:solidFill>
              <a:srgbClr val="D9D2BF"/>
            </a:solidFill>
            <a:prstDash val="solid"/>
          </a:ln>
        </p:spPr>
        <p:txBody>
          <a:bodyPr/>
          <a:p/>
        </p:txBody>
      </p:sp>
      <p:sp>
        <p:nvSpPr>
          <p:cNvPr id="14" name="Shape 12"/>
          <p:cNvSpPr/>
          <p:nvPr/>
        </p:nvSpPr>
        <p:spPr>
          <a:xfrm>
            <a:off x="457200" y="4611291"/>
            <a:ext cx="2657475" cy="0"/>
          </a:xfrm>
          <a:prstGeom prst="line">
            <a:avLst/>
          </a:prstGeom>
          <a:noFill/>
          <a:ln w="7144">
            <a:solidFill>
              <a:srgbClr val="D9D2BF"/>
            </a:solidFill>
            <a:prstDash val="solid"/>
          </a:ln>
        </p:spPr>
        <p:txBody>
          <a:bodyPr/>
          <a:p/>
        </p:txBody>
      </p:sp>
      <p:sp>
        <p:nvSpPr>
          <p:cNvPr id="15" name="Shape 13"/>
          <p:cNvSpPr/>
          <p:nvPr/>
        </p:nvSpPr>
        <p:spPr>
          <a:xfrm>
            <a:off x="471488" y="3909640"/>
            <a:ext cx="0" cy="705222"/>
          </a:xfrm>
          <a:prstGeom prst="line">
            <a:avLst/>
          </a:prstGeom>
          <a:noFill/>
          <a:ln w="28575">
            <a:solidFill>
              <a:srgbClr val="1E4D3B"/>
            </a:solidFill>
            <a:prstDash val="solid"/>
          </a:ln>
        </p:spPr>
        <p:txBody>
          <a:bodyPr/>
          <a:p/>
        </p:txBody>
      </p:sp>
      <p:sp>
        <p:nvSpPr>
          <p:cNvPr id="16" name="Text 14"/>
          <p:cNvSpPr/>
          <p:nvPr/>
        </p:nvSpPr>
        <p:spPr>
          <a:xfrm>
            <a:off x="657225" y="4077630"/>
            <a:ext cx="157163" cy="157163"/>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17" name="Text 15"/>
          <p:cNvSpPr/>
          <p:nvPr/>
        </p:nvSpPr>
        <p:spPr>
          <a:xfrm>
            <a:off x="885825" y="4073947"/>
            <a:ext cx="2050256" cy="177692"/>
          </a:xfrm>
          <a:prstGeom prst="rect">
            <a:avLst/>
          </a:prstGeom>
          <a:noFill/>
          <a:ln/>
        </p:spPr>
        <p:txBody>
          <a:bodyPr wrap="none" lIns="0" tIns="0" rIns="0" bIns="0" rtlCol="0" anchor="t"/>
          <a:lstStyle/>
          <a:p>
            <a:pPr algn="l" indent="0" marL="0">
              <a:lnSpc>
                <a:spcPts val="1296"/>
              </a:lnSpc>
              <a:buNone/>
            </a:pPr>
            <a:r>
              <a:rPr lang="en-US" sz="1013" dirty="0">
                <a:solidFill>
                  <a:srgbClr val="1E4D3B"/>
                </a:solidFill>
                <a:latin typeface="Tinos" pitchFamily="34" charset="0"/>
                <a:ea typeface="Tinos" pitchFamily="34" charset="-122"/>
                <a:cs typeface="Tinos" pitchFamily="34" charset="-120"/>
              </a:rPr>
              <a:t>ব্যয় উপাদান</a:t>
            </a:r>
            <a:endParaRPr lang="en-US" sz="1013" dirty="0"/>
          </a:p>
        </p:txBody>
      </p:sp>
      <p:sp>
        <p:nvSpPr>
          <p:cNvPr id="18" name="Text 16"/>
          <p:cNvSpPr/>
          <p:nvPr/>
        </p:nvSpPr>
        <p:spPr>
          <a:xfrm>
            <a:off x="657225" y="4295626"/>
            <a:ext cx="2278856" cy="154930"/>
          </a:xfrm>
          <a:prstGeom prst="rect">
            <a:avLst/>
          </a:prstGeom>
          <a:noFill/>
          <a:ln/>
        </p:spPr>
        <p:txBody>
          <a:bodyPr wrap="square" lIns="0" tIns="0" rIns="0" bIns="0" rtlCol="0" anchor="t"/>
          <a:lstStyle/>
          <a:p>
            <a:pPr algn="l" indent="0" marL="0">
              <a:lnSpc>
                <a:spcPts val="1221"/>
              </a:lnSpc>
              <a:buNone/>
            </a:pPr>
            <a:r>
              <a:rPr lang="en-US" sz="788" dirty="0">
                <a:solidFill>
                  <a:srgbClr val="4A4A4A"/>
                </a:solidFill>
                <a:latin typeface="Carlito" pitchFamily="34" charset="0"/>
                <a:ea typeface="Carlito" pitchFamily="34" charset="-122"/>
                <a:cs typeface="Carlito" pitchFamily="34" charset="-120"/>
              </a:rPr>
              <a:t>আমদানি/উৎপাদন ব্যয়, পরিবহন, বিতরক ও খুচরা মার্জিন, কর</a:t>
            </a:r>
            <a:endParaRPr lang="en-US" sz="788" dirty="0"/>
          </a:p>
        </p:txBody>
      </p:sp>
      <p:sp>
        <p:nvSpPr>
          <p:cNvPr id="19" name="Text 17"/>
          <p:cNvSpPr/>
          <p:nvPr/>
        </p:nvSpPr>
        <p:spPr>
          <a:xfrm>
            <a:off x="3243263" y="3909640"/>
            <a:ext cx="2657475" cy="705222"/>
          </a:xfrm>
          <a:prstGeom prst="roundRect">
            <a:avLst>
              <a:gd name="adj" fmla="val 18909"/>
            </a:avLst>
          </a:prstGeom>
          <a:solidFill>
            <a:srgbClr val="FFFFFF"/>
          </a:solidFill>
          <a:ln/>
        </p:spPr>
        <p:txBody>
          <a:bodyPr wrap="square" rtlCol="0" anchor="ctr"/>
          <a:lstStyle/>
          <a:p>
            <a:pPr indent="0" marL="0">
              <a:buNone/>
            </a:pPr>
            <a:endParaRPr lang="en-US" dirty="0"/>
          </a:p>
        </p:txBody>
      </p:sp>
      <p:sp>
        <p:nvSpPr>
          <p:cNvPr id="20" name="Shape 18"/>
          <p:cNvSpPr/>
          <p:nvPr/>
        </p:nvSpPr>
        <p:spPr>
          <a:xfrm>
            <a:off x="3243263" y="3913212"/>
            <a:ext cx="2657475" cy="0"/>
          </a:xfrm>
          <a:prstGeom prst="line">
            <a:avLst/>
          </a:prstGeom>
          <a:noFill/>
          <a:ln w="7144">
            <a:solidFill>
              <a:srgbClr val="D9D2BF"/>
            </a:solidFill>
            <a:prstDash val="solid"/>
          </a:ln>
        </p:spPr>
        <p:txBody>
          <a:bodyPr/>
          <a:p/>
        </p:txBody>
      </p:sp>
      <p:sp>
        <p:nvSpPr>
          <p:cNvPr id="21" name="Shape 19"/>
          <p:cNvSpPr/>
          <p:nvPr/>
        </p:nvSpPr>
        <p:spPr>
          <a:xfrm>
            <a:off x="5897166" y="3909640"/>
            <a:ext cx="0" cy="705222"/>
          </a:xfrm>
          <a:prstGeom prst="line">
            <a:avLst/>
          </a:prstGeom>
          <a:noFill/>
          <a:ln w="7144">
            <a:solidFill>
              <a:srgbClr val="D9D2BF"/>
            </a:solidFill>
            <a:prstDash val="solid"/>
          </a:ln>
        </p:spPr>
        <p:txBody>
          <a:bodyPr/>
          <a:p/>
        </p:txBody>
      </p:sp>
      <p:sp>
        <p:nvSpPr>
          <p:cNvPr id="22" name="Shape 20"/>
          <p:cNvSpPr/>
          <p:nvPr/>
        </p:nvSpPr>
        <p:spPr>
          <a:xfrm>
            <a:off x="3243263" y="4611291"/>
            <a:ext cx="2657475" cy="0"/>
          </a:xfrm>
          <a:prstGeom prst="line">
            <a:avLst/>
          </a:prstGeom>
          <a:noFill/>
          <a:ln w="7144">
            <a:solidFill>
              <a:srgbClr val="D9D2BF"/>
            </a:solidFill>
            <a:prstDash val="solid"/>
          </a:ln>
        </p:spPr>
        <p:txBody>
          <a:bodyPr/>
          <a:p/>
        </p:txBody>
      </p:sp>
      <p:sp>
        <p:nvSpPr>
          <p:cNvPr id="23" name="Shape 21"/>
          <p:cNvSpPr/>
          <p:nvPr/>
        </p:nvSpPr>
        <p:spPr>
          <a:xfrm>
            <a:off x="3257550" y="3909640"/>
            <a:ext cx="0" cy="705222"/>
          </a:xfrm>
          <a:prstGeom prst="line">
            <a:avLst/>
          </a:prstGeom>
          <a:noFill/>
          <a:ln w="28575">
            <a:solidFill>
              <a:srgbClr val="1E4D3B"/>
            </a:solidFill>
            <a:prstDash val="solid"/>
          </a:ln>
        </p:spPr>
        <p:txBody>
          <a:bodyPr/>
          <a:p/>
        </p:txBody>
      </p:sp>
      <p:sp>
        <p:nvSpPr>
          <p:cNvPr id="24" name="Text 22"/>
          <p:cNvSpPr/>
          <p:nvPr/>
        </p:nvSpPr>
        <p:spPr>
          <a:xfrm>
            <a:off x="3443288" y="4077630"/>
            <a:ext cx="157163" cy="157163"/>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25" name="Text 23"/>
          <p:cNvSpPr/>
          <p:nvPr/>
        </p:nvSpPr>
        <p:spPr>
          <a:xfrm>
            <a:off x="3671888" y="4073947"/>
            <a:ext cx="2050256" cy="177692"/>
          </a:xfrm>
          <a:prstGeom prst="rect">
            <a:avLst/>
          </a:prstGeom>
          <a:noFill/>
          <a:ln/>
        </p:spPr>
        <p:txBody>
          <a:bodyPr wrap="none" lIns="0" tIns="0" rIns="0" bIns="0" rtlCol="0" anchor="t"/>
          <a:lstStyle/>
          <a:p>
            <a:pPr algn="l" indent="0" marL="0">
              <a:lnSpc>
                <a:spcPts val="1296"/>
              </a:lnSpc>
              <a:buNone/>
            </a:pPr>
            <a:r>
              <a:rPr lang="en-US" sz="1013" dirty="0">
                <a:solidFill>
                  <a:srgbClr val="1E4D3B"/>
                </a:solidFill>
                <a:latin typeface="Tinos" pitchFamily="34" charset="0"/>
                <a:ea typeface="Tinos" pitchFamily="34" charset="-122"/>
                <a:cs typeface="Tinos" pitchFamily="34" charset="-120"/>
              </a:rPr>
              <a:t>মূল্য তালিকা</a:t>
            </a:r>
            <a:endParaRPr lang="en-US" sz="1013" dirty="0"/>
          </a:p>
        </p:txBody>
      </p:sp>
      <p:sp>
        <p:nvSpPr>
          <p:cNvPr id="26" name="Text 24"/>
          <p:cNvSpPr/>
          <p:nvPr/>
        </p:nvSpPr>
        <p:spPr>
          <a:xfrm>
            <a:off x="3443288" y="4295626"/>
            <a:ext cx="2278856" cy="154930"/>
          </a:xfrm>
          <a:prstGeom prst="rect">
            <a:avLst/>
          </a:prstGeom>
          <a:noFill/>
          <a:ln/>
        </p:spPr>
        <p:txBody>
          <a:bodyPr wrap="square" lIns="0" tIns="0" rIns="0" bIns="0" rtlCol="0" anchor="t"/>
          <a:lstStyle/>
          <a:p>
            <a:pPr algn="l" indent="0" marL="0">
              <a:lnSpc>
                <a:spcPts val="1221"/>
              </a:lnSpc>
              <a:buNone/>
            </a:pPr>
            <a:r>
              <a:rPr lang="en-US" sz="788" dirty="0">
                <a:solidFill>
                  <a:srgbClr val="4A4A4A"/>
                </a:solidFill>
                <a:latin typeface="Carlito" pitchFamily="34" charset="0"/>
                <a:ea typeface="Carlito" pitchFamily="34" charset="-122"/>
                <a:cs typeface="Carlito" pitchFamily="34" charset="-120"/>
              </a:rPr>
              <a:t>সরকার প্রতি ৬ মাসে অধিদপ্তরের ওয়েবসাইটে প্রকাশ করে</a:t>
            </a:r>
            <a:endParaRPr lang="en-US" sz="788" dirty="0"/>
          </a:p>
        </p:txBody>
      </p:sp>
      <p:sp>
        <p:nvSpPr>
          <p:cNvPr id="27" name="Text 25"/>
          <p:cNvSpPr/>
          <p:nvPr/>
        </p:nvSpPr>
        <p:spPr>
          <a:xfrm>
            <a:off x="6029325" y="3909640"/>
            <a:ext cx="2657475" cy="705222"/>
          </a:xfrm>
          <a:prstGeom prst="roundRect">
            <a:avLst>
              <a:gd name="adj" fmla="val 18909"/>
            </a:avLst>
          </a:prstGeom>
          <a:solidFill>
            <a:srgbClr val="FFFFFF"/>
          </a:solidFill>
          <a:ln/>
        </p:spPr>
        <p:txBody>
          <a:bodyPr wrap="square" rtlCol="0" anchor="ctr"/>
          <a:lstStyle/>
          <a:p>
            <a:pPr indent="0" marL="0">
              <a:buNone/>
            </a:pPr>
            <a:endParaRPr lang="en-US" dirty="0"/>
          </a:p>
        </p:txBody>
      </p:sp>
      <p:sp>
        <p:nvSpPr>
          <p:cNvPr id="28" name="Shape 26"/>
          <p:cNvSpPr/>
          <p:nvPr/>
        </p:nvSpPr>
        <p:spPr>
          <a:xfrm>
            <a:off x="6029325" y="3913212"/>
            <a:ext cx="2657475" cy="0"/>
          </a:xfrm>
          <a:prstGeom prst="line">
            <a:avLst/>
          </a:prstGeom>
          <a:noFill/>
          <a:ln w="7144">
            <a:solidFill>
              <a:srgbClr val="D9D2BF"/>
            </a:solidFill>
            <a:prstDash val="solid"/>
          </a:ln>
        </p:spPr>
        <p:txBody>
          <a:bodyPr/>
          <a:p/>
        </p:txBody>
      </p:sp>
      <p:sp>
        <p:nvSpPr>
          <p:cNvPr id="29" name="Shape 27"/>
          <p:cNvSpPr/>
          <p:nvPr/>
        </p:nvSpPr>
        <p:spPr>
          <a:xfrm>
            <a:off x="8683228" y="3909640"/>
            <a:ext cx="0" cy="705222"/>
          </a:xfrm>
          <a:prstGeom prst="line">
            <a:avLst/>
          </a:prstGeom>
          <a:noFill/>
          <a:ln w="7144">
            <a:solidFill>
              <a:srgbClr val="D9D2BF"/>
            </a:solidFill>
            <a:prstDash val="solid"/>
          </a:ln>
        </p:spPr>
        <p:txBody>
          <a:bodyPr/>
          <a:p/>
        </p:txBody>
      </p:sp>
      <p:sp>
        <p:nvSpPr>
          <p:cNvPr id="30" name="Shape 28"/>
          <p:cNvSpPr/>
          <p:nvPr/>
        </p:nvSpPr>
        <p:spPr>
          <a:xfrm>
            <a:off x="6029325" y="4611291"/>
            <a:ext cx="2657475" cy="0"/>
          </a:xfrm>
          <a:prstGeom prst="line">
            <a:avLst/>
          </a:prstGeom>
          <a:noFill/>
          <a:ln w="7144">
            <a:solidFill>
              <a:srgbClr val="D9D2BF"/>
            </a:solidFill>
            <a:prstDash val="solid"/>
          </a:ln>
        </p:spPr>
        <p:txBody>
          <a:bodyPr/>
          <a:p/>
        </p:txBody>
      </p:sp>
      <p:sp>
        <p:nvSpPr>
          <p:cNvPr id="31" name="Shape 29"/>
          <p:cNvSpPr/>
          <p:nvPr/>
        </p:nvSpPr>
        <p:spPr>
          <a:xfrm>
            <a:off x="6043613" y="3909640"/>
            <a:ext cx="0" cy="705222"/>
          </a:xfrm>
          <a:prstGeom prst="line">
            <a:avLst/>
          </a:prstGeom>
          <a:noFill/>
          <a:ln w="28575">
            <a:solidFill>
              <a:srgbClr val="B23A2A"/>
            </a:solidFill>
            <a:prstDash val="solid"/>
          </a:ln>
        </p:spPr>
        <p:txBody>
          <a:bodyPr/>
          <a:p/>
        </p:txBody>
      </p:sp>
      <p:sp>
        <p:nvSpPr>
          <p:cNvPr id="32" name="Text 30"/>
          <p:cNvSpPr/>
          <p:nvPr/>
        </p:nvSpPr>
        <p:spPr>
          <a:xfrm>
            <a:off x="6229350" y="4077630"/>
            <a:ext cx="157163" cy="157163"/>
          </a:xfrm>
          <a:prstGeom prst="rect">
            <a:avLst/>
          </a:prstGeom>
          <a:noFill/>
          <a:ln/>
        </p:spPr>
        <p:txBody>
          <a:bodyPr wrap="none" lIns="0" tIns="0" rIns="0" bIns="0" rtlCol="0" anchor="ctr"/>
          <a:lstStyle/>
          <a:p>
            <a:pPr algn="ctr" indent="0" marL="0">
              <a:buNone/>
            </a:pPr>
            <a:r>
              <a:rPr lang="en-US" sz="1547" dirty="0">
                <a:solidFill>
                  <a:srgbClr val="B23A2A"/>
                </a:solidFill>
                <a:latin typeface="Segoe UI Symbol" pitchFamily="34" charset="0"/>
                <a:ea typeface="Segoe UI Symbol" pitchFamily="34" charset="-122"/>
                <a:cs typeface="Segoe UI Symbol" pitchFamily="34" charset="-120"/>
              </a:rPr>
              <a:t>⚖</a:t>
            </a:r>
            <a:endParaRPr lang="en-US" sz="1547" dirty="0"/>
          </a:p>
        </p:txBody>
      </p:sp>
      <p:sp>
        <p:nvSpPr>
          <p:cNvPr id="33" name="Text 31"/>
          <p:cNvSpPr/>
          <p:nvPr/>
        </p:nvSpPr>
        <p:spPr>
          <a:xfrm>
            <a:off x="6457950" y="4073947"/>
            <a:ext cx="2050256" cy="177692"/>
          </a:xfrm>
          <a:prstGeom prst="rect">
            <a:avLst/>
          </a:prstGeom>
          <a:noFill/>
          <a:ln/>
        </p:spPr>
        <p:txBody>
          <a:bodyPr wrap="none" lIns="0" tIns="0" rIns="0" bIns="0" rtlCol="0" anchor="t"/>
          <a:lstStyle/>
          <a:p>
            <a:pPr algn="l" indent="0" marL="0">
              <a:lnSpc>
                <a:spcPts val="1296"/>
              </a:lnSpc>
              <a:buNone/>
            </a:pPr>
            <a:r>
              <a:rPr lang="en-US" sz="1013" dirty="0">
                <a:solidFill>
                  <a:srgbClr val="B23A2A"/>
                </a:solidFill>
                <a:latin typeface="Tinos" pitchFamily="34" charset="0"/>
                <a:ea typeface="Tinos" pitchFamily="34" charset="-122"/>
                <a:cs typeface="Tinos" pitchFamily="34" charset="-120"/>
              </a:rPr>
              <a:t>লঙ্ঘনের শাস্তি</a:t>
            </a:r>
            <a:endParaRPr lang="en-US" sz="1013" dirty="0"/>
          </a:p>
        </p:txBody>
      </p:sp>
      <p:sp>
        <p:nvSpPr>
          <p:cNvPr id="34" name="Text 32"/>
          <p:cNvSpPr/>
          <p:nvPr/>
        </p:nvSpPr>
        <p:spPr>
          <a:xfrm>
            <a:off x="6229350" y="4295626"/>
            <a:ext cx="2388584" cy="154930"/>
          </a:xfrm>
          <a:prstGeom prst="rect">
            <a:avLst/>
          </a:prstGeom>
          <a:noFill/>
          <a:ln/>
        </p:spPr>
        <p:txBody>
          <a:bodyPr wrap="square" lIns="0" tIns="0" rIns="0" bIns="0" rtlCol="0" anchor="t"/>
          <a:lstStyle/>
          <a:p>
            <a:pPr algn="l" indent="0" marL="0">
              <a:lnSpc>
                <a:spcPts val="1221"/>
              </a:lnSpc>
              <a:buNone/>
            </a:pPr>
            <a:r>
              <a:rPr lang="en-US" sz="800" dirty="0">
                <a:solidFill>
                  <a:srgbClr val="4A4A4A"/>
                </a:solidFill>
                <a:latin typeface="Carlito" pitchFamily="34" charset="0"/>
                <a:ea typeface="Carlito" pitchFamily="34" charset="-122"/>
                <a:cs typeface="Carlito" pitchFamily="34" charset="-120"/>
              </a:rPr>
              <a:t>অতিরিক্ত মূল্য আদায়ে জরিমানা ও লাইসেন্স স্থগিত</a:t>
            </a:r>
            <a:endParaRPr lang="en-US" sz="800" dirty="0"/>
          </a:p>
        </p:txBody>
      </p:sp>
      <p:sp>
        <p:nvSpPr>
          <p:cNvPr id="35" name="Text 33"/>
          <p:cNvSpPr/>
          <p:nvPr/>
        </p:nvSpPr>
        <p:spPr>
          <a:xfrm>
            <a:off x="8709013" y="4706392"/>
            <a:ext cx="28450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১৭</a:t>
            </a:r>
            <a:endParaRPr lang="en-US" sz="1350" dirty="0"/>
          </a:p>
        </p:txBody>
      </p:sp>
      <p:pic>
        <p:nvPicPr>
          <p:cNvPr id="36"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6319647" y="-357187"/>
            <a:ext cx="2824353" cy="2160270"/>
          </a:xfrm>
          <a:prstGeom prst="rect">
            <a:avLst/>
          </a:prstGeom>
          <a:noFill/>
          <a:ln/>
        </p:spPr>
        <p:txBody>
          <a:bodyPr wrap="none" lIns="0" tIns="0" rIns="0" bIns="0" rtlCol="0" anchor="t"/>
          <a:lstStyle/>
          <a:p>
            <a:pPr algn="l" indent="0" marL="0">
              <a:lnSpc>
                <a:spcPts val="15750"/>
              </a:lnSpc>
              <a:buNone/>
            </a:pPr>
            <a:r>
              <a:rPr lang="en-US" sz="15750" b="1" dirty="0">
                <a:solidFill>
                  <a:srgbClr val="1E4D3B">
                    <a:alpha val="4000"/>
                  </a:srgbClr>
                </a:solidFill>
                <a:latin typeface="Carlito" pitchFamily="34" charset="0"/>
                <a:ea typeface="Carlito" pitchFamily="34" charset="-122"/>
                <a:cs typeface="Carlito" pitchFamily="34" charset="-120"/>
              </a:rPr>
              <a:t>২৭</a:t>
            </a:r>
            <a:endParaRPr lang="en-US" sz="15750" dirty="0"/>
          </a:p>
        </p:txBody>
      </p:sp>
      <p:sp>
        <p:nvSpPr>
          <p:cNvPr id="3" name="Text 1"/>
          <p:cNvSpPr/>
          <p:nvPr/>
        </p:nvSpPr>
        <p:spPr>
          <a:xfrm>
            <a:off x="457200" y="474390"/>
            <a:ext cx="3746398"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০৩ · বালাইনাশক আইন, ২০১৮</a:t>
            </a:r>
            <a:endParaRPr lang="en-US" sz="1350" dirty="0"/>
          </a:p>
        </p:txBody>
      </p:sp>
      <p:sp>
        <p:nvSpPr>
          <p:cNvPr id="4" name="Text 2"/>
          <p:cNvSpPr/>
          <p:nvPr/>
        </p:nvSpPr>
        <p:spPr>
          <a:xfrm>
            <a:off x="457200" y="840060"/>
            <a:ext cx="8636000" cy="501764"/>
          </a:xfrm>
          <a:prstGeom prst="rect">
            <a:avLst/>
          </a:prstGeom>
          <a:noFill/>
          <a:ln/>
        </p:spPr>
        <p:txBody>
          <a:bodyPr wrap="square" lIns="0" tIns="0" rIns="0" bIns="0" rtlCol="0" anchor="t">
            <a:normAutofit/>
          </a:bodyPr>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লেবেলিং ও প্যাকেজিং বিধিমালা</a:t>
            </a:r>
            <a:endParaRPr lang="en-US" sz="3150" dirty="0"/>
          </a:p>
        </p:txBody>
      </p:sp>
      <p:sp>
        <p:nvSpPr>
          <p:cNvPr id="5" name="Text 3"/>
          <p:cNvSpPr/>
          <p:nvPr/>
        </p:nvSpPr>
        <p:spPr>
          <a:xfrm>
            <a:off x="457200" y="1369256"/>
            <a:ext cx="8229600" cy="169980"/>
          </a:xfrm>
          <a:prstGeom prst="rect">
            <a:avLst/>
          </a:prstGeom>
          <a:noFill/>
          <a:ln/>
        </p:spPr>
        <p:txBody>
          <a:bodyPr wrap="square" lIns="0" tIns="0" rIns="0" bIns="0" rtlCol="0" anchor="t"/>
          <a:lstStyle/>
          <a:p>
            <a:pPr algn="l" indent="0" marL="0">
              <a:lnSpc>
                <a:spcPts val="1221"/>
              </a:lnSpc>
              <a:buNone/>
            </a:pPr>
            <a:r>
              <a:rPr lang="en-US" sz="800" dirty="0">
                <a:solidFill>
                  <a:srgbClr val="4A4A4A"/>
                </a:solidFill>
                <a:latin typeface="Carlito" pitchFamily="34" charset="0"/>
                <a:ea typeface="Carlito" pitchFamily="34" charset="-122"/>
                <a:cs typeface="Carlito" pitchFamily="34" charset="-120"/>
              </a:rPr>
              <a:t>ধারা ২৭-২৯ অনুসারে — প্রতিটি পণ্যের গায়ে নিম্নলিখিত তথ্য বাধ্যতামূলক</a:t>
            </a:r>
            <a:endParaRPr lang="en-US" sz="800" dirty="0"/>
          </a:p>
        </p:txBody>
      </p:sp>
      <p:sp>
        <p:nvSpPr>
          <p:cNvPr id="6" name="Shape 4"/>
          <p:cNvSpPr/>
          <p:nvPr/>
        </p:nvSpPr>
        <p:spPr>
          <a:xfrm>
            <a:off x="457200" y="1634914"/>
            <a:ext cx="400050" cy="0"/>
          </a:xfrm>
          <a:prstGeom prst="line">
            <a:avLst/>
          </a:prstGeom>
          <a:noFill/>
          <a:ln w="7144">
            <a:solidFill>
              <a:srgbClr val="1A1A1A"/>
            </a:solidFill>
            <a:prstDash val="solid"/>
          </a:ln>
        </p:spPr>
        <p:txBody>
          <a:bodyPr/>
          <a:p/>
        </p:txBody>
      </p:sp>
      <p:sp>
        <p:nvSpPr>
          <p:cNvPr id="7" name="Text 5"/>
          <p:cNvSpPr/>
          <p:nvPr/>
        </p:nvSpPr>
        <p:spPr>
          <a:xfrm>
            <a:off x="460772" y="1518047"/>
            <a:ext cx="3979069" cy="2443163"/>
          </a:xfrm>
          <a:prstGeom prst="roundRect">
            <a:avLst>
              <a:gd name="adj" fmla="val 5458"/>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8" name="Shape 6"/>
          <p:cNvSpPr/>
          <p:nvPr/>
        </p:nvSpPr>
        <p:spPr>
          <a:xfrm>
            <a:off x="650081" y="1925241"/>
            <a:ext cx="3600450" cy="0"/>
          </a:xfrm>
          <a:prstGeom prst="line">
            <a:avLst/>
          </a:prstGeom>
          <a:noFill/>
          <a:ln w="7144">
            <a:solidFill>
              <a:srgbClr val="D9D2BF"/>
            </a:solidFill>
            <a:prstDash val="solid"/>
          </a:ln>
        </p:spPr>
        <p:txBody>
          <a:bodyPr/>
          <a:p/>
        </p:txBody>
      </p:sp>
      <p:sp>
        <p:nvSpPr>
          <p:cNvPr id="9" name="Text 7"/>
          <p:cNvSpPr/>
          <p:nvPr/>
        </p:nvSpPr>
        <p:spPr>
          <a:xfrm>
            <a:off x="650081" y="1693069"/>
            <a:ext cx="157163" cy="157163"/>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10" name="Text 8"/>
          <p:cNvSpPr/>
          <p:nvPr/>
        </p:nvSpPr>
        <p:spPr>
          <a:xfrm>
            <a:off x="878681" y="1694185"/>
            <a:ext cx="3371850" cy="156046"/>
          </a:xfrm>
          <a:prstGeom prst="rect">
            <a:avLst/>
          </a:prstGeom>
          <a:noFill/>
          <a:ln/>
        </p:spPr>
        <p:txBody>
          <a:bodyPr wrap="none" lIns="0" tIns="0" rIns="0" bIns="0" rtlCol="0" anchor="t"/>
          <a:lstStyle/>
          <a:p>
            <a:pPr algn="l" indent="0" marL="0">
              <a:lnSpc>
                <a:spcPts val="1221"/>
              </a:lnSpc>
              <a:buNone/>
            </a:pPr>
            <a:r>
              <a:rPr lang="en-US" sz="800" b="1" spc="39" kern="0" dirty="0">
                <a:solidFill>
                  <a:srgbClr val="1E4D3B"/>
                </a:solidFill>
                <a:latin typeface="Carlito" pitchFamily="34" charset="0"/>
                <a:ea typeface="Carlito" pitchFamily="34" charset="-122"/>
                <a:cs typeface="Carlito" pitchFamily="34" charset="-120"/>
              </a:rPr>
              <a:t>পণ্য ও নির্মাতা তথ্য</a:t>
            </a:r>
            <a:endParaRPr lang="en-US" sz="800" dirty="0"/>
          </a:p>
        </p:txBody>
      </p:sp>
      <p:sp>
        <p:nvSpPr>
          <p:cNvPr id="11" name="Text 9"/>
          <p:cNvSpPr/>
          <p:nvPr/>
        </p:nvSpPr>
        <p:spPr>
          <a:xfrm>
            <a:off x="650081" y="2028825"/>
            <a:ext cx="3600450" cy="1962817"/>
          </a:xfrm>
          <a:prstGeom prst="rect">
            <a:avLst/>
          </a:prstGeom>
          <a:noFill/>
          <a:ln/>
        </p:spPr>
        <p:txBody>
          <a:bodyPr wrap="square" lIns="0" tIns="0" rIns="0" bIns="0" rtlCol="0" anchor="t"/>
          <a:lstStyle/>
          <a:p>
            <a:pPr algn="l" indent="0" marL="0">
              <a:lnSpc>
                <a:spcPts val="2869"/>
              </a:lnSpc>
              <a:spcAft>
                <a:spcPts val="788"/>
              </a:spcAft>
              <a:buNone/>
            </a:pPr>
            <a:r>
              <a:rPr lang="en-US" sz="1100" dirty="0">
                <a:solidFill>
                  <a:srgbClr val="1E4D3B"/>
                </a:solidFill>
                <a:latin typeface="Carlito" pitchFamily="34" charset="0"/>
                <a:ea typeface="Carlito" pitchFamily="34" charset="-122"/>
                <a:cs typeface="Carlito" pitchFamily="34" charset="-120"/>
              </a:rPr>
              <a:t>●  </a:t>
            </a:r>
            <a:pPr algn="l" indent="0" marL="0">
              <a:lnSpc>
                <a:spcPts val="2869"/>
              </a:lnSpc>
              <a:spcAft>
                <a:spcPts val="788"/>
              </a:spcAft>
              <a:buNone/>
            </a:pPr>
            <a:r>
              <a:rPr lang="en-US" sz="1913" dirty="0">
                <a:solidFill>
                  <a:srgbClr val="1A1A1A"/>
                </a:solidFill>
                <a:latin typeface="Carlito" pitchFamily="34" charset="0"/>
                <a:ea typeface="Carlito" pitchFamily="34" charset="-122"/>
                <a:cs typeface="Carlito" pitchFamily="34" charset="-120"/>
              </a:rPr>
              <a:t>পণ্যের নাম (বাংলা ও ইংরেজি দ্বিভাষিক)</a:t>
            </a:r>
            <a:endParaRPr lang="en-US" sz="1913" dirty="0"/>
          </a:p>
          <a:p>
            <a:pPr algn="l" indent="0" marL="0">
              <a:lnSpc>
                <a:spcPts val="2869"/>
              </a:lnSpc>
              <a:spcAft>
                <a:spcPts val="788"/>
              </a:spcAft>
              <a:buNone/>
            </a:pPr>
            <a:r>
              <a:rPr lang="en-US" sz="1100" dirty="0">
                <a:solidFill>
                  <a:srgbClr val="1E4D3B"/>
                </a:solidFill>
                <a:latin typeface="Carlito" pitchFamily="34" charset="0"/>
                <a:ea typeface="Carlito" pitchFamily="34" charset="-122"/>
                <a:cs typeface="Carlito" pitchFamily="34" charset="-120"/>
              </a:rPr>
              <a:t>●  </a:t>
            </a:r>
            <a:pPr algn="l" indent="0" marL="0">
              <a:lnSpc>
                <a:spcPts val="2869"/>
              </a:lnSpc>
              <a:spcAft>
                <a:spcPts val="788"/>
              </a:spcAft>
              <a:buNone/>
            </a:pPr>
            <a:r>
              <a:rPr lang="en-US" sz="1913" dirty="0">
                <a:solidFill>
                  <a:srgbClr val="1A1A1A"/>
                </a:solidFill>
                <a:latin typeface="Carlito" pitchFamily="34" charset="0"/>
                <a:ea typeface="Carlito" pitchFamily="34" charset="-122"/>
                <a:cs typeface="Carlito" pitchFamily="34" charset="-120"/>
              </a:rPr>
              <a:t>নির্মাতা ও আমদানিকারকের সম্পূর্ণ ঠিকানা</a:t>
            </a:r>
            <a:endParaRPr lang="en-US" sz="1913" dirty="0"/>
          </a:p>
          <a:p>
            <a:pPr algn="l" indent="0" marL="0">
              <a:lnSpc>
                <a:spcPts val="2869"/>
              </a:lnSpc>
              <a:spcAft>
                <a:spcPts val="788"/>
              </a:spcAft>
              <a:buNone/>
            </a:pPr>
            <a:r>
              <a:rPr lang="en-US" sz="1100" dirty="0">
                <a:solidFill>
                  <a:srgbClr val="1E4D3B"/>
                </a:solidFill>
                <a:latin typeface="Carlito" pitchFamily="34" charset="0"/>
                <a:ea typeface="Carlito" pitchFamily="34" charset="-122"/>
                <a:cs typeface="Carlito" pitchFamily="34" charset="-120"/>
              </a:rPr>
              <a:t>●  </a:t>
            </a:r>
            <a:pPr algn="l" indent="0" marL="0">
              <a:lnSpc>
                <a:spcPts val="2869"/>
              </a:lnSpc>
              <a:spcAft>
                <a:spcPts val="788"/>
              </a:spcAft>
              <a:buNone/>
            </a:pPr>
            <a:r>
              <a:rPr lang="en-US" sz="1913" dirty="0">
                <a:solidFill>
                  <a:srgbClr val="1A1A1A"/>
                </a:solidFill>
                <a:latin typeface="Carlito" pitchFamily="34" charset="0"/>
                <a:ea typeface="Carlito" pitchFamily="34" charset="-122"/>
                <a:cs typeface="Carlito" pitchFamily="34" charset="-120"/>
              </a:rPr>
              <a:t>নিবন্ধন নম্বর, ব্যাচ নম্বর</a:t>
            </a:r>
            <a:endParaRPr lang="en-US" sz="1913" dirty="0"/>
          </a:p>
          <a:p>
            <a:pPr algn="l" indent="0" marL="0">
              <a:lnSpc>
                <a:spcPts val="2869"/>
              </a:lnSpc>
              <a:spcAft>
                <a:spcPts val="788"/>
              </a:spcAft>
              <a:buNone/>
            </a:pPr>
            <a:r>
              <a:rPr lang="en-US" sz="1100" dirty="0">
                <a:solidFill>
                  <a:srgbClr val="1E4D3B"/>
                </a:solidFill>
                <a:latin typeface="Carlito" pitchFamily="34" charset="0"/>
                <a:ea typeface="Carlito" pitchFamily="34" charset="-122"/>
                <a:cs typeface="Carlito" pitchFamily="34" charset="-120"/>
              </a:rPr>
              <a:t>●  </a:t>
            </a:r>
            <a:pPr algn="l" indent="0" marL="0">
              <a:lnSpc>
                <a:spcPts val="2869"/>
              </a:lnSpc>
              <a:spcAft>
                <a:spcPts val="788"/>
              </a:spcAft>
              <a:buNone/>
            </a:pPr>
            <a:r>
              <a:rPr lang="en-US" sz="1913" dirty="0">
                <a:solidFill>
                  <a:srgbClr val="1A1A1A"/>
                </a:solidFill>
                <a:latin typeface="Carlito" pitchFamily="34" charset="0"/>
                <a:ea typeface="Carlito" pitchFamily="34" charset="-122"/>
                <a:cs typeface="Carlito" pitchFamily="34" charset="-120"/>
              </a:rPr>
              <a:t>উৎপাদন ও মেয়াদোত্তীর্ণ তারিখ</a:t>
            </a:r>
            <a:endParaRPr lang="en-US" sz="1913" dirty="0"/>
          </a:p>
        </p:txBody>
      </p:sp>
      <p:sp>
        <p:nvSpPr>
          <p:cNvPr id="12" name="Text 10"/>
          <p:cNvSpPr/>
          <p:nvPr/>
        </p:nvSpPr>
        <p:spPr>
          <a:xfrm>
            <a:off x="4704159" y="1518047"/>
            <a:ext cx="3979069" cy="2443163"/>
          </a:xfrm>
          <a:prstGeom prst="roundRect">
            <a:avLst>
              <a:gd name="adj" fmla="val 5458"/>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3" name="Shape 11"/>
          <p:cNvSpPr/>
          <p:nvPr/>
        </p:nvSpPr>
        <p:spPr>
          <a:xfrm>
            <a:off x="4893469" y="1925241"/>
            <a:ext cx="3600450" cy="0"/>
          </a:xfrm>
          <a:prstGeom prst="line">
            <a:avLst/>
          </a:prstGeom>
          <a:noFill/>
          <a:ln w="7144">
            <a:solidFill>
              <a:srgbClr val="D9D2BF"/>
            </a:solidFill>
            <a:prstDash val="solid"/>
          </a:ln>
        </p:spPr>
        <p:txBody>
          <a:bodyPr/>
          <a:p/>
        </p:txBody>
      </p:sp>
      <p:sp>
        <p:nvSpPr>
          <p:cNvPr id="14" name="Text 12"/>
          <p:cNvSpPr/>
          <p:nvPr/>
        </p:nvSpPr>
        <p:spPr>
          <a:xfrm>
            <a:off x="4893469" y="1693069"/>
            <a:ext cx="157163" cy="157163"/>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15" name="Text 13"/>
          <p:cNvSpPr/>
          <p:nvPr/>
        </p:nvSpPr>
        <p:spPr>
          <a:xfrm>
            <a:off x="5122069" y="1694185"/>
            <a:ext cx="3371850" cy="156046"/>
          </a:xfrm>
          <a:prstGeom prst="rect">
            <a:avLst/>
          </a:prstGeom>
          <a:noFill/>
          <a:ln/>
        </p:spPr>
        <p:txBody>
          <a:bodyPr wrap="none" lIns="0" tIns="0" rIns="0" bIns="0" rtlCol="0" anchor="t"/>
          <a:lstStyle/>
          <a:p>
            <a:pPr algn="l" indent="0" marL="0">
              <a:lnSpc>
                <a:spcPts val="1221"/>
              </a:lnSpc>
              <a:buNone/>
            </a:pPr>
            <a:r>
              <a:rPr lang="en-US" sz="800" b="1" spc="39" kern="0" dirty="0">
                <a:solidFill>
                  <a:srgbClr val="1E4D3B"/>
                </a:solidFill>
                <a:latin typeface="Carlito" pitchFamily="34" charset="0"/>
                <a:ea typeface="Carlito" pitchFamily="34" charset="-122"/>
                <a:cs typeface="Carlito" pitchFamily="34" charset="-120"/>
              </a:rPr>
              <a:t>ব্যবহার ও সতর্কতা</a:t>
            </a:r>
            <a:endParaRPr lang="en-US" sz="800" dirty="0"/>
          </a:p>
        </p:txBody>
      </p:sp>
      <p:sp>
        <p:nvSpPr>
          <p:cNvPr id="16" name="Text 14"/>
          <p:cNvSpPr/>
          <p:nvPr/>
        </p:nvSpPr>
        <p:spPr>
          <a:xfrm>
            <a:off x="4893469" y="2028825"/>
            <a:ext cx="3600450" cy="1962817"/>
          </a:xfrm>
          <a:prstGeom prst="rect">
            <a:avLst/>
          </a:prstGeom>
          <a:noFill/>
          <a:ln/>
        </p:spPr>
        <p:txBody>
          <a:bodyPr wrap="square" lIns="0" tIns="0" rIns="0" bIns="0" rtlCol="0" anchor="t"/>
          <a:lstStyle/>
          <a:p>
            <a:pPr algn="l" indent="0" marL="0">
              <a:lnSpc>
                <a:spcPts val="2869"/>
              </a:lnSpc>
              <a:spcAft>
                <a:spcPts val="788"/>
              </a:spcAft>
              <a:buNone/>
            </a:pPr>
            <a:r>
              <a:rPr lang="en-US" sz="1100" dirty="0">
                <a:solidFill>
                  <a:srgbClr val="1E4D3B"/>
                </a:solidFill>
                <a:latin typeface="Carlito" pitchFamily="34" charset="0"/>
                <a:ea typeface="Carlito" pitchFamily="34" charset="-122"/>
                <a:cs typeface="Carlito" pitchFamily="34" charset="-120"/>
              </a:rPr>
              <a:t>●  </a:t>
            </a:r>
            <a:pPr algn="l" indent="0" marL="0">
              <a:lnSpc>
                <a:spcPts val="2869"/>
              </a:lnSpc>
              <a:spcAft>
                <a:spcPts val="788"/>
              </a:spcAft>
              <a:buNone/>
            </a:pPr>
            <a:r>
              <a:rPr lang="en-US" sz="1913" dirty="0">
                <a:solidFill>
                  <a:srgbClr val="1A1A1A"/>
                </a:solidFill>
                <a:latin typeface="Carlito" pitchFamily="34" charset="0"/>
                <a:ea typeface="Carlito" pitchFamily="34" charset="-122"/>
                <a:cs typeface="Carlito" pitchFamily="34" charset="-120"/>
              </a:rPr>
              <a:t>সক্রিয় উপাদানের নাম ও শতকরা হার</a:t>
            </a:r>
            <a:endParaRPr lang="en-US" sz="1913" dirty="0"/>
          </a:p>
          <a:p>
            <a:pPr algn="l" indent="0" marL="0">
              <a:lnSpc>
                <a:spcPts val="2869"/>
              </a:lnSpc>
              <a:spcAft>
                <a:spcPts val="788"/>
              </a:spcAft>
              <a:buNone/>
            </a:pPr>
            <a:r>
              <a:rPr lang="en-US" sz="1100" dirty="0">
                <a:solidFill>
                  <a:srgbClr val="1E4D3B"/>
                </a:solidFill>
                <a:latin typeface="Carlito" pitchFamily="34" charset="0"/>
                <a:ea typeface="Carlito" pitchFamily="34" charset="-122"/>
                <a:cs typeface="Carlito" pitchFamily="34" charset="-120"/>
              </a:rPr>
              <a:t>●  </a:t>
            </a:r>
            <a:pPr algn="l" indent="0" marL="0">
              <a:lnSpc>
                <a:spcPts val="2869"/>
              </a:lnSpc>
              <a:spcAft>
                <a:spcPts val="788"/>
              </a:spcAft>
              <a:buNone/>
            </a:pPr>
            <a:r>
              <a:rPr lang="en-US" sz="1913" dirty="0">
                <a:solidFill>
                  <a:srgbClr val="1A1A1A"/>
                </a:solidFill>
                <a:latin typeface="Carlito" pitchFamily="34" charset="0"/>
                <a:ea typeface="Carlito" pitchFamily="34" charset="-122"/>
                <a:cs typeface="Carlito" pitchFamily="34" charset="-120"/>
              </a:rPr>
              <a:t>ব্যবহারবিধি, মাত্রা, ও লক্ষ্য ফসলের নাম</a:t>
            </a:r>
            <a:endParaRPr lang="en-US" sz="1913" dirty="0"/>
          </a:p>
          <a:p>
            <a:pPr algn="l" indent="0" marL="0">
              <a:lnSpc>
                <a:spcPts val="2869"/>
              </a:lnSpc>
              <a:spcAft>
                <a:spcPts val="788"/>
              </a:spcAft>
              <a:buNone/>
            </a:pPr>
            <a:r>
              <a:rPr lang="en-US" sz="1100" dirty="0">
                <a:solidFill>
                  <a:srgbClr val="1E4D3B"/>
                </a:solidFill>
                <a:latin typeface="Carlito" pitchFamily="34" charset="0"/>
                <a:ea typeface="Carlito" pitchFamily="34" charset="-122"/>
                <a:cs typeface="Carlito" pitchFamily="34" charset="-120"/>
              </a:rPr>
              <a:t>●  </a:t>
            </a:r>
            <a:pPr algn="l" indent="0" marL="0">
              <a:lnSpc>
                <a:spcPts val="2869"/>
              </a:lnSpc>
              <a:spcAft>
                <a:spcPts val="788"/>
              </a:spcAft>
              <a:buNone/>
            </a:pPr>
            <a:r>
              <a:rPr lang="en-US" sz="1913" dirty="0">
                <a:solidFill>
                  <a:srgbClr val="1A1A1A"/>
                </a:solidFill>
                <a:latin typeface="Carlito" pitchFamily="34" charset="0"/>
                <a:ea typeface="Carlito" pitchFamily="34" charset="-122"/>
                <a:cs typeface="Carlito" pitchFamily="34" charset="-120"/>
              </a:rPr>
              <a:t>সতর্কতা চিহ্ন (বিষাক্ততা স্তর অনুসারে রঙ)</a:t>
            </a:r>
            <a:endParaRPr lang="en-US" sz="1913" dirty="0"/>
          </a:p>
          <a:p>
            <a:pPr algn="l" indent="0" marL="0">
              <a:lnSpc>
                <a:spcPts val="2869"/>
              </a:lnSpc>
              <a:spcAft>
                <a:spcPts val="788"/>
              </a:spcAft>
              <a:buNone/>
            </a:pPr>
            <a:r>
              <a:rPr lang="en-US" sz="1100" dirty="0">
                <a:solidFill>
                  <a:srgbClr val="1E4D3B"/>
                </a:solidFill>
                <a:latin typeface="Carlito" pitchFamily="34" charset="0"/>
                <a:ea typeface="Carlito" pitchFamily="34" charset="-122"/>
                <a:cs typeface="Carlito" pitchFamily="34" charset="-120"/>
              </a:rPr>
              <a:t>●  </a:t>
            </a:r>
            <a:pPr algn="l" indent="0" marL="0">
              <a:lnSpc>
                <a:spcPts val="2869"/>
              </a:lnSpc>
              <a:spcAft>
                <a:spcPts val="788"/>
              </a:spcAft>
              <a:buNone/>
            </a:pPr>
            <a:r>
              <a:rPr lang="en-US" sz="1913" dirty="0">
                <a:solidFill>
                  <a:srgbClr val="1A1A1A"/>
                </a:solidFill>
                <a:latin typeface="Carlito" pitchFamily="34" charset="0"/>
                <a:ea typeface="Carlito" pitchFamily="34" charset="-122"/>
                <a:cs typeface="Carlito" pitchFamily="34" charset="-120"/>
              </a:rPr>
              <a:t>প্রথম সহায়তা, সংরক্ষণ ও বর্জ্য নিষ্পত্তি</a:t>
            </a:r>
            <a:endParaRPr lang="en-US" sz="1913" dirty="0"/>
          </a:p>
        </p:txBody>
      </p:sp>
      <p:sp>
        <p:nvSpPr>
          <p:cNvPr id="17" name="Text 15"/>
          <p:cNvSpPr/>
          <p:nvPr/>
        </p:nvSpPr>
        <p:spPr>
          <a:xfrm>
            <a:off x="457200" y="4257675"/>
            <a:ext cx="8229600" cy="442913"/>
          </a:xfrm>
          <a:prstGeom prst="roundRect">
            <a:avLst>
              <a:gd name="adj" fmla="val 30107"/>
            </a:avLst>
          </a:prstGeom>
          <a:solidFill>
            <a:srgbClr val="F2E0DC"/>
          </a:solidFill>
          <a:ln/>
        </p:spPr>
        <p:txBody>
          <a:bodyPr wrap="square" rtlCol="0" anchor="ctr"/>
          <a:lstStyle/>
          <a:p>
            <a:pPr indent="0" marL="0">
              <a:buNone/>
            </a:pPr>
            <a:endParaRPr lang="en-US" dirty="0"/>
          </a:p>
        </p:txBody>
      </p:sp>
      <p:sp>
        <p:nvSpPr>
          <p:cNvPr id="18" name="Shape 16"/>
          <p:cNvSpPr/>
          <p:nvPr/>
        </p:nvSpPr>
        <p:spPr>
          <a:xfrm>
            <a:off x="457200" y="4261247"/>
            <a:ext cx="8229600" cy="0"/>
          </a:xfrm>
          <a:prstGeom prst="line">
            <a:avLst/>
          </a:prstGeom>
          <a:noFill/>
          <a:ln w="7144">
            <a:solidFill>
              <a:srgbClr val="D9D2BF"/>
            </a:solidFill>
            <a:prstDash val="solid"/>
          </a:ln>
        </p:spPr>
        <p:txBody>
          <a:bodyPr/>
          <a:p/>
        </p:txBody>
      </p:sp>
      <p:sp>
        <p:nvSpPr>
          <p:cNvPr id="19" name="Shape 17"/>
          <p:cNvSpPr/>
          <p:nvPr/>
        </p:nvSpPr>
        <p:spPr>
          <a:xfrm>
            <a:off x="8683228" y="4257675"/>
            <a:ext cx="0" cy="442913"/>
          </a:xfrm>
          <a:prstGeom prst="line">
            <a:avLst/>
          </a:prstGeom>
          <a:noFill/>
          <a:ln w="7144">
            <a:solidFill>
              <a:srgbClr val="D9D2BF"/>
            </a:solidFill>
            <a:prstDash val="solid"/>
          </a:ln>
        </p:spPr>
        <p:txBody>
          <a:bodyPr/>
          <a:p/>
        </p:txBody>
      </p:sp>
      <p:sp>
        <p:nvSpPr>
          <p:cNvPr id="20" name="Shape 18"/>
          <p:cNvSpPr/>
          <p:nvPr/>
        </p:nvSpPr>
        <p:spPr>
          <a:xfrm>
            <a:off x="457200" y="4697016"/>
            <a:ext cx="8229600" cy="0"/>
          </a:xfrm>
          <a:prstGeom prst="line">
            <a:avLst/>
          </a:prstGeom>
          <a:noFill/>
          <a:ln w="7144">
            <a:solidFill>
              <a:srgbClr val="D9D2BF"/>
            </a:solidFill>
            <a:prstDash val="solid"/>
          </a:ln>
        </p:spPr>
        <p:txBody>
          <a:bodyPr/>
          <a:p/>
        </p:txBody>
      </p:sp>
      <p:sp>
        <p:nvSpPr>
          <p:cNvPr id="21" name="Shape 19"/>
          <p:cNvSpPr/>
          <p:nvPr/>
        </p:nvSpPr>
        <p:spPr>
          <a:xfrm>
            <a:off x="471488" y="4257675"/>
            <a:ext cx="0" cy="442913"/>
          </a:xfrm>
          <a:prstGeom prst="line">
            <a:avLst/>
          </a:prstGeom>
          <a:noFill/>
          <a:ln w="28575">
            <a:solidFill>
              <a:srgbClr val="B23A2A"/>
            </a:solidFill>
            <a:prstDash val="solid"/>
          </a:ln>
        </p:spPr>
        <p:txBody>
          <a:bodyPr/>
          <a:p/>
        </p:txBody>
      </p:sp>
      <p:sp>
        <p:nvSpPr>
          <p:cNvPr id="22" name="Text 20"/>
          <p:cNvSpPr/>
          <p:nvPr/>
        </p:nvSpPr>
        <p:spPr>
          <a:xfrm>
            <a:off x="642938" y="4379119"/>
            <a:ext cx="200025" cy="200025"/>
          </a:xfrm>
          <a:prstGeom prst="rect">
            <a:avLst/>
          </a:prstGeom>
          <a:noFill/>
          <a:ln/>
        </p:spPr>
        <p:txBody>
          <a:bodyPr wrap="none" lIns="0" tIns="0" rIns="0" bIns="0" rtlCol="0" anchor="ctr"/>
          <a:lstStyle/>
          <a:p>
            <a:pPr algn="ctr" indent="0" marL="0">
              <a:buNone/>
            </a:pPr>
            <a:r>
              <a:rPr lang="en-US" sz="1969" dirty="0">
                <a:solidFill>
                  <a:srgbClr val="B23A2A"/>
                </a:solidFill>
                <a:latin typeface="Segoe UI Symbol" pitchFamily="34" charset="0"/>
                <a:ea typeface="Segoe UI Symbol" pitchFamily="34" charset="-122"/>
                <a:cs typeface="Segoe UI Symbol" pitchFamily="34" charset="-120"/>
              </a:rPr>
              <a:t>⚠</a:t>
            </a:r>
            <a:endParaRPr lang="en-US" sz="1969" dirty="0"/>
          </a:p>
        </p:txBody>
      </p:sp>
      <p:sp>
        <p:nvSpPr>
          <p:cNvPr id="23" name="Text 21"/>
          <p:cNvSpPr/>
          <p:nvPr/>
        </p:nvSpPr>
        <p:spPr>
          <a:xfrm>
            <a:off x="942975" y="4398764"/>
            <a:ext cx="7579519" cy="173593"/>
          </a:xfrm>
          <a:prstGeom prst="rect">
            <a:avLst/>
          </a:prstGeom>
          <a:noFill/>
          <a:ln/>
        </p:spPr>
        <p:txBody>
          <a:bodyPr wrap="square" lIns="0" tIns="0" rIns="0" bIns="0" rtlCol="0" anchor="t"/>
          <a:lstStyle/>
          <a:p>
            <a:pPr algn="l" indent="0" marL="0">
              <a:lnSpc>
                <a:spcPts val="1266"/>
              </a:lnSpc>
              <a:buNone/>
            </a:pPr>
            <a:r>
              <a:rPr lang="en-US" sz="844" dirty="0">
                <a:solidFill>
                  <a:srgbClr val="B23A2A"/>
                </a:solidFill>
                <a:latin typeface="Carlito" pitchFamily="34" charset="0"/>
                <a:ea typeface="Carlito" pitchFamily="34" charset="-122"/>
                <a:cs typeface="Carlito" pitchFamily="34" charset="-120"/>
              </a:rPr>
              <a:t>অসম্পূর্ণ লেবেল বা অনুপস্থিত তথ্য — সরাসরি আইন লঙ্ঘন, পণ্য বাজেয়াপ্তযোগ্য</a:t>
            </a:r>
            <a:endParaRPr lang="en-US" sz="844" dirty="0"/>
          </a:p>
        </p:txBody>
      </p:sp>
      <p:sp>
        <p:nvSpPr>
          <p:cNvPr id="24" name="Text 22"/>
          <p:cNvSpPr/>
          <p:nvPr/>
        </p:nvSpPr>
        <p:spPr>
          <a:xfrm>
            <a:off x="8709013" y="4706392"/>
            <a:ext cx="28450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১৮</a:t>
            </a:r>
            <a:endParaRPr lang="en-US" sz="1350" dirty="0"/>
          </a:p>
        </p:txBody>
      </p:sp>
      <p:pic>
        <p:nvPicPr>
          <p:cNvPr id="25"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7579742" y="-285750"/>
            <a:ext cx="1564258" cy="2160270"/>
          </a:xfrm>
          <a:prstGeom prst="rect">
            <a:avLst/>
          </a:prstGeom>
          <a:noFill/>
          <a:ln/>
        </p:spPr>
        <p:txBody>
          <a:bodyPr wrap="none" lIns="0" tIns="0" rIns="0" bIns="0" rtlCol="0" anchor="t"/>
          <a:lstStyle/>
          <a:p>
            <a:pPr algn="l" indent="0" marL="0">
              <a:lnSpc>
                <a:spcPts val="15750"/>
              </a:lnSpc>
              <a:buNone/>
            </a:pPr>
            <a:r>
              <a:rPr lang="en-US" sz="15750" b="1" dirty="0">
                <a:solidFill>
                  <a:srgbClr val="C7912C">
                    <a:alpha val="6000"/>
                  </a:srgbClr>
                </a:solidFill>
                <a:latin typeface="Carlito" pitchFamily="34" charset="0"/>
                <a:ea typeface="Carlito" pitchFamily="34" charset="-122"/>
                <a:cs typeface="Carlito" pitchFamily="34" charset="-120"/>
              </a:rPr>
              <a:t>%</a:t>
            </a:r>
            <a:endParaRPr lang="en-US" sz="15750" dirty="0"/>
          </a:p>
        </p:txBody>
      </p:sp>
      <p:sp>
        <p:nvSpPr>
          <p:cNvPr id="3" name="Text 1"/>
          <p:cNvSpPr/>
          <p:nvPr/>
        </p:nvSpPr>
        <p:spPr>
          <a:xfrm>
            <a:off x="457200" y="474390"/>
            <a:ext cx="3746398"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০৩ · বালাইনাশক আইন, ২০১৮</a:t>
            </a:r>
            <a:endParaRPr lang="en-US" sz="1350" dirty="0"/>
          </a:p>
        </p:txBody>
      </p:sp>
      <p:sp>
        <p:nvSpPr>
          <p:cNvPr id="4" name="Text 2"/>
          <p:cNvSpPr/>
          <p:nvPr/>
        </p:nvSpPr>
        <p:spPr>
          <a:xfrm>
            <a:off x="457200" y="840060"/>
            <a:ext cx="8636000" cy="501764"/>
          </a:xfrm>
          <a:prstGeom prst="rect">
            <a:avLst/>
          </a:prstGeom>
          <a:noFill/>
          <a:ln/>
        </p:spPr>
        <p:txBody>
          <a:bodyPr wrap="none" lIns="0" tIns="0" rIns="0" bIns="0" rtlCol="0" anchor="t">
            <a:normAutofit/>
          </a:bodyPr>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কর ও অন্যান্য আর্থিক বিধান</a:t>
            </a:r>
            <a:endParaRPr lang="en-US" sz="3150" dirty="0"/>
          </a:p>
        </p:txBody>
      </p:sp>
      <p:sp>
        <p:nvSpPr>
          <p:cNvPr id="5" name="Text 3"/>
          <p:cNvSpPr/>
          <p:nvPr/>
        </p:nvSpPr>
        <p:spPr>
          <a:xfrm>
            <a:off x="457200" y="1369256"/>
            <a:ext cx="8229600" cy="169980"/>
          </a:xfrm>
          <a:prstGeom prst="rect">
            <a:avLst/>
          </a:prstGeom>
          <a:noFill/>
          <a:ln/>
        </p:spPr>
        <p:txBody>
          <a:bodyPr wrap="square" lIns="0" tIns="0" rIns="0" bIns="0" rtlCol="0" anchor="t"/>
          <a:lstStyle/>
          <a:p>
            <a:pPr algn="l" indent="0" marL="0">
              <a:lnSpc>
                <a:spcPts val="1221"/>
              </a:lnSpc>
              <a:buNone/>
            </a:pPr>
            <a:r>
              <a:rPr lang="en-US" sz="800" dirty="0">
                <a:solidFill>
                  <a:srgbClr val="4A4A4A"/>
                </a:solidFill>
                <a:latin typeface="Carlito" pitchFamily="34" charset="0"/>
                <a:ea typeface="Carlito" pitchFamily="34" charset="-122"/>
                <a:cs typeface="Carlito" pitchFamily="34" charset="-120"/>
              </a:rPr>
              <a:t>বালাইনাশক আমদানি, উৎপাদন, ও বিক্রয়ে প্রযোজ্য কর ও ফি</a:t>
            </a:r>
            <a:endParaRPr lang="en-US" sz="800" dirty="0"/>
          </a:p>
        </p:txBody>
      </p:sp>
      <p:sp>
        <p:nvSpPr>
          <p:cNvPr id="6" name="Shape 4"/>
          <p:cNvSpPr/>
          <p:nvPr/>
        </p:nvSpPr>
        <p:spPr>
          <a:xfrm>
            <a:off x="457200" y="1634914"/>
            <a:ext cx="400050" cy="0"/>
          </a:xfrm>
          <a:prstGeom prst="line">
            <a:avLst/>
          </a:prstGeom>
          <a:noFill/>
          <a:ln w="7144">
            <a:solidFill>
              <a:srgbClr val="1A1A1A"/>
            </a:solidFill>
            <a:prstDash val="solid"/>
          </a:ln>
        </p:spPr>
        <p:txBody>
          <a:bodyPr/>
          <a:p/>
        </p:txBody>
      </p:sp>
      <p:sp>
        <p:nvSpPr>
          <p:cNvPr id="7" name="Text 5"/>
          <p:cNvSpPr/>
          <p:nvPr/>
        </p:nvSpPr>
        <p:spPr>
          <a:xfrm>
            <a:off x="457200" y="1514475"/>
            <a:ext cx="2657475" cy="1234753"/>
          </a:xfrm>
          <a:prstGeom prst="roundRect">
            <a:avLst>
              <a:gd name="adj" fmla="val 10800"/>
            </a:avLst>
          </a:prstGeom>
          <a:solidFill>
            <a:srgbClr val="FFFFFF"/>
          </a:solidFill>
          <a:ln/>
        </p:spPr>
        <p:txBody>
          <a:bodyPr wrap="square" rtlCol="0" anchor="ctr"/>
          <a:lstStyle/>
          <a:p>
            <a:pPr indent="0" marL="0">
              <a:buNone/>
            </a:pPr>
            <a:endParaRPr lang="en-US" dirty="0"/>
          </a:p>
        </p:txBody>
      </p:sp>
      <p:sp>
        <p:nvSpPr>
          <p:cNvPr id="8" name="Shape 6"/>
          <p:cNvSpPr/>
          <p:nvPr/>
        </p:nvSpPr>
        <p:spPr>
          <a:xfrm>
            <a:off x="457200" y="1518047"/>
            <a:ext cx="2657475" cy="0"/>
          </a:xfrm>
          <a:prstGeom prst="line">
            <a:avLst/>
          </a:prstGeom>
          <a:noFill/>
          <a:ln w="7144">
            <a:solidFill>
              <a:srgbClr val="D9D2BF"/>
            </a:solidFill>
            <a:prstDash val="solid"/>
          </a:ln>
        </p:spPr>
        <p:txBody>
          <a:bodyPr/>
          <a:p/>
        </p:txBody>
      </p:sp>
      <p:sp>
        <p:nvSpPr>
          <p:cNvPr id="9" name="Shape 7"/>
          <p:cNvSpPr/>
          <p:nvPr/>
        </p:nvSpPr>
        <p:spPr>
          <a:xfrm>
            <a:off x="3111103" y="1514475"/>
            <a:ext cx="0" cy="1234753"/>
          </a:xfrm>
          <a:prstGeom prst="line">
            <a:avLst/>
          </a:prstGeom>
          <a:noFill/>
          <a:ln w="7144">
            <a:solidFill>
              <a:srgbClr val="D9D2BF"/>
            </a:solidFill>
            <a:prstDash val="solid"/>
          </a:ln>
        </p:spPr>
        <p:txBody>
          <a:bodyPr/>
          <a:p/>
        </p:txBody>
      </p:sp>
      <p:sp>
        <p:nvSpPr>
          <p:cNvPr id="10" name="Shape 8"/>
          <p:cNvSpPr/>
          <p:nvPr/>
        </p:nvSpPr>
        <p:spPr>
          <a:xfrm>
            <a:off x="457200" y="2745656"/>
            <a:ext cx="2657475" cy="0"/>
          </a:xfrm>
          <a:prstGeom prst="line">
            <a:avLst/>
          </a:prstGeom>
          <a:noFill/>
          <a:ln w="7144">
            <a:solidFill>
              <a:srgbClr val="D9D2BF"/>
            </a:solidFill>
            <a:prstDash val="solid"/>
          </a:ln>
        </p:spPr>
        <p:txBody>
          <a:bodyPr/>
          <a:p/>
        </p:txBody>
      </p:sp>
      <p:sp>
        <p:nvSpPr>
          <p:cNvPr id="11" name="Shape 9"/>
          <p:cNvSpPr/>
          <p:nvPr/>
        </p:nvSpPr>
        <p:spPr>
          <a:xfrm>
            <a:off x="471488" y="1514475"/>
            <a:ext cx="0" cy="1234753"/>
          </a:xfrm>
          <a:prstGeom prst="line">
            <a:avLst/>
          </a:prstGeom>
          <a:noFill/>
          <a:ln w="28575">
            <a:solidFill>
              <a:srgbClr val="C7912C"/>
            </a:solidFill>
            <a:prstDash val="solid"/>
          </a:ln>
        </p:spPr>
        <p:txBody>
          <a:bodyPr/>
          <a:p/>
        </p:txBody>
      </p:sp>
      <p:sp>
        <p:nvSpPr>
          <p:cNvPr id="12" name="Text 10"/>
          <p:cNvSpPr/>
          <p:nvPr/>
        </p:nvSpPr>
        <p:spPr>
          <a:xfrm>
            <a:off x="642938" y="1693069"/>
            <a:ext cx="142875" cy="142875"/>
          </a:xfrm>
          <a:prstGeom prst="rect">
            <a:avLst/>
          </a:prstGeom>
          <a:noFill/>
          <a:ln/>
        </p:spPr>
        <p:txBody>
          <a:bodyPr wrap="none" lIns="0" tIns="0" rIns="0" bIns="0" rtlCol="0" anchor="ctr"/>
          <a:lstStyle/>
          <a:p>
            <a:pPr algn="ctr" indent="0" marL="0">
              <a:buNone/>
            </a:pPr>
            <a:r>
              <a:rPr lang="en-US" sz="1406" dirty="0">
                <a:solidFill>
                  <a:srgbClr val="C7912C"/>
                </a:solidFill>
                <a:latin typeface="Segoe UI Symbol" pitchFamily="34" charset="0"/>
                <a:ea typeface="Segoe UI Symbol" pitchFamily="34" charset="-122"/>
                <a:cs typeface="Segoe UI Symbol" pitchFamily="34" charset="-120"/>
              </a:rPr>
              <a:t>▤</a:t>
            </a:r>
            <a:endParaRPr lang="en-US" sz="1406" dirty="0"/>
          </a:p>
        </p:txBody>
      </p:sp>
      <p:sp>
        <p:nvSpPr>
          <p:cNvPr id="13" name="Text 11"/>
          <p:cNvSpPr/>
          <p:nvPr/>
        </p:nvSpPr>
        <p:spPr>
          <a:xfrm>
            <a:off x="842963" y="1698092"/>
            <a:ext cx="2107406" cy="170021"/>
          </a:xfrm>
          <a:prstGeom prst="rect">
            <a:avLst/>
          </a:prstGeom>
          <a:noFill/>
          <a:ln/>
        </p:spPr>
        <p:txBody>
          <a:bodyPr wrap="none" lIns="0" tIns="0" rIns="0" bIns="0" rtlCol="0" anchor="t"/>
          <a:lstStyle/>
          <a:p>
            <a:pPr algn="l" indent="0" marL="0">
              <a:lnSpc>
                <a:spcPts val="1046"/>
              </a:lnSpc>
              <a:buNone/>
            </a:pPr>
            <a:r>
              <a:rPr lang="en-US" sz="800" b="1" spc="95" kern="0" dirty="0">
                <a:solidFill>
                  <a:srgbClr val="9A6E1E"/>
                </a:solidFill>
                <a:latin typeface="Carlito" pitchFamily="34" charset="0"/>
                <a:ea typeface="Carlito" pitchFamily="34" charset="-122"/>
                <a:cs typeface="Carlito" pitchFamily="34" charset="-120"/>
              </a:rPr>
              <a:t>ভ্যাট</a:t>
            </a:r>
            <a:endParaRPr lang="en-US" sz="800" dirty="0"/>
          </a:p>
        </p:txBody>
      </p:sp>
      <p:sp>
        <p:nvSpPr>
          <p:cNvPr id="14" name="Text 12"/>
          <p:cNvSpPr/>
          <p:nvPr/>
        </p:nvSpPr>
        <p:spPr>
          <a:xfrm>
            <a:off x="642938" y="1878806"/>
            <a:ext cx="2307431" cy="529781"/>
          </a:xfrm>
          <a:prstGeom prst="rect">
            <a:avLst/>
          </a:prstGeom>
          <a:noFill/>
          <a:ln/>
        </p:spPr>
        <p:txBody>
          <a:bodyPr wrap="none" lIns="0" tIns="0" rIns="0" bIns="0" rtlCol="0" anchor="t">
            <a:normAutofit/>
          </a:bodyPr>
          <a:lstStyle/>
          <a:p>
            <a:pPr algn="l" indent="0" marL="0">
              <a:lnSpc>
                <a:spcPts val="4050"/>
              </a:lnSpc>
              <a:buNone/>
            </a:pPr>
            <a:r>
              <a:rPr lang="en-US" sz="4050" b="1" spc="-81" kern="0" dirty="0">
                <a:solidFill>
                  <a:srgbClr val="1E4D3B"/>
                </a:solidFill>
                <a:latin typeface="Carlito" pitchFamily="34" charset="0"/>
                <a:ea typeface="Carlito" pitchFamily="34" charset="-122"/>
                <a:cs typeface="Carlito" pitchFamily="34" charset="-120"/>
              </a:rPr>
              <a:t>১৫</a:t>
            </a:r>
            <a:pPr algn="l" indent="0" marL="0">
              <a:lnSpc>
                <a:spcPts val="4050"/>
              </a:lnSpc>
              <a:buNone/>
            </a:pPr>
            <a:r>
              <a:rPr lang="en-US" sz="2025" b="1" spc="-81" kern="0" dirty="0">
                <a:solidFill>
                  <a:srgbClr val="C7912C"/>
                </a:solidFill>
                <a:latin typeface="Carlito" pitchFamily="34" charset="0"/>
                <a:ea typeface="Carlito" pitchFamily="34" charset="-122"/>
                <a:cs typeface="Carlito" pitchFamily="34" charset="-120"/>
              </a:rPr>
              <a:t>%</a:t>
            </a:r>
            <a:endParaRPr lang="en-US" sz="4050" dirty="0"/>
          </a:p>
        </p:txBody>
      </p:sp>
      <p:sp>
        <p:nvSpPr>
          <p:cNvPr id="15" name="Text 13"/>
          <p:cNvSpPr/>
          <p:nvPr/>
        </p:nvSpPr>
        <p:spPr>
          <a:xfrm>
            <a:off x="642938" y="2436019"/>
            <a:ext cx="2417159" cy="134615"/>
          </a:xfrm>
          <a:prstGeom prst="rect">
            <a:avLst/>
          </a:prstGeom>
          <a:noFill/>
          <a:ln/>
        </p:spPr>
        <p:txBody>
          <a:bodyPr wrap="square" lIns="0" tIns="0" rIns="0" bIns="0" rtlCol="0" anchor="t"/>
          <a:lstStyle/>
          <a:p>
            <a:pPr algn="l" indent="0" marL="0">
              <a:lnSpc>
                <a:spcPts val="1060"/>
              </a:lnSpc>
              <a:buNone/>
            </a:pPr>
            <a:r>
              <a:rPr lang="en-US" sz="800" dirty="0">
                <a:solidFill>
                  <a:srgbClr val="6B6B6B"/>
                </a:solidFill>
                <a:latin typeface="Carlito" pitchFamily="34" charset="0"/>
                <a:ea typeface="Carlito" pitchFamily="34" charset="-122"/>
                <a:cs typeface="Carlito" pitchFamily="34" charset="-120"/>
              </a:rPr>
              <a:t>ভ্যাট — নির্দিষ্ট বালাইনাশক পণ্যে</a:t>
            </a:r>
            <a:endParaRPr lang="en-US" sz="800" dirty="0"/>
          </a:p>
        </p:txBody>
      </p:sp>
      <p:sp>
        <p:nvSpPr>
          <p:cNvPr id="16" name="Text 14"/>
          <p:cNvSpPr/>
          <p:nvPr/>
        </p:nvSpPr>
        <p:spPr>
          <a:xfrm>
            <a:off x="3243263" y="1514475"/>
            <a:ext cx="2657475" cy="1234753"/>
          </a:xfrm>
          <a:prstGeom prst="roundRect">
            <a:avLst>
              <a:gd name="adj" fmla="val 10800"/>
            </a:avLst>
          </a:prstGeom>
          <a:solidFill>
            <a:srgbClr val="FFFFFF"/>
          </a:solidFill>
          <a:ln/>
        </p:spPr>
        <p:txBody>
          <a:bodyPr wrap="square" rtlCol="0" anchor="ctr"/>
          <a:lstStyle/>
          <a:p>
            <a:pPr indent="0" marL="0">
              <a:buNone/>
            </a:pPr>
            <a:endParaRPr lang="en-US" dirty="0"/>
          </a:p>
        </p:txBody>
      </p:sp>
      <p:sp>
        <p:nvSpPr>
          <p:cNvPr id="17" name="Shape 15"/>
          <p:cNvSpPr/>
          <p:nvPr/>
        </p:nvSpPr>
        <p:spPr>
          <a:xfrm>
            <a:off x="3243263" y="1518047"/>
            <a:ext cx="2657475" cy="0"/>
          </a:xfrm>
          <a:prstGeom prst="line">
            <a:avLst/>
          </a:prstGeom>
          <a:noFill/>
          <a:ln w="7144">
            <a:solidFill>
              <a:srgbClr val="D9D2BF"/>
            </a:solidFill>
            <a:prstDash val="solid"/>
          </a:ln>
        </p:spPr>
        <p:txBody>
          <a:bodyPr/>
          <a:p/>
        </p:txBody>
      </p:sp>
      <p:sp>
        <p:nvSpPr>
          <p:cNvPr id="18" name="Shape 16"/>
          <p:cNvSpPr/>
          <p:nvPr/>
        </p:nvSpPr>
        <p:spPr>
          <a:xfrm>
            <a:off x="5897166" y="1514475"/>
            <a:ext cx="0" cy="1234753"/>
          </a:xfrm>
          <a:prstGeom prst="line">
            <a:avLst/>
          </a:prstGeom>
          <a:noFill/>
          <a:ln w="7144">
            <a:solidFill>
              <a:srgbClr val="D9D2BF"/>
            </a:solidFill>
            <a:prstDash val="solid"/>
          </a:ln>
        </p:spPr>
        <p:txBody>
          <a:bodyPr/>
          <a:p/>
        </p:txBody>
      </p:sp>
      <p:sp>
        <p:nvSpPr>
          <p:cNvPr id="19" name="Shape 17"/>
          <p:cNvSpPr/>
          <p:nvPr/>
        </p:nvSpPr>
        <p:spPr>
          <a:xfrm>
            <a:off x="3243263" y="2745656"/>
            <a:ext cx="2657475" cy="0"/>
          </a:xfrm>
          <a:prstGeom prst="line">
            <a:avLst/>
          </a:prstGeom>
          <a:noFill/>
          <a:ln w="7144">
            <a:solidFill>
              <a:srgbClr val="D9D2BF"/>
            </a:solidFill>
            <a:prstDash val="solid"/>
          </a:ln>
        </p:spPr>
        <p:txBody>
          <a:bodyPr/>
          <a:p/>
        </p:txBody>
      </p:sp>
      <p:sp>
        <p:nvSpPr>
          <p:cNvPr id="20" name="Shape 18"/>
          <p:cNvSpPr/>
          <p:nvPr/>
        </p:nvSpPr>
        <p:spPr>
          <a:xfrm>
            <a:off x="3257550" y="1514475"/>
            <a:ext cx="0" cy="1234753"/>
          </a:xfrm>
          <a:prstGeom prst="line">
            <a:avLst/>
          </a:prstGeom>
          <a:noFill/>
          <a:ln w="28575">
            <a:solidFill>
              <a:srgbClr val="C7912C"/>
            </a:solidFill>
            <a:prstDash val="solid"/>
          </a:ln>
        </p:spPr>
        <p:txBody>
          <a:bodyPr/>
          <a:p/>
        </p:txBody>
      </p:sp>
      <p:sp>
        <p:nvSpPr>
          <p:cNvPr id="21" name="Text 19"/>
          <p:cNvSpPr/>
          <p:nvPr/>
        </p:nvSpPr>
        <p:spPr>
          <a:xfrm>
            <a:off x="3429000" y="1693069"/>
            <a:ext cx="142875" cy="142875"/>
          </a:xfrm>
          <a:prstGeom prst="rect">
            <a:avLst/>
          </a:prstGeom>
          <a:noFill/>
          <a:ln/>
        </p:spPr>
        <p:txBody>
          <a:bodyPr wrap="none" lIns="0" tIns="0" rIns="0" bIns="0" rtlCol="0" anchor="ctr"/>
          <a:lstStyle/>
          <a:p>
            <a:pPr algn="ctr" indent="0" marL="0">
              <a:buNone/>
            </a:pPr>
            <a:r>
              <a:rPr lang="en-US" sz="1406" dirty="0">
                <a:solidFill>
                  <a:srgbClr val="C7912C"/>
                </a:solidFill>
                <a:latin typeface="Segoe UI Symbol" pitchFamily="34" charset="0"/>
                <a:ea typeface="Segoe UI Symbol" pitchFamily="34" charset="-122"/>
                <a:cs typeface="Segoe UI Symbol" pitchFamily="34" charset="-120"/>
              </a:rPr>
              <a:t>✈</a:t>
            </a:r>
            <a:endParaRPr lang="en-US" sz="1406" dirty="0"/>
          </a:p>
        </p:txBody>
      </p:sp>
      <p:sp>
        <p:nvSpPr>
          <p:cNvPr id="22" name="Text 20"/>
          <p:cNvSpPr/>
          <p:nvPr/>
        </p:nvSpPr>
        <p:spPr>
          <a:xfrm>
            <a:off x="3629025" y="1698092"/>
            <a:ext cx="2107406" cy="170021"/>
          </a:xfrm>
          <a:prstGeom prst="rect">
            <a:avLst/>
          </a:prstGeom>
          <a:noFill/>
          <a:ln/>
        </p:spPr>
        <p:txBody>
          <a:bodyPr wrap="none" lIns="0" tIns="0" rIns="0" bIns="0" rtlCol="0" anchor="t"/>
          <a:lstStyle/>
          <a:p>
            <a:pPr algn="l" indent="0" marL="0">
              <a:lnSpc>
                <a:spcPts val="1046"/>
              </a:lnSpc>
              <a:buNone/>
            </a:pPr>
            <a:r>
              <a:rPr lang="en-US" sz="800" b="1" spc="95" kern="0" dirty="0">
                <a:solidFill>
                  <a:srgbClr val="9A6E1E"/>
                </a:solidFill>
                <a:latin typeface="Carlito" pitchFamily="34" charset="0"/>
                <a:ea typeface="Carlito" pitchFamily="34" charset="-122"/>
                <a:cs typeface="Carlito" pitchFamily="34" charset="-120"/>
              </a:rPr>
              <a:t>অগ্রিম আয়কর</a:t>
            </a:r>
            <a:endParaRPr lang="en-US" sz="800" dirty="0"/>
          </a:p>
        </p:txBody>
      </p:sp>
      <p:sp>
        <p:nvSpPr>
          <p:cNvPr id="23" name="Text 21"/>
          <p:cNvSpPr/>
          <p:nvPr/>
        </p:nvSpPr>
        <p:spPr>
          <a:xfrm>
            <a:off x="3429000" y="1878806"/>
            <a:ext cx="2307431" cy="529781"/>
          </a:xfrm>
          <a:prstGeom prst="rect">
            <a:avLst/>
          </a:prstGeom>
          <a:noFill/>
          <a:ln/>
        </p:spPr>
        <p:txBody>
          <a:bodyPr wrap="none" lIns="0" tIns="0" rIns="0" bIns="0" rtlCol="0" anchor="t">
            <a:normAutofit/>
          </a:bodyPr>
          <a:lstStyle/>
          <a:p>
            <a:pPr algn="l" indent="0" marL="0">
              <a:lnSpc>
                <a:spcPts val="4050"/>
              </a:lnSpc>
              <a:buNone/>
            </a:pPr>
            <a:r>
              <a:rPr lang="en-US" sz="4050" b="1" spc="-81" kern="0" dirty="0">
                <a:solidFill>
                  <a:srgbClr val="1E4D3B"/>
                </a:solidFill>
                <a:latin typeface="Carlito" pitchFamily="34" charset="0"/>
                <a:ea typeface="Carlito" pitchFamily="34" charset="-122"/>
                <a:cs typeface="Carlito" pitchFamily="34" charset="-120"/>
              </a:rPr>
              <a:t>৫</a:t>
            </a:r>
            <a:pPr algn="l" indent="0" marL="0">
              <a:lnSpc>
                <a:spcPts val="4050"/>
              </a:lnSpc>
              <a:buNone/>
            </a:pPr>
            <a:r>
              <a:rPr lang="en-US" sz="2025" b="1" spc="-81" kern="0" dirty="0">
                <a:solidFill>
                  <a:srgbClr val="C7912C"/>
                </a:solidFill>
                <a:latin typeface="Carlito" pitchFamily="34" charset="0"/>
                <a:ea typeface="Carlito" pitchFamily="34" charset="-122"/>
                <a:cs typeface="Carlito" pitchFamily="34" charset="-120"/>
              </a:rPr>
              <a:t>%</a:t>
            </a:r>
            <a:endParaRPr lang="en-US" sz="4050" dirty="0"/>
          </a:p>
        </p:txBody>
      </p:sp>
      <p:sp>
        <p:nvSpPr>
          <p:cNvPr id="24" name="Text 22"/>
          <p:cNvSpPr/>
          <p:nvPr/>
        </p:nvSpPr>
        <p:spPr>
          <a:xfrm>
            <a:off x="3429000" y="2436019"/>
            <a:ext cx="2417159" cy="134615"/>
          </a:xfrm>
          <a:prstGeom prst="rect">
            <a:avLst/>
          </a:prstGeom>
          <a:noFill/>
          <a:ln/>
        </p:spPr>
        <p:txBody>
          <a:bodyPr wrap="square" lIns="0" tIns="0" rIns="0" bIns="0" rtlCol="0" anchor="t"/>
          <a:lstStyle/>
          <a:p>
            <a:pPr algn="l" indent="0" marL="0">
              <a:lnSpc>
                <a:spcPts val="1060"/>
              </a:lnSpc>
              <a:buNone/>
            </a:pPr>
            <a:r>
              <a:rPr lang="en-US" sz="800" dirty="0">
                <a:solidFill>
                  <a:srgbClr val="6B6B6B"/>
                </a:solidFill>
                <a:latin typeface="Carlito" pitchFamily="34" charset="0"/>
                <a:ea typeface="Carlito" pitchFamily="34" charset="-122"/>
                <a:cs typeface="Carlito" pitchFamily="34" charset="-120"/>
              </a:rPr>
              <a:t>অগ্রিম আয়কর — আমদানিকারকের জন্য</a:t>
            </a:r>
            <a:endParaRPr lang="en-US" sz="800" dirty="0"/>
          </a:p>
        </p:txBody>
      </p:sp>
      <p:sp>
        <p:nvSpPr>
          <p:cNvPr id="25" name="Text 23"/>
          <p:cNvSpPr/>
          <p:nvPr/>
        </p:nvSpPr>
        <p:spPr>
          <a:xfrm>
            <a:off x="6029325" y="1514475"/>
            <a:ext cx="2657475" cy="1234753"/>
          </a:xfrm>
          <a:prstGeom prst="roundRect">
            <a:avLst>
              <a:gd name="adj" fmla="val 10800"/>
            </a:avLst>
          </a:prstGeom>
          <a:solidFill>
            <a:srgbClr val="FFFFFF"/>
          </a:solidFill>
          <a:ln/>
        </p:spPr>
        <p:txBody>
          <a:bodyPr wrap="square" rtlCol="0" anchor="ctr"/>
          <a:lstStyle/>
          <a:p>
            <a:pPr indent="0" marL="0">
              <a:buNone/>
            </a:pPr>
            <a:endParaRPr lang="en-US" dirty="0"/>
          </a:p>
        </p:txBody>
      </p:sp>
      <p:sp>
        <p:nvSpPr>
          <p:cNvPr id="26" name="Shape 24"/>
          <p:cNvSpPr/>
          <p:nvPr/>
        </p:nvSpPr>
        <p:spPr>
          <a:xfrm>
            <a:off x="6029325" y="1518047"/>
            <a:ext cx="2657475" cy="0"/>
          </a:xfrm>
          <a:prstGeom prst="line">
            <a:avLst/>
          </a:prstGeom>
          <a:noFill/>
          <a:ln w="7144">
            <a:solidFill>
              <a:srgbClr val="D9D2BF"/>
            </a:solidFill>
            <a:prstDash val="solid"/>
          </a:ln>
        </p:spPr>
        <p:txBody>
          <a:bodyPr/>
          <a:p/>
        </p:txBody>
      </p:sp>
      <p:sp>
        <p:nvSpPr>
          <p:cNvPr id="27" name="Shape 25"/>
          <p:cNvSpPr/>
          <p:nvPr/>
        </p:nvSpPr>
        <p:spPr>
          <a:xfrm>
            <a:off x="8683228" y="1514475"/>
            <a:ext cx="0" cy="1234753"/>
          </a:xfrm>
          <a:prstGeom prst="line">
            <a:avLst/>
          </a:prstGeom>
          <a:noFill/>
          <a:ln w="7144">
            <a:solidFill>
              <a:srgbClr val="D9D2BF"/>
            </a:solidFill>
            <a:prstDash val="solid"/>
          </a:ln>
        </p:spPr>
        <p:txBody>
          <a:bodyPr/>
          <a:p/>
        </p:txBody>
      </p:sp>
      <p:sp>
        <p:nvSpPr>
          <p:cNvPr id="28" name="Shape 26"/>
          <p:cNvSpPr/>
          <p:nvPr/>
        </p:nvSpPr>
        <p:spPr>
          <a:xfrm>
            <a:off x="6029325" y="2745656"/>
            <a:ext cx="2657475" cy="0"/>
          </a:xfrm>
          <a:prstGeom prst="line">
            <a:avLst/>
          </a:prstGeom>
          <a:noFill/>
          <a:ln w="7144">
            <a:solidFill>
              <a:srgbClr val="D9D2BF"/>
            </a:solidFill>
            <a:prstDash val="solid"/>
          </a:ln>
        </p:spPr>
        <p:txBody>
          <a:bodyPr/>
          <a:p/>
        </p:txBody>
      </p:sp>
      <p:sp>
        <p:nvSpPr>
          <p:cNvPr id="29" name="Shape 27"/>
          <p:cNvSpPr/>
          <p:nvPr/>
        </p:nvSpPr>
        <p:spPr>
          <a:xfrm>
            <a:off x="6043613" y="1514475"/>
            <a:ext cx="0" cy="1234753"/>
          </a:xfrm>
          <a:prstGeom prst="line">
            <a:avLst/>
          </a:prstGeom>
          <a:noFill/>
          <a:ln w="28575">
            <a:solidFill>
              <a:srgbClr val="C7912C"/>
            </a:solidFill>
            <a:prstDash val="solid"/>
          </a:ln>
        </p:spPr>
        <p:txBody>
          <a:bodyPr/>
          <a:p/>
        </p:txBody>
      </p:sp>
      <p:sp>
        <p:nvSpPr>
          <p:cNvPr id="30" name="Text 28"/>
          <p:cNvSpPr/>
          <p:nvPr/>
        </p:nvSpPr>
        <p:spPr>
          <a:xfrm>
            <a:off x="6215063" y="1693069"/>
            <a:ext cx="142875" cy="142875"/>
          </a:xfrm>
          <a:prstGeom prst="rect">
            <a:avLst/>
          </a:prstGeom>
          <a:noFill/>
          <a:ln/>
        </p:spPr>
        <p:txBody>
          <a:bodyPr wrap="none" lIns="0" tIns="0" rIns="0" bIns="0" rtlCol="0" anchor="ctr"/>
          <a:lstStyle/>
          <a:p>
            <a:pPr algn="ctr" indent="0" marL="0">
              <a:buNone/>
            </a:pPr>
            <a:r>
              <a:rPr lang="en-US" sz="1406" dirty="0">
                <a:solidFill>
                  <a:srgbClr val="C7912C"/>
                </a:solidFill>
                <a:latin typeface="Segoe UI Symbol" pitchFamily="34" charset="0"/>
                <a:ea typeface="Segoe UI Symbol" pitchFamily="34" charset="-122"/>
                <a:cs typeface="Segoe UI Symbol" pitchFamily="34" charset="-120"/>
              </a:rPr>
              <a:t>🏪</a:t>
            </a:r>
            <a:endParaRPr lang="en-US" sz="1406" dirty="0"/>
          </a:p>
        </p:txBody>
      </p:sp>
      <p:sp>
        <p:nvSpPr>
          <p:cNvPr id="31" name="Text 29"/>
          <p:cNvSpPr/>
          <p:nvPr/>
        </p:nvSpPr>
        <p:spPr>
          <a:xfrm>
            <a:off x="6415088" y="1698092"/>
            <a:ext cx="2107406" cy="170021"/>
          </a:xfrm>
          <a:prstGeom prst="rect">
            <a:avLst/>
          </a:prstGeom>
          <a:noFill/>
          <a:ln/>
        </p:spPr>
        <p:txBody>
          <a:bodyPr wrap="none" lIns="0" tIns="0" rIns="0" bIns="0" rtlCol="0" anchor="t"/>
          <a:lstStyle/>
          <a:p>
            <a:pPr algn="l" indent="0" marL="0">
              <a:lnSpc>
                <a:spcPts val="1046"/>
              </a:lnSpc>
              <a:buNone/>
            </a:pPr>
            <a:r>
              <a:rPr lang="en-US" sz="800" b="1" spc="95" kern="0" dirty="0">
                <a:solidFill>
                  <a:srgbClr val="9A6E1E"/>
                </a:solidFill>
                <a:latin typeface="Carlito" pitchFamily="34" charset="0"/>
                <a:ea typeface="Carlito" pitchFamily="34" charset="-122"/>
                <a:cs typeface="Carlito" pitchFamily="34" charset="-120"/>
              </a:rPr>
              <a:t>সোর্স ট্যাক্স</a:t>
            </a:r>
            <a:endParaRPr lang="en-US" sz="800" dirty="0"/>
          </a:p>
        </p:txBody>
      </p:sp>
      <p:sp>
        <p:nvSpPr>
          <p:cNvPr id="32" name="Text 30"/>
          <p:cNvSpPr/>
          <p:nvPr/>
        </p:nvSpPr>
        <p:spPr>
          <a:xfrm>
            <a:off x="6215063" y="1878806"/>
            <a:ext cx="2307431" cy="529781"/>
          </a:xfrm>
          <a:prstGeom prst="rect">
            <a:avLst/>
          </a:prstGeom>
          <a:noFill/>
          <a:ln/>
        </p:spPr>
        <p:txBody>
          <a:bodyPr wrap="none" lIns="0" tIns="0" rIns="0" bIns="0" rtlCol="0" anchor="t">
            <a:normAutofit/>
          </a:bodyPr>
          <a:lstStyle/>
          <a:p>
            <a:pPr algn="l" indent="0" marL="0">
              <a:lnSpc>
                <a:spcPts val="4050"/>
              </a:lnSpc>
              <a:buNone/>
            </a:pPr>
            <a:r>
              <a:rPr lang="en-US" sz="4050" b="1" spc="-81" kern="0" dirty="0">
                <a:solidFill>
                  <a:srgbClr val="1E4D3B"/>
                </a:solidFill>
                <a:latin typeface="Carlito" pitchFamily="34" charset="0"/>
                <a:ea typeface="Carlito" pitchFamily="34" charset="-122"/>
                <a:cs typeface="Carlito" pitchFamily="34" charset="-120"/>
              </a:rPr>
              <a:t>১</a:t>
            </a:r>
            <a:pPr algn="l" indent="0" marL="0">
              <a:lnSpc>
                <a:spcPts val="4050"/>
              </a:lnSpc>
              <a:buNone/>
            </a:pPr>
            <a:r>
              <a:rPr lang="en-US" sz="2025" b="1" spc="-81" kern="0" dirty="0">
                <a:solidFill>
                  <a:srgbClr val="C7912C"/>
                </a:solidFill>
                <a:latin typeface="Carlito" pitchFamily="34" charset="0"/>
                <a:ea typeface="Carlito" pitchFamily="34" charset="-122"/>
                <a:cs typeface="Carlito" pitchFamily="34" charset="-120"/>
              </a:rPr>
              <a:t>%</a:t>
            </a:r>
            <a:endParaRPr lang="en-US" sz="4050" dirty="0"/>
          </a:p>
        </p:txBody>
      </p:sp>
      <p:sp>
        <p:nvSpPr>
          <p:cNvPr id="33" name="Text 31"/>
          <p:cNvSpPr/>
          <p:nvPr/>
        </p:nvSpPr>
        <p:spPr>
          <a:xfrm>
            <a:off x="6215063" y="2436019"/>
            <a:ext cx="2417159" cy="134615"/>
          </a:xfrm>
          <a:prstGeom prst="rect">
            <a:avLst/>
          </a:prstGeom>
          <a:noFill/>
          <a:ln/>
        </p:spPr>
        <p:txBody>
          <a:bodyPr wrap="square" lIns="0" tIns="0" rIns="0" bIns="0" rtlCol="0" anchor="t"/>
          <a:lstStyle/>
          <a:p>
            <a:pPr algn="l" indent="0" marL="0">
              <a:lnSpc>
                <a:spcPts val="1060"/>
              </a:lnSpc>
              <a:buNone/>
            </a:pPr>
            <a:r>
              <a:rPr lang="en-US" sz="800" dirty="0">
                <a:solidFill>
                  <a:srgbClr val="6B6B6B"/>
                </a:solidFill>
                <a:latin typeface="Carlito" pitchFamily="34" charset="0"/>
                <a:ea typeface="Carlito" pitchFamily="34" charset="-122"/>
                <a:cs typeface="Carlito" pitchFamily="34" charset="-120"/>
              </a:rPr>
              <a:t>সোর্স ট্যাক্স — খুচরা বিক্রয়ে</a:t>
            </a:r>
            <a:endParaRPr lang="en-US" sz="800" dirty="0"/>
          </a:p>
        </p:txBody>
      </p:sp>
      <p:sp>
        <p:nvSpPr>
          <p:cNvPr id="34" name="Text 32"/>
          <p:cNvSpPr/>
          <p:nvPr/>
        </p:nvSpPr>
        <p:spPr>
          <a:xfrm>
            <a:off x="457200" y="4074840"/>
            <a:ext cx="8229600" cy="625748"/>
          </a:xfrm>
          <a:prstGeom prst="roundRect">
            <a:avLst>
              <a:gd name="adj" fmla="val 21310"/>
            </a:avLst>
          </a:prstGeom>
          <a:solidFill>
            <a:srgbClr val="F2ECDD"/>
          </a:solidFill>
          <a:ln/>
        </p:spPr>
        <p:txBody>
          <a:bodyPr wrap="square" rtlCol="0" anchor="ctr"/>
          <a:lstStyle/>
          <a:p>
            <a:pPr indent="0" marL="0">
              <a:buNone/>
            </a:pPr>
            <a:endParaRPr lang="en-US" dirty="0"/>
          </a:p>
        </p:txBody>
      </p:sp>
      <p:sp>
        <p:nvSpPr>
          <p:cNvPr id="35" name="Text 33"/>
          <p:cNvSpPr/>
          <p:nvPr/>
        </p:nvSpPr>
        <p:spPr>
          <a:xfrm>
            <a:off x="628650" y="4232002"/>
            <a:ext cx="171450" cy="171450"/>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36" name="Text 34"/>
          <p:cNvSpPr/>
          <p:nvPr/>
        </p:nvSpPr>
        <p:spPr>
          <a:xfrm>
            <a:off x="900113" y="4217715"/>
            <a:ext cx="7615238" cy="339998"/>
          </a:xfrm>
          <a:prstGeom prst="rect">
            <a:avLst/>
          </a:prstGeom>
          <a:noFill/>
          <a:ln/>
        </p:spPr>
        <p:txBody>
          <a:bodyPr wrap="square" lIns="0" tIns="0" rIns="0" bIns="0" rtlCol="0" anchor="t"/>
          <a:lstStyle/>
          <a:p>
            <a:pPr algn="l" indent="0" marL="0">
              <a:lnSpc>
                <a:spcPts val="1339"/>
              </a:lnSpc>
              <a:buNone/>
            </a:pPr>
            <a:r>
              <a:rPr lang="en-US" sz="800" dirty="0">
                <a:solidFill>
                  <a:srgbClr val="1A1A1A"/>
                </a:solidFill>
                <a:latin typeface="Carlito" pitchFamily="34" charset="0"/>
                <a:ea typeface="Carlito" pitchFamily="34" charset="-122"/>
                <a:cs typeface="Carlito" pitchFamily="34" charset="-120"/>
              </a:rPr>
              <a:t>বালাইনাশক আমদানি, উৎপাদন, ও বিক্রয়ে নির্দিষ্ট কর প্রযোজ্য। সরকার অনুমোদিত জৈব বালাইনাশক ও স্থানীয় উৎপাদিত কিছু পণ্যে কর ছাড় প্রদান করে। </a:t>
            </a:r>
            <a:pPr algn="l" indent="0" marL="0">
              <a:lnSpc>
                <a:spcPts val="1339"/>
              </a:lnSpc>
              <a:buNone/>
            </a:pPr>
            <a:r>
              <a:rPr lang="en-US" sz="800" dirty="0">
                <a:solidFill>
                  <a:srgbClr val="1E4D3B"/>
                </a:solidFill>
                <a:latin typeface="Carlito" pitchFamily="34" charset="0"/>
                <a:ea typeface="Carlito" pitchFamily="34" charset="-122"/>
                <a:cs typeface="Carlito" pitchFamily="34" charset="-120"/>
              </a:rPr>
              <a:t>খুচরা বিক্রেতার দায়িত্ব</a:t>
            </a:r>
            <a:pPr algn="l" indent="0" marL="0">
              <a:lnSpc>
                <a:spcPts val="1339"/>
              </a:lnSpc>
              <a:buNone/>
            </a:pPr>
            <a:r>
              <a:rPr lang="en-US" sz="800" dirty="0">
                <a:solidFill>
                  <a:srgbClr val="1A1A1A"/>
                </a:solidFill>
                <a:latin typeface="Carlito" pitchFamily="34" charset="0"/>
                <a:ea typeface="Carlito" pitchFamily="34" charset="-122"/>
                <a:cs typeface="Carlito" pitchFamily="34" charset="-120"/>
              </a:rPr>
              <a:t> — প্রতিটি বিক্রয় রসিদে সঠিক কর হিসাব উল্লেখ এবং মাসিক ভ্যাট রিটার্ন দাখিল। কর ফাঁকি আইনত দণ্ডনীয় — জরিমানা ও লাইসেন্স বাতিল হতে পারে।</a:t>
            </a:r>
            <a:endParaRPr lang="en-US" sz="800" dirty="0"/>
          </a:p>
        </p:txBody>
      </p:sp>
      <p:sp>
        <p:nvSpPr>
          <p:cNvPr id="37" name="Text 35"/>
          <p:cNvSpPr/>
          <p:nvPr/>
        </p:nvSpPr>
        <p:spPr>
          <a:xfrm>
            <a:off x="8709013" y="4706392"/>
            <a:ext cx="28450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১৯</a:t>
            </a:r>
            <a:endParaRPr lang="en-US" sz="1350" dirty="0"/>
          </a:p>
        </p:txBody>
      </p:sp>
      <p:pic>
        <p:nvPicPr>
          <p:cNvPr id="38"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840435" cy="5143500"/>
          </a:xfrm>
          <a:prstGeom prst="rect">
            <a:avLst/>
          </a:prstGeom>
        </p:spPr>
      </p:pic>
      <p:sp>
        <p:nvSpPr>
          <p:cNvPr id="3" name="Text 0"/>
          <p:cNvSpPr/>
          <p:nvPr/>
        </p:nvSpPr>
        <p:spPr>
          <a:xfrm>
            <a:off x="7865269" y="435769"/>
            <a:ext cx="842963" cy="842963"/>
          </a:xfrm>
          <a:prstGeom prst="ellipse">
            <a:avLst/>
          </a:prstGeom>
          <a:noFill/>
          <a:ln w="14288">
            <a:solidFill>
              <a:srgbClr val="C7912C"/>
            </a:solidFill>
            <a:prstDash val="solid"/>
          </a:ln>
        </p:spPr>
        <p:txBody>
          <a:bodyPr wrap="square" rtlCol="0" anchor="ctr"/>
          <a:lstStyle/>
          <a:p>
            <a:pPr indent="0" marL="0">
              <a:buNone/>
            </a:pPr>
            <a:endParaRPr lang="en-US" dirty="0"/>
          </a:p>
        </p:txBody>
      </p:sp>
      <p:sp>
        <p:nvSpPr>
          <p:cNvPr id="4" name="Text 1"/>
          <p:cNvSpPr/>
          <p:nvPr/>
        </p:nvSpPr>
        <p:spPr>
          <a:xfrm>
            <a:off x="7715250" y="3714750"/>
            <a:ext cx="571500" cy="571500"/>
          </a:xfrm>
          <a:prstGeom prst="ellipse">
            <a:avLst/>
          </a:prstGeom>
          <a:solidFill>
            <a:srgbClr val="C7912C">
              <a:alpha val="8000"/>
            </a:srgbClr>
          </a:solidFill>
          <a:ln/>
        </p:spPr>
        <p:txBody>
          <a:bodyPr wrap="square" rtlCol="0" anchor="ctr"/>
          <a:lstStyle/>
          <a:p>
            <a:pPr indent="0" marL="0">
              <a:buNone/>
            </a:pPr>
            <a:endParaRPr lang="en-US" dirty="0"/>
          </a:p>
        </p:txBody>
      </p:sp>
      <p:sp>
        <p:nvSpPr>
          <p:cNvPr id="5" name="Text 2"/>
          <p:cNvSpPr/>
          <p:nvPr/>
        </p:nvSpPr>
        <p:spPr>
          <a:xfrm>
            <a:off x="4937671" y="1582899"/>
            <a:ext cx="3201940"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অধ্যায় · ফিল্ড শনাক্তকরণ</a:t>
            </a:r>
            <a:endParaRPr lang="en-US" sz="1350" dirty="0"/>
          </a:p>
        </p:txBody>
      </p:sp>
      <p:sp>
        <p:nvSpPr>
          <p:cNvPr id="6" name="Text 3"/>
          <p:cNvSpPr/>
          <p:nvPr/>
        </p:nvSpPr>
        <p:spPr>
          <a:xfrm>
            <a:off x="4937671" y="1977144"/>
            <a:ext cx="3936586" cy="479069"/>
          </a:xfrm>
          <a:prstGeom prst="rect">
            <a:avLst/>
          </a:prstGeom>
          <a:noFill/>
          <a:ln/>
        </p:spPr>
        <p:txBody>
          <a:bodyPr wrap="none" lIns="0" tIns="0" rIns="0" bIns="0" rtlCol="0" anchor="t"/>
          <a:lstStyle/>
          <a:p>
            <a:pPr algn="l" indent="0" marL="0">
              <a:lnSpc>
                <a:spcPts val="3493"/>
              </a:lnSpc>
              <a:buNone/>
            </a:pPr>
            <a:r>
              <a:rPr lang="en-US" sz="3038" b="1" spc="-30" kern="0" dirty="0">
                <a:solidFill>
                  <a:srgbClr val="14342A"/>
                </a:solidFill>
                <a:latin typeface="Tinos" pitchFamily="34" charset="0"/>
                <a:ea typeface="Tinos" pitchFamily="34" charset="-122"/>
                <a:cs typeface="Tinos" pitchFamily="34" charset="-120"/>
              </a:rPr>
              <a:t>মাঠ পর্যায়ে শনাক্তকরণ</a:t>
            </a:r>
            <a:endParaRPr lang="en-US" sz="3038" dirty="0"/>
          </a:p>
        </p:txBody>
      </p:sp>
      <p:sp>
        <p:nvSpPr>
          <p:cNvPr id="7" name="Shape 4"/>
          <p:cNvSpPr/>
          <p:nvPr/>
        </p:nvSpPr>
        <p:spPr>
          <a:xfrm>
            <a:off x="4937671" y="2588605"/>
            <a:ext cx="400050" cy="0"/>
          </a:xfrm>
          <a:prstGeom prst="line">
            <a:avLst/>
          </a:prstGeom>
          <a:noFill/>
          <a:ln w="7144">
            <a:solidFill>
              <a:srgbClr val="1A1A1A"/>
            </a:solidFill>
            <a:prstDash val="solid"/>
          </a:ln>
        </p:spPr>
        <p:txBody>
          <a:bodyPr/>
          <a:p/>
        </p:txBody>
      </p:sp>
      <p:sp>
        <p:nvSpPr>
          <p:cNvPr id="8" name="Text 5"/>
          <p:cNvSpPr/>
          <p:nvPr/>
        </p:nvSpPr>
        <p:spPr>
          <a:xfrm>
            <a:off x="4937671" y="2756483"/>
            <a:ext cx="3429000" cy="445797"/>
          </a:xfrm>
          <a:prstGeom prst="rect">
            <a:avLst/>
          </a:prstGeom>
          <a:noFill/>
          <a:ln/>
        </p:spPr>
        <p:txBody>
          <a:bodyPr wrap="square" lIns="0" tIns="0" rIns="0" bIns="0" rtlCol="0" anchor="t"/>
          <a:lstStyle/>
          <a:p>
            <a:pPr algn="l" indent="0" marL="0">
              <a:lnSpc>
                <a:spcPts val="1626"/>
              </a:lnSpc>
              <a:buNone/>
            </a:pPr>
            <a:r>
              <a:rPr lang="en-US" sz="956" dirty="0">
                <a:solidFill>
                  <a:srgbClr val="4A4A4A"/>
                </a:solidFill>
                <a:latin typeface="Carlito" pitchFamily="34" charset="0"/>
                <a:ea typeface="Carlito" pitchFamily="34" charset="-122"/>
                <a:cs typeface="Carlito" pitchFamily="34" charset="-120"/>
              </a:rPr>
              <a:t>বাস্তব দোকান ও মাঠে ভেজাল শনাক্তকরণের ব্যবহারিক চেকলিস্ট, রেড ফ্ল্যাগ সংকেত, এবং দুটি বাস্তব কেসস্টাডি — যা খুচরা বিক্রেতাকে দৈনন্দিন সিদ্ধান্তে সাহায্য করবে।</a:t>
            </a:r>
            <a:endParaRPr lang="en-US" sz="956" dirty="0"/>
          </a:p>
        </p:txBody>
      </p:sp>
      <p:sp>
        <p:nvSpPr>
          <p:cNvPr id="9" name="Text 6"/>
          <p:cNvSpPr/>
          <p:nvPr/>
        </p:nvSpPr>
        <p:spPr>
          <a:xfrm>
            <a:off x="4937671" y="3342194"/>
            <a:ext cx="684684" cy="362699"/>
          </a:xfrm>
          <a:prstGeom prst="roundRect">
            <a:avLst>
              <a:gd name="adj" fmla="val 2623518"/>
            </a:avLst>
          </a:prstGeom>
          <a:solidFill>
            <a:srgbClr val="FAF6EE">
              <a:alpha val="60000"/>
            </a:srgbClr>
          </a:solidFill>
          <a:ln w="7144">
            <a:solidFill>
              <a:srgbClr val="D9D2BF"/>
            </a:solidFill>
            <a:prstDash val="solid"/>
          </a:ln>
        </p:spPr>
        <p:txBody>
          <a:bodyPr wrap="square" rtlCol="0" anchor="ctr"/>
          <a:lstStyle/>
          <a:p>
            <a:pPr indent="0" marL="0">
              <a:buNone/>
            </a:pPr>
            <a:endParaRPr lang="en-US" dirty="0"/>
          </a:p>
        </p:txBody>
      </p:sp>
      <p:sp>
        <p:nvSpPr>
          <p:cNvPr id="10" name="Text 7"/>
          <p:cNvSpPr/>
          <p:nvPr/>
        </p:nvSpPr>
        <p:spPr>
          <a:xfrm>
            <a:off x="4885849" y="3354995"/>
            <a:ext cx="788327" cy="337096"/>
          </a:xfrm>
          <a:prstGeom prst="rect">
            <a:avLst/>
          </a:prstGeom>
          <a:noFill/>
          <a:ln/>
        </p:spPr>
        <p:txBody>
          <a:bodyPr wrap="none" lIns="0" tIns="0" rIns="0" bIns="0" rtlCol="0" anchor="ctr"/>
          <a:lstStyle/>
          <a:p>
            <a:pPr algn="ctr" indent="0" marL="0">
              <a:lnSpc>
                <a:spcPts val="2093"/>
              </a:lnSpc>
              <a:buNone/>
            </a:pPr>
            <a:r>
              <a:rPr lang="en-US" sz="1350" spc="54" kern="0" dirty="0">
                <a:solidFill>
                  <a:srgbClr val="1E4D3B"/>
                </a:solidFill>
                <a:latin typeface="Carlito" pitchFamily="34" charset="0"/>
                <a:ea typeface="Carlito" pitchFamily="34" charset="-122"/>
                <a:cs typeface="Carlito" pitchFamily="34" charset="-120"/>
              </a:rPr>
              <a:t>চেকলিস্ট</a:t>
            </a:r>
            <a:endParaRPr lang="en-US" sz="1350" dirty="0"/>
          </a:p>
        </p:txBody>
      </p:sp>
      <p:sp>
        <p:nvSpPr>
          <p:cNvPr id="11" name="Text 8"/>
          <p:cNvSpPr/>
          <p:nvPr/>
        </p:nvSpPr>
        <p:spPr>
          <a:xfrm>
            <a:off x="5679504" y="3342194"/>
            <a:ext cx="788603" cy="362699"/>
          </a:xfrm>
          <a:prstGeom prst="roundRect">
            <a:avLst>
              <a:gd name="adj" fmla="val 2623518"/>
            </a:avLst>
          </a:prstGeom>
          <a:solidFill>
            <a:srgbClr val="FAF6EE">
              <a:alpha val="60000"/>
            </a:srgbClr>
          </a:solidFill>
          <a:ln w="7144">
            <a:solidFill>
              <a:srgbClr val="D9D2BF"/>
            </a:solidFill>
            <a:prstDash val="solid"/>
          </a:ln>
        </p:spPr>
        <p:txBody>
          <a:bodyPr wrap="square" rtlCol="0" anchor="ctr"/>
          <a:lstStyle/>
          <a:p>
            <a:pPr indent="0" marL="0">
              <a:buNone/>
            </a:pPr>
            <a:endParaRPr lang="en-US" dirty="0"/>
          </a:p>
        </p:txBody>
      </p:sp>
      <p:sp>
        <p:nvSpPr>
          <p:cNvPr id="12" name="Text 9"/>
          <p:cNvSpPr/>
          <p:nvPr/>
        </p:nvSpPr>
        <p:spPr>
          <a:xfrm>
            <a:off x="5560279" y="3354995"/>
            <a:ext cx="1027054" cy="337096"/>
          </a:xfrm>
          <a:prstGeom prst="rect">
            <a:avLst/>
          </a:prstGeom>
          <a:noFill/>
          <a:ln/>
        </p:spPr>
        <p:txBody>
          <a:bodyPr wrap="none" lIns="0" tIns="0" rIns="0" bIns="0" rtlCol="0" anchor="ctr"/>
          <a:lstStyle/>
          <a:p>
            <a:pPr algn="ctr" indent="0" marL="0">
              <a:lnSpc>
                <a:spcPts val="2093"/>
              </a:lnSpc>
              <a:buNone/>
            </a:pPr>
            <a:r>
              <a:rPr lang="en-US" sz="1350" spc="54" kern="0" dirty="0">
                <a:solidFill>
                  <a:srgbClr val="1E4D3B"/>
                </a:solidFill>
                <a:latin typeface="Carlito" pitchFamily="34" charset="0"/>
                <a:ea typeface="Carlito" pitchFamily="34" charset="-122"/>
                <a:cs typeface="Carlito" pitchFamily="34" charset="-120"/>
              </a:rPr>
              <a:t>রেড ফ্ল্যাগ</a:t>
            </a:r>
            <a:endParaRPr lang="en-US" sz="1350" dirty="0"/>
          </a:p>
        </p:txBody>
      </p:sp>
      <p:sp>
        <p:nvSpPr>
          <p:cNvPr id="13" name="Text 10"/>
          <p:cNvSpPr/>
          <p:nvPr/>
        </p:nvSpPr>
        <p:spPr>
          <a:xfrm>
            <a:off x="6525258" y="3342194"/>
            <a:ext cx="1050466" cy="362699"/>
          </a:xfrm>
          <a:prstGeom prst="roundRect">
            <a:avLst>
              <a:gd name="adj" fmla="val 2623518"/>
            </a:avLst>
          </a:prstGeom>
          <a:solidFill>
            <a:srgbClr val="FAF6EE">
              <a:alpha val="60000"/>
            </a:srgbClr>
          </a:solidFill>
          <a:ln w="7144">
            <a:solidFill>
              <a:srgbClr val="D9D2BF"/>
            </a:solidFill>
            <a:prstDash val="solid"/>
          </a:ln>
        </p:spPr>
        <p:txBody>
          <a:bodyPr wrap="square" rtlCol="0" anchor="ctr"/>
          <a:lstStyle/>
          <a:p>
            <a:pPr indent="0" marL="0">
              <a:buNone/>
            </a:pPr>
            <a:endParaRPr lang="en-US" dirty="0"/>
          </a:p>
        </p:txBody>
      </p:sp>
      <p:sp>
        <p:nvSpPr>
          <p:cNvPr id="14" name="Text 11"/>
          <p:cNvSpPr/>
          <p:nvPr/>
        </p:nvSpPr>
        <p:spPr>
          <a:xfrm>
            <a:off x="6463120" y="3354995"/>
            <a:ext cx="1174741" cy="337096"/>
          </a:xfrm>
          <a:prstGeom prst="rect">
            <a:avLst/>
          </a:prstGeom>
          <a:noFill/>
          <a:ln/>
        </p:spPr>
        <p:txBody>
          <a:bodyPr wrap="none" lIns="0" tIns="0" rIns="0" bIns="0" rtlCol="0" anchor="ctr"/>
          <a:lstStyle/>
          <a:p>
            <a:pPr algn="ctr" indent="0" marL="0">
              <a:lnSpc>
                <a:spcPts val="2093"/>
              </a:lnSpc>
              <a:buNone/>
            </a:pPr>
            <a:r>
              <a:rPr lang="en-US" sz="1350" spc="54" kern="0" dirty="0">
                <a:solidFill>
                  <a:srgbClr val="1E4D3B"/>
                </a:solidFill>
                <a:latin typeface="Carlito" pitchFamily="34" charset="0"/>
                <a:ea typeface="Carlito" pitchFamily="34" charset="-122"/>
                <a:cs typeface="Carlito" pitchFamily="34" charset="-120"/>
              </a:rPr>
              <a:t>কেসস্টাডি × ২</a:t>
            </a:r>
            <a:endParaRPr lang="en-US" sz="1350" dirty="0"/>
          </a:p>
        </p:txBody>
      </p:sp>
      <p:sp>
        <p:nvSpPr>
          <p:cNvPr id="15" name="Text 12"/>
          <p:cNvSpPr/>
          <p:nvPr/>
        </p:nvSpPr>
        <p:spPr>
          <a:xfrm>
            <a:off x="8694725" y="4706392"/>
            <a:ext cx="30736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FAF6EE">
                    <a:alpha val="85000"/>
                  </a:srgbClr>
                </a:solidFill>
                <a:latin typeface="Carlito" pitchFamily="34" charset="0"/>
                <a:ea typeface="Carlito" pitchFamily="34" charset="-122"/>
                <a:cs typeface="Carlito" pitchFamily="34" charset="-120"/>
              </a:rPr>
              <a:t>২০</a:t>
            </a:r>
            <a:endParaRPr lang="en-US" sz="1350" dirty="0"/>
          </a:p>
        </p:txBody>
      </p:sp>
      <p:pic>
        <p:nvPicPr>
          <p:cNvPr id="16" name="Image 1" descr="preencoded.png">    </p:cNvPr>
          <p:cNvPicPr>
            <a:picLocks noChangeAspect="1"/>
          </p:cNvPicPr>
          <p:nvPr/>
        </p:nvPicPr>
        <p:blipFill>
          <a:blip r:embed="rId2"/>
          <a:stretch>
            <a:fillRect/>
          </a:stretch>
        </p:blipFill>
        <p:spPr>
          <a:xfrm>
            <a:off x="0" y="5100638"/>
            <a:ext cx="9144000" cy="42863"/>
          </a:xfrm>
          <a:prstGeom prst="rect">
            <a:avLst/>
          </a:prstGeom>
        </p:spPr>
      </p:pic>
      <p:sp>
        <p:nvSpPr>
          <p:cNvPr id="17" name="Text 13"/>
          <p:cNvSpPr/>
          <p:nvPr/>
        </p:nvSpPr>
        <p:spPr>
          <a:xfrm>
            <a:off x="284196" y="1423783"/>
            <a:ext cx="3885914" cy="1958531"/>
          </a:xfrm>
          <a:prstGeom prst="rect">
            <a:avLst/>
          </a:prstGeom>
          <a:noFill/>
          <a:ln/>
        </p:spPr>
        <p:txBody>
          <a:bodyPr wrap="square" lIns="0" tIns="0" rIns="0" bIns="0" rtlCol="0" anchor="t">
            <a:normAutofit/>
          </a:bodyPr>
          <a:lstStyle/>
          <a:p>
            <a:pPr algn="l" indent="0" marL="0">
              <a:lnSpc>
                <a:spcPts val="15188"/>
              </a:lnSpc>
              <a:buNone/>
            </a:pPr>
            <a:r>
              <a:rPr lang="en-US" sz="16875" b="1" spc="-675" kern="0" dirty="0">
                <a:solidFill>
                  <a:srgbClr val="C7912C"/>
                </a:solidFill>
                <a:latin typeface="Liberation Sans Narrow" pitchFamily="34" charset="0"/>
                <a:ea typeface="Liberation Sans Narrow" pitchFamily="34" charset="-122"/>
                <a:cs typeface="Liberation Sans Narrow" pitchFamily="34" charset="-120"/>
              </a:rPr>
              <a:t>04</a:t>
            </a:r>
            <a:endParaRPr lang="en-US" sz="16875" dirty="0"/>
          </a:p>
        </p:txBody>
      </p:sp>
      <p:sp>
        <p:nvSpPr>
          <p:cNvPr id="18" name="Text 14"/>
          <p:cNvSpPr/>
          <p:nvPr/>
        </p:nvSpPr>
        <p:spPr>
          <a:xfrm>
            <a:off x="457200" y="3409745"/>
            <a:ext cx="3539907" cy="334770"/>
          </a:xfrm>
          <a:prstGeom prst="rect">
            <a:avLst/>
          </a:prstGeom>
          <a:noFill/>
          <a:ln/>
        </p:spPr>
        <p:txBody>
          <a:bodyPr wrap="none" lIns="0" tIns="0" rIns="0" bIns="0" rtlCol="0" anchor="t"/>
          <a:lstStyle/>
          <a:p>
            <a:pPr algn="l" indent="0" marL="0">
              <a:lnSpc>
                <a:spcPts val="2441"/>
              </a:lnSpc>
              <a:buNone/>
            </a:pPr>
            <a:r>
              <a:rPr lang="en-US" sz="1575" spc="63" kern="0" dirty="0">
                <a:solidFill>
                  <a:srgbClr val="FAF6EE">
                    <a:alpha val="70000"/>
                  </a:srgbClr>
                </a:solidFill>
                <a:latin typeface="Carlito" pitchFamily="34" charset="0"/>
                <a:ea typeface="Carlito" pitchFamily="34" charset="-122"/>
                <a:cs typeface="Carlito" pitchFamily="34" charset="-120"/>
              </a:rPr>
              <a:t>/ ০৭</a:t>
            </a:r>
            <a:endParaRPr lang="en-US" sz="15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57200" y="474390"/>
            <a:ext cx="2587864"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০৪ · মাঠ পর্যায়ে শনাক্তকরণ</a:t>
            </a:r>
            <a:endParaRPr lang="en-US" sz="1350" dirty="0"/>
          </a:p>
        </p:txBody>
      </p:sp>
      <p:sp>
        <p:nvSpPr>
          <p:cNvPr id="3" name="Text 1"/>
          <p:cNvSpPr/>
          <p:nvPr/>
        </p:nvSpPr>
        <p:spPr>
          <a:xfrm>
            <a:off x="457200" y="840060"/>
            <a:ext cx="8636000" cy="501764"/>
          </a:xfrm>
          <a:prstGeom prst="rect">
            <a:avLst/>
          </a:prstGeom>
          <a:noFill/>
          <a:ln/>
        </p:spPr>
        <p:txBody>
          <a:bodyPr wrap="none" lIns="0" tIns="0" rIns="0" bIns="0" rtlCol="0" anchor="t">
            <a:normAutofit/>
          </a:bodyPr>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প্রাথমিক চেকলিস্ট — ৫ ধাপ</a:t>
            </a:r>
            <a:endParaRPr lang="en-US" sz="3150" dirty="0"/>
          </a:p>
        </p:txBody>
      </p:sp>
      <p:sp>
        <p:nvSpPr>
          <p:cNvPr id="4" name="Text 2"/>
          <p:cNvSpPr/>
          <p:nvPr/>
        </p:nvSpPr>
        <p:spPr>
          <a:xfrm>
            <a:off x="457200" y="1369256"/>
            <a:ext cx="8229600" cy="169980"/>
          </a:xfrm>
          <a:prstGeom prst="rect">
            <a:avLst/>
          </a:prstGeom>
          <a:noFill/>
          <a:ln/>
        </p:spPr>
        <p:txBody>
          <a:bodyPr wrap="square" lIns="0" tIns="0" rIns="0" bIns="0" rtlCol="0" anchor="t"/>
          <a:lstStyle/>
          <a:p>
            <a:pPr algn="l" indent="0" marL="0">
              <a:lnSpc>
                <a:spcPts val="1221"/>
              </a:lnSpc>
              <a:buNone/>
            </a:pPr>
            <a:r>
              <a:rPr lang="en-US" sz="800" dirty="0">
                <a:solidFill>
                  <a:srgbClr val="4A4A4A"/>
                </a:solidFill>
                <a:latin typeface="Carlito" pitchFamily="34" charset="0"/>
                <a:ea typeface="Carlito" pitchFamily="34" charset="-122"/>
                <a:cs typeface="Carlito" pitchFamily="34" charset="-120"/>
              </a:rPr>
              <a:t>প্রতিটি নতুন চালান গ্রহণের সময় অনুসরণযোগ্য সর্বনিম্ন যাচাই</a:t>
            </a:r>
            <a:endParaRPr lang="en-US" sz="800" dirty="0"/>
          </a:p>
        </p:txBody>
      </p:sp>
      <p:sp>
        <p:nvSpPr>
          <p:cNvPr id="5" name="Shape 3"/>
          <p:cNvSpPr/>
          <p:nvPr/>
        </p:nvSpPr>
        <p:spPr>
          <a:xfrm>
            <a:off x="457200" y="1634914"/>
            <a:ext cx="400050" cy="0"/>
          </a:xfrm>
          <a:prstGeom prst="line">
            <a:avLst/>
          </a:prstGeom>
          <a:noFill/>
          <a:ln w="7144">
            <a:solidFill>
              <a:srgbClr val="1A1A1A"/>
            </a:solidFill>
            <a:prstDash val="solid"/>
          </a:ln>
        </p:spPr>
        <p:txBody>
          <a:bodyPr/>
          <a:p/>
        </p:txBody>
      </p:sp>
      <p:sp>
        <p:nvSpPr>
          <p:cNvPr id="6" name="Text 4"/>
          <p:cNvSpPr/>
          <p:nvPr/>
        </p:nvSpPr>
        <p:spPr>
          <a:xfrm>
            <a:off x="457200" y="1514475"/>
            <a:ext cx="1577318" cy="1073348"/>
          </a:xfrm>
          <a:prstGeom prst="roundRect">
            <a:avLst>
              <a:gd name="adj" fmla="val 10649"/>
            </a:avLst>
          </a:prstGeom>
          <a:solidFill>
            <a:srgbClr val="FFFFFF"/>
          </a:solidFill>
          <a:ln/>
        </p:spPr>
        <p:txBody>
          <a:bodyPr wrap="square" rtlCol="0" anchor="ctr"/>
          <a:lstStyle/>
          <a:p>
            <a:pPr indent="0" marL="0">
              <a:buNone/>
            </a:pPr>
            <a:endParaRPr lang="en-US" dirty="0"/>
          </a:p>
        </p:txBody>
      </p:sp>
      <p:sp>
        <p:nvSpPr>
          <p:cNvPr id="7" name="Shape 5"/>
          <p:cNvSpPr/>
          <p:nvPr/>
        </p:nvSpPr>
        <p:spPr>
          <a:xfrm>
            <a:off x="457200" y="1525191"/>
            <a:ext cx="1577318" cy="0"/>
          </a:xfrm>
          <a:prstGeom prst="line">
            <a:avLst/>
          </a:prstGeom>
          <a:noFill/>
          <a:ln w="21431">
            <a:solidFill>
              <a:srgbClr val="1E4D3B"/>
            </a:solidFill>
            <a:prstDash val="solid"/>
          </a:ln>
        </p:spPr>
        <p:txBody>
          <a:bodyPr/>
          <a:p/>
        </p:txBody>
      </p:sp>
      <p:sp>
        <p:nvSpPr>
          <p:cNvPr id="8" name="Shape 6"/>
          <p:cNvSpPr/>
          <p:nvPr/>
        </p:nvSpPr>
        <p:spPr>
          <a:xfrm>
            <a:off x="2030946" y="1514475"/>
            <a:ext cx="0" cy="1073348"/>
          </a:xfrm>
          <a:prstGeom prst="line">
            <a:avLst/>
          </a:prstGeom>
          <a:noFill/>
          <a:ln w="7144">
            <a:solidFill>
              <a:srgbClr val="D9D2BF"/>
            </a:solidFill>
            <a:prstDash val="solid"/>
          </a:ln>
        </p:spPr>
        <p:txBody>
          <a:bodyPr/>
          <a:p/>
        </p:txBody>
      </p:sp>
      <p:sp>
        <p:nvSpPr>
          <p:cNvPr id="9" name="Shape 7"/>
          <p:cNvSpPr/>
          <p:nvPr/>
        </p:nvSpPr>
        <p:spPr>
          <a:xfrm>
            <a:off x="457200" y="2584252"/>
            <a:ext cx="1577318" cy="0"/>
          </a:xfrm>
          <a:prstGeom prst="line">
            <a:avLst/>
          </a:prstGeom>
          <a:noFill/>
          <a:ln w="7144">
            <a:solidFill>
              <a:srgbClr val="D9D2BF"/>
            </a:solidFill>
            <a:prstDash val="solid"/>
          </a:ln>
        </p:spPr>
        <p:txBody>
          <a:bodyPr/>
          <a:p/>
        </p:txBody>
      </p:sp>
      <p:sp>
        <p:nvSpPr>
          <p:cNvPr id="10" name="Shape 8"/>
          <p:cNvSpPr/>
          <p:nvPr/>
        </p:nvSpPr>
        <p:spPr>
          <a:xfrm>
            <a:off x="460772" y="1514475"/>
            <a:ext cx="0" cy="1073348"/>
          </a:xfrm>
          <a:prstGeom prst="line">
            <a:avLst/>
          </a:prstGeom>
          <a:noFill/>
          <a:ln w="7144">
            <a:solidFill>
              <a:srgbClr val="D9D2BF"/>
            </a:solidFill>
            <a:prstDash val="solid"/>
          </a:ln>
        </p:spPr>
        <p:txBody>
          <a:bodyPr/>
          <a:p/>
        </p:txBody>
      </p:sp>
      <p:sp>
        <p:nvSpPr>
          <p:cNvPr id="11" name="Text 9"/>
          <p:cNvSpPr/>
          <p:nvPr/>
        </p:nvSpPr>
        <p:spPr>
          <a:xfrm>
            <a:off x="564356" y="1664494"/>
            <a:ext cx="242888" cy="242888"/>
          </a:xfrm>
          <a:prstGeom prst="ellipse">
            <a:avLst/>
          </a:prstGeom>
          <a:solidFill>
            <a:srgbClr val="1E4D3B"/>
          </a:solidFill>
          <a:ln/>
        </p:spPr>
        <p:txBody>
          <a:bodyPr wrap="square" rtlCol="0" anchor="ctr"/>
          <a:lstStyle/>
          <a:p>
            <a:pPr indent="0" marL="0">
              <a:buNone/>
            </a:pPr>
            <a:endParaRPr lang="en-US" dirty="0"/>
          </a:p>
        </p:txBody>
      </p:sp>
      <p:sp>
        <p:nvSpPr>
          <p:cNvPr id="12" name="Text 10"/>
          <p:cNvSpPr/>
          <p:nvPr/>
        </p:nvSpPr>
        <p:spPr>
          <a:xfrm>
            <a:off x="564356" y="1664494"/>
            <a:ext cx="271463" cy="242888"/>
          </a:xfrm>
          <a:prstGeom prst="rect">
            <a:avLst/>
          </a:prstGeom>
          <a:noFill/>
          <a:ln/>
        </p:spPr>
        <p:txBody>
          <a:bodyPr wrap="none" lIns="0" tIns="0" rIns="0" bIns="0" rtlCol="0" anchor="ctr"/>
          <a:lstStyle/>
          <a:p>
            <a:pPr algn="ctr" indent="0" marL="0">
              <a:lnSpc>
                <a:spcPts val="1221"/>
              </a:lnSpc>
              <a:buNone/>
            </a:pPr>
            <a:r>
              <a:rPr lang="en-US" sz="800" b="1" dirty="0">
                <a:solidFill>
                  <a:srgbClr val="FAF6EE"/>
                </a:solidFill>
                <a:latin typeface="Carlito" pitchFamily="34" charset="0"/>
                <a:ea typeface="Carlito" pitchFamily="34" charset="-122"/>
                <a:cs typeface="Carlito" pitchFamily="34" charset="-120"/>
              </a:rPr>
              <a:t>০১</a:t>
            </a:r>
            <a:endParaRPr lang="en-US" sz="800" dirty="0"/>
          </a:p>
        </p:txBody>
      </p:sp>
      <p:sp>
        <p:nvSpPr>
          <p:cNvPr id="13" name="Text 11"/>
          <p:cNvSpPr/>
          <p:nvPr/>
        </p:nvSpPr>
        <p:spPr>
          <a:xfrm>
            <a:off x="864394" y="1707356"/>
            <a:ext cx="157163" cy="157163"/>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14" name="Text 12"/>
          <p:cNvSpPr/>
          <p:nvPr/>
        </p:nvSpPr>
        <p:spPr>
          <a:xfrm>
            <a:off x="564356" y="1978819"/>
            <a:ext cx="1363005" cy="150447"/>
          </a:xfrm>
          <a:prstGeom prst="rect">
            <a:avLst/>
          </a:prstGeom>
          <a:noFill/>
          <a:ln/>
        </p:spPr>
        <p:txBody>
          <a:bodyPr wrap="none" lIns="0" tIns="0" rIns="0" bIns="0" rtlCol="0" anchor="t"/>
          <a:lstStyle/>
          <a:p>
            <a:pPr algn="l" indent="0" marL="0">
              <a:lnSpc>
                <a:spcPts val="1097"/>
              </a:lnSpc>
              <a:buNone/>
            </a:pPr>
            <a:r>
              <a:rPr lang="en-US" sz="844" b="1" dirty="0">
                <a:solidFill>
                  <a:srgbClr val="14342A"/>
                </a:solidFill>
                <a:latin typeface="Tinos" pitchFamily="34" charset="0"/>
                <a:ea typeface="Tinos" pitchFamily="34" charset="-122"/>
                <a:cs typeface="Tinos" pitchFamily="34" charset="-120"/>
              </a:rPr>
              <a:t>প্যাকেজিং পর্যবেক্ষণ</a:t>
            </a:r>
            <a:endParaRPr lang="en-US" sz="844" dirty="0"/>
          </a:p>
        </p:txBody>
      </p:sp>
      <p:sp>
        <p:nvSpPr>
          <p:cNvPr id="15" name="Text 13"/>
          <p:cNvSpPr/>
          <p:nvPr/>
        </p:nvSpPr>
        <p:spPr>
          <a:xfrm>
            <a:off x="564356" y="2175272"/>
            <a:ext cx="1472046" cy="170078"/>
          </a:xfrm>
          <a:prstGeom prst="rect">
            <a:avLst/>
          </a:prstGeom>
          <a:noFill/>
          <a:ln/>
        </p:spPr>
        <p:txBody>
          <a:bodyPr wrap="square" lIns="0" tIns="0" rIns="0" bIns="0" rtlCol="0" anchor="t"/>
          <a:lstStyle/>
          <a:p>
            <a:pPr algn="l" indent="0" marL="0">
              <a:lnSpc>
                <a:spcPts val="1090"/>
              </a:lnSpc>
              <a:buNone/>
            </a:pPr>
            <a:r>
              <a:rPr lang="en-US" sz="703" dirty="0">
                <a:solidFill>
                  <a:srgbClr val="4A4A4A"/>
                </a:solidFill>
                <a:latin typeface="Carlito" pitchFamily="34" charset="0"/>
                <a:ea typeface="Carlito" pitchFamily="34" charset="-122"/>
                <a:cs typeface="Carlito" pitchFamily="34" charset="-120"/>
              </a:rPr>
              <a:t>প্যাকেজ মসৃণ, সিল অক্ষত, হোলোগ্রাম স্পষ্ট</a:t>
            </a:r>
            <a:endParaRPr lang="en-US" sz="703" dirty="0"/>
          </a:p>
        </p:txBody>
      </p:sp>
      <p:sp>
        <p:nvSpPr>
          <p:cNvPr id="16" name="Text 14"/>
          <p:cNvSpPr/>
          <p:nvPr/>
        </p:nvSpPr>
        <p:spPr>
          <a:xfrm>
            <a:off x="2120243" y="1514475"/>
            <a:ext cx="1577318" cy="1073348"/>
          </a:xfrm>
          <a:prstGeom prst="roundRect">
            <a:avLst>
              <a:gd name="adj" fmla="val 10649"/>
            </a:avLst>
          </a:prstGeom>
          <a:solidFill>
            <a:srgbClr val="FFFFFF"/>
          </a:solidFill>
          <a:ln/>
        </p:spPr>
        <p:txBody>
          <a:bodyPr wrap="square" rtlCol="0" anchor="ctr"/>
          <a:lstStyle/>
          <a:p>
            <a:pPr indent="0" marL="0">
              <a:buNone/>
            </a:pPr>
            <a:endParaRPr lang="en-US" dirty="0"/>
          </a:p>
        </p:txBody>
      </p:sp>
      <p:sp>
        <p:nvSpPr>
          <p:cNvPr id="17" name="Shape 15"/>
          <p:cNvSpPr/>
          <p:nvPr/>
        </p:nvSpPr>
        <p:spPr>
          <a:xfrm>
            <a:off x="2120243" y="1525191"/>
            <a:ext cx="1577318" cy="0"/>
          </a:xfrm>
          <a:prstGeom prst="line">
            <a:avLst/>
          </a:prstGeom>
          <a:noFill/>
          <a:ln w="21431">
            <a:solidFill>
              <a:srgbClr val="1E4D3B"/>
            </a:solidFill>
            <a:prstDash val="solid"/>
          </a:ln>
        </p:spPr>
        <p:txBody>
          <a:bodyPr/>
          <a:p/>
        </p:txBody>
      </p:sp>
      <p:sp>
        <p:nvSpPr>
          <p:cNvPr id="18" name="Shape 16"/>
          <p:cNvSpPr/>
          <p:nvPr/>
        </p:nvSpPr>
        <p:spPr>
          <a:xfrm>
            <a:off x="3693988" y="1514475"/>
            <a:ext cx="0" cy="1073348"/>
          </a:xfrm>
          <a:prstGeom prst="line">
            <a:avLst/>
          </a:prstGeom>
          <a:noFill/>
          <a:ln w="7144">
            <a:solidFill>
              <a:srgbClr val="D9D2BF"/>
            </a:solidFill>
            <a:prstDash val="solid"/>
          </a:ln>
        </p:spPr>
        <p:txBody>
          <a:bodyPr/>
          <a:p/>
        </p:txBody>
      </p:sp>
      <p:sp>
        <p:nvSpPr>
          <p:cNvPr id="19" name="Shape 17"/>
          <p:cNvSpPr/>
          <p:nvPr/>
        </p:nvSpPr>
        <p:spPr>
          <a:xfrm>
            <a:off x="2120243" y="2584252"/>
            <a:ext cx="1577318" cy="0"/>
          </a:xfrm>
          <a:prstGeom prst="line">
            <a:avLst/>
          </a:prstGeom>
          <a:noFill/>
          <a:ln w="7144">
            <a:solidFill>
              <a:srgbClr val="D9D2BF"/>
            </a:solidFill>
            <a:prstDash val="solid"/>
          </a:ln>
        </p:spPr>
        <p:txBody>
          <a:bodyPr/>
          <a:p/>
        </p:txBody>
      </p:sp>
      <p:sp>
        <p:nvSpPr>
          <p:cNvPr id="20" name="Shape 18"/>
          <p:cNvSpPr/>
          <p:nvPr/>
        </p:nvSpPr>
        <p:spPr>
          <a:xfrm>
            <a:off x="2123815" y="1514475"/>
            <a:ext cx="0" cy="1073348"/>
          </a:xfrm>
          <a:prstGeom prst="line">
            <a:avLst/>
          </a:prstGeom>
          <a:noFill/>
          <a:ln w="7144">
            <a:solidFill>
              <a:srgbClr val="D9D2BF"/>
            </a:solidFill>
            <a:prstDash val="solid"/>
          </a:ln>
        </p:spPr>
        <p:txBody>
          <a:bodyPr/>
          <a:p/>
        </p:txBody>
      </p:sp>
      <p:sp>
        <p:nvSpPr>
          <p:cNvPr id="21" name="Text 19"/>
          <p:cNvSpPr/>
          <p:nvPr/>
        </p:nvSpPr>
        <p:spPr>
          <a:xfrm>
            <a:off x="2227399" y="1664494"/>
            <a:ext cx="242888" cy="242888"/>
          </a:xfrm>
          <a:prstGeom prst="ellipse">
            <a:avLst/>
          </a:prstGeom>
          <a:solidFill>
            <a:srgbClr val="1E4D3B"/>
          </a:solidFill>
          <a:ln/>
        </p:spPr>
        <p:txBody>
          <a:bodyPr wrap="square" rtlCol="0" anchor="ctr"/>
          <a:lstStyle/>
          <a:p>
            <a:pPr indent="0" marL="0">
              <a:buNone/>
            </a:pPr>
            <a:endParaRPr lang="en-US" dirty="0"/>
          </a:p>
        </p:txBody>
      </p:sp>
      <p:sp>
        <p:nvSpPr>
          <p:cNvPr id="22" name="Text 20"/>
          <p:cNvSpPr/>
          <p:nvPr/>
        </p:nvSpPr>
        <p:spPr>
          <a:xfrm>
            <a:off x="2227399" y="1664494"/>
            <a:ext cx="271463" cy="242888"/>
          </a:xfrm>
          <a:prstGeom prst="rect">
            <a:avLst/>
          </a:prstGeom>
          <a:noFill/>
          <a:ln/>
        </p:spPr>
        <p:txBody>
          <a:bodyPr wrap="none" lIns="0" tIns="0" rIns="0" bIns="0" rtlCol="0" anchor="ctr"/>
          <a:lstStyle/>
          <a:p>
            <a:pPr algn="ctr" indent="0" marL="0">
              <a:lnSpc>
                <a:spcPts val="1221"/>
              </a:lnSpc>
              <a:buNone/>
            </a:pPr>
            <a:r>
              <a:rPr lang="en-US" sz="800" b="1" dirty="0">
                <a:solidFill>
                  <a:srgbClr val="FAF6EE"/>
                </a:solidFill>
                <a:latin typeface="Carlito" pitchFamily="34" charset="0"/>
                <a:ea typeface="Carlito" pitchFamily="34" charset="-122"/>
                <a:cs typeface="Carlito" pitchFamily="34" charset="-120"/>
              </a:rPr>
              <a:t>০২</a:t>
            </a:r>
            <a:endParaRPr lang="en-US" sz="800" dirty="0"/>
          </a:p>
        </p:txBody>
      </p:sp>
      <p:sp>
        <p:nvSpPr>
          <p:cNvPr id="23" name="Text 21"/>
          <p:cNvSpPr/>
          <p:nvPr/>
        </p:nvSpPr>
        <p:spPr>
          <a:xfrm>
            <a:off x="2527436" y="1707356"/>
            <a:ext cx="157163" cy="157163"/>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24" name="Text 22"/>
          <p:cNvSpPr/>
          <p:nvPr/>
        </p:nvSpPr>
        <p:spPr>
          <a:xfrm>
            <a:off x="2227399" y="1978819"/>
            <a:ext cx="1363005" cy="150447"/>
          </a:xfrm>
          <a:prstGeom prst="rect">
            <a:avLst/>
          </a:prstGeom>
          <a:noFill/>
          <a:ln/>
        </p:spPr>
        <p:txBody>
          <a:bodyPr wrap="none" lIns="0" tIns="0" rIns="0" bIns="0" rtlCol="0" anchor="t"/>
          <a:lstStyle/>
          <a:p>
            <a:pPr algn="l" indent="0" marL="0">
              <a:lnSpc>
                <a:spcPts val="1097"/>
              </a:lnSpc>
              <a:buNone/>
            </a:pPr>
            <a:r>
              <a:rPr lang="en-US" sz="844" b="1" dirty="0">
                <a:solidFill>
                  <a:srgbClr val="14342A"/>
                </a:solidFill>
                <a:latin typeface="Tinos" pitchFamily="34" charset="0"/>
                <a:ea typeface="Tinos" pitchFamily="34" charset="-122"/>
                <a:cs typeface="Tinos" pitchFamily="34" charset="-120"/>
              </a:rPr>
              <a:t>লেবেল যাচাই</a:t>
            </a:r>
            <a:endParaRPr lang="en-US" sz="844" dirty="0"/>
          </a:p>
        </p:txBody>
      </p:sp>
      <p:sp>
        <p:nvSpPr>
          <p:cNvPr id="25" name="Text 23"/>
          <p:cNvSpPr/>
          <p:nvPr/>
        </p:nvSpPr>
        <p:spPr>
          <a:xfrm>
            <a:off x="2227399" y="2175272"/>
            <a:ext cx="1444785" cy="276820"/>
          </a:xfrm>
          <a:prstGeom prst="rect">
            <a:avLst/>
          </a:prstGeom>
          <a:noFill/>
          <a:ln/>
        </p:spPr>
        <p:txBody>
          <a:bodyPr wrap="square" lIns="0" tIns="0" rIns="0" bIns="0" rtlCol="0" anchor="t"/>
          <a:lstStyle/>
          <a:p>
            <a:pPr algn="l" indent="0" marL="0">
              <a:lnSpc>
                <a:spcPts val="1090"/>
              </a:lnSpc>
              <a:buNone/>
            </a:pPr>
            <a:r>
              <a:rPr lang="en-US" sz="800" dirty="0">
                <a:solidFill>
                  <a:srgbClr val="4A4A4A"/>
                </a:solidFill>
                <a:latin typeface="Carlito" pitchFamily="34" charset="0"/>
                <a:ea typeface="Carlito" pitchFamily="34" charset="-122"/>
                <a:cs typeface="Carlito" pitchFamily="34" charset="-120"/>
              </a:rPr>
              <a:t>নিবন্ধন নম্বর, মেয়াদোত্তীর্ণ তারিখ, ব্যাচ নম্বর</a:t>
            </a:r>
            <a:endParaRPr lang="en-US" sz="800" dirty="0"/>
          </a:p>
        </p:txBody>
      </p:sp>
      <p:sp>
        <p:nvSpPr>
          <p:cNvPr id="26" name="Text 24"/>
          <p:cNvSpPr/>
          <p:nvPr/>
        </p:nvSpPr>
        <p:spPr>
          <a:xfrm>
            <a:off x="3783285" y="1514475"/>
            <a:ext cx="1577318" cy="1073348"/>
          </a:xfrm>
          <a:prstGeom prst="roundRect">
            <a:avLst>
              <a:gd name="adj" fmla="val 10649"/>
            </a:avLst>
          </a:prstGeom>
          <a:solidFill>
            <a:srgbClr val="FFFFFF"/>
          </a:solidFill>
          <a:ln/>
        </p:spPr>
        <p:txBody>
          <a:bodyPr wrap="square" rtlCol="0" anchor="ctr"/>
          <a:lstStyle/>
          <a:p>
            <a:pPr indent="0" marL="0">
              <a:buNone/>
            </a:pPr>
            <a:endParaRPr lang="en-US" dirty="0"/>
          </a:p>
        </p:txBody>
      </p:sp>
      <p:sp>
        <p:nvSpPr>
          <p:cNvPr id="27" name="Shape 25"/>
          <p:cNvSpPr/>
          <p:nvPr/>
        </p:nvSpPr>
        <p:spPr>
          <a:xfrm>
            <a:off x="3783285" y="1525191"/>
            <a:ext cx="1577318" cy="0"/>
          </a:xfrm>
          <a:prstGeom prst="line">
            <a:avLst/>
          </a:prstGeom>
          <a:noFill/>
          <a:ln w="21431">
            <a:solidFill>
              <a:srgbClr val="C7912C"/>
            </a:solidFill>
            <a:prstDash val="solid"/>
          </a:ln>
        </p:spPr>
        <p:txBody>
          <a:bodyPr/>
          <a:p/>
        </p:txBody>
      </p:sp>
      <p:sp>
        <p:nvSpPr>
          <p:cNvPr id="28" name="Shape 26"/>
          <p:cNvSpPr/>
          <p:nvPr/>
        </p:nvSpPr>
        <p:spPr>
          <a:xfrm>
            <a:off x="5357031" y="1514475"/>
            <a:ext cx="0" cy="1073348"/>
          </a:xfrm>
          <a:prstGeom prst="line">
            <a:avLst/>
          </a:prstGeom>
          <a:noFill/>
          <a:ln w="7144">
            <a:solidFill>
              <a:srgbClr val="D9D2BF"/>
            </a:solidFill>
            <a:prstDash val="solid"/>
          </a:ln>
        </p:spPr>
        <p:txBody>
          <a:bodyPr/>
          <a:p/>
        </p:txBody>
      </p:sp>
      <p:sp>
        <p:nvSpPr>
          <p:cNvPr id="29" name="Shape 27"/>
          <p:cNvSpPr/>
          <p:nvPr/>
        </p:nvSpPr>
        <p:spPr>
          <a:xfrm>
            <a:off x="3783285" y="2584252"/>
            <a:ext cx="1577318" cy="0"/>
          </a:xfrm>
          <a:prstGeom prst="line">
            <a:avLst/>
          </a:prstGeom>
          <a:noFill/>
          <a:ln w="7144">
            <a:solidFill>
              <a:srgbClr val="D9D2BF"/>
            </a:solidFill>
            <a:prstDash val="solid"/>
          </a:ln>
        </p:spPr>
        <p:txBody>
          <a:bodyPr/>
          <a:p/>
        </p:txBody>
      </p:sp>
      <p:sp>
        <p:nvSpPr>
          <p:cNvPr id="30" name="Shape 28"/>
          <p:cNvSpPr/>
          <p:nvPr/>
        </p:nvSpPr>
        <p:spPr>
          <a:xfrm>
            <a:off x="3786857" y="1514475"/>
            <a:ext cx="0" cy="1073348"/>
          </a:xfrm>
          <a:prstGeom prst="line">
            <a:avLst/>
          </a:prstGeom>
          <a:noFill/>
          <a:ln w="7144">
            <a:solidFill>
              <a:srgbClr val="D9D2BF"/>
            </a:solidFill>
            <a:prstDash val="solid"/>
          </a:ln>
        </p:spPr>
        <p:txBody>
          <a:bodyPr/>
          <a:p/>
        </p:txBody>
      </p:sp>
      <p:sp>
        <p:nvSpPr>
          <p:cNvPr id="31" name="Text 29"/>
          <p:cNvSpPr/>
          <p:nvPr/>
        </p:nvSpPr>
        <p:spPr>
          <a:xfrm>
            <a:off x="3890442" y="1664494"/>
            <a:ext cx="242888" cy="242888"/>
          </a:xfrm>
          <a:prstGeom prst="ellipse">
            <a:avLst/>
          </a:prstGeom>
          <a:solidFill>
            <a:srgbClr val="C7912C"/>
          </a:solidFill>
          <a:ln/>
        </p:spPr>
        <p:txBody>
          <a:bodyPr wrap="square" rtlCol="0" anchor="ctr"/>
          <a:lstStyle/>
          <a:p>
            <a:pPr indent="0" marL="0">
              <a:buNone/>
            </a:pPr>
            <a:endParaRPr lang="en-US" dirty="0"/>
          </a:p>
        </p:txBody>
      </p:sp>
      <p:sp>
        <p:nvSpPr>
          <p:cNvPr id="32" name="Text 30"/>
          <p:cNvSpPr/>
          <p:nvPr/>
        </p:nvSpPr>
        <p:spPr>
          <a:xfrm>
            <a:off x="3890442" y="1664494"/>
            <a:ext cx="271463" cy="242888"/>
          </a:xfrm>
          <a:prstGeom prst="rect">
            <a:avLst/>
          </a:prstGeom>
          <a:noFill/>
          <a:ln/>
        </p:spPr>
        <p:txBody>
          <a:bodyPr wrap="none" lIns="0" tIns="0" rIns="0" bIns="0" rtlCol="0" anchor="ctr"/>
          <a:lstStyle/>
          <a:p>
            <a:pPr algn="ctr" indent="0" marL="0">
              <a:lnSpc>
                <a:spcPts val="1221"/>
              </a:lnSpc>
              <a:buNone/>
            </a:pPr>
            <a:r>
              <a:rPr lang="en-US" sz="800" b="1" dirty="0">
                <a:solidFill>
                  <a:srgbClr val="FAF6EE"/>
                </a:solidFill>
                <a:latin typeface="Carlito" pitchFamily="34" charset="0"/>
                <a:ea typeface="Carlito" pitchFamily="34" charset="-122"/>
                <a:cs typeface="Carlito" pitchFamily="34" charset="-120"/>
              </a:rPr>
              <a:t>০৩</a:t>
            </a:r>
            <a:endParaRPr lang="en-US" sz="800" dirty="0"/>
          </a:p>
        </p:txBody>
      </p:sp>
      <p:sp>
        <p:nvSpPr>
          <p:cNvPr id="33" name="Text 31"/>
          <p:cNvSpPr/>
          <p:nvPr/>
        </p:nvSpPr>
        <p:spPr>
          <a:xfrm>
            <a:off x="4190479" y="1707356"/>
            <a:ext cx="157163" cy="157163"/>
          </a:xfrm>
          <a:prstGeom prst="rect">
            <a:avLst/>
          </a:prstGeom>
          <a:noFill/>
          <a:ln/>
        </p:spPr>
        <p:txBody>
          <a:bodyPr wrap="none" lIns="0" tIns="0" rIns="0" bIns="0" rtlCol="0" anchor="ctr"/>
          <a:lstStyle/>
          <a:p>
            <a:pPr algn="ctr" indent="0" marL="0">
              <a:buNone/>
            </a:pPr>
            <a:r>
              <a:rPr lang="en-US" sz="1547" dirty="0">
                <a:solidFill>
                  <a:srgbClr val="C7912C"/>
                </a:solidFill>
                <a:latin typeface="Segoe UI Symbol" pitchFamily="34" charset="0"/>
                <a:ea typeface="Segoe UI Symbol" pitchFamily="34" charset="-122"/>
                <a:cs typeface="Segoe UI Symbol" pitchFamily="34" charset="-120"/>
              </a:rPr>
              <a:t>✓</a:t>
            </a:r>
            <a:endParaRPr lang="en-US" sz="1547" dirty="0"/>
          </a:p>
        </p:txBody>
      </p:sp>
      <p:sp>
        <p:nvSpPr>
          <p:cNvPr id="34" name="Text 32"/>
          <p:cNvSpPr/>
          <p:nvPr/>
        </p:nvSpPr>
        <p:spPr>
          <a:xfrm>
            <a:off x="3890442" y="1978819"/>
            <a:ext cx="1363005" cy="150447"/>
          </a:xfrm>
          <a:prstGeom prst="rect">
            <a:avLst/>
          </a:prstGeom>
          <a:noFill/>
          <a:ln/>
        </p:spPr>
        <p:txBody>
          <a:bodyPr wrap="none" lIns="0" tIns="0" rIns="0" bIns="0" rtlCol="0" anchor="t"/>
          <a:lstStyle/>
          <a:p>
            <a:pPr algn="l" indent="0" marL="0">
              <a:lnSpc>
                <a:spcPts val="1097"/>
              </a:lnSpc>
              <a:buNone/>
            </a:pPr>
            <a:r>
              <a:rPr lang="en-US" sz="844" b="1" dirty="0">
                <a:solidFill>
                  <a:srgbClr val="14342A"/>
                </a:solidFill>
                <a:latin typeface="Tinos" pitchFamily="34" charset="0"/>
                <a:ea typeface="Tinos" pitchFamily="34" charset="-122"/>
                <a:cs typeface="Tinos" pitchFamily="34" charset="-120"/>
              </a:rPr>
              <a:t>উৎস নিশ্চিতকরণ</a:t>
            </a:r>
            <a:endParaRPr lang="en-US" sz="844" dirty="0"/>
          </a:p>
        </p:txBody>
      </p:sp>
      <p:sp>
        <p:nvSpPr>
          <p:cNvPr id="35" name="Text 33"/>
          <p:cNvSpPr/>
          <p:nvPr/>
        </p:nvSpPr>
        <p:spPr>
          <a:xfrm>
            <a:off x="3890442" y="2175272"/>
            <a:ext cx="1472046" cy="170078"/>
          </a:xfrm>
          <a:prstGeom prst="rect">
            <a:avLst/>
          </a:prstGeom>
          <a:noFill/>
          <a:ln/>
        </p:spPr>
        <p:txBody>
          <a:bodyPr wrap="square" lIns="0" tIns="0" rIns="0" bIns="0" rtlCol="0" anchor="t"/>
          <a:lstStyle/>
          <a:p>
            <a:pPr algn="l" indent="0" marL="0">
              <a:lnSpc>
                <a:spcPts val="1090"/>
              </a:lnSpc>
              <a:buNone/>
            </a:pPr>
            <a:r>
              <a:rPr lang="en-US" sz="703" dirty="0">
                <a:solidFill>
                  <a:srgbClr val="4A4A4A"/>
                </a:solidFill>
                <a:latin typeface="Carlito" pitchFamily="34" charset="0"/>
                <a:ea typeface="Carlito" pitchFamily="34" charset="-122"/>
                <a:cs typeface="Carlito" pitchFamily="34" charset="-120"/>
              </a:rPr>
              <a:t>অনুমোদিত ডিলার/ডিস্ট্রিবিউটর থেকে ক্রয়</a:t>
            </a:r>
            <a:endParaRPr lang="en-US" sz="703" dirty="0"/>
          </a:p>
        </p:txBody>
      </p:sp>
      <p:sp>
        <p:nvSpPr>
          <p:cNvPr id="36" name="Text 34"/>
          <p:cNvSpPr/>
          <p:nvPr/>
        </p:nvSpPr>
        <p:spPr>
          <a:xfrm>
            <a:off x="5446328" y="1514475"/>
            <a:ext cx="1577318" cy="1073348"/>
          </a:xfrm>
          <a:prstGeom prst="roundRect">
            <a:avLst>
              <a:gd name="adj" fmla="val 10649"/>
            </a:avLst>
          </a:prstGeom>
          <a:solidFill>
            <a:srgbClr val="FFFFFF"/>
          </a:solidFill>
          <a:ln/>
        </p:spPr>
        <p:txBody>
          <a:bodyPr wrap="square" rtlCol="0" anchor="ctr"/>
          <a:lstStyle/>
          <a:p>
            <a:pPr indent="0" marL="0">
              <a:buNone/>
            </a:pPr>
            <a:endParaRPr lang="en-US" dirty="0"/>
          </a:p>
        </p:txBody>
      </p:sp>
      <p:sp>
        <p:nvSpPr>
          <p:cNvPr id="37" name="Shape 35"/>
          <p:cNvSpPr/>
          <p:nvPr/>
        </p:nvSpPr>
        <p:spPr>
          <a:xfrm>
            <a:off x="5446328" y="1525191"/>
            <a:ext cx="1577318" cy="0"/>
          </a:xfrm>
          <a:prstGeom prst="line">
            <a:avLst/>
          </a:prstGeom>
          <a:noFill/>
          <a:ln w="21431">
            <a:solidFill>
              <a:srgbClr val="C7912C"/>
            </a:solidFill>
            <a:prstDash val="solid"/>
          </a:ln>
        </p:spPr>
        <p:txBody>
          <a:bodyPr/>
          <a:p/>
        </p:txBody>
      </p:sp>
      <p:sp>
        <p:nvSpPr>
          <p:cNvPr id="38" name="Shape 36"/>
          <p:cNvSpPr/>
          <p:nvPr/>
        </p:nvSpPr>
        <p:spPr>
          <a:xfrm>
            <a:off x="7020074" y="1514475"/>
            <a:ext cx="0" cy="1073348"/>
          </a:xfrm>
          <a:prstGeom prst="line">
            <a:avLst/>
          </a:prstGeom>
          <a:noFill/>
          <a:ln w="7144">
            <a:solidFill>
              <a:srgbClr val="D9D2BF"/>
            </a:solidFill>
            <a:prstDash val="solid"/>
          </a:ln>
        </p:spPr>
        <p:txBody>
          <a:bodyPr/>
          <a:p/>
        </p:txBody>
      </p:sp>
      <p:sp>
        <p:nvSpPr>
          <p:cNvPr id="39" name="Shape 37"/>
          <p:cNvSpPr/>
          <p:nvPr/>
        </p:nvSpPr>
        <p:spPr>
          <a:xfrm>
            <a:off x="5446328" y="2584252"/>
            <a:ext cx="1577318" cy="0"/>
          </a:xfrm>
          <a:prstGeom prst="line">
            <a:avLst/>
          </a:prstGeom>
          <a:noFill/>
          <a:ln w="7144">
            <a:solidFill>
              <a:srgbClr val="D9D2BF"/>
            </a:solidFill>
            <a:prstDash val="solid"/>
          </a:ln>
        </p:spPr>
        <p:txBody>
          <a:bodyPr/>
          <a:p/>
        </p:txBody>
      </p:sp>
      <p:sp>
        <p:nvSpPr>
          <p:cNvPr id="40" name="Shape 38"/>
          <p:cNvSpPr/>
          <p:nvPr/>
        </p:nvSpPr>
        <p:spPr>
          <a:xfrm>
            <a:off x="5449900" y="1514475"/>
            <a:ext cx="0" cy="1073348"/>
          </a:xfrm>
          <a:prstGeom prst="line">
            <a:avLst/>
          </a:prstGeom>
          <a:noFill/>
          <a:ln w="7144">
            <a:solidFill>
              <a:srgbClr val="D9D2BF"/>
            </a:solidFill>
            <a:prstDash val="solid"/>
          </a:ln>
        </p:spPr>
        <p:txBody>
          <a:bodyPr/>
          <a:p/>
        </p:txBody>
      </p:sp>
      <p:sp>
        <p:nvSpPr>
          <p:cNvPr id="41" name="Text 39"/>
          <p:cNvSpPr/>
          <p:nvPr/>
        </p:nvSpPr>
        <p:spPr>
          <a:xfrm>
            <a:off x="5553484" y="1664494"/>
            <a:ext cx="242888" cy="242888"/>
          </a:xfrm>
          <a:prstGeom prst="ellipse">
            <a:avLst/>
          </a:prstGeom>
          <a:solidFill>
            <a:srgbClr val="C7912C"/>
          </a:solidFill>
          <a:ln/>
        </p:spPr>
        <p:txBody>
          <a:bodyPr wrap="square" rtlCol="0" anchor="ctr"/>
          <a:lstStyle/>
          <a:p>
            <a:pPr indent="0" marL="0">
              <a:buNone/>
            </a:pPr>
            <a:endParaRPr lang="en-US" dirty="0"/>
          </a:p>
        </p:txBody>
      </p:sp>
      <p:sp>
        <p:nvSpPr>
          <p:cNvPr id="42" name="Text 40"/>
          <p:cNvSpPr/>
          <p:nvPr/>
        </p:nvSpPr>
        <p:spPr>
          <a:xfrm>
            <a:off x="5553484" y="1664494"/>
            <a:ext cx="271463" cy="242888"/>
          </a:xfrm>
          <a:prstGeom prst="rect">
            <a:avLst/>
          </a:prstGeom>
          <a:noFill/>
          <a:ln/>
        </p:spPr>
        <p:txBody>
          <a:bodyPr wrap="none" lIns="0" tIns="0" rIns="0" bIns="0" rtlCol="0" anchor="ctr"/>
          <a:lstStyle/>
          <a:p>
            <a:pPr algn="ctr" indent="0" marL="0">
              <a:lnSpc>
                <a:spcPts val="1221"/>
              </a:lnSpc>
              <a:buNone/>
            </a:pPr>
            <a:r>
              <a:rPr lang="en-US" sz="800" b="1" dirty="0">
                <a:solidFill>
                  <a:srgbClr val="FAF6EE"/>
                </a:solidFill>
                <a:latin typeface="Carlito" pitchFamily="34" charset="0"/>
                <a:ea typeface="Carlito" pitchFamily="34" charset="-122"/>
                <a:cs typeface="Carlito" pitchFamily="34" charset="-120"/>
              </a:rPr>
              <a:t>০৪</a:t>
            </a:r>
            <a:endParaRPr lang="en-US" sz="800" dirty="0"/>
          </a:p>
        </p:txBody>
      </p:sp>
      <p:sp>
        <p:nvSpPr>
          <p:cNvPr id="43" name="Text 41"/>
          <p:cNvSpPr/>
          <p:nvPr/>
        </p:nvSpPr>
        <p:spPr>
          <a:xfrm>
            <a:off x="5853522" y="1707356"/>
            <a:ext cx="157163" cy="157163"/>
          </a:xfrm>
          <a:prstGeom prst="rect">
            <a:avLst/>
          </a:prstGeom>
          <a:noFill/>
          <a:ln/>
        </p:spPr>
        <p:txBody>
          <a:bodyPr wrap="none" lIns="0" tIns="0" rIns="0" bIns="0" rtlCol="0" anchor="ctr"/>
          <a:lstStyle/>
          <a:p>
            <a:pPr algn="ctr" indent="0" marL="0">
              <a:buNone/>
            </a:pPr>
            <a:r>
              <a:rPr lang="en-US" sz="1547" dirty="0">
                <a:solidFill>
                  <a:srgbClr val="C7912C"/>
                </a:solidFill>
                <a:latin typeface="Segoe UI Symbol" pitchFamily="34" charset="0"/>
                <a:ea typeface="Segoe UI Symbol" pitchFamily="34" charset="-122"/>
                <a:cs typeface="Segoe UI Symbol" pitchFamily="34" charset="-120"/>
              </a:rPr>
              <a:t>▤</a:t>
            </a:r>
            <a:endParaRPr lang="en-US" sz="1547" dirty="0"/>
          </a:p>
        </p:txBody>
      </p:sp>
      <p:sp>
        <p:nvSpPr>
          <p:cNvPr id="44" name="Text 42"/>
          <p:cNvSpPr/>
          <p:nvPr/>
        </p:nvSpPr>
        <p:spPr>
          <a:xfrm>
            <a:off x="5553484" y="1978819"/>
            <a:ext cx="1363005" cy="150447"/>
          </a:xfrm>
          <a:prstGeom prst="rect">
            <a:avLst/>
          </a:prstGeom>
          <a:noFill/>
          <a:ln/>
        </p:spPr>
        <p:txBody>
          <a:bodyPr wrap="none" lIns="0" tIns="0" rIns="0" bIns="0" rtlCol="0" anchor="t"/>
          <a:lstStyle/>
          <a:p>
            <a:pPr algn="l" indent="0" marL="0">
              <a:lnSpc>
                <a:spcPts val="1097"/>
              </a:lnSpc>
              <a:buNone/>
            </a:pPr>
            <a:r>
              <a:rPr lang="en-US" sz="844" b="1" dirty="0">
                <a:solidFill>
                  <a:srgbClr val="14342A"/>
                </a:solidFill>
                <a:latin typeface="Tinos" pitchFamily="34" charset="0"/>
                <a:ea typeface="Tinos" pitchFamily="34" charset="-122"/>
                <a:cs typeface="Tinos" pitchFamily="34" charset="-120"/>
              </a:rPr>
              <a:t>রসিদ ও চালান</a:t>
            </a:r>
            <a:endParaRPr lang="en-US" sz="844" dirty="0"/>
          </a:p>
        </p:txBody>
      </p:sp>
      <p:sp>
        <p:nvSpPr>
          <p:cNvPr id="45" name="Text 43"/>
          <p:cNvSpPr/>
          <p:nvPr/>
        </p:nvSpPr>
        <p:spPr>
          <a:xfrm>
            <a:off x="5553484" y="2175272"/>
            <a:ext cx="1472046" cy="170078"/>
          </a:xfrm>
          <a:prstGeom prst="rect">
            <a:avLst/>
          </a:prstGeom>
          <a:noFill/>
          <a:ln/>
        </p:spPr>
        <p:txBody>
          <a:bodyPr wrap="square" lIns="0" tIns="0" rIns="0" bIns="0" rtlCol="0" anchor="t"/>
          <a:lstStyle/>
          <a:p>
            <a:pPr algn="l" indent="0" marL="0">
              <a:lnSpc>
                <a:spcPts val="1090"/>
              </a:lnSpc>
              <a:buNone/>
            </a:pPr>
            <a:r>
              <a:rPr lang="en-US" sz="703" dirty="0">
                <a:solidFill>
                  <a:srgbClr val="4A4A4A"/>
                </a:solidFill>
                <a:latin typeface="Carlito" pitchFamily="34" charset="0"/>
                <a:ea typeface="Carlito" pitchFamily="34" charset="-122"/>
                <a:cs typeface="Carlito" pitchFamily="34" charset="-120"/>
              </a:rPr>
              <a:t>প্রতিটি ক্রয়ে চালান ও ক্রয় রসিদ সংরক্ষণ</a:t>
            </a:r>
            <a:endParaRPr lang="en-US" sz="703" dirty="0"/>
          </a:p>
        </p:txBody>
      </p:sp>
      <p:sp>
        <p:nvSpPr>
          <p:cNvPr id="46" name="Text 44"/>
          <p:cNvSpPr/>
          <p:nvPr/>
        </p:nvSpPr>
        <p:spPr>
          <a:xfrm>
            <a:off x="7109371" y="1514475"/>
            <a:ext cx="1577429" cy="1073348"/>
          </a:xfrm>
          <a:prstGeom prst="roundRect">
            <a:avLst>
              <a:gd name="adj" fmla="val 10649"/>
            </a:avLst>
          </a:prstGeom>
          <a:solidFill>
            <a:srgbClr val="FFFFFF"/>
          </a:solidFill>
          <a:ln/>
        </p:spPr>
        <p:txBody>
          <a:bodyPr wrap="square" rtlCol="0" anchor="ctr"/>
          <a:lstStyle/>
          <a:p>
            <a:pPr indent="0" marL="0">
              <a:buNone/>
            </a:pPr>
            <a:endParaRPr lang="en-US" dirty="0"/>
          </a:p>
        </p:txBody>
      </p:sp>
      <p:sp>
        <p:nvSpPr>
          <p:cNvPr id="47" name="Shape 45"/>
          <p:cNvSpPr/>
          <p:nvPr/>
        </p:nvSpPr>
        <p:spPr>
          <a:xfrm>
            <a:off x="7109371" y="1525191"/>
            <a:ext cx="1577429" cy="0"/>
          </a:xfrm>
          <a:prstGeom prst="line">
            <a:avLst/>
          </a:prstGeom>
          <a:noFill/>
          <a:ln w="21431">
            <a:solidFill>
              <a:srgbClr val="B23A2A"/>
            </a:solidFill>
            <a:prstDash val="solid"/>
          </a:ln>
        </p:spPr>
        <p:txBody>
          <a:bodyPr/>
          <a:p/>
        </p:txBody>
      </p:sp>
      <p:sp>
        <p:nvSpPr>
          <p:cNvPr id="48" name="Shape 46"/>
          <p:cNvSpPr/>
          <p:nvPr/>
        </p:nvSpPr>
        <p:spPr>
          <a:xfrm>
            <a:off x="8683228" y="1514475"/>
            <a:ext cx="0" cy="1073348"/>
          </a:xfrm>
          <a:prstGeom prst="line">
            <a:avLst/>
          </a:prstGeom>
          <a:noFill/>
          <a:ln w="7144">
            <a:solidFill>
              <a:srgbClr val="D9D2BF"/>
            </a:solidFill>
            <a:prstDash val="solid"/>
          </a:ln>
        </p:spPr>
        <p:txBody>
          <a:bodyPr/>
          <a:p/>
        </p:txBody>
      </p:sp>
      <p:sp>
        <p:nvSpPr>
          <p:cNvPr id="49" name="Shape 47"/>
          <p:cNvSpPr/>
          <p:nvPr/>
        </p:nvSpPr>
        <p:spPr>
          <a:xfrm>
            <a:off x="7109371" y="2584252"/>
            <a:ext cx="1577429" cy="0"/>
          </a:xfrm>
          <a:prstGeom prst="line">
            <a:avLst/>
          </a:prstGeom>
          <a:noFill/>
          <a:ln w="7144">
            <a:solidFill>
              <a:srgbClr val="D9D2BF"/>
            </a:solidFill>
            <a:prstDash val="solid"/>
          </a:ln>
        </p:spPr>
        <p:txBody>
          <a:bodyPr/>
          <a:p/>
        </p:txBody>
      </p:sp>
      <p:sp>
        <p:nvSpPr>
          <p:cNvPr id="50" name="Shape 48"/>
          <p:cNvSpPr/>
          <p:nvPr/>
        </p:nvSpPr>
        <p:spPr>
          <a:xfrm>
            <a:off x="7112943" y="1514475"/>
            <a:ext cx="0" cy="1073348"/>
          </a:xfrm>
          <a:prstGeom prst="line">
            <a:avLst/>
          </a:prstGeom>
          <a:noFill/>
          <a:ln w="7144">
            <a:solidFill>
              <a:srgbClr val="D9D2BF"/>
            </a:solidFill>
            <a:prstDash val="solid"/>
          </a:ln>
        </p:spPr>
        <p:txBody>
          <a:bodyPr/>
          <a:p/>
        </p:txBody>
      </p:sp>
      <p:sp>
        <p:nvSpPr>
          <p:cNvPr id="51" name="Text 49"/>
          <p:cNvSpPr/>
          <p:nvPr/>
        </p:nvSpPr>
        <p:spPr>
          <a:xfrm>
            <a:off x="7216527" y="1664494"/>
            <a:ext cx="242888" cy="242888"/>
          </a:xfrm>
          <a:prstGeom prst="ellipse">
            <a:avLst/>
          </a:prstGeom>
          <a:solidFill>
            <a:srgbClr val="B23A2A"/>
          </a:solidFill>
          <a:ln/>
        </p:spPr>
        <p:txBody>
          <a:bodyPr wrap="square" rtlCol="0" anchor="ctr"/>
          <a:lstStyle/>
          <a:p>
            <a:pPr indent="0" marL="0">
              <a:buNone/>
            </a:pPr>
            <a:endParaRPr lang="en-US" dirty="0"/>
          </a:p>
        </p:txBody>
      </p:sp>
      <p:sp>
        <p:nvSpPr>
          <p:cNvPr id="52" name="Text 50"/>
          <p:cNvSpPr/>
          <p:nvPr/>
        </p:nvSpPr>
        <p:spPr>
          <a:xfrm>
            <a:off x="7216527" y="1664494"/>
            <a:ext cx="271463" cy="242888"/>
          </a:xfrm>
          <a:prstGeom prst="rect">
            <a:avLst/>
          </a:prstGeom>
          <a:noFill/>
          <a:ln/>
        </p:spPr>
        <p:txBody>
          <a:bodyPr wrap="none" lIns="0" tIns="0" rIns="0" bIns="0" rtlCol="0" anchor="ctr"/>
          <a:lstStyle/>
          <a:p>
            <a:pPr algn="ctr" indent="0" marL="0">
              <a:lnSpc>
                <a:spcPts val="1221"/>
              </a:lnSpc>
              <a:buNone/>
            </a:pPr>
            <a:r>
              <a:rPr lang="en-US" sz="800" b="1" dirty="0">
                <a:solidFill>
                  <a:srgbClr val="FAF6EE"/>
                </a:solidFill>
                <a:latin typeface="Carlito" pitchFamily="34" charset="0"/>
                <a:ea typeface="Carlito" pitchFamily="34" charset="-122"/>
                <a:cs typeface="Carlito" pitchFamily="34" charset="-120"/>
              </a:rPr>
              <a:t>০৫</a:t>
            </a:r>
            <a:endParaRPr lang="en-US" sz="800" dirty="0"/>
          </a:p>
        </p:txBody>
      </p:sp>
      <p:sp>
        <p:nvSpPr>
          <p:cNvPr id="53" name="Text 51"/>
          <p:cNvSpPr/>
          <p:nvPr/>
        </p:nvSpPr>
        <p:spPr>
          <a:xfrm>
            <a:off x="7516564" y="1707356"/>
            <a:ext cx="157163" cy="157163"/>
          </a:xfrm>
          <a:prstGeom prst="rect">
            <a:avLst/>
          </a:prstGeom>
          <a:noFill/>
          <a:ln/>
        </p:spPr>
        <p:txBody>
          <a:bodyPr wrap="none" lIns="0" tIns="0" rIns="0" bIns="0" rtlCol="0" anchor="ctr"/>
          <a:lstStyle/>
          <a:p>
            <a:pPr algn="ctr" indent="0" marL="0">
              <a:buNone/>
            </a:pPr>
            <a:r>
              <a:rPr lang="en-US" sz="1547" dirty="0">
                <a:solidFill>
                  <a:srgbClr val="B23A2A"/>
                </a:solidFill>
                <a:latin typeface="Segoe UI Symbol" pitchFamily="34" charset="0"/>
                <a:ea typeface="Segoe UI Symbol" pitchFamily="34" charset="-122"/>
                <a:cs typeface="Segoe UI Symbol" pitchFamily="34" charset="-120"/>
              </a:rPr>
              <a:t>⚗</a:t>
            </a:r>
            <a:endParaRPr lang="en-US" sz="1547" dirty="0"/>
          </a:p>
        </p:txBody>
      </p:sp>
      <p:sp>
        <p:nvSpPr>
          <p:cNvPr id="54" name="Text 52"/>
          <p:cNvSpPr/>
          <p:nvPr/>
        </p:nvSpPr>
        <p:spPr>
          <a:xfrm>
            <a:off x="7216527" y="1978819"/>
            <a:ext cx="1363117" cy="150447"/>
          </a:xfrm>
          <a:prstGeom prst="rect">
            <a:avLst/>
          </a:prstGeom>
          <a:noFill/>
          <a:ln/>
        </p:spPr>
        <p:txBody>
          <a:bodyPr wrap="none" lIns="0" tIns="0" rIns="0" bIns="0" rtlCol="0" anchor="t"/>
          <a:lstStyle/>
          <a:p>
            <a:pPr algn="l" indent="0" marL="0">
              <a:lnSpc>
                <a:spcPts val="1097"/>
              </a:lnSpc>
              <a:buNone/>
            </a:pPr>
            <a:r>
              <a:rPr lang="en-US" sz="844" b="1" dirty="0">
                <a:solidFill>
                  <a:srgbClr val="14342A"/>
                </a:solidFill>
                <a:latin typeface="Tinos" pitchFamily="34" charset="0"/>
                <a:ea typeface="Tinos" pitchFamily="34" charset="-122"/>
                <a:cs typeface="Tinos" pitchFamily="34" charset="-120"/>
              </a:rPr>
              <a:t>সন্দেহ হলে পরীক্ষা</a:t>
            </a:r>
            <a:endParaRPr lang="en-US" sz="844" dirty="0"/>
          </a:p>
        </p:txBody>
      </p:sp>
      <p:sp>
        <p:nvSpPr>
          <p:cNvPr id="55" name="Text 53"/>
          <p:cNvSpPr/>
          <p:nvPr/>
        </p:nvSpPr>
        <p:spPr>
          <a:xfrm>
            <a:off x="7216527" y="2175272"/>
            <a:ext cx="1472166" cy="170078"/>
          </a:xfrm>
          <a:prstGeom prst="rect">
            <a:avLst/>
          </a:prstGeom>
          <a:noFill/>
          <a:ln/>
        </p:spPr>
        <p:txBody>
          <a:bodyPr wrap="square" lIns="0" tIns="0" rIns="0" bIns="0" rtlCol="0" anchor="t"/>
          <a:lstStyle/>
          <a:p>
            <a:pPr algn="l" indent="0" marL="0">
              <a:lnSpc>
                <a:spcPts val="1090"/>
              </a:lnSpc>
              <a:buNone/>
            </a:pPr>
            <a:r>
              <a:rPr lang="en-US" sz="703" dirty="0">
                <a:solidFill>
                  <a:srgbClr val="4A4A4A"/>
                </a:solidFill>
                <a:latin typeface="Carlito" pitchFamily="34" charset="0"/>
                <a:ea typeface="Carlito" pitchFamily="34" charset="-122"/>
                <a:cs typeface="Carlito" pitchFamily="34" charset="-120"/>
              </a:rPr>
              <a:t>স্থানীয় কৃষি সম্প্রসারণ অফিসে নমুনা</a:t>
            </a:r>
            <a:endParaRPr lang="en-US" sz="703" dirty="0"/>
          </a:p>
        </p:txBody>
      </p:sp>
      <p:sp>
        <p:nvSpPr>
          <p:cNvPr id="56" name="Text 54"/>
          <p:cNvSpPr/>
          <p:nvPr/>
        </p:nvSpPr>
        <p:spPr>
          <a:xfrm>
            <a:off x="628650" y="1871663"/>
            <a:ext cx="7886700" cy="7144"/>
          </a:xfrm>
          <a:prstGeom prst="rect">
            <a:avLst/>
          </a:prstGeom>
          <a:solidFill>
            <a:srgbClr val="FFFFFF">
              <a:alpha val="0"/>
            </a:srgbClr>
          </a:solidFill>
          <a:ln/>
        </p:spPr>
        <p:txBody>
          <a:bodyPr wrap="square" rtlCol="0" anchor="ctr"/>
          <a:lstStyle/>
          <a:p>
            <a:pPr indent="0" marL="0">
              <a:buNone/>
            </a:pPr>
            <a:endParaRPr lang="en-US" dirty="0"/>
          </a:p>
        </p:txBody>
      </p:sp>
      <p:sp>
        <p:nvSpPr>
          <p:cNvPr id="57" name="Text 55"/>
          <p:cNvSpPr/>
          <p:nvPr/>
        </p:nvSpPr>
        <p:spPr>
          <a:xfrm>
            <a:off x="457200" y="3872805"/>
            <a:ext cx="8229600" cy="827782"/>
          </a:xfrm>
          <a:prstGeom prst="roundRect">
            <a:avLst>
              <a:gd name="adj" fmla="val 16109"/>
            </a:avLst>
          </a:prstGeom>
          <a:solidFill>
            <a:srgbClr val="F2ECDD"/>
          </a:solidFill>
          <a:ln/>
        </p:spPr>
        <p:txBody>
          <a:bodyPr wrap="square" rtlCol="0" anchor="ctr"/>
          <a:lstStyle/>
          <a:p>
            <a:pPr indent="0" marL="0">
              <a:buNone/>
            </a:pPr>
            <a:endParaRPr lang="en-US" dirty="0"/>
          </a:p>
        </p:txBody>
      </p:sp>
      <p:sp>
        <p:nvSpPr>
          <p:cNvPr id="58" name="Shape 56"/>
          <p:cNvSpPr/>
          <p:nvPr/>
        </p:nvSpPr>
        <p:spPr>
          <a:xfrm>
            <a:off x="471488" y="3872805"/>
            <a:ext cx="0" cy="827782"/>
          </a:xfrm>
          <a:prstGeom prst="line">
            <a:avLst/>
          </a:prstGeom>
          <a:noFill/>
          <a:ln w="28575">
            <a:solidFill>
              <a:srgbClr val="C7912C"/>
            </a:solidFill>
            <a:prstDash val="solid"/>
          </a:ln>
        </p:spPr>
        <p:txBody>
          <a:bodyPr/>
          <a:p/>
        </p:txBody>
      </p:sp>
      <p:sp>
        <p:nvSpPr>
          <p:cNvPr id="59" name="Text 57"/>
          <p:cNvSpPr/>
          <p:nvPr/>
        </p:nvSpPr>
        <p:spPr>
          <a:xfrm>
            <a:off x="657225" y="4001393"/>
            <a:ext cx="185738" cy="185738"/>
          </a:xfrm>
          <a:prstGeom prst="rect">
            <a:avLst/>
          </a:prstGeom>
          <a:noFill/>
          <a:ln/>
        </p:spPr>
        <p:txBody>
          <a:bodyPr wrap="none" lIns="0" tIns="0" rIns="0" bIns="0" rtlCol="0" anchor="ctr"/>
          <a:lstStyle/>
          <a:p>
            <a:pPr algn="ctr" indent="0" marL="0">
              <a:buNone/>
            </a:pPr>
            <a:r>
              <a:rPr lang="en-US" sz="1828" dirty="0">
                <a:solidFill>
                  <a:srgbClr val="C7912C"/>
                </a:solidFill>
                <a:latin typeface="Segoe UI Symbol" pitchFamily="34" charset="0"/>
                <a:ea typeface="Segoe UI Symbol" pitchFamily="34" charset="-122"/>
                <a:cs typeface="Segoe UI Symbol" pitchFamily="34" charset="-120"/>
              </a:rPr>
              <a:t>◆</a:t>
            </a:r>
            <a:endParaRPr lang="en-US" sz="1828" dirty="0"/>
          </a:p>
        </p:txBody>
      </p:sp>
      <p:sp>
        <p:nvSpPr>
          <p:cNvPr id="60" name="Text 58"/>
          <p:cNvSpPr/>
          <p:nvPr/>
        </p:nvSpPr>
        <p:spPr>
          <a:xfrm>
            <a:off x="924440" y="4194274"/>
            <a:ext cx="500725" cy="128016"/>
          </a:xfrm>
          <a:prstGeom prst="rect">
            <a:avLst/>
          </a:prstGeom>
          <a:noFill/>
          <a:ln/>
        </p:spPr>
        <p:txBody>
          <a:bodyPr wrap="square" lIns="0" tIns="0" rIns="0" bIns="0" rtlCol="0" anchor="t"/>
          <a:lstStyle/>
          <a:p>
            <a:pPr algn="l" indent="0" marL="0">
              <a:lnSpc>
                <a:spcPts val="1046"/>
              </a:lnSpc>
              <a:buNone/>
            </a:pPr>
            <a:r>
              <a:rPr lang="en-US" sz="800" b="1" spc="95" kern="0" dirty="0">
                <a:solidFill>
                  <a:srgbClr val="9A6E1E"/>
                </a:solidFill>
                <a:latin typeface="Carlito" pitchFamily="34" charset="0"/>
                <a:ea typeface="Carlito" pitchFamily="34" charset="-122"/>
                <a:cs typeface="Carlito" pitchFamily="34" charset="-120"/>
              </a:rPr>
              <a:t>মনে রাখুন</a:t>
            </a:r>
            <a:endParaRPr lang="en-US" sz="800" dirty="0"/>
          </a:p>
        </p:txBody>
      </p:sp>
      <p:sp>
        <p:nvSpPr>
          <p:cNvPr id="61" name="Text 59"/>
          <p:cNvSpPr/>
          <p:nvPr/>
        </p:nvSpPr>
        <p:spPr>
          <a:xfrm>
            <a:off x="942975" y="4406354"/>
            <a:ext cx="3511153" cy="165646"/>
          </a:xfrm>
          <a:prstGeom prst="rect">
            <a:avLst/>
          </a:prstGeom>
          <a:noFill/>
          <a:ln/>
        </p:spPr>
        <p:txBody>
          <a:bodyPr wrap="square" lIns="0" tIns="0" rIns="0" bIns="0" rtlCol="0" anchor="t"/>
          <a:lstStyle/>
          <a:p>
            <a:pPr algn="l" indent="0" marL="0">
              <a:lnSpc>
                <a:spcPts val="1305"/>
              </a:lnSpc>
              <a:buNone/>
            </a:pPr>
            <a:r>
              <a:rPr lang="en-US" sz="816" dirty="0">
                <a:solidFill>
                  <a:srgbClr val="1A1A1A"/>
                </a:solidFill>
                <a:latin typeface="Carlito" pitchFamily="34" charset="0"/>
                <a:ea typeface="Carlito" pitchFamily="34" charset="-122"/>
                <a:cs typeface="Carlito" pitchFamily="34" charset="-120"/>
              </a:rPr>
              <a:t>এই ৫ ধাপ মাত্র </a:t>
            </a:r>
            <a:pPr algn="l" indent="0" marL="0">
              <a:lnSpc>
                <a:spcPts val="1305"/>
              </a:lnSpc>
              <a:buNone/>
            </a:pPr>
            <a:r>
              <a:rPr lang="en-US" sz="816" b="1" dirty="0">
                <a:solidFill>
                  <a:srgbClr val="1E4D3B"/>
                </a:solidFill>
                <a:latin typeface="Carlito" pitchFamily="34" charset="0"/>
                <a:ea typeface="Carlito" pitchFamily="34" charset="-122"/>
                <a:cs typeface="Carlito" pitchFamily="34" charset="-120"/>
              </a:rPr>
              <a:t>১০ মিনিট</a:t>
            </a:r>
            <a:pPr algn="l" indent="0" marL="0">
              <a:lnSpc>
                <a:spcPts val="1305"/>
              </a:lnSpc>
              <a:buNone/>
            </a:pPr>
            <a:r>
              <a:rPr lang="en-US" sz="816" dirty="0">
                <a:solidFill>
                  <a:srgbClr val="1A1A1A"/>
                </a:solidFill>
                <a:latin typeface="Carlito" pitchFamily="34" charset="0"/>
                <a:ea typeface="Carlito" pitchFamily="34" charset="-122"/>
                <a:cs typeface="Carlito" pitchFamily="34" charset="-120"/>
              </a:rPr>
              <a:t> সময় নেয়, কিন্তু দীর্ঘমেয়াদে ব্যবসায়িক সম্মান ও আইনি সুরক্ষা নিশ্চিত করে।</a:t>
            </a:r>
            <a:endParaRPr lang="en-US" sz="816" dirty="0"/>
          </a:p>
        </p:txBody>
      </p:sp>
      <p:sp>
        <p:nvSpPr>
          <p:cNvPr id="62" name="Text 60"/>
          <p:cNvSpPr/>
          <p:nvPr/>
        </p:nvSpPr>
        <p:spPr>
          <a:xfrm>
            <a:off x="8709013" y="4706392"/>
            <a:ext cx="28450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২১</a:t>
            </a:r>
            <a:endParaRPr lang="en-US" sz="1350" dirty="0"/>
          </a:p>
        </p:txBody>
      </p:sp>
      <p:pic>
        <p:nvPicPr>
          <p:cNvPr id="63"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7381780" y="-357187"/>
            <a:ext cx="1762220" cy="2160270"/>
          </a:xfrm>
          <a:prstGeom prst="rect">
            <a:avLst/>
          </a:prstGeom>
          <a:noFill/>
          <a:ln/>
        </p:spPr>
        <p:txBody>
          <a:bodyPr wrap="square" lIns="0" tIns="0" rIns="0" bIns="0" rtlCol="0" anchor="t"/>
          <a:lstStyle/>
          <a:p>
            <a:pPr algn="l" indent="0" marL="0">
              <a:lnSpc>
                <a:spcPts val="15750"/>
              </a:lnSpc>
              <a:buNone/>
            </a:pPr>
            <a:r>
              <a:rPr lang="en-US" sz="15750" b="1" dirty="0">
                <a:solidFill>
                  <a:srgbClr val="B23A2A">
                    <a:alpha val="5000"/>
                  </a:srgbClr>
                </a:solidFill>
                <a:latin typeface="Carlito" pitchFamily="34" charset="0"/>
                <a:ea typeface="Carlito" pitchFamily="34" charset="-122"/>
                <a:cs typeface="Carlito" pitchFamily="34" charset="-120"/>
              </a:rPr>
              <a:t>!</a:t>
            </a:r>
            <a:endParaRPr lang="en-US" sz="15750" dirty="0"/>
          </a:p>
        </p:txBody>
      </p:sp>
      <p:sp>
        <p:nvSpPr>
          <p:cNvPr id="3" name="Text 1"/>
          <p:cNvSpPr/>
          <p:nvPr/>
        </p:nvSpPr>
        <p:spPr>
          <a:xfrm>
            <a:off x="457200" y="474390"/>
            <a:ext cx="2587864"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B23A2A"/>
                </a:solidFill>
                <a:latin typeface="Carlito" pitchFamily="34" charset="0"/>
                <a:ea typeface="Carlito" pitchFamily="34" charset="-122"/>
                <a:cs typeface="Carlito" pitchFamily="34" charset="-120"/>
              </a:rPr>
              <a:t>০৪ · মাঠ পর্যায়ে শনাক্তকরণ</a:t>
            </a:r>
            <a:endParaRPr lang="en-US" sz="1350" dirty="0"/>
          </a:p>
        </p:txBody>
      </p:sp>
      <p:sp>
        <p:nvSpPr>
          <p:cNvPr id="4" name="Text 2"/>
          <p:cNvSpPr/>
          <p:nvPr/>
        </p:nvSpPr>
        <p:spPr>
          <a:xfrm>
            <a:off x="457200" y="840060"/>
            <a:ext cx="8636000" cy="501764"/>
          </a:xfrm>
          <a:prstGeom prst="rect">
            <a:avLst/>
          </a:prstGeom>
          <a:noFill/>
          <a:ln/>
        </p:spPr>
        <p:txBody>
          <a:bodyPr wrap="none" lIns="0" tIns="0" rIns="0" bIns="0" rtlCol="0" anchor="t">
            <a:normAutofit/>
          </a:bodyPr>
          <a:lstStyle/>
          <a:p>
            <a:pPr algn="l" indent="0" marL="0">
              <a:lnSpc>
                <a:spcPts val="3717"/>
              </a:lnSpc>
              <a:buNone/>
            </a:pPr>
            <a:r>
              <a:rPr lang="en-US" sz="3150" b="1" dirty="0">
                <a:solidFill>
                  <a:srgbClr val="B23A2A"/>
                </a:solidFill>
                <a:latin typeface="Segoe UI Symbol" pitchFamily="34" charset="0"/>
                <a:ea typeface="Segoe UI Symbol" pitchFamily="34" charset="-122"/>
                <a:cs typeface="Segoe UI Symbol" pitchFamily="34" charset="-120"/>
              </a:rPr>
              <a:t>⚑</a:t>
            </a:r>
            <a:pPr algn="l" indent="0" marL="0">
              <a:lnSpc>
                <a:spcPts val="3717"/>
              </a:lnSpc>
              <a:buNone/>
            </a:pPr>
            <a:r>
              <a:rPr lang="en-US" sz="3150" b="1" dirty="0">
                <a:solidFill>
                  <a:srgbClr val="B23A2A"/>
                </a:solidFill>
                <a:latin typeface="Tinos" pitchFamily="34" charset="0"/>
                <a:ea typeface="Tinos" pitchFamily="34" charset="-122"/>
                <a:cs typeface="Tinos" pitchFamily="34" charset="-120"/>
              </a:rPr>
              <a:t> প্যাকেজিং রেড ফ্ল্যাগ</a:t>
            </a:r>
            <a:endParaRPr lang="en-US" sz="3150" dirty="0"/>
          </a:p>
        </p:txBody>
      </p:sp>
      <p:sp>
        <p:nvSpPr>
          <p:cNvPr id="5" name="Text 3"/>
          <p:cNvSpPr/>
          <p:nvPr/>
        </p:nvSpPr>
        <p:spPr>
          <a:xfrm>
            <a:off x="457200" y="1369256"/>
            <a:ext cx="8229600" cy="169980"/>
          </a:xfrm>
          <a:prstGeom prst="rect">
            <a:avLst/>
          </a:prstGeom>
          <a:noFill/>
          <a:ln/>
        </p:spPr>
        <p:txBody>
          <a:bodyPr wrap="square" lIns="0" tIns="0" rIns="0" bIns="0" rtlCol="0" anchor="t"/>
          <a:lstStyle/>
          <a:p>
            <a:pPr algn="l" indent="0" marL="0">
              <a:lnSpc>
                <a:spcPts val="1221"/>
              </a:lnSpc>
              <a:buNone/>
            </a:pPr>
            <a:r>
              <a:rPr lang="en-US" sz="800" dirty="0">
                <a:solidFill>
                  <a:srgbClr val="4A4A4A"/>
                </a:solidFill>
                <a:latin typeface="Carlito" pitchFamily="34" charset="0"/>
                <a:ea typeface="Carlito" pitchFamily="34" charset="-122"/>
                <a:cs typeface="Carlito" pitchFamily="34" charset="-120"/>
              </a:rPr>
              <a:t>নিচের যেকোনো একটি লক্ষণ দেখা দিলে সাথে সাথে সন্দেহ করুন</a:t>
            </a:r>
            <a:endParaRPr lang="en-US" sz="800" dirty="0"/>
          </a:p>
        </p:txBody>
      </p:sp>
      <p:sp>
        <p:nvSpPr>
          <p:cNvPr id="6" name="Shape 4"/>
          <p:cNvSpPr/>
          <p:nvPr/>
        </p:nvSpPr>
        <p:spPr>
          <a:xfrm>
            <a:off x="457200" y="1634914"/>
            <a:ext cx="400050" cy="0"/>
          </a:xfrm>
          <a:prstGeom prst="line">
            <a:avLst/>
          </a:prstGeom>
          <a:noFill/>
          <a:ln w="7144">
            <a:solidFill>
              <a:srgbClr val="1A1A1A"/>
            </a:solidFill>
            <a:prstDash val="solid"/>
          </a:ln>
        </p:spPr>
        <p:txBody>
          <a:bodyPr/>
          <a:p/>
        </p:txBody>
      </p:sp>
      <p:sp>
        <p:nvSpPr>
          <p:cNvPr id="7" name="Text 5"/>
          <p:cNvSpPr/>
          <p:nvPr/>
        </p:nvSpPr>
        <p:spPr>
          <a:xfrm>
            <a:off x="457200" y="1557338"/>
            <a:ext cx="4029075" cy="1985963"/>
          </a:xfrm>
          <a:prstGeom prst="roundRect">
            <a:avLst>
              <a:gd name="adj" fmla="val 6715"/>
            </a:avLst>
          </a:prstGeom>
          <a:solidFill>
            <a:srgbClr val="FFFFFF"/>
          </a:solidFill>
          <a:ln/>
        </p:spPr>
        <p:txBody>
          <a:bodyPr wrap="square" rtlCol="0" anchor="ctr"/>
          <a:lstStyle/>
          <a:p>
            <a:pPr indent="0" marL="0">
              <a:buNone/>
            </a:pPr>
            <a:endParaRPr lang="en-US" dirty="0"/>
          </a:p>
        </p:txBody>
      </p:sp>
      <p:sp>
        <p:nvSpPr>
          <p:cNvPr id="8" name="Shape 6"/>
          <p:cNvSpPr/>
          <p:nvPr/>
        </p:nvSpPr>
        <p:spPr>
          <a:xfrm>
            <a:off x="457200" y="1560909"/>
            <a:ext cx="4029075" cy="0"/>
          </a:xfrm>
          <a:prstGeom prst="line">
            <a:avLst/>
          </a:prstGeom>
          <a:noFill/>
          <a:ln w="7144">
            <a:solidFill>
              <a:srgbClr val="D9D2BF"/>
            </a:solidFill>
            <a:prstDash val="solid"/>
          </a:ln>
        </p:spPr>
        <p:txBody>
          <a:bodyPr/>
          <a:p/>
        </p:txBody>
      </p:sp>
      <p:sp>
        <p:nvSpPr>
          <p:cNvPr id="9" name="Shape 7"/>
          <p:cNvSpPr/>
          <p:nvPr/>
        </p:nvSpPr>
        <p:spPr>
          <a:xfrm>
            <a:off x="4482703" y="1557338"/>
            <a:ext cx="0" cy="1985963"/>
          </a:xfrm>
          <a:prstGeom prst="line">
            <a:avLst/>
          </a:prstGeom>
          <a:noFill/>
          <a:ln w="7144">
            <a:solidFill>
              <a:srgbClr val="D9D2BF"/>
            </a:solidFill>
            <a:prstDash val="solid"/>
          </a:ln>
        </p:spPr>
        <p:txBody>
          <a:bodyPr/>
          <a:p/>
        </p:txBody>
      </p:sp>
      <p:sp>
        <p:nvSpPr>
          <p:cNvPr id="10" name="Shape 8"/>
          <p:cNvSpPr/>
          <p:nvPr/>
        </p:nvSpPr>
        <p:spPr>
          <a:xfrm>
            <a:off x="457200" y="3539728"/>
            <a:ext cx="4029075" cy="0"/>
          </a:xfrm>
          <a:prstGeom prst="line">
            <a:avLst/>
          </a:prstGeom>
          <a:noFill/>
          <a:ln w="7144">
            <a:solidFill>
              <a:srgbClr val="D9D2BF"/>
            </a:solidFill>
            <a:prstDash val="solid"/>
          </a:ln>
        </p:spPr>
        <p:txBody>
          <a:bodyPr/>
          <a:p/>
        </p:txBody>
      </p:sp>
      <p:sp>
        <p:nvSpPr>
          <p:cNvPr id="11" name="Shape 9"/>
          <p:cNvSpPr/>
          <p:nvPr/>
        </p:nvSpPr>
        <p:spPr>
          <a:xfrm>
            <a:off x="471488" y="1557338"/>
            <a:ext cx="0" cy="1985963"/>
          </a:xfrm>
          <a:prstGeom prst="line">
            <a:avLst/>
          </a:prstGeom>
          <a:noFill/>
          <a:ln w="28575">
            <a:solidFill>
              <a:srgbClr val="B23A2A"/>
            </a:solidFill>
            <a:prstDash val="solid"/>
          </a:ln>
        </p:spPr>
        <p:txBody>
          <a:bodyPr/>
          <a:p/>
        </p:txBody>
      </p:sp>
      <p:sp>
        <p:nvSpPr>
          <p:cNvPr id="12" name="Shape 10"/>
          <p:cNvSpPr/>
          <p:nvPr/>
        </p:nvSpPr>
        <p:spPr>
          <a:xfrm>
            <a:off x="671513" y="1968103"/>
            <a:ext cx="3621881" cy="0"/>
          </a:xfrm>
          <a:prstGeom prst="line">
            <a:avLst/>
          </a:prstGeom>
          <a:noFill/>
          <a:ln w="7144">
            <a:solidFill>
              <a:srgbClr val="D9D2BF"/>
            </a:solidFill>
            <a:prstDash val="solid"/>
          </a:ln>
        </p:spPr>
        <p:txBody>
          <a:bodyPr/>
          <a:p/>
        </p:txBody>
      </p:sp>
      <p:sp>
        <p:nvSpPr>
          <p:cNvPr id="13" name="Text 11"/>
          <p:cNvSpPr/>
          <p:nvPr/>
        </p:nvSpPr>
        <p:spPr>
          <a:xfrm>
            <a:off x="671513" y="1735931"/>
            <a:ext cx="157163" cy="157163"/>
          </a:xfrm>
          <a:prstGeom prst="rect">
            <a:avLst/>
          </a:prstGeom>
          <a:noFill/>
          <a:ln/>
        </p:spPr>
        <p:txBody>
          <a:bodyPr wrap="none" lIns="0" tIns="0" rIns="0" bIns="0" rtlCol="0" anchor="ctr"/>
          <a:lstStyle/>
          <a:p>
            <a:pPr algn="ctr" indent="0" marL="0">
              <a:buNone/>
            </a:pPr>
            <a:r>
              <a:rPr lang="en-US" sz="1547" dirty="0">
                <a:solidFill>
                  <a:srgbClr val="B23A2A"/>
                </a:solidFill>
                <a:latin typeface="Segoe UI Symbol" pitchFamily="34" charset="0"/>
                <a:ea typeface="Segoe UI Symbol" pitchFamily="34" charset="-122"/>
                <a:cs typeface="Segoe UI Symbol" pitchFamily="34" charset="-120"/>
              </a:rPr>
              <a:t>▣</a:t>
            </a:r>
            <a:endParaRPr lang="en-US" sz="1547" dirty="0"/>
          </a:p>
        </p:txBody>
      </p:sp>
      <p:sp>
        <p:nvSpPr>
          <p:cNvPr id="14" name="Text 12"/>
          <p:cNvSpPr/>
          <p:nvPr/>
        </p:nvSpPr>
        <p:spPr>
          <a:xfrm>
            <a:off x="900113" y="1742517"/>
            <a:ext cx="3393281" cy="150577"/>
          </a:xfrm>
          <a:prstGeom prst="rect">
            <a:avLst/>
          </a:prstGeom>
          <a:noFill/>
          <a:ln/>
        </p:spPr>
        <p:txBody>
          <a:bodyPr wrap="none" lIns="0" tIns="0" rIns="0" bIns="0" rtlCol="0" anchor="t"/>
          <a:lstStyle/>
          <a:p>
            <a:pPr algn="l" indent="0" marL="0">
              <a:lnSpc>
                <a:spcPts val="1133"/>
              </a:lnSpc>
              <a:buNone/>
            </a:pPr>
            <a:r>
              <a:rPr lang="en-US" sz="800" b="1" spc="37" kern="0" dirty="0">
                <a:solidFill>
                  <a:srgbClr val="B23A2A"/>
                </a:solidFill>
                <a:latin typeface="Carlito" pitchFamily="34" charset="0"/>
                <a:ea typeface="Carlito" pitchFamily="34" charset="-122"/>
                <a:cs typeface="Carlito" pitchFamily="34" charset="-120"/>
              </a:rPr>
              <a:t>প্যাকেজ অবস্থা</a:t>
            </a:r>
            <a:endParaRPr lang="en-US" sz="800" dirty="0"/>
          </a:p>
        </p:txBody>
      </p:sp>
      <p:sp>
        <p:nvSpPr>
          <p:cNvPr id="15" name="Text 13"/>
          <p:cNvSpPr/>
          <p:nvPr/>
        </p:nvSpPr>
        <p:spPr>
          <a:xfrm>
            <a:off x="671513" y="2071688"/>
            <a:ext cx="3621881" cy="1470612"/>
          </a:xfrm>
          <a:prstGeom prst="rect">
            <a:avLst/>
          </a:prstGeom>
          <a:noFill/>
          <a:ln/>
        </p:spPr>
        <p:txBody>
          <a:bodyPr wrap="square" lIns="0" tIns="0" rIns="0" bIns="0" rtlCol="0" anchor="t"/>
          <a:lstStyle/>
          <a:p>
            <a:pPr algn="l" indent="0" marL="0">
              <a:lnSpc>
                <a:spcPts val="2869"/>
              </a:lnSpc>
              <a:spcAft>
                <a:spcPts val="788"/>
              </a:spcAft>
              <a:buNone/>
            </a:pPr>
            <a:r>
              <a:rPr lang="en-US" sz="1100" dirty="0">
                <a:solidFill>
                  <a:srgbClr val="B23A2A"/>
                </a:solidFill>
                <a:latin typeface="Carlito" pitchFamily="34" charset="0"/>
                <a:ea typeface="Carlito" pitchFamily="34" charset="-122"/>
                <a:cs typeface="Carlito" pitchFamily="34" charset="-120"/>
              </a:rPr>
              <a:t>●  </a:t>
            </a:r>
            <a:pPr algn="l" indent="0" marL="0">
              <a:lnSpc>
                <a:spcPts val="2869"/>
              </a:lnSpc>
              <a:spcAft>
                <a:spcPts val="788"/>
              </a:spcAft>
              <a:buNone/>
            </a:pPr>
            <a:r>
              <a:rPr lang="en-US" sz="1913" dirty="0">
                <a:solidFill>
                  <a:srgbClr val="1A1A1A"/>
                </a:solidFill>
                <a:latin typeface="Carlito" pitchFamily="34" charset="0"/>
                <a:ea typeface="Carlito" pitchFamily="34" charset="-122"/>
                <a:cs typeface="Carlito" pitchFamily="34" charset="-120"/>
              </a:rPr>
              <a:t>প্যাকেজ মলিন, ছেঁড়া, বা পুনঃব্যবহৃত চিহ্ন</a:t>
            </a:r>
            <a:endParaRPr lang="en-US" sz="1913" dirty="0"/>
          </a:p>
          <a:p>
            <a:pPr algn="l" indent="0" marL="0">
              <a:lnSpc>
                <a:spcPts val="2869"/>
              </a:lnSpc>
              <a:spcAft>
                <a:spcPts val="788"/>
              </a:spcAft>
              <a:buNone/>
            </a:pPr>
            <a:r>
              <a:rPr lang="en-US" sz="1100" dirty="0">
                <a:solidFill>
                  <a:srgbClr val="B23A2A"/>
                </a:solidFill>
                <a:latin typeface="Carlito" pitchFamily="34" charset="0"/>
                <a:ea typeface="Carlito" pitchFamily="34" charset="-122"/>
                <a:cs typeface="Carlito" pitchFamily="34" charset="-120"/>
              </a:rPr>
              <a:t>●  </a:t>
            </a:r>
            <a:pPr algn="l" indent="0" marL="0">
              <a:lnSpc>
                <a:spcPts val="2869"/>
              </a:lnSpc>
              <a:spcAft>
                <a:spcPts val="788"/>
              </a:spcAft>
              <a:buNone/>
            </a:pPr>
            <a:r>
              <a:rPr lang="en-US" sz="1913" dirty="0">
                <a:solidFill>
                  <a:srgbClr val="1A1A1A"/>
                </a:solidFill>
                <a:latin typeface="Carlito" pitchFamily="34" charset="0"/>
                <a:ea typeface="Carlito" pitchFamily="34" charset="-122"/>
                <a:cs typeface="Carlito" pitchFamily="34" charset="-120"/>
              </a:rPr>
              <a:t>সিল অসম্পূর্ণ, খোলা বা পুনঃআটকানো</a:t>
            </a:r>
            <a:endParaRPr lang="en-US" sz="1913" dirty="0"/>
          </a:p>
          <a:p>
            <a:pPr algn="l" indent="0" marL="0">
              <a:lnSpc>
                <a:spcPts val="2869"/>
              </a:lnSpc>
              <a:spcAft>
                <a:spcPts val="788"/>
              </a:spcAft>
              <a:buNone/>
            </a:pPr>
            <a:r>
              <a:rPr lang="en-US" sz="1100" dirty="0">
                <a:solidFill>
                  <a:srgbClr val="B23A2A"/>
                </a:solidFill>
                <a:latin typeface="Carlito" pitchFamily="34" charset="0"/>
                <a:ea typeface="Carlito" pitchFamily="34" charset="-122"/>
                <a:cs typeface="Carlito" pitchFamily="34" charset="-120"/>
              </a:rPr>
              <a:t>●  </a:t>
            </a:r>
            <a:pPr algn="l" indent="0" marL="0">
              <a:lnSpc>
                <a:spcPts val="2869"/>
              </a:lnSpc>
              <a:spcAft>
                <a:spcPts val="788"/>
              </a:spcAft>
              <a:buNone/>
            </a:pPr>
            <a:r>
              <a:rPr lang="en-US" sz="1913" dirty="0">
                <a:solidFill>
                  <a:srgbClr val="1A1A1A"/>
                </a:solidFill>
                <a:latin typeface="Carlito" pitchFamily="34" charset="0"/>
                <a:ea typeface="Carlito" pitchFamily="34" charset="-122"/>
                <a:cs typeface="Carlito" pitchFamily="34" charset="-120"/>
              </a:rPr>
              <a:t>হোলোগ্রাম অস্পষ্ট বা প্রতিফলন কম</a:t>
            </a:r>
            <a:endParaRPr lang="en-US" sz="1913" dirty="0"/>
          </a:p>
        </p:txBody>
      </p:sp>
      <p:sp>
        <p:nvSpPr>
          <p:cNvPr id="16" name="Text 14"/>
          <p:cNvSpPr/>
          <p:nvPr/>
        </p:nvSpPr>
        <p:spPr>
          <a:xfrm>
            <a:off x="4657725" y="1557338"/>
            <a:ext cx="4029075" cy="1985963"/>
          </a:xfrm>
          <a:prstGeom prst="roundRect">
            <a:avLst>
              <a:gd name="adj" fmla="val 6715"/>
            </a:avLst>
          </a:prstGeom>
          <a:solidFill>
            <a:srgbClr val="FFFFFF"/>
          </a:solidFill>
          <a:ln/>
        </p:spPr>
        <p:txBody>
          <a:bodyPr wrap="square" rtlCol="0" anchor="ctr"/>
          <a:lstStyle/>
          <a:p>
            <a:pPr indent="0" marL="0">
              <a:buNone/>
            </a:pPr>
            <a:endParaRPr lang="en-US" dirty="0"/>
          </a:p>
        </p:txBody>
      </p:sp>
      <p:sp>
        <p:nvSpPr>
          <p:cNvPr id="17" name="Shape 15"/>
          <p:cNvSpPr/>
          <p:nvPr/>
        </p:nvSpPr>
        <p:spPr>
          <a:xfrm>
            <a:off x="4657725" y="1560909"/>
            <a:ext cx="4029075" cy="0"/>
          </a:xfrm>
          <a:prstGeom prst="line">
            <a:avLst/>
          </a:prstGeom>
          <a:noFill/>
          <a:ln w="7144">
            <a:solidFill>
              <a:srgbClr val="D9D2BF"/>
            </a:solidFill>
            <a:prstDash val="solid"/>
          </a:ln>
        </p:spPr>
        <p:txBody>
          <a:bodyPr/>
          <a:p/>
        </p:txBody>
      </p:sp>
      <p:sp>
        <p:nvSpPr>
          <p:cNvPr id="18" name="Shape 16"/>
          <p:cNvSpPr/>
          <p:nvPr/>
        </p:nvSpPr>
        <p:spPr>
          <a:xfrm>
            <a:off x="8683228" y="1557338"/>
            <a:ext cx="0" cy="1985963"/>
          </a:xfrm>
          <a:prstGeom prst="line">
            <a:avLst/>
          </a:prstGeom>
          <a:noFill/>
          <a:ln w="7144">
            <a:solidFill>
              <a:srgbClr val="D9D2BF"/>
            </a:solidFill>
            <a:prstDash val="solid"/>
          </a:ln>
        </p:spPr>
        <p:txBody>
          <a:bodyPr/>
          <a:p/>
        </p:txBody>
      </p:sp>
      <p:sp>
        <p:nvSpPr>
          <p:cNvPr id="19" name="Shape 17"/>
          <p:cNvSpPr/>
          <p:nvPr/>
        </p:nvSpPr>
        <p:spPr>
          <a:xfrm>
            <a:off x="4657725" y="3539728"/>
            <a:ext cx="4029075" cy="0"/>
          </a:xfrm>
          <a:prstGeom prst="line">
            <a:avLst/>
          </a:prstGeom>
          <a:noFill/>
          <a:ln w="7144">
            <a:solidFill>
              <a:srgbClr val="D9D2BF"/>
            </a:solidFill>
            <a:prstDash val="solid"/>
          </a:ln>
        </p:spPr>
        <p:txBody>
          <a:bodyPr/>
          <a:p/>
        </p:txBody>
      </p:sp>
      <p:sp>
        <p:nvSpPr>
          <p:cNvPr id="20" name="Shape 18"/>
          <p:cNvSpPr/>
          <p:nvPr/>
        </p:nvSpPr>
        <p:spPr>
          <a:xfrm>
            <a:off x="4672013" y="1557338"/>
            <a:ext cx="0" cy="1985963"/>
          </a:xfrm>
          <a:prstGeom prst="line">
            <a:avLst/>
          </a:prstGeom>
          <a:noFill/>
          <a:ln w="28575">
            <a:solidFill>
              <a:srgbClr val="B23A2A"/>
            </a:solidFill>
            <a:prstDash val="solid"/>
          </a:ln>
        </p:spPr>
        <p:txBody>
          <a:bodyPr/>
          <a:p/>
        </p:txBody>
      </p:sp>
      <p:sp>
        <p:nvSpPr>
          <p:cNvPr id="21" name="Shape 19"/>
          <p:cNvSpPr/>
          <p:nvPr/>
        </p:nvSpPr>
        <p:spPr>
          <a:xfrm>
            <a:off x="4872038" y="1968103"/>
            <a:ext cx="3621881" cy="0"/>
          </a:xfrm>
          <a:prstGeom prst="line">
            <a:avLst/>
          </a:prstGeom>
          <a:noFill/>
          <a:ln w="7144">
            <a:solidFill>
              <a:srgbClr val="D9D2BF"/>
            </a:solidFill>
            <a:prstDash val="solid"/>
          </a:ln>
        </p:spPr>
        <p:txBody>
          <a:bodyPr/>
          <a:p/>
        </p:txBody>
      </p:sp>
      <p:sp>
        <p:nvSpPr>
          <p:cNvPr id="22" name="Text 20"/>
          <p:cNvSpPr/>
          <p:nvPr/>
        </p:nvSpPr>
        <p:spPr>
          <a:xfrm>
            <a:off x="4872038" y="1735931"/>
            <a:ext cx="157163" cy="157163"/>
          </a:xfrm>
          <a:prstGeom prst="rect">
            <a:avLst/>
          </a:prstGeom>
          <a:noFill/>
          <a:ln/>
        </p:spPr>
        <p:txBody>
          <a:bodyPr wrap="none" lIns="0" tIns="0" rIns="0" bIns="0" rtlCol="0" anchor="ctr"/>
          <a:lstStyle/>
          <a:p>
            <a:pPr algn="ctr" indent="0" marL="0">
              <a:buNone/>
            </a:pPr>
            <a:r>
              <a:rPr lang="en-US" sz="1547" dirty="0">
                <a:solidFill>
                  <a:srgbClr val="B23A2A"/>
                </a:solidFill>
                <a:latin typeface="Segoe UI Symbol" pitchFamily="34" charset="0"/>
                <a:ea typeface="Segoe UI Symbol" pitchFamily="34" charset="-122"/>
                <a:cs typeface="Segoe UI Symbol" pitchFamily="34" charset="-120"/>
              </a:rPr>
              <a:t>✦</a:t>
            </a:r>
            <a:endParaRPr lang="en-US" sz="1547" dirty="0"/>
          </a:p>
        </p:txBody>
      </p:sp>
      <p:sp>
        <p:nvSpPr>
          <p:cNvPr id="23" name="Text 21"/>
          <p:cNvSpPr/>
          <p:nvPr/>
        </p:nvSpPr>
        <p:spPr>
          <a:xfrm>
            <a:off x="5100638" y="1742517"/>
            <a:ext cx="3393281" cy="150577"/>
          </a:xfrm>
          <a:prstGeom prst="rect">
            <a:avLst/>
          </a:prstGeom>
          <a:noFill/>
          <a:ln/>
        </p:spPr>
        <p:txBody>
          <a:bodyPr wrap="none" lIns="0" tIns="0" rIns="0" bIns="0" rtlCol="0" anchor="t"/>
          <a:lstStyle/>
          <a:p>
            <a:pPr algn="l" indent="0" marL="0">
              <a:lnSpc>
                <a:spcPts val="1133"/>
              </a:lnSpc>
              <a:buNone/>
            </a:pPr>
            <a:r>
              <a:rPr lang="en-US" sz="800" b="1" spc="37" kern="0" dirty="0">
                <a:solidFill>
                  <a:srgbClr val="B23A2A"/>
                </a:solidFill>
                <a:latin typeface="Carlito" pitchFamily="34" charset="0"/>
                <a:ea typeface="Carlito" pitchFamily="34" charset="-122"/>
                <a:cs typeface="Carlito" pitchFamily="34" charset="-120"/>
              </a:rPr>
              <a:t>সিল ও উপাদান</a:t>
            </a:r>
            <a:endParaRPr lang="en-US" sz="800" dirty="0"/>
          </a:p>
        </p:txBody>
      </p:sp>
      <p:sp>
        <p:nvSpPr>
          <p:cNvPr id="24" name="Text 22"/>
          <p:cNvSpPr/>
          <p:nvPr/>
        </p:nvSpPr>
        <p:spPr>
          <a:xfrm>
            <a:off x="4872038" y="2071688"/>
            <a:ext cx="3621881" cy="1470612"/>
          </a:xfrm>
          <a:prstGeom prst="rect">
            <a:avLst/>
          </a:prstGeom>
          <a:noFill/>
          <a:ln/>
        </p:spPr>
        <p:txBody>
          <a:bodyPr wrap="square" lIns="0" tIns="0" rIns="0" bIns="0" rtlCol="0" anchor="t"/>
          <a:lstStyle/>
          <a:p>
            <a:pPr algn="l" indent="0" marL="0">
              <a:lnSpc>
                <a:spcPts val="2869"/>
              </a:lnSpc>
              <a:spcAft>
                <a:spcPts val="788"/>
              </a:spcAft>
              <a:buNone/>
            </a:pPr>
            <a:r>
              <a:rPr lang="en-US" sz="1100" dirty="0">
                <a:solidFill>
                  <a:srgbClr val="B23A2A"/>
                </a:solidFill>
                <a:latin typeface="Carlito" pitchFamily="34" charset="0"/>
                <a:ea typeface="Carlito" pitchFamily="34" charset="-122"/>
                <a:cs typeface="Carlito" pitchFamily="34" charset="-120"/>
              </a:rPr>
              <a:t>●  </a:t>
            </a:r>
            <a:pPr algn="l" indent="0" marL="0">
              <a:lnSpc>
                <a:spcPts val="2869"/>
              </a:lnSpc>
              <a:spcAft>
                <a:spcPts val="788"/>
              </a:spcAft>
              <a:buNone/>
            </a:pPr>
            <a:r>
              <a:rPr lang="en-US" sz="1913" dirty="0">
                <a:solidFill>
                  <a:srgbClr val="1A1A1A"/>
                </a:solidFill>
                <a:latin typeface="Carlito" pitchFamily="34" charset="0"/>
                <a:ea typeface="Carlito" pitchFamily="34" charset="-122"/>
                <a:cs typeface="Carlito" pitchFamily="34" charset="-120"/>
              </a:rPr>
              <a:t>প্যাকেজে আঠার দাগ বা রঙের প্রলেপ</a:t>
            </a:r>
            <a:endParaRPr lang="en-US" sz="1913" dirty="0"/>
          </a:p>
          <a:p>
            <a:pPr algn="l" indent="0" marL="0">
              <a:lnSpc>
                <a:spcPts val="2869"/>
              </a:lnSpc>
              <a:spcAft>
                <a:spcPts val="788"/>
              </a:spcAft>
              <a:buNone/>
            </a:pPr>
            <a:r>
              <a:rPr lang="en-US" sz="1100" dirty="0">
                <a:solidFill>
                  <a:srgbClr val="B23A2A"/>
                </a:solidFill>
                <a:latin typeface="Carlito" pitchFamily="34" charset="0"/>
                <a:ea typeface="Carlito" pitchFamily="34" charset="-122"/>
                <a:cs typeface="Carlito" pitchFamily="34" charset="-120"/>
              </a:rPr>
              <a:t>●  </a:t>
            </a:r>
            <a:pPr algn="l" indent="0" marL="0">
              <a:lnSpc>
                <a:spcPts val="2869"/>
              </a:lnSpc>
              <a:spcAft>
                <a:spcPts val="788"/>
              </a:spcAft>
              <a:buNone/>
            </a:pPr>
            <a:r>
              <a:rPr lang="en-US" sz="1913" dirty="0">
                <a:solidFill>
                  <a:srgbClr val="1A1A1A"/>
                </a:solidFill>
                <a:latin typeface="Carlito" pitchFamily="34" charset="0"/>
                <a:ea typeface="Carlito" pitchFamily="34" charset="-122"/>
                <a:cs typeface="Carlito" pitchFamily="34" charset="-120"/>
              </a:rPr>
              <a:t>ক্যাপ শিথিল, সিল ভাঙা, বা অস্বাভাবিক</a:t>
            </a:r>
            <a:endParaRPr lang="en-US" sz="1913" dirty="0"/>
          </a:p>
          <a:p>
            <a:pPr algn="l" indent="0" marL="0">
              <a:lnSpc>
                <a:spcPts val="2869"/>
              </a:lnSpc>
              <a:spcAft>
                <a:spcPts val="788"/>
              </a:spcAft>
              <a:buNone/>
            </a:pPr>
            <a:r>
              <a:rPr lang="en-US" sz="1100" dirty="0">
                <a:solidFill>
                  <a:srgbClr val="B23A2A"/>
                </a:solidFill>
                <a:latin typeface="Carlito" pitchFamily="34" charset="0"/>
                <a:ea typeface="Carlito" pitchFamily="34" charset="-122"/>
                <a:cs typeface="Carlito" pitchFamily="34" charset="-120"/>
              </a:rPr>
              <a:t>●  </a:t>
            </a:r>
            <a:pPr algn="l" indent="0" marL="0">
              <a:lnSpc>
                <a:spcPts val="2869"/>
              </a:lnSpc>
              <a:spcAft>
                <a:spcPts val="788"/>
              </a:spcAft>
              <a:buNone/>
            </a:pPr>
            <a:r>
              <a:rPr lang="en-US" sz="1913" dirty="0">
                <a:solidFill>
                  <a:srgbClr val="1A1A1A"/>
                </a:solidFill>
                <a:latin typeface="Carlito" pitchFamily="34" charset="0"/>
                <a:ea typeface="Carlito" pitchFamily="34" charset="-122"/>
                <a:cs typeface="Carlito" pitchFamily="34" charset="-120"/>
              </a:rPr>
              <a:t>প্যাকেজিং উপাদান পাতলা, সহজে বিকৃত</a:t>
            </a:r>
            <a:endParaRPr lang="en-US" sz="1913" dirty="0"/>
          </a:p>
        </p:txBody>
      </p:sp>
      <p:sp>
        <p:nvSpPr>
          <p:cNvPr id="25" name="Text 23"/>
          <p:cNvSpPr/>
          <p:nvPr/>
        </p:nvSpPr>
        <p:spPr>
          <a:xfrm>
            <a:off x="457200" y="4135785"/>
            <a:ext cx="8229600" cy="564803"/>
          </a:xfrm>
          <a:prstGeom prst="roundRect">
            <a:avLst>
              <a:gd name="adj" fmla="val 23610"/>
            </a:avLst>
          </a:prstGeom>
          <a:solidFill>
            <a:srgbClr val="B23A2A"/>
          </a:solidFill>
          <a:ln/>
        </p:spPr>
        <p:txBody>
          <a:bodyPr wrap="square" rtlCol="0" anchor="ctr"/>
          <a:lstStyle/>
          <a:p>
            <a:pPr indent="0" marL="0">
              <a:buNone/>
            </a:pPr>
            <a:endParaRPr lang="en-US" dirty="0"/>
          </a:p>
        </p:txBody>
      </p:sp>
      <p:sp>
        <p:nvSpPr>
          <p:cNvPr id="26" name="Text 24"/>
          <p:cNvSpPr/>
          <p:nvPr/>
        </p:nvSpPr>
        <p:spPr>
          <a:xfrm>
            <a:off x="628650" y="4303886"/>
            <a:ext cx="228600" cy="228600"/>
          </a:xfrm>
          <a:prstGeom prst="rect">
            <a:avLst/>
          </a:prstGeom>
          <a:noFill/>
          <a:ln/>
        </p:spPr>
        <p:txBody>
          <a:bodyPr wrap="none" lIns="0" tIns="0" rIns="0" bIns="0" rtlCol="0" anchor="ctr"/>
          <a:lstStyle/>
          <a:p>
            <a:pPr algn="ctr" indent="0" marL="0">
              <a:buNone/>
            </a:pPr>
            <a:r>
              <a:rPr lang="en-US" sz="2250" dirty="0">
                <a:solidFill>
                  <a:srgbClr val="FAF6EE"/>
                </a:solidFill>
                <a:latin typeface="Segoe UI Symbol" pitchFamily="34" charset="0"/>
                <a:ea typeface="Segoe UI Symbol" pitchFamily="34" charset="-122"/>
                <a:cs typeface="Segoe UI Symbol" pitchFamily="34" charset="-120"/>
              </a:rPr>
              <a:t>!</a:t>
            </a:r>
            <a:endParaRPr lang="en-US" sz="2250" dirty="0"/>
          </a:p>
        </p:txBody>
      </p:sp>
      <p:sp>
        <p:nvSpPr>
          <p:cNvPr id="27" name="Text 25"/>
          <p:cNvSpPr/>
          <p:nvPr/>
        </p:nvSpPr>
        <p:spPr>
          <a:xfrm>
            <a:off x="957263" y="4264372"/>
            <a:ext cx="3275829" cy="119685"/>
          </a:xfrm>
          <a:prstGeom prst="rect">
            <a:avLst/>
          </a:prstGeom>
          <a:noFill/>
          <a:ln/>
        </p:spPr>
        <p:txBody>
          <a:bodyPr wrap="none" lIns="0" tIns="0" rIns="0" bIns="0" rtlCol="0" anchor="t">
            <a:normAutofit/>
          </a:bodyPr>
          <a:lstStyle/>
          <a:p>
            <a:pPr algn="l" indent="0" marL="0">
              <a:lnSpc>
                <a:spcPts val="1046"/>
              </a:lnSpc>
              <a:buNone/>
            </a:pPr>
            <a:r>
              <a:rPr lang="en-US" sz="800" b="1" spc="95" kern="0" dirty="0">
                <a:solidFill>
                  <a:srgbClr val="E0B659"/>
                </a:solidFill>
                <a:latin typeface="Carlito" pitchFamily="34" charset="0"/>
                <a:ea typeface="Carlito" pitchFamily="34" charset="-122"/>
                <a:cs typeface="Carlito" pitchFamily="34" charset="-120"/>
              </a:rPr>
              <a:t>⚠ কঠোর নিয়ম</a:t>
            </a:r>
            <a:endParaRPr lang="en-US" sz="800" dirty="0"/>
          </a:p>
        </p:txBody>
      </p:sp>
      <p:sp>
        <p:nvSpPr>
          <p:cNvPr id="28" name="Text 26"/>
          <p:cNvSpPr/>
          <p:nvPr/>
        </p:nvSpPr>
        <p:spPr>
          <a:xfrm>
            <a:off x="957263" y="4411489"/>
            <a:ext cx="2539157" cy="160511"/>
          </a:xfrm>
          <a:prstGeom prst="rect">
            <a:avLst/>
          </a:prstGeom>
          <a:noFill/>
          <a:ln/>
        </p:spPr>
        <p:txBody>
          <a:bodyPr wrap="square" lIns="0" tIns="0" rIns="0" bIns="0" rtlCol="0" anchor="t"/>
          <a:lstStyle/>
          <a:p>
            <a:pPr algn="l" indent="0" marL="0">
              <a:lnSpc>
                <a:spcPts val="1264"/>
              </a:lnSpc>
              <a:buNone/>
            </a:pPr>
            <a:r>
              <a:rPr lang="en-US" sz="872" dirty="0">
                <a:solidFill>
                  <a:srgbClr val="FAF6EE"/>
                </a:solidFill>
                <a:latin typeface="Carlito" pitchFamily="34" charset="0"/>
                <a:ea typeface="Carlito" pitchFamily="34" charset="-122"/>
                <a:cs typeface="Carlito" pitchFamily="34" charset="-120"/>
              </a:rPr>
              <a:t>দুই বা ততোধিক রেড ফ্ল্যাগ = সরাসরি বিক্রি বন্ধ, সরবরাহকারীকে জানান</a:t>
            </a:r>
            <a:endParaRPr lang="en-US" sz="872" dirty="0"/>
          </a:p>
        </p:txBody>
      </p:sp>
      <p:sp>
        <p:nvSpPr>
          <p:cNvPr id="29" name="Text 27"/>
          <p:cNvSpPr/>
          <p:nvPr/>
        </p:nvSpPr>
        <p:spPr>
          <a:xfrm>
            <a:off x="8694725" y="4706392"/>
            <a:ext cx="30736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২২</a:t>
            </a:r>
            <a:endParaRPr lang="en-US" sz="1350" dirty="0"/>
          </a:p>
        </p:txBody>
      </p:sp>
      <p:pic>
        <p:nvPicPr>
          <p:cNvPr id="30"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7381780" y="-357187"/>
            <a:ext cx="1762220" cy="2160270"/>
          </a:xfrm>
          <a:prstGeom prst="rect">
            <a:avLst/>
          </a:prstGeom>
          <a:noFill/>
          <a:ln/>
        </p:spPr>
        <p:txBody>
          <a:bodyPr wrap="square" lIns="0" tIns="0" rIns="0" bIns="0" rtlCol="0" anchor="t"/>
          <a:lstStyle/>
          <a:p>
            <a:pPr algn="l" indent="0" marL="0">
              <a:lnSpc>
                <a:spcPts val="15750"/>
              </a:lnSpc>
              <a:buNone/>
            </a:pPr>
            <a:r>
              <a:rPr lang="en-US" sz="15750" b="1" dirty="0">
                <a:solidFill>
                  <a:srgbClr val="B23A2A">
                    <a:alpha val="5000"/>
                  </a:srgbClr>
                </a:solidFill>
                <a:latin typeface="Carlito" pitchFamily="34" charset="0"/>
                <a:ea typeface="Carlito" pitchFamily="34" charset="-122"/>
                <a:cs typeface="Carlito" pitchFamily="34" charset="-120"/>
              </a:rPr>
              <a:t>!</a:t>
            </a:r>
            <a:endParaRPr lang="en-US" sz="15750" dirty="0"/>
          </a:p>
        </p:txBody>
      </p:sp>
      <p:sp>
        <p:nvSpPr>
          <p:cNvPr id="3" name="Text 1"/>
          <p:cNvSpPr/>
          <p:nvPr/>
        </p:nvSpPr>
        <p:spPr>
          <a:xfrm>
            <a:off x="457200" y="474390"/>
            <a:ext cx="2587864"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B23A2A"/>
                </a:solidFill>
                <a:latin typeface="Carlito" pitchFamily="34" charset="0"/>
                <a:ea typeface="Carlito" pitchFamily="34" charset="-122"/>
                <a:cs typeface="Carlito" pitchFamily="34" charset="-120"/>
              </a:rPr>
              <a:t>০৪ · মাঠ পর্যায়ে শনাক্তকরণ</a:t>
            </a:r>
            <a:endParaRPr lang="en-US" sz="1350" dirty="0"/>
          </a:p>
        </p:txBody>
      </p:sp>
      <p:sp>
        <p:nvSpPr>
          <p:cNvPr id="4" name="Text 2"/>
          <p:cNvSpPr/>
          <p:nvPr/>
        </p:nvSpPr>
        <p:spPr>
          <a:xfrm>
            <a:off x="457200" y="840060"/>
            <a:ext cx="8636000" cy="509809"/>
          </a:xfrm>
          <a:prstGeom prst="rect">
            <a:avLst/>
          </a:prstGeom>
          <a:noFill/>
          <a:ln/>
        </p:spPr>
        <p:txBody>
          <a:bodyPr wrap="none" lIns="0" tIns="0" rIns="0" bIns="0" rtlCol="0" anchor="t"/>
          <a:lstStyle/>
          <a:p>
            <a:pPr algn="l" indent="0" marL="0">
              <a:lnSpc>
                <a:spcPts val="3717"/>
              </a:lnSpc>
              <a:buNone/>
            </a:pPr>
            <a:r>
              <a:rPr lang="en-US" sz="3150" b="1" dirty="0">
                <a:solidFill>
                  <a:srgbClr val="B23A2A"/>
                </a:solidFill>
                <a:latin typeface="Segoe UI Symbol" pitchFamily="34" charset="0"/>
                <a:ea typeface="Segoe UI Symbol" pitchFamily="34" charset="-122"/>
                <a:cs typeface="Segoe UI Symbol" pitchFamily="34" charset="-120"/>
              </a:rPr>
              <a:t>⌧</a:t>
            </a:r>
            <a:pPr algn="l" indent="0" marL="0">
              <a:lnSpc>
                <a:spcPts val="3717"/>
              </a:lnSpc>
              <a:buNone/>
            </a:pPr>
            <a:r>
              <a:rPr lang="en-US" sz="3150" b="1" dirty="0">
                <a:solidFill>
                  <a:srgbClr val="B23A2A"/>
                </a:solidFill>
                <a:latin typeface="Tinos" pitchFamily="34" charset="0"/>
                <a:ea typeface="Tinos" pitchFamily="34" charset="-122"/>
                <a:cs typeface="Tinos" pitchFamily="34" charset="-120"/>
              </a:rPr>
              <a:t> লেবেল রেড ফ্ল্যাগ</a:t>
            </a:r>
            <a:endParaRPr lang="en-US" sz="3150" dirty="0"/>
          </a:p>
        </p:txBody>
      </p:sp>
      <p:sp>
        <p:nvSpPr>
          <p:cNvPr id="5" name="Shape 3"/>
          <p:cNvSpPr/>
          <p:nvPr/>
        </p:nvSpPr>
        <p:spPr>
          <a:xfrm>
            <a:off x="457200" y="1422834"/>
            <a:ext cx="400050" cy="0"/>
          </a:xfrm>
          <a:prstGeom prst="line">
            <a:avLst/>
          </a:prstGeom>
          <a:noFill/>
          <a:ln w="7144">
            <a:solidFill>
              <a:srgbClr val="1A1A1A"/>
            </a:solidFill>
            <a:prstDash val="solid"/>
          </a:ln>
        </p:spPr>
        <p:txBody>
          <a:bodyPr/>
          <a:p/>
        </p:txBody>
      </p:sp>
      <p:sp>
        <p:nvSpPr>
          <p:cNvPr id="6" name="Text 4"/>
          <p:cNvSpPr/>
          <p:nvPr/>
        </p:nvSpPr>
        <p:spPr>
          <a:xfrm>
            <a:off x="457200" y="1414463"/>
            <a:ext cx="4029075" cy="2632360"/>
          </a:xfrm>
          <a:prstGeom prst="roundRect">
            <a:avLst>
              <a:gd name="adj" fmla="val 5066"/>
            </a:avLst>
          </a:prstGeom>
          <a:solidFill>
            <a:srgbClr val="FFFFFF"/>
          </a:solidFill>
          <a:ln/>
        </p:spPr>
        <p:txBody>
          <a:bodyPr wrap="square" rtlCol="0" anchor="ctr"/>
          <a:lstStyle/>
          <a:p>
            <a:pPr indent="0" marL="0">
              <a:buNone/>
            </a:pPr>
            <a:endParaRPr lang="en-US" dirty="0"/>
          </a:p>
        </p:txBody>
      </p:sp>
      <p:sp>
        <p:nvSpPr>
          <p:cNvPr id="7" name="Shape 5"/>
          <p:cNvSpPr/>
          <p:nvPr/>
        </p:nvSpPr>
        <p:spPr>
          <a:xfrm>
            <a:off x="457200" y="1418034"/>
            <a:ext cx="4029075" cy="0"/>
          </a:xfrm>
          <a:prstGeom prst="line">
            <a:avLst/>
          </a:prstGeom>
          <a:noFill/>
          <a:ln w="7144">
            <a:solidFill>
              <a:srgbClr val="D9D2BF"/>
            </a:solidFill>
            <a:prstDash val="solid"/>
          </a:ln>
        </p:spPr>
        <p:txBody>
          <a:bodyPr/>
          <a:p/>
        </p:txBody>
      </p:sp>
      <p:sp>
        <p:nvSpPr>
          <p:cNvPr id="8" name="Shape 6"/>
          <p:cNvSpPr/>
          <p:nvPr/>
        </p:nvSpPr>
        <p:spPr>
          <a:xfrm>
            <a:off x="4482703" y="1414463"/>
            <a:ext cx="0" cy="2632360"/>
          </a:xfrm>
          <a:prstGeom prst="line">
            <a:avLst/>
          </a:prstGeom>
          <a:noFill/>
          <a:ln w="7144">
            <a:solidFill>
              <a:srgbClr val="D9D2BF"/>
            </a:solidFill>
            <a:prstDash val="solid"/>
          </a:ln>
        </p:spPr>
        <p:txBody>
          <a:bodyPr/>
          <a:p/>
        </p:txBody>
      </p:sp>
      <p:sp>
        <p:nvSpPr>
          <p:cNvPr id="9" name="Shape 7"/>
          <p:cNvSpPr/>
          <p:nvPr/>
        </p:nvSpPr>
        <p:spPr>
          <a:xfrm>
            <a:off x="457200" y="4043251"/>
            <a:ext cx="4029075" cy="0"/>
          </a:xfrm>
          <a:prstGeom prst="line">
            <a:avLst/>
          </a:prstGeom>
          <a:noFill/>
          <a:ln w="7144">
            <a:solidFill>
              <a:srgbClr val="D9D2BF"/>
            </a:solidFill>
            <a:prstDash val="solid"/>
          </a:ln>
        </p:spPr>
        <p:txBody>
          <a:bodyPr/>
          <a:p/>
        </p:txBody>
      </p:sp>
      <p:sp>
        <p:nvSpPr>
          <p:cNvPr id="10" name="Shape 8"/>
          <p:cNvSpPr/>
          <p:nvPr/>
        </p:nvSpPr>
        <p:spPr>
          <a:xfrm>
            <a:off x="471488" y="1414463"/>
            <a:ext cx="0" cy="2632360"/>
          </a:xfrm>
          <a:prstGeom prst="line">
            <a:avLst/>
          </a:prstGeom>
          <a:noFill/>
          <a:ln w="28575">
            <a:solidFill>
              <a:srgbClr val="B23A2A"/>
            </a:solidFill>
            <a:prstDash val="solid"/>
          </a:ln>
        </p:spPr>
        <p:txBody>
          <a:bodyPr/>
          <a:p/>
        </p:txBody>
      </p:sp>
      <p:sp>
        <p:nvSpPr>
          <p:cNvPr id="11" name="Shape 9"/>
          <p:cNvSpPr/>
          <p:nvPr/>
        </p:nvSpPr>
        <p:spPr>
          <a:xfrm>
            <a:off x="671513" y="1796653"/>
            <a:ext cx="3621881" cy="0"/>
          </a:xfrm>
          <a:prstGeom prst="line">
            <a:avLst/>
          </a:prstGeom>
          <a:noFill/>
          <a:ln w="7144">
            <a:solidFill>
              <a:srgbClr val="D9D2BF"/>
            </a:solidFill>
            <a:prstDash val="solid"/>
          </a:ln>
        </p:spPr>
        <p:txBody>
          <a:bodyPr/>
          <a:p/>
        </p:txBody>
      </p:sp>
      <p:sp>
        <p:nvSpPr>
          <p:cNvPr id="12" name="Text 10"/>
          <p:cNvSpPr/>
          <p:nvPr/>
        </p:nvSpPr>
        <p:spPr>
          <a:xfrm>
            <a:off x="671513" y="1578769"/>
            <a:ext cx="157163" cy="157163"/>
          </a:xfrm>
          <a:prstGeom prst="rect">
            <a:avLst/>
          </a:prstGeom>
          <a:noFill/>
          <a:ln/>
        </p:spPr>
        <p:txBody>
          <a:bodyPr wrap="none" lIns="0" tIns="0" rIns="0" bIns="0" rtlCol="0" anchor="ctr"/>
          <a:lstStyle/>
          <a:p>
            <a:pPr algn="ctr" indent="0" marL="0">
              <a:buNone/>
            </a:pPr>
            <a:r>
              <a:rPr lang="en-US" sz="1547" dirty="0">
                <a:solidFill>
                  <a:srgbClr val="B23A2A"/>
                </a:solidFill>
                <a:latin typeface="Segoe UI Symbol" pitchFamily="34" charset="0"/>
                <a:ea typeface="Segoe UI Symbol" pitchFamily="34" charset="-122"/>
                <a:cs typeface="Segoe UI Symbol" pitchFamily="34" charset="-120"/>
              </a:rPr>
              <a:t>✦</a:t>
            </a:r>
            <a:endParaRPr lang="en-US" sz="1547" dirty="0"/>
          </a:p>
        </p:txBody>
      </p:sp>
      <p:sp>
        <p:nvSpPr>
          <p:cNvPr id="13" name="Text 11"/>
          <p:cNvSpPr/>
          <p:nvPr/>
        </p:nvSpPr>
        <p:spPr>
          <a:xfrm>
            <a:off x="900113" y="1585354"/>
            <a:ext cx="3393281" cy="150577"/>
          </a:xfrm>
          <a:prstGeom prst="rect">
            <a:avLst/>
          </a:prstGeom>
          <a:noFill/>
          <a:ln/>
        </p:spPr>
        <p:txBody>
          <a:bodyPr wrap="none" lIns="0" tIns="0" rIns="0" bIns="0" rtlCol="0" anchor="t"/>
          <a:lstStyle/>
          <a:p>
            <a:pPr algn="l" indent="0" marL="0">
              <a:lnSpc>
                <a:spcPts val="1133"/>
              </a:lnSpc>
              <a:buNone/>
            </a:pPr>
            <a:r>
              <a:rPr lang="en-US" sz="800" b="1" spc="37" kern="0" dirty="0">
                <a:solidFill>
                  <a:srgbClr val="B23A2A"/>
                </a:solidFill>
                <a:latin typeface="Carlito" pitchFamily="34" charset="0"/>
                <a:ea typeface="Carlito" pitchFamily="34" charset="-122"/>
                <a:cs typeface="Carlito" pitchFamily="34" charset="-120"/>
              </a:rPr>
              <a:t>মুদ্রণ ও নিবন্ধন</a:t>
            </a:r>
            <a:endParaRPr lang="en-US" sz="800" dirty="0"/>
          </a:p>
        </p:txBody>
      </p:sp>
      <p:sp>
        <p:nvSpPr>
          <p:cNvPr id="14" name="Text 12"/>
          <p:cNvSpPr/>
          <p:nvPr/>
        </p:nvSpPr>
        <p:spPr>
          <a:xfrm>
            <a:off x="671513" y="1885950"/>
            <a:ext cx="3621881" cy="2194942"/>
          </a:xfrm>
          <a:prstGeom prst="rect">
            <a:avLst/>
          </a:prstGeom>
          <a:noFill/>
          <a:ln/>
        </p:spPr>
        <p:txBody>
          <a:bodyPr wrap="square" lIns="0" tIns="0" rIns="0" bIns="0" rtlCol="0" anchor="t"/>
          <a:lstStyle/>
          <a:p>
            <a:pPr algn="l" indent="0" marL="0">
              <a:lnSpc>
                <a:spcPts val="2773"/>
              </a:lnSpc>
              <a:spcAft>
                <a:spcPts val="619"/>
              </a:spcAft>
              <a:buNone/>
            </a:pPr>
            <a:r>
              <a:rPr lang="en-US" sz="1100" dirty="0">
                <a:solidFill>
                  <a:srgbClr val="B23A2A"/>
                </a:solidFill>
                <a:latin typeface="Carlito" pitchFamily="34" charset="0"/>
                <a:ea typeface="Carlito" pitchFamily="34" charset="-122"/>
                <a:cs typeface="Carlito" pitchFamily="34" charset="-120"/>
              </a:rPr>
              <a:t>●  </a:t>
            </a:r>
            <a:pPr algn="l" indent="0" marL="0">
              <a:lnSpc>
                <a:spcPts val="2773"/>
              </a:lnSpc>
              <a:spcAft>
                <a:spcPts val="619"/>
              </a:spcAft>
              <a:buNone/>
            </a:pPr>
            <a:r>
              <a:rPr lang="en-US" sz="1913" dirty="0">
                <a:solidFill>
                  <a:srgbClr val="1A1A1A"/>
                </a:solidFill>
                <a:latin typeface="Carlito" pitchFamily="34" charset="0"/>
                <a:ea typeface="Carlito" pitchFamily="34" charset="-122"/>
                <a:cs typeface="Carlito" pitchFamily="34" charset="-120"/>
              </a:rPr>
              <a:t>বানান ভুল, অদ্ভুত ফন্ট বা মুদ্রণ অস্পষ্ট</a:t>
            </a:r>
            <a:endParaRPr lang="en-US" sz="1913" dirty="0"/>
          </a:p>
          <a:p>
            <a:pPr algn="l" indent="0" marL="0">
              <a:lnSpc>
                <a:spcPts val="2773"/>
              </a:lnSpc>
              <a:spcAft>
                <a:spcPts val="619"/>
              </a:spcAft>
              <a:buNone/>
            </a:pPr>
            <a:r>
              <a:rPr lang="en-US" sz="1100" dirty="0">
                <a:solidFill>
                  <a:srgbClr val="B23A2A"/>
                </a:solidFill>
                <a:latin typeface="Carlito" pitchFamily="34" charset="0"/>
                <a:ea typeface="Carlito" pitchFamily="34" charset="-122"/>
                <a:cs typeface="Carlito" pitchFamily="34" charset="-120"/>
              </a:rPr>
              <a:t>●  </a:t>
            </a:r>
            <a:pPr algn="l" indent="0" marL="0">
              <a:lnSpc>
                <a:spcPts val="2773"/>
              </a:lnSpc>
              <a:spcAft>
                <a:spcPts val="619"/>
              </a:spcAft>
              <a:buNone/>
            </a:pPr>
            <a:r>
              <a:rPr lang="en-US" sz="1913" dirty="0">
                <a:solidFill>
                  <a:srgbClr val="1A1A1A"/>
                </a:solidFill>
                <a:latin typeface="Carlito" pitchFamily="34" charset="0"/>
                <a:ea typeface="Carlito" pitchFamily="34" charset="-122"/>
                <a:cs typeface="Carlito" pitchFamily="34" charset="-120"/>
              </a:rPr>
              <a:t>নিবন্ধন নম্বর অনুপস্থিত বা সন্দেহজনক ফরম্যাট</a:t>
            </a:r>
            <a:endParaRPr lang="en-US" sz="1913" dirty="0"/>
          </a:p>
          <a:p>
            <a:pPr algn="l" indent="0" marL="0">
              <a:lnSpc>
                <a:spcPts val="2773"/>
              </a:lnSpc>
              <a:spcAft>
                <a:spcPts val="619"/>
              </a:spcAft>
              <a:buNone/>
            </a:pPr>
            <a:r>
              <a:rPr lang="en-US" sz="1100" dirty="0">
                <a:solidFill>
                  <a:srgbClr val="B23A2A"/>
                </a:solidFill>
                <a:latin typeface="Carlito" pitchFamily="34" charset="0"/>
                <a:ea typeface="Carlito" pitchFamily="34" charset="-122"/>
                <a:cs typeface="Carlito" pitchFamily="34" charset="-120"/>
              </a:rPr>
              <a:t>●  </a:t>
            </a:r>
            <a:pPr algn="l" indent="0" marL="0">
              <a:lnSpc>
                <a:spcPts val="2773"/>
              </a:lnSpc>
              <a:spcAft>
                <a:spcPts val="619"/>
              </a:spcAft>
              <a:buNone/>
            </a:pPr>
            <a:r>
              <a:rPr lang="en-US" sz="1913" dirty="0">
                <a:solidFill>
                  <a:srgbClr val="1A1A1A"/>
                </a:solidFill>
                <a:latin typeface="Carlito" pitchFamily="34" charset="0"/>
                <a:ea typeface="Carlito" pitchFamily="34" charset="-122"/>
                <a:cs typeface="Carlito" pitchFamily="34" charset="-120"/>
              </a:rPr>
              <a:t>উপাদানের নাম অসম্পূর্ণ বা অতি সাধারণ</a:t>
            </a:r>
            <a:endParaRPr lang="en-US" sz="1913" dirty="0"/>
          </a:p>
          <a:p>
            <a:pPr algn="l" indent="0" marL="0">
              <a:lnSpc>
                <a:spcPts val="2773"/>
              </a:lnSpc>
              <a:spcAft>
                <a:spcPts val="619"/>
              </a:spcAft>
              <a:buNone/>
            </a:pPr>
            <a:r>
              <a:rPr lang="en-US" sz="1100" dirty="0">
                <a:solidFill>
                  <a:srgbClr val="B23A2A"/>
                </a:solidFill>
                <a:latin typeface="Carlito" pitchFamily="34" charset="0"/>
                <a:ea typeface="Carlito" pitchFamily="34" charset="-122"/>
                <a:cs typeface="Carlito" pitchFamily="34" charset="-120"/>
              </a:rPr>
              <a:t>●  </a:t>
            </a:r>
            <a:pPr algn="l" indent="0" marL="0">
              <a:lnSpc>
                <a:spcPts val="2773"/>
              </a:lnSpc>
              <a:spcAft>
                <a:spcPts val="619"/>
              </a:spcAft>
              <a:buNone/>
            </a:pPr>
            <a:r>
              <a:rPr lang="en-US" sz="1913" dirty="0">
                <a:solidFill>
                  <a:srgbClr val="1A1A1A"/>
                </a:solidFill>
                <a:latin typeface="Carlito" pitchFamily="34" charset="0"/>
                <a:ea typeface="Carlito" pitchFamily="34" charset="-122"/>
                <a:cs typeface="Carlito" pitchFamily="34" charset="-120"/>
              </a:rPr>
              <a:t>মেয়াদোত্তীর্ণ তারিখ মুছে ফেলা বা পুনঃমুদ্রিত</a:t>
            </a:r>
            <a:endParaRPr lang="en-US" sz="1913" dirty="0"/>
          </a:p>
        </p:txBody>
      </p:sp>
      <p:sp>
        <p:nvSpPr>
          <p:cNvPr id="15" name="Text 13"/>
          <p:cNvSpPr/>
          <p:nvPr/>
        </p:nvSpPr>
        <p:spPr>
          <a:xfrm>
            <a:off x="4657725" y="1414463"/>
            <a:ext cx="4029075" cy="2632360"/>
          </a:xfrm>
          <a:prstGeom prst="roundRect">
            <a:avLst>
              <a:gd name="adj" fmla="val 5066"/>
            </a:avLst>
          </a:prstGeom>
          <a:solidFill>
            <a:srgbClr val="FFFFFF"/>
          </a:solidFill>
          <a:ln/>
        </p:spPr>
        <p:txBody>
          <a:bodyPr wrap="square" rtlCol="0" anchor="ctr"/>
          <a:lstStyle/>
          <a:p>
            <a:pPr indent="0" marL="0">
              <a:buNone/>
            </a:pPr>
            <a:endParaRPr lang="en-US" dirty="0"/>
          </a:p>
        </p:txBody>
      </p:sp>
      <p:sp>
        <p:nvSpPr>
          <p:cNvPr id="16" name="Shape 14"/>
          <p:cNvSpPr/>
          <p:nvPr/>
        </p:nvSpPr>
        <p:spPr>
          <a:xfrm>
            <a:off x="4657725" y="1418034"/>
            <a:ext cx="4029075" cy="0"/>
          </a:xfrm>
          <a:prstGeom prst="line">
            <a:avLst/>
          </a:prstGeom>
          <a:noFill/>
          <a:ln w="7144">
            <a:solidFill>
              <a:srgbClr val="D9D2BF"/>
            </a:solidFill>
            <a:prstDash val="solid"/>
          </a:ln>
        </p:spPr>
        <p:txBody>
          <a:bodyPr/>
          <a:p/>
        </p:txBody>
      </p:sp>
      <p:sp>
        <p:nvSpPr>
          <p:cNvPr id="17" name="Shape 15"/>
          <p:cNvSpPr/>
          <p:nvPr/>
        </p:nvSpPr>
        <p:spPr>
          <a:xfrm>
            <a:off x="8683228" y="1414463"/>
            <a:ext cx="0" cy="2632360"/>
          </a:xfrm>
          <a:prstGeom prst="line">
            <a:avLst/>
          </a:prstGeom>
          <a:noFill/>
          <a:ln w="7144">
            <a:solidFill>
              <a:srgbClr val="D9D2BF"/>
            </a:solidFill>
            <a:prstDash val="solid"/>
          </a:ln>
        </p:spPr>
        <p:txBody>
          <a:bodyPr/>
          <a:p/>
        </p:txBody>
      </p:sp>
      <p:sp>
        <p:nvSpPr>
          <p:cNvPr id="18" name="Shape 16"/>
          <p:cNvSpPr/>
          <p:nvPr/>
        </p:nvSpPr>
        <p:spPr>
          <a:xfrm>
            <a:off x="4657725" y="4043251"/>
            <a:ext cx="4029075" cy="0"/>
          </a:xfrm>
          <a:prstGeom prst="line">
            <a:avLst/>
          </a:prstGeom>
          <a:noFill/>
          <a:ln w="7144">
            <a:solidFill>
              <a:srgbClr val="D9D2BF"/>
            </a:solidFill>
            <a:prstDash val="solid"/>
          </a:ln>
        </p:spPr>
        <p:txBody>
          <a:bodyPr/>
          <a:p/>
        </p:txBody>
      </p:sp>
      <p:sp>
        <p:nvSpPr>
          <p:cNvPr id="19" name="Shape 17"/>
          <p:cNvSpPr/>
          <p:nvPr/>
        </p:nvSpPr>
        <p:spPr>
          <a:xfrm>
            <a:off x="4672013" y="1414463"/>
            <a:ext cx="0" cy="2632360"/>
          </a:xfrm>
          <a:prstGeom prst="line">
            <a:avLst/>
          </a:prstGeom>
          <a:noFill/>
          <a:ln w="28575">
            <a:solidFill>
              <a:srgbClr val="B23A2A"/>
            </a:solidFill>
            <a:prstDash val="solid"/>
          </a:ln>
        </p:spPr>
        <p:txBody>
          <a:bodyPr/>
          <a:p/>
        </p:txBody>
      </p:sp>
      <p:sp>
        <p:nvSpPr>
          <p:cNvPr id="20" name="Shape 18"/>
          <p:cNvSpPr/>
          <p:nvPr/>
        </p:nvSpPr>
        <p:spPr>
          <a:xfrm>
            <a:off x="4872038" y="1796653"/>
            <a:ext cx="3621881" cy="0"/>
          </a:xfrm>
          <a:prstGeom prst="line">
            <a:avLst/>
          </a:prstGeom>
          <a:noFill/>
          <a:ln w="7144">
            <a:solidFill>
              <a:srgbClr val="D9D2BF"/>
            </a:solidFill>
            <a:prstDash val="solid"/>
          </a:ln>
        </p:spPr>
        <p:txBody>
          <a:bodyPr/>
          <a:p/>
        </p:txBody>
      </p:sp>
      <p:sp>
        <p:nvSpPr>
          <p:cNvPr id="21" name="Text 19"/>
          <p:cNvSpPr/>
          <p:nvPr/>
        </p:nvSpPr>
        <p:spPr>
          <a:xfrm>
            <a:off x="4872038" y="1578769"/>
            <a:ext cx="157163" cy="157163"/>
          </a:xfrm>
          <a:prstGeom prst="rect">
            <a:avLst/>
          </a:prstGeom>
          <a:noFill/>
          <a:ln/>
        </p:spPr>
        <p:txBody>
          <a:bodyPr wrap="none" lIns="0" tIns="0" rIns="0" bIns="0" rtlCol="0" anchor="ctr"/>
          <a:lstStyle/>
          <a:p>
            <a:pPr algn="ctr" indent="0" marL="0">
              <a:buNone/>
            </a:pPr>
            <a:r>
              <a:rPr lang="en-US" sz="1547" dirty="0">
                <a:solidFill>
                  <a:srgbClr val="B23A2A"/>
                </a:solidFill>
                <a:latin typeface="Segoe UI Symbol" pitchFamily="34" charset="0"/>
                <a:ea typeface="Segoe UI Symbol" pitchFamily="34" charset="-122"/>
                <a:cs typeface="Segoe UI Symbol" pitchFamily="34" charset="-120"/>
              </a:rPr>
              <a:t>◎</a:t>
            </a:r>
            <a:endParaRPr lang="en-US" sz="1547" dirty="0"/>
          </a:p>
        </p:txBody>
      </p:sp>
      <p:sp>
        <p:nvSpPr>
          <p:cNvPr id="22" name="Text 20"/>
          <p:cNvSpPr/>
          <p:nvPr/>
        </p:nvSpPr>
        <p:spPr>
          <a:xfrm>
            <a:off x="5100638" y="1585354"/>
            <a:ext cx="3393281" cy="150577"/>
          </a:xfrm>
          <a:prstGeom prst="rect">
            <a:avLst/>
          </a:prstGeom>
          <a:noFill/>
          <a:ln/>
        </p:spPr>
        <p:txBody>
          <a:bodyPr wrap="none" lIns="0" tIns="0" rIns="0" bIns="0" rtlCol="0" anchor="t"/>
          <a:lstStyle/>
          <a:p>
            <a:pPr algn="l" indent="0" marL="0">
              <a:lnSpc>
                <a:spcPts val="1133"/>
              </a:lnSpc>
              <a:buNone/>
            </a:pPr>
            <a:r>
              <a:rPr lang="en-US" sz="800" b="1" spc="37" kern="0" dirty="0">
                <a:solidFill>
                  <a:srgbClr val="B23A2A"/>
                </a:solidFill>
                <a:latin typeface="Carlito" pitchFamily="34" charset="0"/>
                <a:ea typeface="Carlito" pitchFamily="34" charset="-122"/>
                <a:cs typeface="Carlito" pitchFamily="34" charset="-120"/>
              </a:rPr>
              <a:t>ঠিকানা ও অনুবাদ</a:t>
            </a:r>
            <a:endParaRPr lang="en-US" sz="800" dirty="0"/>
          </a:p>
        </p:txBody>
      </p:sp>
      <p:sp>
        <p:nvSpPr>
          <p:cNvPr id="23" name="Text 21"/>
          <p:cNvSpPr/>
          <p:nvPr/>
        </p:nvSpPr>
        <p:spPr>
          <a:xfrm>
            <a:off x="4872038" y="1885950"/>
            <a:ext cx="3621881" cy="2178511"/>
          </a:xfrm>
          <a:prstGeom prst="rect">
            <a:avLst/>
          </a:prstGeom>
          <a:noFill/>
          <a:ln/>
        </p:spPr>
        <p:txBody>
          <a:bodyPr wrap="square" lIns="0" tIns="0" rIns="0" bIns="0" rtlCol="0" anchor="t"/>
          <a:lstStyle/>
          <a:p>
            <a:pPr algn="l" indent="0" marL="0">
              <a:lnSpc>
                <a:spcPts val="2773"/>
              </a:lnSpc>
              <a:spcAft>
                <a:spcPts val="788"/>
              </a:spcAft>
              <a:buNone/>
            </a:pPr>
            <a:r>
              <a:rPr lang="en-US" sz="1100" dirty="0">
                <a:solidFill>
                  <a:srgbClr val="B23A2A"/>
                </a:solidFill>
                <a:latin typeface="Carlito" pitchFamily="34" charset="0"/>
                <a:ea typeface="Carlito" pitchFamily="34" charset="-122"/>
                <a:cs typeface="Carlito" pitchFamily="34" charset="-120"/>
              </a:rPr>
              <a:t>●  </a:t>
            </a:r>
            <a:pPr algn="l" indent="0" marL="0">
              <a:lnSpc>
                <a:spcPts val="2773"/>
              </a:lnSpc>
              <a:spcAft>
                <a:spcPts val="788"/>
              </a:spcAft>
              <a:buNone/>
            </a:pPr>
            <a:r>
              <a:rPr lang="en-US" sz="1913" dirty="0">
                <a:solidFill>
                  <a:srgbClr val="1A1A1A"/>
                </a:solidFill>
                <a:latin typeface="Carlito" pitchFamily="34" charset="0"/>
                <a:ea typeface="Carlito" pitchFamily="34" charset="-122"/>
                <a:cs typeface="Carlito" pitchFamily="34" charset="-120"/>
              </a:rPr>
              <a:t>কোম্পানির ঠিকানা সাধারণ — শুধু বিভাগ/জেলা</a:t>
            </a:r>
            <a:endParaRPr lang="en-US" sz="1913" dirty="0"/>
          </a:p>
          <a:p>
            <a:pPr algn="l" indent="0" marL="0">
              <a:lnSpc>
                <a:spcPts val="2773"/>
              </a:lnSpc>
              <a:spcAft>
                <a:spcPts val="788"/>
              </a:spcAft>
              <a:buNone/>
            </a:pPr>
            <a:r>
              <a:rPr lang="en-US" sz="1100" dirty="0">
                <a:solidFill>
                  <a:srgbClr val="B23A2A"/>
                </a:solidFill>
                <a:latin typeface="Carlito" pitchFamily="34" charset="0"/>
                <a:ea typeface="Carlito" pitchFamily="34" charset="-122"/>
                <a:cs typeface="Carlito" pitchFamily="34" charset="-120"/>
              </a:rPr>
              <a:t>●  </a:t>
            </a:r>
            <a:pPr algn="l" indent="0" marL="0">
              <a:lnSpc>
                <a:spcPts val="2773"/>
              </a:lnSpc>
              <a:spcAft>
                <a:spcPts val="788"/>
              </a:spcAft>
              <a:buNone/>
            </a:pPr>
            <a:r>
              <a:rPr lang="en-US" sz="1913" dirty="0">
                <a:solidFill>
                  <a:srgbClr val="1A1A1A"/>
                </a:solidFill>
                <a:latin typeface="Carlito" pitchFamily="34" charset="0"/>
                <a:ea typeface="Carlito" pitchFamily="34" charset="-122"/>
                <a:cs typeface="Carlito" pitchFamily="34" charset="-120"/>
              </a:rPr>
              <a:t>সতর্কতা চিহ্ন অসম্পূর্ণ বা সম্পূর্ণ অনুপস্থিত</a:t>
            </a:r>
            <a:endParaRPr lang="en-US" sz="1913" dirty="0"/>
          </a:p>
          <a:p>
            <a:pPr algn="l" indent="0" marL="0">
              <a:lnSpc>
                <a:spcPts val="2773"/>
              </a:lnSpc>
              <a:spcAft>
                <a:spcPts val="788"/>
              </a:spcAft>
              <a:buNone/>
            </a:pPr>
            <a:r>
              <a:rPr lang="en-US" sz="1100" dirty="0">
                <a:solidFill>
                  <a:srgbClr val="B23A2A"/>
                </a:solidFill>
                <a:latin typeface="Carlito" pitchFamily="34" charset="0"/>
                <a:ea typeface="Carlito" pitchFamily="34" charset="-122"/>
                <a:cs typeface="Carlito" pitchFamily="34" charset="-120"/>
              </a:rPr>
              <a:t>●  </a:t>
            </a:r>
            <a:pPr algn="l" indent="0" marL="0">
              <a:lnSpc>
                <a:spcPts val="2773"/>
              </a:lnSpc>
              <a:spcAft>
                <a:spcPts val="788"/>
              </a:spcAft>
              <a:buNone/>
            </a:pPr>
            <a:r>
              <a:rPr lang="en-US" sz="1913" dirty="0">
                <a:solidFill>
                  <a:srgbClr val="1A1A1A"/>
                </a:solidFill>
                <a:latin typeface="Carlito" pitchFamily="34" charset="0"/>
                <a:ea typeface="Carlito" pitchFamily="34" charset="-122"/>
                <a:cs typeface="Carlito" pitchFamily="34" charset="-120"/>
              </a:rPr>
              <a:t>বাংলা অনুবাদ অস্বাভাবিক বা যান্ত্রিক ভাবে করা</a:t>
            </a:r>
            <a:endParaRPr lang="en-US" sz="1913" dirty="0"/>
          </a:p>
        </p:txBody>
      </p:sp>
      <p:sp>
        <p:nvSpPr>
          <p:cNvPr id="24" name="Text 22"/>
          <p:cNvSpPr/>
          <p:nvPr/>
        </p:nvSpPr>
        <p:spPr>
          <a:xfrm>
            <a:off x="457200" y="3913659"/>
            <a:ext cx="8229600" cy="786929"/>
          </a:xfrm>
          <a:prstGeom prst="roundRect">
            <a:avLst>
              <a:gd name="adj" fmla="val 16946"/>
            </a:avLst>
          </a:prstGeom>
          <a:solidFill>
            <a:srgbClr val="F2ECDD"/>
          </a:solidFill>
          <a:ln/>
        </p:spPr>
        <p:txBody>
          <a:bodyPr wrap="square" rtlCol="0" anchor="ctr"/>
          <a:lstStyle/>
          <a:p>
            <a:pPr indent="0" marL="0">
              <a:buNone/>
            </a:pPr>
            <a:endParaRPr lang="en-US" dirty="0"/>
          </a:p>
        </p:txBody>
      </p:sp>
      <p:sp>
        <p:nvSpPr>
          <p:cNvPr id="25" name="Shape 23"/>
          <p:cNvSpPr/>
          <p:nvPr/>
        </p:nvSpPr>
        <p:spPr>
          <a:xfrm>
            <a:off x="471488" y="3913659"/>
            <a:ext cx="0" cy="786929"/>
          </a:xfrm>
          <a:prstGeom prst="line">
            <a:avLst/>
          </a:prstGeom>
          <a:noFill/>
          <a:ln w="28575">
            <a:solidFill>
              <a:srgbClr val="1E4D3B"/>
            </a:solidFill>
            <a:prstDash val="solid"/>
          </a:ln>
        </p:spPr>
        <p:txBody>
          <a:bodyPr/>
          <a:p/>
        </p:txBody>
      </p:sp>
      <p:sp>
        <p:nvSpPr>
          <p:cNvPr id="26" name="Text 24"/>
          <p:cNvSpPr/>
          <p:nvPr/>
        </p:nvSpPr>
        <p:spPr>
          <a:xfrm>
            <a:off x="657225" y="4214254"/>
            <a:ext cx="185738" cy="185738"/>
          </a:xfrm>
          <a:prstGeom prst="rect">
            <a:avLst/>
          </a:prstGeom>
          <a:noFill/>
          <a:ln/>
        </p:spPr>
        <p:txBody>
          <a:bodyPr wrap="none" lIns="0" tIns="0" rIns="0" bIns="0" rtlCol="0" anchor="ctr"/>
          <a:lstStyle/>
          <a:p>
            <a:pPr algn="ctr" indent="0" marL="0">
              <a:buNone/>
            </a:pPr>
            <a:r>
              <a:rPr lang="en-US" sz="1828" dirty="0">
                <a:solidFill>
                  <a:srgbClr val="1E4D3B"/>
                </a:solidFill>
                <a:latin typeface="Segoe UI Symbol" pitchFamily="34" charset="0"/>
                <a:ea typeface="Segoe UI Symbol" pitchFamily="34" charset="-122"/>
                <a:cs typeface="Segoe UI Symbol" pitchFamily="34" charset="-120"/>
              </a:rPr>
              <a:t>⛨</a:t>
            </a:r>
            <a:endParaRPr lang="en-US" sz="1828" dirty="0"/>
          </a:p>
        </p:txBody>
      </p:sp>
      <p:sp>
        <p:nvSpPr>
          <p:cNvPr id="27" name="Text 25"/>
          <p:cNvSpPr/>
          <p:nvPr/>
        </p:nvSpPr>
        <p:spPr>
          <a:xfrm>
            <a:off x="942975" y="4220840"/>
            <a:ext cx="895856" cy="128016"/>
          </a:xfrm>
          <a:prstGeom prst="rect">
            <a:avLst/>
          </a:prstGeom>
          <a:noFill/>
          <a:ln/>
        </p:spPr>
        <p:txBody>
          <a:bodyPr wrap="none" lIns="0" tIns="0" rIns="0" bIns="0" rtlCol="0" anchor="t"/>
          <a:lstStyle/>
          <a:p>
            <a:pPr algn="l" indent="0" marL="0">
              <a:lnSpc>
                <a:spcPts val="1046"/>
              </a:lnSpc>
              <a:buNone/>
            </a:pPr>
            <a:r>
              <a:rPr lang="en-US" sz="675" b="1" spc="95" kern="0" dirty="0">
                <a:solidFill>
                  <a:srgbClr val="1E4D3B"/>
                </a:solidFill>
                <a:latin typeface="Carlito" pitchFamily="34" charset="0"/>
                <a:ea typeface="Carlito" pitchFamily="34" charset="-122"/>
                <a:cs typeface="Carlito" pitchFamily="34" charset="-120"/>
              </a:rPr>
              <a:t>নিবন্ধন নম্বর যাচাই</a:t>
            </a:r>
            <a:endParaRPr lang="en-US" sz="675" dirty="0"/>
          </a:p>
        </p:txBody>
      </p:sp>
      <p:sp>
        <p:nvSpPr>
          <p:cNvPr id="28" name="Text 26"/>
          <p:cNvSpPr/>
          <p:nvPr/>
        </p:nvSpPr>
        <p:spPr>
          <a:xfrm>
            <a:off x="942975" y="4425776"/>
            <a:ext cx="2529892" cy="160511"/>
          </a:xfrm>
          <a:prstGeom prst="rect">
            <a:avLst/>
          </a:prstGeom>
          <a:noFill/>
          <a:ln/>
        </p:spPr>
        <p:txBody>
          <a:bodyPr wrap="square" lIns="0" tIns="0" rIns="0" bIns="0" rtlCol="0" anchor="t"/>
          <a:lstStyle/>
          <a:p>
            <a:pPr algn="l" indent="0" marL="0">
              <a:lnSpc>
                <a:spcPts val="1264"/>
              </a:lnSpc>
              <a:buNone/>
            </a:pPr>
            <a:r>
              <a:rPr lang="en-US" sz="816" dirty="0">
                <a:solidFill>
                  <a:srgbClr val="1A1A1A"/>
                </a:solidFill>
                <a:latin typeface="Carlito" pitchFamily="34" charset="0"/>
                <a:ea typeface="Carlito" pitchFamily="34" charset="-122"/>
                <a:cs typeface="Carlito" pitchFamily="34" charset="-120"/>
              </a:rPr>
              <a:t>অধিদপ্তরের ওয়েবসাইট </a:t>
            </a:r>
            <a:pPr algn="l" indent="0" marL="0">
              <a:lnSpc>
                <a:spcPts val="1264"/>
              </a:lnSpc>
              <a:buNone/>
            </a:pPr>
            <a:r>
              <a:rPr lang="en-US" sz="816" b="1" dirty="0">
                <a:solidFill>
                  <a:srgbClr val="1E4D3B"/>
                </a:solidFill>
                <a:latin typeface="Carlito" pitchFamily="34" charset="0"/>
                <a:ea typeface="Carlito" pitchFamily="34" charset="-122"/>
                <a:cs typeface="Carlito" pitchFamily="34" charset="-120"/>
              </a:rPr>
              <a:t>(baichasheba.gov.bd)</a:t>
            </a:r>
            <a:pPr algn="l" indent="0" marL="0">
              <a:lnSpc>
                <a:spcPts val="1264"/>
              </a:lnSpc>
              <a:buNone/>
            </a:pPr>
            <a:r>
              <a:rPr lang="en-US" sz="816" dirty="0">
                <a:solidFill>
                  <a:srgbClr val="1A1A1A"/>
                </a:solidFill>
                <a:latin typeface="Carlito" pitchFamily="34" charset="0"/>
                <a:ea typeface="Carlito" pitchFamily="34" charset="-122"/>
                <a:cs typeface="Carlito" pitchFamily="34" charset="-120"/>
              </a:rPr>
              <a:t> বা মোবাইল অ্যাপে</a:t>
            </a:r>
            <a:endParaRPr lang="en-US" sz="816" dirty="0"/>
          </a:p>
        </p:txBody>
      </p:sp>
      <p:sp>
        <p:nvSpPr>
          <p:cNvPr id="29" name="Text 27"/>
          <p:cNvSpPr/>
          <p:nvPr/>
        </p:nvSpPr>
        <p:spPr>
          <a:xfrm>
            <a:off x="8687581" y="4706392"/>
            <a:ext cx="31879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২৩</a:t>
            </a:r>
            <a:endParaRPr lang="en-US" sz="1350" dirty="0"/>
          </a:p>
        </p:txBody>
      </p:sp>
      <p:pic>
        <p:nvPicPr>
          <p:cNvPr id="30"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7381780" y="-357187"/>
            <a:ext cx="1762220" cy="2160270"/>
          </a:xfrm>
          <a:prstGeom prst="rect">
            <a:avLst/>
          </a:prstGeom>
          <a:noFill/>
          <a:ln/>
        </p:spPr>
        <p:txBody>
          <a:bodyPr wrap="square" lIns="0" tIns="0" rIns="0" bIns="0" rtlCol="0" anchor="t"/>
          <a:lstStyle/>
          <a:p>
            <a:pPr algn="l" indent="0" marL="0">
              <a:lnSpc>
                <a:spcPts val="15750"/>
              </a:lnSpc>
              <a:buNone/>
            </a:pPr>
            <a:r>
              <a:rPr lang="en-US" sz="15750" b="1" dirty="0">
                <a:solidFill>
                  <a:srgbClr val="B23A2A">
                    <a:alpha val="5000"/>
                  </a:srgbClr>
                </a:solidFill>
                <a:latin typeface="Carlito" pitchFamily="34" charset="0"/>
                <a:ea typeface="Carlito" pitchFamily="34" charset="-122"/>
                <a:cs typeface="Carlito" pitchFamily="34" charset="-120"/>
              </a:rPr>
              <a:t>!</a:t>
            </a:r>
            <a:endParaRPr lang="en-US" sz="15750" dirty="0"/>
          </a:p>
        </p:txBody>
      </p:sp>
      <p:sp>
        <p:nvSpPr>
          <p:cNvPr id="3" name="Text 1"/>
          <p:cNvSpPr/>
          <p:nvPr/>
        </p:nvSpPr>
        <p:spPr>
          <a:xfrm>
            <a:off x="457200" y="474390"/>
            <a:ext cx="2587864"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B23A2A"/>
                </a:solidFill>
                <a:latin typeface="Carlito" pitchFamily="34" charset="0"/>
                <a:ea typeface="Carlito" pitchFamily="34" charset="-122"/>
                <a:cs typeface="Carlito" pitchFamily="34" charset="-120"/>
              </a:rPr>
              <a:t>০৪ · মাঠ পর্যায়ে শনাক্তকরণ</a:t>
            </a:r>
            <a:endParaRPr lang="en-US" sz="1350" dirty="0"/>
          </a:p>
        </p:txBody>
      </p:sp>
      <p:sp>
        <p:nvSpPr>
          <p:cNvPr id="4" name="Text 2"/>
          <p:cNvSpPr/>
          <p:nvPr/>
        </p:nvSpPr>
        <p:spPr>
          <a:xfrm>
            <a:off x="457200" y="840060"/>
            <a:ext cx="8636000" cy="509809"/>
          </a:xfrm>
          <a:prstGeom prst="rect">
            <a:avLst/>
          </a:prstGeom>
          <a:noFill/>
          <a:ln/>
        </p:spPr>
        <p:txBody>
          <a:bodyPr wrap="square" lIns="0" tIns="0" rIns="0" bIns="0" rtlCol="0" anchor="t"/>
          <a:lstStyle/>
          <a:p>
            <a:pPr algn="l" indent="0" marL="0">
              <a:lnSpc>
                <a:spcPts val="3717"/>
              </a:lnSpc>
              <a:buNone/>
            </a:pPr>
            <a:r>
              <a:rPr lang="en-US" sz="3150" b="1" dirty="0">
                <a:solidFill>
                  <a:srgbClr val="B23A2A"/>
                </a:solidFill>
                <a:latin typeface="Segoe UI Symbol" pitchFamily="34" charset="0"/>
                <a:ea typeface="Segoe UI Symbol" pitchFamily="34" charset="-122"/>
                <a:cs typeface="Segoe UI Symbol" pitchFamily="34" charset="-120"/>
              </a:rPr>
              <a:t>✦</a:t>
            </a:r>
            <a:pPr algn="l" indent="0" marL="0">
              <a:lnSpc>
                <a:spcPts val="3717"/>
              </a:lnSpc>
              <a:buNone/>
            </a:pPr>
            <a:r>
              <a:rPr lang="en-US" sz="3150" b="1" dirty="0">
                <a:solidFill>
                  <a:srgbClr val="B23A2A"/>
                </a:solidFill>
                <a:latin typeface="Tinos" pitchFamily="34" charset="0"/>
                <a:ea typeface="Tinos" pitchFamily="34" charset="-122"/>
                <a:cs typeface="Tinos" pitchFamily="34" charset="-120"/>
              </a:rPr>
              <a:t> সিল ও হোলোগ্রাম রেড ফ্ল্যাগ</a:t>
            </a:r>
            <a:endParaRPr lang="en-US" sz="3150" dirty="0"/>
          </a:p>
        </p:txBody>
      </p:sp>
      <p:sp>
        <p:nvSpPr>
          <p:cNvPr id="5" name="Shape 3"/>
          <p:cNvSpPr/>
          <p:nvPr/>
        </p:nvSpPr>
        <p:spPr>
          <a:xfrm>
            <a:off x="457200" y="1422834"/>
            <a:ext cx="400050" cy="0"/>
          </a:xfrm>
          <a:prstGeom prst="line">
            <a:avLst/>
          </a:prstGeom>
          <a:noFill/>
          <a:ln w="7144">
            <a:solidFill>
              <a:srgbClr val="1A1A1A"/>
            </a:solidFill>
            <a:prstDash val="solid"/>
          </a:ln>
        </p:spPr>
        <p:txBody>
          <a:bodyPr/>
          <a:p/>
        </p:txBody>
      </p:sp>
      <p:sp>
        <p:nvSpPr>
          <p:cNvPr id="6" name="Text 4"/>
          <p:cNvSpPr/>
          <p:nvPr/>
        </p:nvSpPr>
        <p:spPr>
          <a:xfrm>
            <a:off x="457200" y="1557338"/>
            <a:ext cx="4029075" cy="2350294"/>
          </a:xfrm>
          <a:prstGeom prst="roundRect">
            <a:avLst>
              <a:gd name="adj" fmla="val 5674"/>
            </a:avLst>
          </a:prstGeom>
          <a:solidFill>
            <a:srgbClr val="FFFFFF"/>
          </a:solidFill>
          <a:ln/>
        </p:spPr>
        <p:txBody>
          <a:bodyPr wrap="square" rtlCol="0" anchor="ctr"/>
          <a:lstStyle/>
          <a:p>
            <a:pPr indent="0" marL="0">
              <a:buNone/>
            </a:pPr>
            <a:endParaRPr lang="en-US" dirty="0"/>
          </a:p>
        </p:txBody>
      </p:sp>
      <p:sp>
        <p:nvSpPr>
          <p:cNvPr id="7" name="Shape 5"/>
          <p:cNvSpPr/>
          <p:nvPr/>
        </p:nvSpPr>
        <p:spPr>
          <a:xfrm>
            <a:off x="457200" y="1560909"/>
            <a:ext cx="4029075" cy="0"/>
          </a:xfrm>
          <a:prstGeom prst="line">
            <a:avLst/>
          </a:prstGeom>
          <a:noFill/>
          <a:ln w="7144">
            <a:solidFill>
              <a:srgbClr val="D9D2BF"/>
            </a:solidFill>
            <a:prstDash val="solid"/>
          </a:ln>
        </p:spPr>
        <p:txBody>
          <a:bodyPr/>
          <a:p/>
        </p:txBody>
      </p:sp>
      <p:sp>
        <p:nvSpPr>
          <p:cNvPr id="8" name="Shape 6"/>
          <p:cNvSpPr/>
          <p:nvPr/>
        </p:nvSpPr>
        <p:spPr>
          <a:xfrm>
            <a:off x="4482703" y="1557338"/>
            <a:ext cx="0" cy="2350294"/>
          </a:xfrm>
          <a:prstGeom prst="line">
            <a:avLst/>
          </a:prstGeom>
          <a:noFill/>
          <a:ln w="7144">
            <a:solidFill>
              <a:srgbClr val="D9D2BF"/>
            </a:solidFill>
            <a:prstDash val="solid"/>
          </a:ln>
        </p:spPr>
        <p:txBody>
          <a:bodyPr/>
          <a:p/>
        </p:txBody>
      </p:sp>
      <p:sp>
        <p:nvSpPr>
          <p:cNvPr id="9" name="Shape 7"/>
          <p:cNvSpPr/>
          <p:nvPr/>
        </p:nvSpPr>
        <p:spPr>
          <a:xfrm>
            <a:off x="457200" y="3904059"/>
            <a:ext cx="4029075" cy="0"/>
          </a:xfrm>
          <a:prstGeom prst="line">
            <a:avLst/>
          </a:prstGeom>
          <a:noFill/>
          <a:ln w="7144">
            <a:solidFill>
              <a:srgbClr val="D9D2BF"/>
            </a:solidFill>
            <a:prstDash val="solid"/>
          </a:ln>
        </p:spPr>
        <p:txBody>
          <a:bodyPr/>
          <a:p/>
        </p:txBody>
      </p:sp>
      <p:sp>
        <p:nvSpPr>
          <p:cNvPr id="10" name="Shape 8"/>
          <p:cNvSpPr/>
          <p:nvPr/>
        </p:nvSpPr>
        <p:spPr>
          <a:xfrm>
            <a:off x="471488" y="1557338"/>
            <a:ext cx="0" cy="2350294"/>
          </a:xfrm>
          <a:prstGeom prst="line">
            <a:avLst/>
          </a:prstGeom>
          <a:noFill/>
          <a:ln w="28575">
            <a:solidFill>
              <a:srgbClr val="B23A2A"/>
            </a:solidFill>
            <a:prstDash val="solid"/>
          </a:ln>
        </p:spPr>
        <p:txBody>
          <a:bodyPr/>
          <a:p/>
        </p:txBody>
      </p:sp>
      <p:sp>
        <p:nvSpPr>
          <p:cNvPr id="11" name="Shape 9"/>
          <p:cNvSpPr/>
          <p:nvPr/>
        </p:nvSpPr>
        <p:spPr>
          <a:xfrm>
            <a:off x="671513" y="1968103"/>
            <a:ext cx="3621881" cy="0"/>
          </a:xfrm>
          <a:prstGeom prst="line">
            <a:avLst/>
          </a:prstGeom>
          <a:noFill/>
          <a:ln w="7144">
            <a:solidFill>
              <a:srgbClr val="D9D2BF"/>
            </a:solidFill>
            <a:prstDash val="solid"/>
          </a:ln>
        </p:spPr>
        <p:txBody>
          <a:bodyPr/>
          <a:p/>
        </p:txBody>
      </p:sp>
      <p:sp>
        <p:nvSpPr>
          <p:cNvPr id="12" name="Text 10"/>
          <p:cNvSpPr/>
          <p:nvPr/>
        </p:nvSpPr>
        <p:spPr>
          <a:xfrm>
            <a:off x="671513" y="1735931"/>
            <a:ext cx="157163" cy="157163"/>
          </a:xfrm>
          <a:prstGeom prst="rect">
            <a:avLst/>
          </a:prstGeom>
          <a:noFill/>
          <a:ln/>
        </p:spPr>
        <p:txBody>
          <a:bodyPr wrap="none" lIns="0" tIns="0" rIns="0" bIns="0" rtlCol="0" anchor="ctr"/>
          <a:lstStyle/>
          <a:p>
            <a:pPr algn="ctr" indent="0" marL="0">
              <a:buNone/>
            </a:pPr>
            <a:r>
              <a:rPr lang="en-US" sz="1547" dirty="0">
                <a:solidFill>
                  <a:srgbClr val="B23A2A"/>
                </a:solidFill>
                <a:latin typeface="Segoe UI Symbol" pitchFamily="34" charset="0"/>
                <a:ea typeface="Segoe UI Symbol" pitchFamily="34" charset="-122"/>
                <a:cs typeface="Segoe UI Symbol" pitchFamily="34" charset="-120"/>
              </a:rPr>
              <a:t>☰</a:t>
            </a:r>
            <a:endParaRPr lang="en-US" sz="1547" dirty="0"/>
          </a:p>
        </p:txBody>
      </p:sp>
      <p:sp>
        <p:nvSpPr>
          <p:cNvPr id="13" name="Text 11"/>
          <p:cNvSpPr/>
          <p:nvPr/>
        </p:nvSpPr>
        <p:spPr>
          <a:xfrm>
            <a:off x="900113" y="1742517"/>
            <a:ext cx="3393281" cy="150577"/>
          </a:xfrm>
          <a:prstGeom prst="rect">
            <a:avLst/>
          </a:prstGeom>
          <a:noFill/>
          <a:ln/>
        </p:spPr>
        <p:txBody>
          <a:bodyPr wrap="none" lIns="0" tIns="0" rIns="0" bIns="0" rtlCol="0" anchor="t"/>
          <a:lstStyle/>
          <a:p>
            <a:pPr algn="l" indent="0" marL="0">
              <a:lnSpc>
                <a:spcPts val="1133"/>
              </a:lnSpc>
              <a:buNone/>
            </a:pPr>
            <a:r>
              <a:rPr lang="en-US" sz="800" b="1" spc="37" kern="0" dirty="0">
                <a:solidFill>
                  <a:srgbClr val="B23A2A"/>
                </a:solidFill>
                <a:latin typeface="Carlito" pitchFamily="34" charset="0"/>
                <a:ea typeface="Carlito" pitchFamily="34" charset="-122"/>
                <a:cs typeface="Carlito" pitchFamily="34" charset="-120"/>
              </a:rPr>
              <a:t>হোলোগ্রাম সংকেত</a:t>
            </a:r>
            <a:endParaRPr lang="en-US" sz="800" dirty="0"/>
          </a:p>
        </p:txBody>
      </p:sp>
      <p:sp>
        <p:nvSpPr>
          <p:cNvPr id="14" name="Text 12"/>
          <p:cNvSpPr/>
          <p:nvPr/>
        </p:nvSpPr>
        <p:spPr>
          <a:xfrm>
            <a:off x="671513" y="2071688"/>
            <a:ext cx="3621881" cy="1856804"/>
          </a:xfrm>
          <a:prstGeom prst="rect">
            <a:avLst/>
          </a:prstGeom>
          <a:noFill/>
          <a:ln/>
        </p:spPr>
        <p:txBody>
          <a:bodyPr wrap="square" lIns="0" tIns="0" rIns="0" bIns="0" rtlCol="0" anchor="t"/>
          <a:lstStyle/>
          <a:p>
            <a:pPr algn="l" indent="0" marL="0">
              <a:lnSpc>
                <a:spcPts val="2869"/>
              </a:lnSpc>
              <a:spcAft>
                <a:spcPts val="788"/>
              </a:spcAft>
              <a:buNone/>
            </a:pPr>
            <a:r>
              <a:rPr lang="en-US" sz="1100" dirty="0">
                <a:solidFill>
                  <a:srgbClr val="B23A2A"/>
                </a:solidFill>
                <a:latin typeface="Carlito" pitchFamily="34" charset="0"/>
                <a:ea typeface="Carlito" pitchFamily="34" charset="-122"/>
                <a:cs typeface="Carlito" pitchFamily="34" charset="-120"/>
              </a:rPr>
              <a:t>●  </a:t>
            </a:r>
            <a:pPr algn="l" indent="0" marL="0">
              <a:lnSpc>
                <a:spcPts val="2869"/>
              </a:lnSpc>
              <a:spcAft>
                <a:spcPts val="788"/>
              </a:spcAft>
              <a:buNone/>
            </a:pPr>
            <a:r>
              <a:rPr lang="en-US" sz="1913" dirty="0">
                <a:solidFill>
                  <a:srgbClr val="1A1A1A"/>
                </a:solidFill>
                <a:latin typeface="Carlito" pitchFamily="34" charset="0"/>
                <a:ea typeface="Carlito" pitchFamily="34" charset="-122"/>
                <a:cs typeface="Carlito" pitchFamily="34" charset="-120"/>
              </a:rPr>
              <a:t>হোলোগ্রামে গতি বা প্রতিফলন নেই — স্থির চিত্র</a:t>
            </a:r>
            <a:endParaRPr lang="en-US" sz="1913" dirty="0"/>
          </a:p>
          <a:p>
            <a:pPr algn="l" indent="0" marL="0">
              <a:lnSpc>
                <a:spcPts val="2869"/>
              </a:lnSpc>
              <a:spcAft>
                <a:spcPts val="788"/>
              </a:spcAft>
              <a:buNone/>
            </a:pPr>
            <a:r>
              <a:rPr lang="en-US" sz="1100" dirty="0">
                <a:solidFill>
                  <a:srgbClr val="B23A2A"/>
                </a:solidFill>
                <a:latin typeface="Carlito" pitchFamily="34" charset="0"/>
                <a:ea typeface="Carlito" pitchFamily="34" charset="-122"/>
                <a:cs typeface="Carlito" pitchFamily="34" charset="-120"/>
              </a:rPr>
              <a:t>●  </a:t>
            </a:r>
            <a:pPr algn="l" indent="0" marL="0">
              <a:lnSpc>
                <a:spcPts val="2869"/>
              </a:lnSpc>
              <a:spcAft>
                <a:spcPts val="788"/>
              </a:spcAft>
              <a:buNone/>
            </a:pPr>
            <a:r>
              <a:rPr lang="en-US" sz="1913" dirty="0">
                <a:solidFill>
                  <a:srgbClr val="1A1A1A"/>
                </a:solidFill>
                <a:latin typeface="Carlito" pitchFamily="34" charset="0"/>
                <a:ea typeface="Carlito" pitchFamily="34" charset="-122"/>
                <a:cs typeface="Carlito" pitchFamily="34" charset="-120"/>
              </a:rPr>
              <a:t>হোলোগ্রাম পুনঃআটকানো, প্রান্ত উঠানো</a:t>
            </a:r>
            <a:endParaRPr lang="en-US" sz="1913" dirty="0"/>
          </a:p>
          <a:p>
            <a:pPr algn="l" indent="0" marL="0">
              <a:lnSpc>
                <a:spcPts val="2869"/>
              </a:lnSpc>
              <a:spcAft>
                <a:spcPts val="788"/>
              </a:spcAft>
              <a:buNone/>
            </a:pPr>
            <a:r>
              <a:rPr lang="en-US" sz="1100" dirty="0">
                <a:solidFill>
                  <a:srgbClr val="B23A2A"/>
                </a:solidFill>
                <a:latin typeface="Carlito" pitchFamily="34" charset="0"/>
                <a:ea typeface="Carlito" pitchFamily="34" charset="-122"/>
                <a:cs typeface="Carlito" pitchFamily="34" charset="-120"/>
              </a:rPr>
              <a:t>●  </a:t>
            </a:r>
            <a:pPr algn="l" indent="0" marL="0">
              <a:lnSpc>
                <a:spcPts val="2869"/>
              </a:lnSpc>
              <a:spcAft>
                <a:spcPts val="788"/>
              </a:spcAft>
              <a:buNone/>
            </a:pPr>
            <a:r>
              <a:rPr lang="en-US" sz="1913" dirty="0">
                <a:solidFill>
                  <a:srgbClr val="1A1A1A"/>
                </a:solidFill>
                <a:latin typeface="Carlito" pitchFamily="34" charset="0"/>
                <a:ea typeface="Carlito" pitchFamily="34" charset="-122"/>
                <a:cs typeface="Carlito" pitchFamily="34" charset="-120"/>
              </a:rPr>
              <a:t>QR কোড স্ক্যান করলে ভুল বা সাধারণ তথ্য</a:t>
            </a:r>
            <a:endParaRPr lang="en-US" sz="1913" dirty="0"/>
          </a:p>
        </p:txBody>
      </p:sp>
      <p:sp>
        <p:nvSpPr>
          <p:cNvPr id="15" name="Text 13"/>
          <p:cNvSpPr/>
          <p:nvPr/>
        </p:nvSpPr>
        <p:spPr>
          <a:xfrm>
            <a:off x="4657725" y="1557338"/>
            <a:ext cx="4029075" cy="2350294"/>
          </a:xfrm>
          <a:prstGeom prst="roundRect">
            <a:avLst>
              <a:gd name="adj" fmla="val 5674"/>
            </a:avLst>
          </a:prstGeom>
          <a:solidFill>
            <a:srgbClr val="FFFFFF"/>
          </a:solidFill>
          <a:ln/>
        </p:spPr>
        <p:txBody>
          <a:bodyPr wrap="square" rtlCol="0" anchor="ctr"/>
          <a:lstStyle/>
          <a:p>
            <a:pPr indent="0" marL="0">
              <a:buNone/>
            </a:pPr>
            <a:endParaRPr lang="en-US" dirty="0"/>
          </a:p>
        </p:txBody>
      </p:sp>
      <p:sp>
        <p:nvSpPr>
          <p:cNvPr id="16" name="Shape 14"/>
          <p:cNvSpPr/>
          <p:nvPr/>
        </p:nvSpPr>
        <p:spPr>
          <a:xfrm>
            <a:off x="4657725" y="1560909"/>
            <a:ext cx="4029075" cy="0"/>
          </a:xfrm>
          <a:prstGeom prst="line">
            <a:avLst/>
          </a:prstGeom>
          <a:noFill/>
          <a:ln w="7144">
            <a:solidFill>
              <a:srgbClr val="D9D2BF"/>
            </a:solidFill>
            <a:prstDash val="solid"/>
          </a:ln>
        </p:spPr>
        <p:txBody>
          <a:bodyPr/>
          <a:p/>
        </p:txBody>
      </p:sp>
      <p:sp>
        <p:nvSpPr>
          <p:cNvPr id="17" name="Shape 15"/>
          <p:cNvSpPr/>
          <p:nvPr/>
        </p:nvSpPr>
        <p:spPr>
          <a:xfrm>
            <a:off x="8683228" y="1557338"/>
            <a:ext cx="0" cy="2350294"/>
          </a:xfrm>
          <a:prstGeom prst="line">
            <a:avLst/>
          </a:prstGeom>
          <a:noFill/>
          <a:ln w="7144">
            <a:solidFill>
              <a:srgbClr val="D9D2BF"/>
            </a:solidFill>
            <a:prstDash val="solid"/>
          </a:ln>
        </p:spPr>
        <p:txBody>
          <a:bodyPr/>
          <a:p/>
        </p:txBody>
      </p:sp>
      <p:sp>
        <p:nvSpPr>
          <p:cNvPr id="18" name="Shape 16"/>
          <p:cNvSpPr/>
          <p:nvPr/>
        </p:nvSpPr>
        <p:spPr>
          <a:xfrm>
            <a:off x="4657725" y="3904059"/>
            <a:ext cx="4029075" cy="0"/>
          </a:xfrm>
          <a:prstGeom prst="line">
            <a:avLst/>
          </a:prstGeom>
          <a:noFill/>
          <a:ln w="7144">
            <a:solidFill>
              <a:srgbClr val="D9D2BF"/>
            </a:solidFill>
            <a:prstDash val="solid"/>
          </a:ln>
        </p:spPr>
        <p:txBody>
          <a:bodyPr/>
          <a:p/>
        </p:txBody>
      </p:sp>
      <p:sp>
        <p:nvSpPr>
          <p:cNvPr id="19" name="Shape 17"/>
          <p:cNvSpPr/>
          <p:nvPr/>
        </p:nvSpPr>
        <p:spPr>
          <a:xfrm>
            <a:off x="4672013" y="1557338"/>
            <a:ext cx="0" cy="2350294"/>
          </a:xfrm>
          <a:prstGeom prst="line">
            <a:avLst/>
          </a:prstGeom>
          <a:noFill/>
          <a:ln w="28575">
            <a:solidFill>
              <a:srgbClr val="B23A2A"/>
            </a:solidFill>
            <a:prstDash val="solid"/>
          </a:ln>
        </p:spPr>
        <p:txBody>
          <a:bodyPr/>
          <a:p/>
        </p:txBody>
      </p:sp>
      <p:sp>
        <p:nvSpPr>
          <p:cNvPr id="20" name="Shape 18"/>
          <p:cNvSpPr/>
          <p:nvPr/>
        </p:nvSpPr>
        <p:spPr>
          <a:xfrm>
            <a:off x="4872038" y="1968103"/>
            <a:ext cx="3621881" cy="0"/>
          </a:xfrm>
          <a:prstGeom prst="line">
            <a:avLst/>
          </a:prstGeom>
          <a:noFill/>
          <a:ln w="7144">
            <a:solidFill>
              <a:srgbClr val="D9D2BF"/>
            </a:solidFill>
            <a:prstDash val="solid"/>
          </a:ln>
        </p:spPr>
        <p:txBody>
          <a:bodyPr/>
          <a:p/>
        </p:txBody>
      </p:sp>
      <p:sp>
        <p:nvSpPr>
          <p:cNvPr id="21" name="Text 19"/>
          <p:cNvSpPr/>
          <p:nvPr/>
        </p:nvSpPr>
        <p:spPr>
          <a:xfrm>
            <a:off x="4872038" y="1735931"/>
            <a:ext cx="157163" cy="157163"/>
          </a:xfrm>
          <a:prstGeom prst="rect">
            <a:avLst/>
          </a:prstGeom>
          <a:noFill/>
          <a:ln/>
        </p:spPr>
        <p:txBody>
          <a:bodyPr wrap="none" lIns="0" tIns="0" rIns="0" bIns="0" rtlCol="0" anchor="ctr"/>
          <a:lstStyle/>
          <a:p>
            <a:pPr algn="ctr" indent="0" marL="0">
              <a:buNone/>
            </a:pPr>
            <a:r>
              <a:rPr lang="en-US" sz="1547" dirty="0">
                <a:solidFill>
                  <a:srgbClr val="B23A2A"/>
                </a:solidFill>
                <a:latin typeface="Segoe UI Symbol" pitchFamily="34" charset="0"/>
                <a:ea typeface="Segoe UI Symbol" pitchFamily="34" charset="-122"/>
                <a:cs typeface="Segoe UI Symbol" pitchFamily="34" charset="-120"/>
              </a:rPr>
              <a:t>⚿</a:t>
            </a:r>
            <a:endParaRPr lang="en-US" sz="1547" dirty="0"/>
          </a:p>
        </p:txBody>
      </p:sp>
      <p:sp>
        <p:nvSpPr>
          <p:cNvPr id="22" name="Text 20"/>
          <p:cNvSpPr/>
          <p:nvPr/>
        </p:nvSpPr>
        <p:spPr>
          <a:xfrm>
            <a:off x="5100638" y="1742517"/>
            <a:ext cx="3393281" cy="150577"/>
          </a:xfrm>
          <a:prstGeom prst="rect">
            <a:avLst/>
          </a:prstGeom>
          <a:noFill/>
          <a:ln/>
        </p:spPr>
        <p:txBody>
          <a:bodyPr wrap="none" lIns="0" tIns="0" rIns="0" bIns="0" rtlCol="0" anchor="t"/>
          <a:lstStyle/>
          <a:p>
            <a:pPr algn="l" indent="0" marL="0">
              <a:lnSpc>
                <a:spcPts val="1133"/>
              </a:lnSpc>
              <a:buNone/>
            </a:pPr>
            <a:r>
              <a:rPr lang="en-US" sz="800" b="1" spc="37" kern="0" dirty="0">
                <a:solidFill>
                  <a:srgbClr val="B23A2A"/>
                </a:solidFill>
                <a:latin typeface="Carlito" pitchFamily="34" charset="0"/>
                <a:ea typeface="Carlito" pitchFamily="34" charset="-122"/>
                <a:cs typeface="Carlito" pitchFamily="34" charset="-120"/>
              </a:rPr>
              <a:t>সিল ও ডিজাইন</a:t>
            </a:r>
            <a:endParaRPr lang="en-US" sz="800" dirty="0"/>
          </a:p>
        </p:txBody>
      </p:sp>
      <p:sp>
        <p:nvSpPr>
          <p:cNvPr id="23" name="Text 21"/>
          <p:cNvSpPr/>
          <p:nvPr/>
        </p:nvSpPr>
        <p:spPr>
          <a:xfrm>
            <a:off x="4872038" y="2071688"/>
            <a:ext cx="3621881" cy="1856804"/>
          </a:xfrm>
          <a:prstGeom prst="rect">
            <a:avLst/>
          </a:prstGeom>
          <a:noFill/>
          <a:ln/>
        </p:spPr>
        <p:txBody>
          <a:bodyPr wrap="square" lIns="0" tIns="0" rIns="0" bIns="0" rtlCol="0" anchor="t"/>
          <a:lstStyle/>
          <a:p>
            <a:pPr algn="l" indent="0" marL="0">
              <a:lnSpc>
                <a:spcPts val="2869"/>
              </a:lnSpc>
              <a:spcAft>
                <a:spcPts val="788"/>
              </a:spcAft>
              <a:buNone/>
            </a:pPr>
            <a:r>
              <a:rPr lang="en-US" sz="1100" dirty="0">
                <a:solidFill>
                  <a:srgbClr val="B23A2A"/>
                </a:solidFill>
                <a:latin typeface="Carlito" pitchFamily="34" charset="0"/>
                <a:ea typeface="Carlito" pitchFamily="34" charset="-122"/>
                <a:cs typeface="Carlito" pitchFamily="34" charset="-120"/>
              </a:rPr>
              <a:t>●  </a:t>
            </a:r>
            <a:pPr algn="l" indent="0" marL="0">
              <a:lnSpc>
                <a:spcPts val="2869"/>
              </a:lnSpc>
              <a:spcAft>
                <a:spcPts val="788"/>
              </a:spcAft>
              <a:buNone/>
            </a:pPr>
            <a:r>
              <a:rPr lang="en-US" sz="1913" dirty="0">
                <a:solidFill>
                  <a:srgbClr val="1A1A1A"/>
                </a:solidFill>
                <a:latin typeface="Carlito" pitchFamily="34" charset="0"/>
                <a:ea typeface="Carlito" pitchFamily="34" charset="-122"/>
                <a:cs typeface="Carlito" pitchFamily="34" charset="-120"/>
              </a:rPr>
              <a:t>সিল পুনঃব্যবহৃত বা কৃত্রিম চেহারা</a:t>
            </a:r>
            <a:endParaRPr lang="en-US" sz="1913" dirty="0"/>
          </a:p>
          <a:p>
            <a:pPr algn="l" indent="0" marL="0">
              <a:lnSpc>
                <a:spcPts val="2869"/>
              </a:lnSpc>
              <a:spcAft>
                <a:spcPts val="788"/>
              </a:spcAft>
              <a:buNone/>
            </a:pPr>
            <a:r>
              <a:rPr lang="en-US" sz="1100" dirty="0">
                <a:solidFill>
                  <a:srgbClr val="B23A2A"/>
                </a:solidFill>
                <a:latin typeface="Carlito" pitchFamily="34" charset="0"/>
                <a:ea typeface="Carlito" pitchFamily="34" charset="-122"/>
                <a:cs typeface="Carlito" pitchFamily="34" charset="-120"/>
              </a:rPr>
              <a:t>●  </a:t>
            </a:r>
            <a:pPr algn="l" indent="0" marL="0">
              <a:lnSpc>
                <a:spcPts val="2869"/>
              </a:lnSpc>
              <a:spcAft>
                <a:spcPts val="788"/>
              </a:spcAft>
              <a:buNone/>
            </a:pPr>
            <a:r>
              <a:rPr lang="en-US" sz="1913" dirty="0">
                <a:solidFill>
                  <a:srgbClr val="1A1A1A"/>
                </a:solidFill>
                <a:latin typeface="Carlito" pitchFamily="34" charset="0"/>
                <a:ea typeface="Carlito" pitchFamily="34" charset="-122"/>
                <a:cs typeface="Carlito" pitchFamily="34" charset="-120"/>
              </a:rPr>
              <a:t>কোম্পানির অরিজিনাল হোলোগ্রাম ডিজাইনের সাথে অমিল</a:t>
            </a:r>
            <a:endParaRPr lang="en-US" sz="1913" dirty="0"/>
          </a:p>
          <a:p>
            <a:pPr algn="l" indent="0" marL="0">
              <a:lnSpc>
                <a:spcPts val="2869"/>
              </a:lnSpc>
              <a:spcAft>
                <a:spcPts val="788"/>
              </a:spcAft>
              <a:buNone/>
            </a:pPr>
            <a:r>
              <a:rPr lang="en-US" sz="1100" dirty="0">
                <a:solidFill>
                  <a:srgbClr val="B23A2A"/>
                </a:solidFill>
                <a:latin typeface="Carlito" pitchFamily="34" charset="0"/>
                <a:ea typeface="Carlito" pitchFamily="34" charset="-122"/>
                <a:cs typeface="Carlito" pitchFamily="34" charset="-120"/>
              </a:rPr>
              <a:t>●  </a:t>
            </a:r>
            <a:pPr algn="l" indent="0" marL="0">
              <a:lnSpc>
                <a:spcPts val="2869"/>
              </a:lnSpc>
              <a:spcAft>
                <a:spcPts val="788"/>
              </a:spcAft>
              <a:buNone/>
            </a:pPr>
            <a:r>
              <a:rPr lang="en-US" sz="1913" dirty="0">
                <a:solidFill>
                  <a:srgbClr val="1A1A1A"/>
                </a:solidFill>
                <a:latin typeface="Carlito" pitchFamily="34" charset="0"/>
                <a:ea typeface="Carlito" pitchFamily="34" charset="-122"/>
                <a:cs typeface="Carlito" pitchFamily="34" charset="-120"/>
              </a:rPr>
              <a:t>একই ব্যাচে একাধিক হোলোগ্রাম স্টাইল</a:t>
            </a:r>
            <a:endParaRPr lang="en-US" sz="1913" dirty="0"/>
          </a:p>
        </p:txBody>
      </p:sp>
      <p:sp>
        <p:nvSpPr>
          <p:cNvPr id="24" name="Text 22"/>
          <p:cNvSpPr/>
          <p:nvPr/>
        </p:nvSpPr>
        <p:spPr>
          <a:xfrm>
            <a:off x="457200" y="3885084"/>
            <a:ext cx="8229600" cy="815504"/>
          </a:xfrm>
          <a:prstGeom prst="roundRect">
            <a:avLst>
              <a:gd name="adj" fmla="val 16352"/>
            </a:avLst>
          </a:prstGeom>
          <a:solidFill>
            <a:srgbClr val="F2ECDD"/>
          </a:solidFill>
          <a:ln/>
        </p:spPr>
        <p:txBody>
          <a:bodyPr wrap="square" rtlCol="0" anchor="ctr"/>
          <a:lstStyle/>
          <a:p>
            <a:pPr indent="0" marL="0">
              <a:buNone/>
            </a:pPr>
            <a:endParaRPr lang="en-US" dirty="0"/>
          </a:p>
        </p:txBody>
      </p:sp>
      <p:sp>
        <p:nvSpPr>
          <p:cNvPr id="25" name="Shape 23"/>
          <p:cNvSpPr/>
          <p:nvPr/>
        </p:nvSpPr>
        <p:spPr>
          <a:xfrm>
            <a:off x="471488" y="3885084"/>
            <a:ext cx="0" cy="815504"/>
          </a:xfrm>
          <a:prstGeom prst="line">
            <a:avLst/>
          </a:prstGeom>
          <a:noFill/>
          <a:ln w="28575">
            <a:solidFill>
              <a:srgbClr val="C7912C"/>
            </a:solidFill>
            <a:prstDash val="solid"/>
          </a:ln>
        </p:spPr>
        <p:txBody>
          <a:bodyPr/>
          <a:p/>
        </p:txBody>
      </p:sp>
      <p:sp>
        <p:nvSpPr>
          <p:cNvPr id="26" name="Text 24"/>
          <p:cNvSpPr/>
          <p:nvPr/>
        </p:nvSpPr>
        <p:spPr>
          <a:xfrm>
            <a:off x="657225" y="4192823"/>
            <a:ext cx="200025" cy="200025"/>
          </a:xfrm>
          <a:prstGeom prst="rect">
            <a:avLst/>
          </a:prstGeom>
          <a:noFill/>
          <a:ln/>
        </p:spPr>
        <p:txBody>
          <a:bodyPr wrap="none" lIns="0" tIns="0" rIns="0" bIns="0" rtlCol="0" anchor="ctr"/>
          <a:lstStyle/>
          <a:p>
            <a:pPr algn="ctr" indent="0" marL="0">
              <a:buNone/>
            </a:pPr>
            <a:r>
              <a:rPr lang="en-US" sz="1969" dirty="0">
                <a:solidFill>
                  <a:srgbClr val="C7912C"/>
                </a:solidFill>
                <a:latin typeface="Segoe UI Symbol" pitchFamily="34" charset="0"/>
                <a:ea typeface="Segoe UI Symbol" pitchFamily="34" charset="-122"/>
                <a:cs typeface="Segoe UI Symbol" pitchFamily="34" charset="-120"/>
              </a:rPr>
              <a:t>◆</a:t>
            </a:r>
            <a:endParaRPr lang="en-US" sz="1969" dirty="0"/>
          </a:p>
        </p:txBody>
      </p:sp>
      <p:sp>
        <p:nvSpPr>
          <p:cNvPr id="27" name="Text 25"/>
          <p:cNvSpPr/>
          <p:nvPr/>
        </p:nvSpPr>
        <p:spPr>
          <a:xfrm>
            <a:off x="938727" y="4206553"/>
            <a:ext cx="500725" cy="128016"/>
          </a:xfrm>
          <a:prstGeom prst="rect">
            <a:avLst/>
          </a:prstGeom>
          <a:noFill/>
          <a:ln/>
        </p:spPr>
        <p:txBody>
          <a:bodyPr wrap="square" lIns="0" tIns="0" rIns="0" bIns="0" rtlCol="0" anchor="t"/>
          <a:lstStyle/>
          <a:p>
            <a:pPr algn="l" indent="0" marL="0">
              <a:lnSpc>
                <a:spcPts val="1046"/>
              </a:lnSpc>
              <a:buNone/>
            </a:pPr>
            <a:r>
              <a:rPr lang="en-US" sz="800" b="1" spc="95" kern="0" dirty="0">
                <a:solidFill>
                  <a:srgbClr val="9A6E1E"/>
                </a:solidFill>
                <a:latin typeface="Carlito" pitchFamily="34" charset="0"/>
                <a:ea typeface="Carlito" pitchFamily="34" charset="-122"/>
                <a:cs typeface="Carlito" pitchFamily="34" charset="-120"/>
              </a:rPr>
              <a:t>যাচাই টিপ</a:t>
            </a:r>
            <a:endParaRPr lang="en-US" sz="800" dirty="0"/>
          </a:p>
        </p:txBody>
      </p:sp>
      <p:sp>
        <p:nvSpPr>
          <p:cNvPr id="28" name="Text 26"/>
          <p:cNvSpPr/>
          <p:nvPr/>
        </p:nvSpPr>
        <p:spPr>
          <a:xfrm>
            <a:off x="957263" y="4411489"/>
            <a:ext cx="3659944" cy="160511"/>
          </a:xfrm>
          <a:prstGeom prst="rect">
            <a:avLst/>
          </a:prstGeom>
          <a:noFill/>
          <a:ln/>
        </p:spPr>
        <p:txBody>
          <a:bodyPr wrap="square" lIns="0" tIns="0" rIns="0" bIns="0" rtlCol="0" anchor="t"/>
          <a:lstStyle/>
          <a:p>
            <a:pPr algn="l" indent="0" marL="0">
              <a:lnSpc>
                <a:spcPts val="1264"/>
              </a:lnSpc>
              <a:buNone/>
            </a:pPr>
            <a:r>
              <a:rPr lang="en-US" sz="816" dirty="0">
                <a:solidFill>
                  <a:srgbClr val="1A1A1A"/>
                </a:solidFill>
                <a:latin typeface="Carlito" pitchFamily="34" charset="0"/>
                <a:ea typeface="Carlito" pitchFamily="34" charset="-122"/>
                <a:cs typeface="Carlito" pitchFamily="34" charset="-120"/>
              </a:rPr>
              <a:t>অনুমোদিত হোলোগ্রামের ছবি বালাইনাশক অধিদপ্তরের ওয়েবসাইটে পাওয়া যায়। </a:t>
            </a:r>
            <a:pPr algn="l" indent="0" marL="0">
              <a:lnSpc>
                <a:spcPts val="1264"/>
              </a:lnSpc>
              <a:buNone/>
            </a:pPr>
            <a:r>
              <a:rPr lang="en-US" sz="816" dirty="0">
                <a:solidFill>
                  <a:srgbClr val="1E4D3B"/>
                </a:solidFill>
                <a:latin typeface="Carlito" pitchFamily="34" charset="0"/>
                <a:ea typeface="Carlito" pitchFamily="34" charset="-122"/>
                <a:cs typeface="Carlito" pitchFamily="34" charset="-120"/>
              </a:rPr>
              <a:t>মোবাইল দিয়ে তুলনা করুন।</a:t>
            </a:r>
            <a:endParaRPr lang="en-US" sz="816" dirty="0"/>
          </a:p>
        </p:txBody>
      </p:sp>
      <p:sp>
        <p:nvSpPr>
          <p:cNvPr id="29" name="Text 27"/>
          <p:cNvSpPr/>
          <p:nvPr/>
        </p:nvSpPr>
        <p:spPr>
          <a:xfrm>
            <a:off x="8694725" y="4706392"/>
            <a:ext cx="30736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২৪</a:t>
            </a:r>
            <a:endParaRPr lang="en-US" sz="1350" dirty="0"/>
          </a:p>
        </p:txBody>
      </p:sp>
      <p:pic>
        <p:nvPicPr>
          <p:cNvPr id="30"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0" y="3786188"/>
            <a:ext cx="2972847" cy="1357313"/>
          </a:xfrm>
          <a:prstGeom prst="rect">
            <a:avLst/>
          </a:prstGeom>
          <a:noFill/>
          <a:ln/>
        </p:spPr>
        <p:txBody>
          <a:bodyPr wrap="none" lIns="0" tIns="0" rIns="0" bIns="0" rtlCol="0" anchor="t"/>
          <a:lstStyle/>
          <a:p>
            <a:pPr algn="l" indent="0" marL="0">
              <a:lnSpc>
                <a:spcPts val="13500"/>
              </a:lnSpc>
              <a:buNone/>
            </a:pPr>
            <a:r>
              <a:rPr lang="en-US" sz="13500" b="1" dirty="0">
                <a:solidFill>
                  <a:srgbClr val="1E4D3B">
                    <a:alpha val="4000"/>
                  </a:srgbClr>
                </a:solidFill>
                <a:latin typeface="Liberation Sans Narrow" pitchFamily="34" charset="0"/>
                <a:ea typeface="Liberation Sans Narrow" pitchFamily="34" charset="-122"/>
                <a:cs typeface="Liberation Sans Narrow" pitchFamily="34" charset="-120"/>
              </a:rPr>
              <a:t>01</a:t>
            </a:r>
            <a:endParaRPr lang="en-US" sz="13500" dirty="0"/>
          </a:p>
        </p:txBody>
      </p:sp>
      <p:sp>
        <p:nvSpPr>
          <p:cNvPr id="3" name="Text 1"/>
          <p:cNvSpPr/>
          <p:nvPr/>
        </p:nvSpPr>
        <p:spPr>
          <a:xfrm>
            <a:off x="457200" y="431527"/>
            <a:ext cx="2587864"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০৪ · মাঠ পর্যায়ে শনাক্তকরণ</a:t>
            </a:r>
            <a:endParaRPr lang="en-US" sz="1350" dirty="0"/>
          </a:p>
        </p:txBody>
      </p:sp>
      <p:sp>
        <p:nvSpPr>
          <p:cNvPr id="4" name="Text 2"/>
          <p:cNvSpPr/>
          <p:nvPr/>
        </p:nvSpPr>
        <p:spPr>
          <a:xfrm>
            <a:off x="457200" y="782910"/>
            <a:ext cx="4251246" cy="509809"/>
          </a:xfrm>
          <a:prstGeom prst="rect">
            <a:avLst/>
          </a:prstGeom>
          <a:noFill/>
          <a:ln/>
        </p:spPr>
        <p:txBody>
          <a:bodyPr wrap="square" lIns="0" tIns="0" rIns="0" bIns="0" rtlCol="0" anchor="t"/>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কেসস্টাডি ১ — চাঁদপুর, ২০২৩</a:t>
            </a:r>
            <a:endParaRPr lang="en-US" sz="3150" dirty="0"/>
          </a:p>
        </p:txBody>
      </p:sp>
      <p:sp>
        <p:nvSpPr>
          <p:cNvPr id="5" name="Text 3"/>
          <p:cNvSpPr/>
          <p:nvPr/>
        </p:nvSpPr>
        <p:spPr>
          <a:xfrm>
            <a:off x="7829237" y="287236"/>
            <a:ext cx="880423" cy="298070"/>
          </a:xfrm>
          <a:prstGeom prst="roundRect">
            <a:avLst>
              <a:gd name="adj" fmla="val 3192363"/>
            </a:avLst>
          </a:prstGeom>
          <a:solidFill>
            <a:srgbClr val="F2ECDD"/>
          </a:solidFill>
          <a:ln w="7144">
            <a:solidFill>
              <a:srgbClr val="D9D2BF"/>
            </a:solidFill>
            <a:prstDash val="solid"/>
          </a:ln>
        </p:spPr>
        <p:txBody>
          <a:bodyPr wrap="square" rtlCol="0" anchor="ctr"/>
          <a:lstStyle/>
          <a:p>
            <a:pPr indent="0" marL="0">
              <a:buNone/>
            </a:pPr>
            <a:endParaRPr lang="en-US" dirty="0"/>
          </a:p>
        </p:txBody>
      </p:sp>
      <p:sp>
        <p:nvSpPr>
          <p:cNvPr id="6" name="Text 4"/>
          <p:cNvSpPr/>
          <p:nvPr/>
        </p:nvSpPr>
        <p:spPr>
          <a:xfrm>
            <a:off x="7959254" y="371921"/>
            <a:ext cx="128588" cy="128588"/>
          </a:xfrm>
          <a:prstGeom prst="rect">
            <a:avLst/>
          </a:prstGeom>
          <a:noFill/>
          <a:ln/>
        </p:spPr>
        <p:txBody>
          <a:bodyPr wrap="none" lIns="0" tIns="0" rIns="0" bIns="0" rtlCol="0" anchor="ctr"/>
          <a:lstStyle/>
          <a:p>
            <a:pPr algn="ctr" indent="0" marL="0">
              <a:buNone/>
            </a:pPr>
            <a:r>
              <a:rPr lang="en-US" sz="1266" dirty="0">
                <a:solidFill>
                  <a:srgbClr val="C7912C"/>
                </a:solidFill>
                <a:latin typeface="Segoe UI Symbol" pitchFamily="34" charset="0"/>
                <a:ea typeface="Segoe UI Symbol" pitchFamily="34" charset="-122"/>
                <a:cs typeface="Segoe UI Symbol" pitchFamily="34" charset="-120"/>
              </a:rPr>
              <a:t>◎</a:t>
            </a:r>
            <a:endParaRPr lang="en-US" sz="1266" dirty="0"/>
          </a:p>
        </p:txBody>
      </p:sp>
      <p:sp>
        <p:nvSpPr>
          <p:cNvPr id="7" name="Text 5"/>
          <p:cNvSpPr/>
          <p:nvPr/>
        </p:nvSpPr>
        <p:spPr>
          <a:xfrm>
            <a:off x="8019502" y="364331"/>
            <a:ext cx="685631" cy="143880"/>
          </a:xfrm>
          <a:prstGeom prst="rect">
            <a:avLst/>
          </a:prstGeom>
          <a:noFill/>
          <a:ln/>
        </p:spPr>
        <p:txBody>
          <a:bodyPr wrap="square" lIns="0" tIns="0" rIns="0" bIns="0" rtlCol="0" anchor="t"/>
          <a:lstStyle/>
          <a:p>
            <a:pPr algn="l" indent="0" marL="0">
              <a:lnSpc>
                <a:spcPts val="1133"/>
              </a:lnSpc>
              <a:buNone/>
            </a:pPr>
            <a:r>
              <a:rPr lang="en-US" sz="731" dirty="0">
                <a:solidFill>
                  <a:srgbClr val="1E4D3B"/>
                </a:solidFill>
                <a:latin typeface="Carlito" pitchFamily="34" charset="0"/>
                <a:ea typeface="Carlito" pitchFamily="34" charset="-122"/>
                <a:cs typeface="Carlito" pitchFamily="34" charset="-120"/>
              </a:rPr>
              <a:t>চাঁদপুর · ২০২৩</a:t>
            </a:r>
            <a:endParaRPr lang="en-US" sz="731" dirty="0"/>
          </a:p>
        </p:txBody>
      </p:sp>
      <p:sp>
        <p:nvSpPr>
          <p:cNvPr id="8" name="Shape 6"/>
          <p:cNvSpPr/>
          <p:nvPr/>
        </p:nvSpPr>
        <p:spPr>
          <a:xfrm>
            <a:off x="457200" y="1365684"/>
            <a:ext cx="400050" cy="0"/>
          </a:xfrm>
          <a:prstGeom prst="line">
            <a:avLst/>
          </a:prstGeom>
          <a:noFill/>
          <a:ln w="7144">
            <a:solidFill>
              <a:srgbClr val="1A1A1A"/>
            </a:solidFill>
            <a:prstDash val="solid"/>
          </a:ln>
        </p:spPr>
        <p:txBody>
          <a:bodyPr/>
          <a:p/>
        </p:txBody>
      </p:sp>
      <p:sp>
        <p:nvSpPr>
          <p:cNvPr id="9" name="Text 7"/>
          <p:cNvSpPr/>
          <p:nvPr/>
        </p:nvSpPr>
        <p:spPr>
          <a:xfrm>
            <a:off x="457200" y="1214438"/>
            <a:ext cx="3211785" cy="1435224"/>
          </a:xfrm>
          <a:prstGeom prst="roundRect">
            <a:avLst>
              <a:gd name="adj" fmla="val 9291"/>
            </a:avLst>
          </a:prstGeom>
          <a:solidFill>
            <a:srgbClr val="F2ECDD"/>
          </a:solidFill>
          <a:ln/>
        </p:spPr>
        <p:txBody>
          <a:bodyPr wrap="square" rtlCol="0" anchor="ctr"/>
          <a:lstStyle/>
          <a:p>
            <a:pPr indent="0" marL="0">
              <a:buNone/>
            </a:pPr>
            <a:endParaRPr lang="en-US" dirty="0"/>
          </a:p>
        </p:txBody>
      </p:sp>
      <p:sp>
        <p:nvSpPr>
          <p:cNvPr id="10" name="Text 8"/>
          <p:cNvSpPr/>
          <p:nvPr/>
        </p:nvSpPr>
        <p:spPr>
          <a:xfrm>
            <a:off x="614363" y="1345720"/>
            <a:ext cx="309525" cy="216402"/>
          </a:xfrm>
          <a:prstGeom prst="roundRect">
            <a:avLst>
              <a:gd name="adj" fmla="val 4397129"/>
            </a:avLst>
          </a:prstGeom>
          <a:solidFill>
            <a:srgbClr val="1E4D3B"/>
          </a:solidFill>
          <a:ln w="7144">
            <a:solidFill>
              <a:srgbClr val="1E4D3B"/>
            </a:solidFill>
            <a:prstDash val="solid"/>
          </a:ln>
        </p:spPr>
        <p:txBody>
          <a:bodyPr wrap="square" rtlCol="0" anchor="ctr"/>
          <a:lstStyle/>
          <a:p>
            <a:pPr indent="0" marL="0">
              <a:buNone/>
            </a:pPr>
            <a:endParaRPr lang="en-US" dirty="0"/>
          </a:p>
        </p:txBody>
      </p:sp>
      <p:sp>
        <p:nvSpPr>
          <p:cNvPr id="11" name="Text 9"/>
          <p:cNvSpPr/>
          <p:nvPr/>
        </p:nvSpPr>
        <p:spPr>
          <a:xfrm>
            <a:off x="614363" y="1357313"/>
            <a:ext cx="309525" cy="193216"/>
          </a:xfrm>
          <a:prstGeom prst="rect">
            <a:avLst/>
          </a:prstGeom>
          <a:noFill/>
          <a:ln/>
        </p:spPr>
        <p:txBody>
          <a:bodyPr wrap="none" lIns="0" tIns="0" rIns="0" bIns="0" rtlCol="0" anchor="ctr"/>
          <a:lstStyle/>
          <a:p>
            <a:pPr algn="ctr" indent="0" marL="0">
              <a:lnSpc>
                <a:spcPts val="959"/>
              </a:lnSpc>
              <a:buNone/>
            </a:pPr>
            <a:r>
              <a:rPr lang="en-US" sz="800" spc="25" kern="0" dirty="0">
                <a:solidFill>
                  <a:srgbClr val="FFFFFF"/>
                </a:solidFill>
                <a:latin typeface="Carlito" pitchFamily="34" charset="0"/>
                <a:ea typeface="Carlito" pitchFamily="34" charset="-122"/>
                <a:cs typeface="Carlito" pitchFamily="34" charset="-120"/>
              </a:rPr>
              <a:t>ঘটনা</a:t>
            </a:r>
            <a:endParaRPr lang="en-US" sz="800" dirty="0"/>
          </a:p>
        </p:txBody>
      </p:sp>
      <p:sp>
        <p:nvSpPr>
          <p:cNvPr id="12" name="Text 10"/>
          <p:cNvSpPr/>
          <p:nvPr/>
        </p:nvSpPr>
        <p:spPr>
          <a:xfrm>
            <a:off x="981038" y="1389571"/>
            <a:ext cx="128588" cy="128588"/>
          </a:xfrm>
          <a:prstGeom prst="rect">
            <a:avLst/>
          </a:prstGeom>
          <a:noFill/>
          <a:ln/>
        </p:spPr>
        <p:txBody>
          <a:bodyPr wrap="none" lIns="0" tIns="0" rIns="0" bIns="0" rtlCol="0" anchor="ctr"/>
          <a:lstStyle/>
          <a:p>
            <a:pPr algn="ctr" indent="0" marL="0">
              <a:buNone/>
            </a:pPr>
            <a:r>
              <a:rPr lang="en-US" sz="1266" dirty="0">
                <a:solidFill>
                  <a:srgbClr val="1E4D3B"/>
                </a:solidFill>
                <a:latin typeface="Segoe UI Symbol" pitchFamily="34" charset="0"/>
                <a:ea typeface="Segoe UI Symbol" pitchFamily="34" charset="-122"/>
                <a:cs typeface="Segoe UI Symbol" pitchFamily="34" charset="-120"/>
              </a:rPr>
              <a:t>▣</a:t>
            </a:r>
            <a:endParaRPr lang="en-US" sz="1266" dirty="0"/>
          </a:p>
        </p:txBody>
      </p:sp>
      <p:sp>
        <p:nvSpPr>
          <p:cNvPr id="13" name="Text 11"/>
          <p:cNvSpPr/>
          <p:nvPr/>
        </p:nvSpPr>
        <p:spPr>
          <a:xfrm>
            <a:off x="614363" y="1636254"/>
            <a:ext cx="3007188" cy="157922"/>
          </a:xfrm>
          <a:prstGeom prst="rect">
            <a:avLst/>
          </a:prstGeom>
          <a:noFill/>
          <a:ln/>
        </p:spPr>
        <p:txBody>
          <a:bodyPr wrap="square" lIns="0" tIns="0" rIns="0" bIns="0" rtlCol="0" anchor="t"/>
          <a:lstStyle/>
          <a:p>
            <a:pPr algn="l" indent="0" marL="0">
              <a:lnSpc>
                <a:spcPts val="1152"/>
              </a:lnSpc>
              <a:buNone/>
            </a:pPr>
            <a:r>
              <a:rPr lang="en-US" sz="900" dirty="0">
                <a:solidFill>
                  <a:srgbClr val="1E4D3B"/>
                </a:solidFill>
                <a:latin typeface="Tinos" pitchFamily="34" charset="0"/>
                <a:ea typeface="Tinos" pitchFamily="34" charset="-122"/>
                <a:cs typeface="Tinos" pitchFamily="34" charset="-120"/>
              </a:rPr>
              <a:t>পাইকারি গ্রহণ ও রেড ফ্ল্যাগ</a:t>
            </a:r>
            <a:endParaRPr lang="en-US" sz="900" dirty="0"/>
          </a:p>
        </p:txBody>
      </p:sp>
      <p:sp>
        <p:nvSpPr>
          <p:cNvPr id="14" name="Text 12"/>
          <p:cNvSpPr/>
          <p:nvPr/>
        </p:nvSpPr>
        <p:spPr>
          <a:xfrm>
            <a:off x="614363" y="1839627"/>
            <a:ext cx="2897460" cy="667159"/>
          </a:xfrm>
          <a:prstGeom prst="rect">
            <a:avLst/>
          </a:prstGeom>
          <a:noFill/>
          <a:ln/>
        </p:spPr>
        <p:txBody>
          <a:bodyPr wrap="square" lIns="0" tIns="0" rIns="0" bIns="0" rtlCol="0" anchor="t"/>
          <a:lstStyle/>
          <a:p>
            <a:pPr algn="l" indent="0" marL="0">
              <a:lnSpc>
                <a:spcPts val="1253"/>
              </a:lnSpc>
              <a:buNone/>
            </a:pPr>
            <a:r>
              <a:rPr lang="en-US" sz="800" dirty="0">
                <a:solidFill>
                  <a:srgbClr val="1A1A1A"/>
                </a:solidFill>
                <a:latin typeface="Carlito" pitchFamily="34" charset="0"/>
                <a:ea typeface="Carlito" pitchFamily="34" charset="-122"/>
                <a:cs typeface="Carlito" pitchFamily="34" charset="-120"/>
              </a:rPr>
              <a:t>চাঁদপুরের এক খুচরা বিক্রেতা </a:t>
            </a:r>
            <a:pPr algn="l" indent="0" marL="0">
              <a:lnSpc>
                <a:spcPts val="1253"/>
              </a:lnSpc>
              <a:buNone/>
            </a:pPr>
            <a:r>
              <a:rPr lang="en-US" sz="800" b="1" dirty="0">
                <a:solidFill>
                  <a:srgbClr val="1E4D3B"/>
                </a:solidFill>
                <a:latin typeface="Carlito" pitchFamily="34" charset="0"/>
                <a:ea typeface="Carlito" pitchFamily="34" charset="-122"/>
                <a:cs typeface="Carlito" pitchFamily="34" charset="-120"/>
              </a:rPr>
              <a:t>৫০০ বোতল</a:t>
            </a:r>
            <a:pPr algn="l" indent="0" marL="0">
              <a:lnSpc>
                <a:spcPts val="1253"/>
              </a:lnSpc>
              <a:buNone/>
            </a:pPr>
            <a:r>
              <a:rPr lang="en-US" sz="800" dirty="0">
                <a:solidFill>
                  <a:srgbClr val="1A1A1A"/>
                </a:solidFill>
                <a:latin typeface="Carlito" pitchFamily="34" charset="0"/>
                <a:ea typeface="Carlito" pitchFamily="34" charset="-122"/>
                <a:cs typeface="Carlito" pitchFamily="34" charset="-120"/>
              </a:rPr>
              <a:t> 'বিভাবেরিন' ব্র্যান্ডের কীটনাশক পাইকারি সরবরাহকারীর কাছ থেকে গ্রহণ করেন। প্যাকেজিং দেখে আসল মনে হলেও ব্যাচ নম্বর অস্পষ্ট ছিল এবং হোলোগ্রামের প্রতিফলন কম ছিল। দুটি রেড ফ্ল্যাগ উপেক্ষা করে বিক্রি শুরু হয়।</a:t>
            </a:r>
            <a:endParaRPr lang="en-US" sz="800" dirty="0"/>
          </a:p>
        </p:txBody>
      </p:sp>
      <p:sp>
        <p:nvSpPr>
          <p:cNvPr id="15" name="Text 13"/>
          <p:cNvSpPr/>
          <p:nvPr/>
        </p:nvSpPr>
        <p:spPr>
          <a:xfrm>
            <a:off x="3768998" y="1214438"/>
            <a:ext cx="2408895" cy="1435224"/>
          </a:xfrm>
          <a:prstGeom prst="roundRect">
            <a:avLst>
              <a:gd name="adj" fmla="val 9291"/>
            </a:avLst>
          </a:prstGeom>
          <a:solidFill>
            <a:srgbClr val="1E4D3B"/>
          </a:solidFill>
          <a:ln/>
        </p:spPr>
        <p:txBody>
          <a:bodyPr wrap="square" rtlCol="0" anchor="ctr"/>
          <a:lstStyle/>
          <a:p>
            <a:pPr indent="0" marL="0">
              <a:buNone/>
            </a:pPr>
            <a:endParaRPr lang="en-US" dirty="0"/>
          </a:p>
        </p:txBody>
      </p:sp>
      <p:sp>
        <p:nvSpPr>
          <p:cNvPr id="16" name="Text 14"/>
          <p:cNvSpPr/>
          <p:nvPr/>
        </p:nvSpPr>
        <p:spPr>
          <a:xfrm>
            <a:off x="3926160" y="1345720"/>
            <a:ext cx="355513" cy="216402"/>
          </a:xfrm>
          <a:prstGeom prst="roundRect">
            <a:avLst>
              <a:gd name="adj" fmla="val 4397129"/>
            </a:avLst>
          </a:prstGeom>
          <a:solidFill>
            <a:srgbClr val="C7912C"/>
          </a:solidFill>
          <a:ln w="7144">
            <a:solidFill>
              <a:srgbClr val="C7912C"/>
            </a:solidFill>
            <a:prstDash val="solid"/>
          </a:ln>
        </p:spPr>
        <p:txBody>
          <a:bodyPr wrap="square" rtlCol="0" anchor="ctr"/>
          <a:lstStyle/>
          <a:p>
            <a:pPr indent="0" marL="0">
              <a:buNone/>
            </a:pPr>
            <a:endParaRPr lang="en-US" dirty="0"/>
          </a:p>
        </p:txBody>
      </p:sp>
      <p:sp>
        <p:nvSpPr>
          <p:cNvPr id="17" name="Text 15"/>
          <p:cNvSpPr/>
          <p:nvPr/>
        </p:nvSpPr>
        <p:spPr>
          <a:xfrm>
            <a:off x="3926160" y="1357313"/>
            <a:ext cx="355513" cy="193216"/>
          </a:xfrm>
          <a:prstGeom prst="rect">
            <a:avLst/>
          </a:prstGeom>
          <a:noFill/>
          <a:ln/>
        </p:spPr>
        <p:txBody>
          <a:bodyPr wrap="none" lIns="0" tIns="0" rIns="0" bIns="0" rtlCol="0" anchor="ctr"/>
          <a:lstStyle/>
          <a:p>
            <a:pPr algn="ctr" indent="0" marL="0">
              <a:lnSpc>
                <a:spcPts val="959"/>
              </a:lnSpc>
              <a:buNone/>
            </a:pPr>
            <a:r>
              <a:rPr lang="en-US" sz="800" spc="25" kern="0" dirty="0">
                <a:solidFill>
                  <a:srgbClr val="FFFFFF"/>
                </a:solidFill>
                <a:latin typeface="Carlito" pitchFamily="34" charset="0"/>
                <a:ea typeface="Carlito" pitchFamily="34" charset="-122"/>
                <a:cs typeface="Carlito" pitchFamily="34" charset="-120"/>
              </a:rPr>
              <a:t>তদন্ত</a:t>
            </a:r>
            <a:endParaRPr lang="en-US" sz="800" dirty="0"/>
          </a:p>
        </p:txBody>
      </p:sp>
      <p:sp>
        <p:nvSpPr>
          <p:cNvPr id="18" name="Text 16"/>
          <p:cNvSpPr/>
          <p:nvPr/>
        </p:nvSpPr>
        <p:spPr>
          <a:xfrm>
            <a:off x="4338824" y="1389571"/>
            <a:ext cx="128588" cy="128588"/>
          </a:xfrm>
          <a:prstGeom prst="rect">
            <a:avLst/>
          </a:prstGeom>
          <a:noFill/>
          <a:ln/>
        </p:spPr>
        <p:txBody>
          <a:bodyPr wrap="none" lIns="0" tIns="0" rIns="0" bIns="0" rtlCol="0" anchor="ctr"/>
          <a:lstStyle/>
          <a:p>
            <a:pPr algn="ctr" indent="0" marL="0">
              <a:buNone/>
            </a:pPr>
            <a:r>
              <a:rPr lang="en-US" sz="1266" dirty="0">
                <a:solidFill>
                  <a:srgbClr val="E0B659"/>
                </a:solidFill>
                <a:latin typeface="Segoe UI Symbol" pitchFamily="34" charset="0"/>
                <a:ea typeface="Segoe UI Symbol" pitchFamily="34" charset="-122"/>
                <a:cs typeface="Segoe UI Symbol" pitchFamily="34" charset="-120"/>
              </a:rPr>
              <a:t>⚗</a:t>
            </a:r>
            <a:endParaRPr lang="en-US" sz="1266" dirty="0"/>
          </a:p>
        </p:txBody>
      </p:sp>
      <p:sp>
        <p:nvSpPr>
          <p:cNvPr id="19" name="Text 17"/>
          <p:cNvSpPr/>
          <p:nvPr/>
        </p:nvSpPr>
        <p:spPr>
          <a:xfrm>
            <a:off x="3926160" y="1636254"/>
            <a:ext cx="2094570" cy="191314"/>
          </a:xfrm>
          <a:prstGeom prst="rect">
            <a:avLst/>
          </a:prstGeom>
          <a:noFill/>
          <a:ln/>
        </p:spPr>
        <p:txBody>
          <a:bodyPr wrap="none" lIns="0" tIns="0" rIns="0" bIns="0" rtlCol="0" anchor="t"/>
          <a:lstStyle/>
          <a:p>
            <a:pPr algn="l" indent="0" marL="0">
              <a:lnSpc>
                <a:spcPts val="1395"/>
              </a:lnSpc>
              <a:buNone/>
            </a:pPr>
            <a:r>
              <a:rPr lang="en-US" sz="900" b="1" dirty="0">
                <a:solidFill>
                  <a:srgbClr val="FAF6EE"/>
                </a:solidFill>
                <a:latin typeface="Tinos" pitchFamily="34" charset="0"/>
                <a:ea typeface="Tinos" pitchFamily="34" charset="-122"/>
                <a:cs typeface="Tinos" pitchFamily="34" charset="-120"/>
              </a:rPr>
              <a:t>HPLC পরীক্ষায় চৌম্বক ফল</a:t>
            </a:r>
            <a:endParaRPr lang="en-US" sz="900" dirty="0"/>
          </a:p>
        </p:txBody>
      </p:sp>
      <p:sp>
        <p:nvSpPr>
          <p:cNvPr id="20" name="Text 18"/>
          <p:cNvSpPr/>
          <p:nvPr/>
        </p:nvSpPr>
        <p:spPr>
          <a:xfrm>
            <a:off x="3926160" y="1870546"/>
            <a:ext cx="2094570" cy="636240"/>
          </a:xfrm>
          <a:prstGeom prst="rect">
            <a:avLst/>
          </a:prstGeom>
          <a:noFill/>
          <a:ln/>
        </p:spPr>
        <p:txBody>
          <a:bodyPr wrap="square" lIns="0" tIns="0" rIns="0" bIns="0" rtlCol="0" anchor="t"/>
          <a:lstStyle/>
          <a:p>
            <a:pPr algn="l" indent="0" marL="0">
              <a:lnSpc>
                <a:spcPts val="1253"/>
              </a:lnSpc>
              <a:buNone/>
            </a:pPr>
            <a:r>
              <a:rPr lang="en-US" sz="800" dirty="0">
                <a:solidFill>
                  <a:srgbClr val="FAF6EE"/>
                </a:solidFill>
                <a:latin typeface="Carlito" pitchFamily="34" charset="0"/>
                <a:ea typeface="Carlito" pitchFamily="34" charset="-122"/>
                <a:cs typeface="Carlito" pitchFamily="34" charset="-120"/>
              </a:rPr>
              <a:t>স্থানীয় কৃষি সম্প্রসারণ অফিসের পরিদর্শক নমুনা সংগ্রহ করে ঢাকা পরীক্ষাগারে পাঠান। HPLC পরীক্ষায় দেখা যায় — সক্রিয় উপাদান মাত্র </a:t>
            </a:r>
            <a:pPr algn="l" indent="0" marL="0">
              <a:lnSpc>
                <a:spcPts val="1253"/>
              </a:lnSpc>
              <a:buNone/>
            </a:pPr>
            <a:r>
              <a:rPr lang="en-US" sz="800" b="1" dirty="0">
                <a:solidFill>
                  <a:srgbClr val="E0B659"/>
                </a:solidFill>
                <a:latin typeface="Carlito" pitchFamily="34" charset="0"/>
                <a:ea typeface="Carlito" pitchFamily="34" charset="-122"/>
                <a:cs typeface="Carlito" pitchFamily="34" charset="-120"/>
              </a:rPr>
              <a:t>১২%</a:t>
            </a:r>
            <a:pPr algn="l" indent="0" marL="0">
              <a:lnSpc>
                <a:spcPts val="1253"/>
              </a:lnSpc>
              <a:buNone/>
            </a:pPr>
            <a:r>
              <a:rPr lang="en-US" sz="800" dirty="0">
                <a:solidFill>
                  <a:srgbClr val="FAF6EE"/>
                </a:solidFill>
                <a:latin typeface="Carlito" pitchFamily="34" charset="0"/>
                <a:ea typeface="Carlito" pitchFamily="34" charset="-122"/>
                <a:cs typeface="Carlito" pitchFamily="34" charset="-120"/>
              </a:rPr>
              <a:t>, যেখানে অনুমোদিত মাত্রা </a:t>
            </a:r>
            <a:pPr algn="l" indent="0" marL="0">
              <a:lnSpc>
                <a:spcPts val="1253"/>
              </a:lnSpc>
              <a:buNone/>
            </a:pPr>
            <a:r>
              <a:rPr lang="en-US" sz="800" b="1" dirty="0">
                <a:solidFill>
                  <a:srgbClr val="E0B659"/>
                </a:solidFill>
                <a:latin typeface="Carlito" pitchFamily="34" charset="0"/>
                <a:ea typeface="Carlito" pitchFamily="34" charset="-122"/>
                <a:cs typeface="Carlito" pitchFamily="34" charset="-120"/>
              </a:rPr>
              <a:t>৪০%</a:t>
            </a:r>
            <a:pPr algn="l" indent="0" marL="0">
              <a:lnSpc>
                <a:spcPts val="1253"/>
              </a:lnSpc>
              <a:buNone/>
            </a:pPr>
            <a:r>
              <a:rPr lang="en-US" sz="800" dirty="0">
                <a:solidFill>
                  <a:srgbClr val="FAF6EE"/>
                </a:solidFill>
                <a:latin typeface="Carlito" pitchFamily="34" charset="0"/>
                <a:ea typeface="Carlito" pitchFamily="34" charset="-122"/>
                <a:cs typeface="Carlito" pitchFamily="34" charset="-120"/>
              </a:rPr>
              <a:t>। পণ্যটি পুনঃপ্যাকেজিংকৃত ভেজাল হিসেবে নিশ্চিত হয়।</a:t>
            </a:r>
            <a:endParaRPr lang="en-US" sz="800" dirty="0"/>
          </a:p>
        </p:txBody>
      </p:sp>
      <p:sp>
        <p:nvSpPr>
          <p:cNvPr id="21" name="Text 19"/>
          <p:cNvSpPr/>
          <p:nvPr/>
        </p:nvSpPr>
        <p:spPr>
          <a:xfrm>
            <a:off x="6277905" y="1214438"/>
            <a:ext cx="2408783" cy="1435224"/>
          </a:xfrm>
          <a:prstGeom prst="roundRect">
            <a:avLst>
              <a:gd name="adj" fmla="val 9291"/>
            </a:avLst>
          </a:prstGeom>
          <a:solidFill>
            <a:srgbClr val="F2E0DC"/>
          </a:solidFill>
          <a:ln/>
        </p:spPr>
        <p:txBody>
          <a:bodyPr wrap="square" rtlCol="0" anchor="ctr"/>
          <a:lstStyle/>
          <a:p>
            <a:pPr indent="0" marL="0">
              <a:buNone/>
            </a:pPr>
            <a:endParaRPr lang="en-US" dirty="0"/>
          </a:p>
        </p:txBody>
      </p:sp>
      <p:sp>
        <p:nvSpPr>
          <p:cNvPr id="22" name="Shape 20"/>
          <p:cNvSpPr/>
          <p:nvPr/>
        </p:nvSpPr>
        <p:spPr>
          <a:xfrm>
            <a:off x="6277905" y="1218009"/>
            <a:ext cx="2408783" cy="0"/>
          </a:xfrm>
          <a:prstGeom prst="line">
            <a:avLst/>
          </a:prstGeom>
          <a:noFill/>
          <a:ln w="7144">
            <a:solidFill>
              <a:srgbClr val="D9D2BF"/>
            </a:solidFill>
            <a:prstDash val="solid"/>
          </a:ln>
        </p:spPr>
        <p:txBody>
          <a:bodyPr/>
          <a:p/>
        </p:txBody>
      </p:sp>
      <p:sp>
        <p:nvSpPr>
          <p:cNvPr id="23" name="Shape 21"/>
          <p:cNvSpPr/>
          <p:nvPr/>
        </p:nvSpPr>
        <p:spPr>
          <a:xfrm>
            <a:off x="8683117" y="1214438"/>
            <a:ext cx="0" cy="1435224"/>
          </a:xfrm>
          <a:prstGeom prst="line">
            <a:avLst/>
          </a:prstGeom>
          <a:noFill/>
          <a:ln w="7144">
            <a:solidFill>
              <a:srgbClr val="D9D2BF"/>
            </a:solidFill>
            <a:prstDash val="solid"/>
          </a:ln>
        </p:spPr>
        <p:txBody>
          <a:bodyPr/>
          <a:p/>
        </p:txBody>
      </p:sp>
      <p:sp>
        <p:nvSpPr>
          <p:cNvPr id="24" name="Shape 22"/>
          <p:cNvSpPr/>
          <p:nvPr/>
        </p:nvSpPr>
        <p:spPr>
          <a:xfrm>
            <a:off x="6277905" y="2646090"/>
            <a:ext cx="2408783" cy="0"/>
          </a:xfrm>
          <a:prstGeom prst="line">
            <a:avLst/>
          </a:prstGeom>
          <a:noFill/>
          <a:ln w="7144">
            <a:solidFill>
              <a:srgbClr val="D9D2BF"/>
            </a:solidFill>
            <a:prstDash val="solid"/>
          </a:ln>
        </p:spPr>
        <p:txBody>
          <a:bodyPr/>
          <a:p/>
        </p:txBody>
      </p:sp>
      <p:sp>
        <p:nvSpPr>
          <p:cNvPr id="25" name="Shape 23"/>
          <p:cNvSpPr/>
          <p:nvPr/>
        </p:nvSpPr>
        <p:spPr>
          <a:xfrm>
            <a:off x="6292193" y="1214438"/>
            <a:ext cx="0" cy="1435224"/>
          </a:xfrm>
          <a:prstGeom prst="line">
            <a:avLst/>
          </a:prstGeom>
          <a:noFill/>
          <a:ln w="28575">
            <a:solidFill>
              <a:srgbClr val="B23A2A"/>
            </a:solidFill>
            <a:prstDash val="solid"/>
          </a:ln>
        </p:spPr>
        <p:txBody>
          <a:bodyPr/>
          <a:p/>
        </p:txBody>
      </p:sp>
      <p:sp>
        <p:nvSpPr>
          <p:cNvPr id="26" name="Text 24"/>
          <p:cNvSpPr/>
          <p:nvPr/>
        </p:nvSpPr>
        <p:spPr>
          <a:xfrm>
            <a:off x="6463643" y="1352863"/>
            <a:ext cx="398376" cy="216402"/>
          </a:xfrm>
          <a:prstGeom prst="roundRect">
            <a:avLst>
              <a:gd name="adj" fmla="val 4397129"/>
            </a:avLst>
          </a:prstGeom>
          <a:solidFill>
            <a:srgbClr val="F2E0DC"/>
          </a:solidFill>
          <a:ln w="7144">
            <a:solidFill>
              <a:srgbClr val="B23A2A"/>
            </a:solidFill>
            <a:prstDash val="solid"/>
          </a:ln>
        </p:spPr>
        <p:txBody>
          <a:bodyPr wrap="square" rtlCol="0" anchor="ctr"/>
          <a:lstStyle/>
          <a:p>
            <a:pPr indent="0" marL="0">
              <a:buNone/>
            </a:pPr>
            <a:endParaRPr lang="en-US" dirty="0"/>
          </a:p>
        </p:txBody>
      </p:sp>
      <p:sp>
        <p:nvSpPr>
          <p:cNvPr id="27" name="Text 25"/>
          <p:cNvSpPr/>
          <p:nvPr/>
        </p:nvSpPr>
        <p:spPr>
          <a:xfrm>
            <a:off x="6463643" y="1364456"/>
            <a:ext cx="398376" cy="193216"/>
          </a:xfrm>
          <a:prstGeom prst="rect">
            <a:avLst/>
          </a:prstGeom>
          <a:noFill/>
          <a:ln/>
        </p:spPr>
        <p:txBody>
          <a:bodyPr wrap="none" lIns="0" tIns="0" rIns="0" bIns="0" rtlCol="0" anchor="ctr"/>
          <a:lstStyle/>
          <a:p>
            <a:pPr algn="ctr" indent="0" marL="0">
              <a:lnSpc>
                <a:spcPts val="959"/>
              </a:lnSpc>
              <a:buNone/>
            </a:pPr>
            <a:r>
              <a:rPr lang="en-US" sz="800" spc="25" kern="0" dirty="0">
                <a:solidFill>
                  <a:srgbClr val="B23A2A"/>
                </a:solidFill>
                <a:latin typeface="Carlito" pitchFamily="34" charset="0"/>
                <a:ea typeface="Carlito" pitchFamily="34" charset="-122"/>
                <a:cs typeface="Carlito" pitchFamily="34" charset="-120"/>
              </a:rPr>
              <a:t>ফলাফল</a:t>
            </a:r>
            <a:endParaRPr lang="en-US" sz="800" dirty="0"/>
          </a:p>
        </p:txBody>
      </p:sp>
      <p:sp>
        <p:nvSpPr>
          <p:cNvPr id="28" name="Text 26"/>
          <p:cNvSpPr/>
          <p:nvPr/>
        </p:nvSpPr>
        <p:spPr>
          <a:xfrm>
            <a:off x="6919168" y="1396715"/>
            <a:ext cx="128588" cy="128588"/>
          </a:xfrm>
          <a:prstGeom prst="rect">
            <a:avLst/>
          </a:prstGeom>
          <a:noFill/>
          <a:ln/>
        </p:spPr>
        <p:txBody>
          <a:bodyPr wrap="none" lIns="0" tIns="0" rIns="0" bIns="0" rtlCol="0" anchor="ctr"/>
          <a:lstStyle/>
          <a:p>
            <a:pPr algn="ctr" indent="0" marL="0">
              <a:buNone/>
            </a:pPr>
            <a:r>
              <a:rPr lang="en-US" sz="1266" dirty="0">
                <a:solidFill>
                  <a:srgbClr val="B23A2A"/>
                </a:solidFill>
                <a:latin typeface="Segoe UI Symbol" pitchFamily="34" charset="0"/>
                <a:ea typeface="Segoe UI Symbol" pitchFamily="34" charset="-122"/>
                <a:cs typeface="Segoe UI Symbol" pitchFamily="34" charset="-120"/>
              </a:rPr>
              <a:t>⚖</a:t>
            </a:r>
            <a:endParaRPr lang="en-US" sz="1266" dirty="0"/>
          </a:p>
        </p:txBody>
      </p:sp>
      <p:sp>
        <p:nvSpPr>
          <p:cNvPr id="29" name="Text 27"/>
          <p:cNvSpPr/>
          <p:nvPr/>
        </p:nvSpPr>
        <p:spPr>
          <a:xfrm>
            <a:off x="6463643" y="1643397"/>
            <a:ext cx="2168467" cy="157922"/>
          </a:xfrm>
          <a:prstGeom prst="rect">
            <a:avLst/>
          </a:prstGeom>
          <a:noFill/>
          <a:ln/>
        </p:spPr>
        <p:txBody>
          <a:bodyPr wrap="square" lIns="0" tIns="0" rIns="0" bIns="0" rtlCol="0" anchor="t"/>
          <a:lstStyle/>
          <a:p>
            <a:pPr algn="l" indent="0" marL="0">
              <a:lnSpc>
                <a:spcPts val="1152"/>
              </a:lnSpc>
              <a:buNone/>
            </a:pPr>
            <a:r>
              <a:rPr lang="en-US" sz="900" dirty="0">
                <a:solidFill>
                  <a:srgbClr val="B23A2A"/>
                </a:solidFill>
                <a:latin typeface="Tinos" pitchFamily="34" charset="0"/>
                <a:ea typeface="Tinos" pitchFamily="34" charset="-122"/>
                <a:cs typeface="Tinos" pitchFamily="34" charset="-120"/>
              </a:rPr>
              <a:t>বাজেয়াপ্ত, জরিমানা, স্থগিত</a:t>
            </a:r>
            <a:endParaRPr lang="en-US" sz="900" dirty="0"/>
          </a:p>
        </p:txBody>
      </p:sp>
      <p:sp>
        <p:nvSpPr>
          <p:cNvPr id="30" name="Text 28"/>
          <p:cNvSpPr/>
          <p:nvPr/>
        </p:nvSpPr>
        <p:spPr>
          <a:xfrm>
            <a:off x="6463643" y="1846771"/>
            <a:ext cx="2058739" cy="542925"/>
          </a:xfrm>
          <a:prstGeom prst="rect">
            <a:avLst/>
          </a:prstGeom>
          <a:noFill/>
          <a:ln/>
        </p:spPr>
        <p:txBody>
          <a:bodyPr wrap="square" lIns="0" tIns="0" rIns="0" bIns="0" rtlCol="0" anchor="t"/>
          <a:lstStyle/>
          <a:p>
            <a:pPr algn="l" indent="0" marL="0">
              <a:lnSpc>
                <a:spcPts val="1253"/>
              </a:lnSpc>
              <a:buNone/>
            </a:pPr>
            <a:r>
              <a:rPr lang="en-US" sz="800" dirty="0">
                <a:solidFill>
                  <a:srgbClr val="1A1A1A"/>
                </a:solidFill>
                <a:latin typeface="Carlito" pitchFamily="34" charset="0"/>
                <a:ea typeface="Carlito" pitchFamily="34" charset="-122"/>
                <a:cs typeface="Carlito" pitchFamily="34" charset="-120"/>
              </a:rPr>
              <a:t>পুরো স্টক বাজেয়াপ্ত। বিক্রেতা </a:t>
            </a:r>
            <a:pPr algn="l" indent="0" marL="0">
              <a:lnSpc>
                <a:spcPts val="1253"/>
              </a:lnSpc>
              <a:buNone/>
            </a:pPr>
            <a:r>
              <a:rPr lang="en-US" sz="800" b="1" dirty="0">
                <a:solidFill>
                  <a:srgbClr val="B23A2A"/>
                </a:solidFill>
                <a:latin typeface="Carlito" pitchFamily="34" charset="0"/>
                <a:ea typeface="Carlito" pitchFamily="34" charset="-122"/>
                <a:cs typeface="Carlito" pitchFamily="34" charset="-120"/>
              </a:rPr>
              <a:t>৫০,০০০ টাকা</a:t>
            </a:r>
            <a:pPr algn="l" indent="0" marL="0">
              <a:lnSpc>
                <a:spcPts val="1253"/>
              </a:lnSpc>
              <a:buNone/>
            </a:pPr>
            <a:r>
              <a:rPr lang="en-US" sz="800" dirty="0">
                <a:solidFill>
                  <a:srgbClr val="1A1A1A"/>
                </a:solidFill>
                <a:latin typeface="Carlito" pitchFamily="34" charset="0"/>
                <a:ea typeface="Carlito" pitchFamily="34" charset="-122"/>
                <a:cs typeface="Carlito" pitchFamily="34" charset="-120"/>
              </a:rPr>
              <a:t> জরিমানা। লাইসেন্স </a:t>
            </a:r>
            <a:pPr algn="l" indent="0" marL="0">
              <a:lnSpc>
                <a:spcPts val="1253"/>
              </a:lnSpc>
              <a:buNone/>
            </a:pPr>
            <a:r>
              <a:rPr lang="en-US" sz="800" b="1" dirty="0">
                <a:solidFill>
                  <a:srgbClr val="B23A2A"/>
                </a:solidFill>
                <a:latin typeface="Carlito" pitchFamily="34" charset="0"/>
                <a:ea typeface="Carlito" pitchFamily="34" charset="-122"/>
                <a:cs typeface="Carlito" pitchFamily="34" charset="-120"/>
              </a:rPr>
              <a:t>৬ মাসের</a:t>
            </a:r>
            <a:pPr algn="l" indent="0" marL="0">
              <a:lnSpc>
                <a:spcPts val="1253"/>
              </a:lnSpc>
              <a:buNone/>
            </a:pPr>
            <a:r>
              <a:rPr lang="en-US" sz="800" dirty="0">
                <a:solidFill>
                  <a:srgbClr val="1A1A1A"/>
                </a:solidFill>
                <a:latin typeface="Carlito" pitchFamily="34" charset="0"/>
                <a:ea typeface="Carlito" pitchFamily="34" charset="-122"/>
                <a:cs typeface="Carlito" pitchFamily="34" charset="-120"/>
              </a:rPr>
              <a:t> জন্য স্থগিত। সরবরাহকারীর বিরুদ্ধে আইনি ব্যবস্থা গৃহীত।</a:t>
            </a:r>
            <a:endParaRPr lang="en-US" sz="800" dirty="0"/>
          </a:p>
        </p:txBody>
      </p:sp>
      <p:sp>
        <p:nvSpPr>
          <p:cNvPr id="31" name="Text 29"/>
          <p:cNvSpPr/>
          <p:nvPr/>
        </p:nvSpPr>
        <p:spPr>
          <a:xfrm>
            <a:off x="457200" y="3906292"/>
            <a:ext cx="8229600" cy="794296"/>
          </a:xfrm>
          <a:prstGeom prst="roundRect">
            <a:avLst>
              <a:gd name="adj" fmla="val 16788"/>
            </a:avLst>
          </a:prstGeom>
          <a:solidFill>
            <a:srgbClr val="FFFFFF"/>
          </a:solidFill>
          <a:ln/>
        </p:spPr>
        <p:txBody>
          <a:bodyPr wrap="square" rtlCol="0" anchor="ctr"/>
          <a:lstStyle/>
          <a:p>
            <a:pPr indent="0" marL="0">
              <a:buNone/>
            </a:pPr>
            <a:endParaRPr lang="en-US" dirty="0"/>
          </a:p>
        </p:txBody>
      </p:sp>
      <p:sp>
        <p:nvSpPr>
          <p:cNvPr id="32" name="Shape 30"/>
          <p:cNvSpPr/>
          <p:nvPr/>
        </p:nvSpPr>
        <p:spPr>
          <a:xfrm>
            <a:off x="457200" y="3909864"/>
            <a:ext cx="8229600" cy="0"/>
          </a:xfrm>
          <a:prstGeom prst="line">
            <a:avLst/>
          </a:prstGeom>
          <a:noFill/>
          <a:ln w="7144">
            <a:solidFill>
              <a:srgbClr val="D9D2BF"/>
            </a:solidFill>
            <a:prstDash val="solid"/>
          </a:ln>
        </p:spPr>
        <p:txBody>
          <a:bodyPr/>
          <a:p/>
        </p:txBody>
      </p:sp>
      <p:sp>
        <p:nvSpPr>
          <p:cNvPr id="33" name="Shape 31"/>
          <p:cNvSpPr/>
          <p:nvPr/>
        </p:nvSpPr>
        <p:spPr>
          <a:xfrm>
            <a:off x="8683228" y="3906292"/>
            <a:ext cx="0" cy="794296"/>
          </a:xfrm>
          <a:prstGeom prst="line">
            <a:avLst/>
          </a:prstGeom>
          <a:noFill/>
          <a:ln w="7144">
            <a:solidFill>
              <a:srgbClr val="D9D2BF"/>
            </a:solidFill>
            <a:prstDash val="solid"/>
          </a:ln>
        </p:spPr>
        <p:txBody>
          <a:bodyPr/>
          <a:p/>
        </p:txBody>
      </p:sp>
      <p:sp>
        <p:nvSpPr>
          <p:cNvPr id="34" name="Shape 32"/>
          <p:cNvSpPr/>
          <p:nvPr/>
        </p:nvSpPr>
        <p:spPr>
          <a:xfrm>
            <a:off x="457200" y="4697016"/>
            <a:ext cx="8229600" cy="0"/>
          </a:xfrm>
          <a:prstGeom prst="line">
            <a:avLst/>
          </a:prstGeom>
          <a:noFill/>
          <a:ln w="7144">
            <a:solidFill>
              <a:srgbClr val="D9D2BF"/>
            </a:solidFill>
            <a:prstDash val="solid"/>
          </a:ln>
        </p:spPr>
        <p:txBody>
          <a:bodyPr/>
          <a:p/>
        </p:txBody>
      </p:sp>
      <p:sp>
        <p:nvSpPr>
          <p:cNvPr id="35" name="Shape 33"/>
          <p:cNvSpPr/>
          <p:nvPr/>
        </p:nvSpPr>
        <p:spPr>
          <a:xfrm>
            <a:off x="471488" y="3906292"/>
            <a:ext cx="0" cy="794296"/>
          </a:xfrm>
          <a:prstGeom prst="line">
            <a:avLst/>
          </a:prstGeom>
          <a:noFill/>
          <a:ln w="28575">
            <a:solidFill>
              <a:srgbClr val="C7912C"/>
            </a:solidFill>
            <a:prstDash val="solid"/>
          </a:ln>
        </p:spPr>
        <p:txBody>
          <a:bodyPr/>
          <a:p/>
        </p:txBody>
      </p:sp>
      <p:sp>
        <p:nvSpPr>
          <p:cNvPr id="36" name="Text 34"/>
          <p:cNvSpPr/>
          <p:nvPr/>
        </p:nvSpPr>
        <p:spPr>
          <a:xfrm>
            <a:off x="642938" y="4196283"/>
            <a:ext cx="214313" cy="214313"/>
          </a:xfrm>
          <a:prstGeom prst="rect">
            <a:avLst/>
          </a:prstGeom>
          <a:noFill/>
          <a:ln/>
        </p:spPr>
        <p:txBody>
          <a:bodyPr wrap="none" lIns="0" tIns="0" rIns="0" bIns="0" rtlCol="0" anchor="ctr"/>
          <a:lstStyle/>
          <a:p>
            <a:pPr algn="ctr" indent="0" marL="0">
              <a:buNone/>
            </a:pPr>
            <a:r>
              <a:rPr lang="en-US" sz="2109" dirty="0">
                <a:solidFill>
                  <a:srgbClr val="C7912C"/>
                </a:solidFill>
                <a:latin typeface="Segoe UI Symbol" pitchFamily="34" charset="0"/>
                <a:ea typeface="Segoe UI Symbol" pitchFamily="34" charset="-122"/>
                <a:cs typeface="Segoe UI Symbol" pitchFamily="34" charset="-120"/>
              </a:rPr>
              <a:t>▿</a:t>
            </a:r>
            <a:endParaRPr lang="en-US" sz="2109" dirty="0"/>
          </a:p>
        </p:txBody>
      </p:sp>
      <p:sp>
        <p:nvSpPr>
          <p:cNvPr id="37" name="Text 35"/>
          <p:cNvSpPr/>
          <p:nvPr/>
        </p:nvSpPr>
        <p:spPr>
          <a:xfrm>
            <a:off x="948926" y="4220617"/>
            <a:ext cx="446776" cy="128016"/>
          </a:xfrm>
          <a:prstGeom prst="rect">
            <a:avLst/>
          </a:prstGeom>
          <a:noFill/>
          <a:ln/>
        </p:spPr>
        <p:txBody>
          <a:bodyPr wrap="none" lIns="0" tIns="0" rIns="0" bIns="0" rtlCol="0" anchor="t"/>
          <a:lstStyle/>
          <a:p>
            <a:pPr algn="l" indent="0" marL="0">
              <a:lnSpc>
                <a:spcPts val="1046"/>
              </a:lnSpc>
              <a:buNone/>
            </a:pPr>
            <a:r>
              <a:rPr lang="en-US" sz="800" b="1" spc="95" kern="0" dirty="0">
                <a:solidFill>
                  <a:srgbClr val="9A6E1E"/>
                </a:solidFill>
                <a:latin typeface="Segoe UI Symbol" pitchFamily="34" charset="0"/>
                <a:ea typeface="Segoe UI Symbol" pitchFamily="34" charset="-122"/>
                <a:cs typeface="Segoe UI Symbol" pitchFamily="34" charset="-120"/>
              </a:rPr>
              <a:t>📚</a:t>
            </a:r>
            <a:pPr algn="l" indent="0" marL="0">
              <a:lnSpc>
                <a:spcPts val="1046"/>
              </a:lnSpc>
              <a:buNone/>
            </a:pPr>
            <a:r>
              <a:rPr lang="en-US" sz="800" b="1" spc="95" kern="0" dirty="0">
                <a:solidFill>
                  <a:srgbClr val="9A6E1E"/>
                </a:solidFill>
                <a:latin typeface="Carlito" pitchFamily="34" charset="0"/>
                <a:ea typeface="Carlito" pitchFamily="34" charset="-122"/>
                <a:cs typeface="Carlito" pitchFamily="34" charset="-120"/>
              </a:rPr>
              <a:t> শিক্ষা</a:t>
            </a:r>
            <a:endParaRPr lang="en-US" sz="800" dirty="0"/>
          </a:p>
        </p:txBody>
      </p:sp>
      <p:sp>
        <p:nvSpPr>
          <p:cNvPr id="38" name="Text 36"/>
          <p:cNvSpPr/>
          <p:nvPr/>
        </p:nvSpPr>
        <p:spPr>
          <a:xfrm>
            <a:off x="957263" y="4418409"/>
            <a:ext cx="3064780" cy="160734"/>
          </a:xfrm>
          <a:prstGeom prst="rect">
            <a:avLst/>
          </a:prstGeom>
          <a:noFill/>
          <a:ln/>
        </p:spPr>
        <p:txBody>
          <a:bodyPr wrap="square" lIns="0" tIns="0" rIns="0" bIns="0" rtlCol="0" anchor="t"/>
          <a:lstStyle/>
          <a:p>
            <a:pPr algn="l" indent="0" marL="0">
              <a:lnSpc>
                <a:spcPts val="1266"/>
              </a:lnSpc>
              <a:buNone/>
            </a:pPr>
            <a:r>
              <a:rPr lang="en-US" sz="844" dirty="0">
                <a:solidFill>
                  <a:srgbClr val="1A1A1A"/>
                </a:solidFill>
                <a:latin typeface="Carlito" pitchFamily="34" charset="0"/>
                <a:ea typeface="Carlito" pitchFamily="34" charset="-122"/>
                <a:cs typeface="Carlito" pitchFamily="34" charset="-120"/>
              </a:rPr>
              <a:t>একটি রেড ফ্ল্যাগও গুরুত্বপূর্ণ। সন্দেহ হলে বিক্রি বন্ধ রাখুন এবং অধিদপ্তরে নমুনা পাঠান।</a:t>
            </a:r>
            <a:endParaRPr lang="en-US" sz="844" dirty="0"/>
          </a:p>
        </p:txBody>
      </p:sp>
      <p:sp>
        <p:nvSpPr>
          <p:cNvPr id="39" name="Text 37"/>
          <p:cNvSpPr/>
          <p:nvPr/>
        </p:nvSpPr>
        <p:spPr>
          <a:xfrm>
            <a:off x="8694725" y="4706392"/>
            <a:ext cx="30736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২৫</a:t>
            </a:r>
            <a:endParaRPr lang="en-US" sz="1350" dirty="0"/>
          </a:p>
        </p:txBody>
      </p:sp>
      <p:pic>
        <p:nvPicPr>
          <p:cNvPr id="40"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0" y="3786188"/>
            <a:ext cx="2972847" cy="1357313"/>
          </a:xfrm>
          <a:prstGeom prst="rect">
            <a:avLst/>
          </a:prstGeom>
          <a:noFill/>
          <a:ln/>
        </p:spPr>
        <p:txBody>
          <a:bodyPr wrap="none" lIns="0" tIns="0" rIns="0" bIns="0" rtlCol="0" anchor="t"/>
          <a:lstStyle/>
          <a:p>
            <a:pPr algn="l" indent="0" marL="0">
              <a:lnSpc>
                <a:spcPts val="13500"/>
              </a:lnSpc>
              <a:buNone/>
            </a:pPr>
            <a:r>
              <a:rPr lang="en-US" sz="13500" b="1" dirty="0">
                <a:solidFill>
                  <a:srgbClr val="1E4D3B">
                    <a:alpha val="4000"/>
                  </a:srgbClr>
                </a:solidFill>
                <a:latin typeface="Liberation Sans Narrow" pitchFamily="34" charset="0"/>
                <a:ea typeface="Liberation Sans Narrow" pitchFamily="34" charset="-122"/>
                <a:cs typeface="Liberation Sans Narrow" pitchFamily="34" charset="-120"/>
              </a:rPr>
              <a:t>02</a:t>
            </a:r>
            <a:endParaRPr lang="en-US" sz="13500" dirty="0"/>
          </a:p>
        </p:txBody>
      </p:sp>
      <p:sp>
        <p:nvSpPr>
          <p:cNvPr id="3" name="Text 1"/>
          <p:cNvSpPr/>
          <p:nvPr/>
        </p:nvSpPr>
        <p:spPr>
          <a:xfrm>
            <a:off x="457200" y="431527"/>
            <a:ext cx="2587864"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০৪ · মাঠ পর্যায়ে শনাক্তকরণ</a:t>
            </a:r>
            <a:endParaRPr lang="en-US" sz="1350" dirty="0"/>
          </a:p>
        </p:txBody>
      </p:sp>
      <p:sp>
        <p:nvSpPr>
          <p:cNvPr id="4" name="Text 2"/>
          <p:cNvSpPr/>
          <p:nvPr/>
        </p:nvSpPr>
        <p:spPr>
          <a:xfrm>
            <a:off x="457200" y="782910"/>
            <a:ext cx="5359241" cy="509809"/>
          </a:xfrm>
          <a:prstGeom prst="rect">
            <a:avLst/>
          </a:prstGeom>
          <a:noFill/>
          <a:ln/>
        </p:spPr>
        <p:txBody>
          <a:bodyPr wrap="square" lIns="0" tIns="0" rIns="0" bIns="0" rtlCol="0" anchor="t"/>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কেসস্টাডি ২ — যশোর সীমান্ত, ২০২৪</a:t>
            </a:r>
            <a:endParaRPr lang="en-US" sz="3150" dirty="0"/>
          </a:p>
        </p:txBody>
      </p:sp>
      <p:sp>
        <p:nvSpPr>
          <p:cNvPr id="5" name="Text 3"/>
          <p:cNvSpPr/>
          <p:nvPr/>
        </p:nvSpPr>
        <p:spPr>
          <a:xfrm>
            <a:off x="7829237" y="287236"/>
            <a:ext cx="880423" cy="298070"/>
          </a:xfrm>
          <a:prstGeom prst="roundRect">
            <a:avLst>
              <a:gd name="adj" fmla="val 3192363"/>
            </a:avLst>
          </a:prstGeom>
          <a:solidFill>
            <a:srgbClr val="F2ECDD"/>
          </a:solidFill>
          <a:ln w="7144">
            <a:solidFill>
              <a:srgbClr val="D9D2BF"/>
            </a:solidFill>
            <a:prstDash val="solid"/>
          </a:ln>
        </p:spPr>
        <p:txBody>
          <a:bodyPr wrap="square" rtlCol="0" anchor="ctr"/>
          <a:lstStyle/>
          <a:p>
            <a:pPr indent="0" marL="0">
              <a:buNone/>
            </a:pPr>
            <a:endParaRPr lang="en-US" dirty="0"/>
          </a:p>
        </p:txBody>
      </p:sp>
      <p:sp>
        <p:nvSpPr>
          <p:cNvPr id="6" name="Text 4"/>
          <p:cNvSpPr/>
          <p:nvPr/>
        </p:nvSpPr>
        <p:spPr>
          <a:xfrm>
            <a:off x="7959254" y="371921"/>
            <a:ext cx="128588" cy="128588"/>
          </a:xfrm>
          <a:prstGeom prst="rect">
            <a:avLst/>
          </a:prstGeom>
          <a:noFill/>
          <a:ln/>
        </p:spPr>
        <p:txBody>
          <a:bodyPr wrap="none" lIns="0" tIns="0" rIns="0" bIns="0" rtlCol="0" anchor="ctr"/>
          <a:lstStyle/>
          <a:p>
            <a:pPr algn="ctr" indent="0" marL="0">
              <a:buNone/>
            </a:pPr>
            <a:r>
              <a:rPr lang="en-US" sz="1266" dirty="0">
                <a:solidFill>
                  <a:srgbClr val="C7912C"/>
                </a:solidFill>
                <a:latin typeface="Segoe UI Symbol" pitchFamily="34" charset="0"/>
                <a:ea typeface="Segoe UI Symbol" pitchFamily="34" charset="-122"/>
                <a:cs typeface="Segoe UI Symbol" pitchFamily="34" charset="-120"/>
              </a:rPr>
              <a:t>◎</a:t>
            </a:r>
            <a:endParaRPr lang="en-US" sz="1266" dirty="0"/>
          </a:p>
        </p:txBody>
      </p:sp>
      <p:sp>
        <p:nvSpPr>
          <p:cNvPr id="7" name="Text 5"/>
          <p:cNvSpPr/>
          <p:nvPr/>
        </p:nvSpPr>
        <p:spPr>
          <a:xfrm>
            <a:off x="8093472" y="364331"/>
            <a:ext cx="537691" cy="143880"/>
          </a:xfrm>
          <a:prstGeom prst="rect">
            <a:avLst/>
          </a:prstGeom>
          <a:noFill/>
          <a:ln/>
        </p:spPr>
        <p:txBody>
          <a:bodyPr wrap="none" lIns="0" tIns="0" rIns="0" bIns="0" rtlCol="0" anchor="t"/>
          <a:lstStyle/>
          <a:p>
            <a:pPr algn="l" indent="0" marL="0">
              <a:lnSpc>
                <a:spcPts val="1133"/>
              </a:lnSpc>
              <a:buNone/>
            </a:pPr>
            <a:r>
              <a:rPr lang="en-US" sz="731" dirty="0">
                <a:solidFill>
                  <a:srgbClr val="1E4D3B"/>
                </a:solidFill>
                <a:latin typeface="Carlito" pitchFamily="34" charset="0"/>
                <a:ea typeface="Carlito" pitchFamily="34" charset="-122"/>
                <a:cs typeface="Carlito" pitchFamily="34" charset="-120"/>
              </a:rPr>
              <a:t>যশোর · ২০২৪</a:t>
            </a:r>
            <a:endParaRPr lang="en-US" sz="731" dirty="0"/>
          </a:p>
        </p:txBody>
      </p:sp>
      <p:sp>
        <p:nvSpPr>
          <p:cNvPr id="8" name="Shape 6"/>
          <p:cNvSpPr/>
          <p:nvPr/>
        </p:nvSpPr>
        <p:spPr>
          <a:xfrm>
            <a:off x="457200" y="1365684"/>
            <a:ext cx="400050" cy="0"/>
          </a:xfrm>
          <a:prstGeom prst="line">
            <a:avLst/>
          </a:prstGeom>
          <a:noFill/>
          <a:ln w="7144">
            <a:solidFill>
              <a:srgbClr val="1A1A1A"/>
            </a:solidFill>
            <a:prstDash val="solid"/>
          </a:ln>
        </p:spPr>
        <p:txBody>
          <a:bodyPr/>
          <a:p/>
        </p:txBody>
      </p:sp>
      <p:sp>
        <p:nvSpPr>
          <p:cNvPr id="9" name="Text 7"/>
          <p:cNvSpPr/>
          <p:nvPr/>
        </p:nvSpPr>
        <p:spPr>
          <a:xfrm>
            <a:off x="457200" y="1214438"/>
            <a:ext cx="3211785" cy="1435224"/>
          </a:xfrm>
          <a:prstGeom prst="roundRect">
            <a:avLst>
              <a:gd name="adj" fmla="val 9291"/>
            </a:avLst>
          </a:prstGeom>
          <a:solidFill>
            <a:srgbClr val="F2ECDD"/>
          </a:solidFill>
          <a:ln/>
        </p:spPr>
        <p:txBody>
          <a:bodyPr wrap="square" rtlCol="0" anchor="ctr"/>
          <a:lstStyle/>
          <a:p>
            <a:pPr indent="0" marL="0">
              <a:buNone/>
            </a:pPr>
            <a:endParaRPr lang="en-US" dirty="0"/>
          </a:p>
        </p:txBody>
      </p:sp>
      <p:sp>
        <p:nvSpPr>
          <p:cNvPr id="10" name="Text 8"/>
          <p:cNvSpPr/>
          <p:nvPr/>
        </p:nvSpPr>
        <p:spPr>
          <a:xfrm>
            <a:off x="614363" y="1345720"/>
            <a:ext cx="309525" cy="216402"/>
          </a:xfrm>
          <a:prstGeom prst="roundRect">
            <a:avLst>
              <a:gd name="adj" fmla="val 4397129"/>
            </a:avLst>
          </a:prstGeom>
          <a:solidFill>
            <a:srgbClr val="1E4D3B"/>
          </a:solidFill>
          <a:ln w="7144">
            <a:solidFill>
              <a:srgbClr val="1E4D3B"/>
            </a:solidFill>
            <a:prstDash val="solid"/>
          </a:ln>
        </p:spPr>
        <p:txBody>
          <a:bodyPr wrap="square" rtlCol="0" anchor="ctr"/>
          <a:lstStyle/>
          <a:p>
            <a:pPr indent="0" marL="0">
              <a:buNone/>
            </a:pPr>
            <a:endParaRPr lang="en-US" dirty="0"/>
          </a:p>
        </p:txBody>
      </p:sp>
      <p:sp>
        <p:nvSpPr>
          <p:cNvPr id="11" name="Text 9"/>
          <p:cNvSpPr/>
          <p:nvPr/>
        </p:nvSpPr>
        <p:spPr>
          <a:xfrm>
            <a:off x="614363" y="1357313"/>
            <a:ext cx="309525" cy="193216"/>
          </a:xfrm>
          <a:prstGeom prst="rect">
            <a:avLst/>
          </a:prstGeom>
          <a:noFill/>
          <a:ln/>
        </p:spPr>
        <p:txBody>
          <a:bodyPr wrap="none" lIns="0" tIns="0" rIns="0" bIns="0" rtlCol="0" anchor="ctr"/>
          <a:lstStyle/>
          <a:p>
            <a:pPr algn="ctr" indent="0" marL="0">
              <a:lnSpc>
                <a:spcPts val="959"/>
              </a:lnSpc>
              <a:buNone/>
            </a:pPr>
            <a:r>
              <a:rPr lang="en-US" sz="800" spc="25" kern="0" dirty="0">
                <a:solidFill>
                  <a:srgbClr val="FFFFFF"/>
                </a:solidFill>
                <a:latin typeface="Carlito" pitchFamily="34" charset="0"/>
                <a:ea typeface="Carlito" pitchFamily="34" charset="-122"/>
                <a:cs typeface="Carlito" pitchFamily="34" charset="-120"/>
              </a:rPr>
              <a:t>ঘটনা</a:t>
            </a:r>
            <a:endParaRPr lang="en-US" sz="800" dirty="0"/>
          </a:p>
        </p:txBody>
      </p:sp>
      <p:sp>
        <p:nvSpPr>
          <p:cNvPr id="12" name="Text 10"/>
          <p:cNvSpPr/>
          <p:nvPr/>
        </p:nvSpPr>
        <p:spPr>
          <a:xfrm>
            <a:off x="981038" y="1389571"/>
            <a:ext cx="128588" cy="128588"/>
          </a:xfrm>
          <a:prstGeom prst="rect">
            <a:avLst/>
          </a:prstGeom>
          <a:noFill/>
          <a:ln/>
        </p:spPr>
        <p:txBody>
          <a:bodyPr wrap="none" lIns="0" tIns="0" rIns="0" bIns="0" rtlCol="0" anchor="ctr"/>
          <a:lstStyle/>
          <a:p>
            <a:pPr algn="ctr" indent="0" marL="0">
              <a:buNone/>
            </a:pPr>
            <a:r>
              <a:rPr lang="en-US" sz="1266" dirty="0">
                <a:solidFill>
                  <a:srgbClr val="1E4D3B"/>
                </a:solidFill>
                <a:latin typeface="Segoe UI Symbol" pitchFamily="34" charset="0"/>
                <a:ea typeface="Segoe UI Symbol" pitchFamily="34" charset="-122"/>
                <a:cs typeface="Segoe UI Symbol" pitchFamily="34" charset="-120"/>
              </a:rPr>
              <a:t>⊟</a:t>
            </a:r>
            <a:endParaRPr lang="en-US" sz="1266" dirty="0"/>
          </a:p>
        </p:txBody>
      </p:sp>
      <p:sp>
        <p:nvSpPr>
          <p:cNvPr id="13" name="Text 11"/>
          <p:cNvSpPr/>
          <p:nvPr/>
        </p:nvSpPr>
        <p:spPr>
          <a:xfrm>
            <a:off x="614363" y="1636254"/>
            <a:ext cx="2897460" cy="157922"/>
          </a:xfrm>
          <a:prstGeom prst="rect">
            <a:avLst/>
          </a:prstGeom>
          <a:noFill/>
          <a:ln/>
        </p:spPr>
        <p:txBody>
          <a:bodyPr wrap="none" lIns="0" tIns="0" rIns="0" bIns="0" rtlCol="0" anchor="t"/>
          <a:lstStyle/>
          <a:p>
            <a:pPr algn="l" indent="0" marL="0">
              <a:lnSpc>
                <a:spcPts val="1152"/>
              </a:lnSpc>
              <a:buNone/>
            </a:pPr>
            <a:r>
              <a:rPr lang="en-US" sz="900" dirty="0">
                <a:solidFill>
                  <a:srgbClr val="1E4D3B"/>
                </a:solidFill>
                <a:latin typeface="Tinos" pitchFamily="34" charset="0"/>
                <a:ea typeface="Tinos" pitchFamily="34" charset="-122"/>
                <a:cs typeface="Tinos" pitchFamily="34" charset="-120"/>
              </a:rPr>
              <a:t>৪০% কম দামে প্রলুব্ধ</a:t>
            </a:r>
            <a:endParaRPr lang="en-US" sz="900" dirty="0"/>
          </a:p>
        </p:txBody>
      </p:sp>
      <p:sp>
        <p:nvSpPr>
          <p:cNvPr id="14" name="Text 12"/>
          <p:cNvSpPr/>
          <p:nvPr/>
        </p:nvSpPr>
        <p:spPr>
          <a:xfrm>
            <a:off x="614363" y="1839627"/>
            <a:ext cx="2897460" cy="667159"/>
          </a:xfrm>
          <a:prstGeom prst="rect">
            <a:avLst/>
          </a:prstGeom>
          <a:noFill/>
          <a:ln/>
        </p:spPr>
        <p:txBody>
          <a:bodyPr wrap="square" lIns="0" tIns="0" rIns="0" bIns="0" rtlCol="0" anchor="t"/>
          <a:lstStyle/>
          <a:p>
            <a:pPr algn="l" indent="0" marL="0">
              <a:lnSpc>
                <a:spcPts val="1253"/>
              </a:lnSpc>
              <a:buNone/>
            </a:pPr>
            <a:r>
              <a:rPr lang="en-US" sz="800" dirty="0">
                <a:solidFill>
                  <a:srgbClr val="1A1A1A"/>
                </a:solidFill>
                <a:latin typeface="Carlito" pitchFamily="34" charset="0"/>
                <a:ea typeface="Carlito" pitchFamily="34" charset="-122"/>
                <a:cs typeface="Carlito" pitchFamily="34" charset="-120"/>
              </a:rPr>
              <a:t>যশোরের একটি সীমান্ত এলাকায় একজন পাইকারি বিক্রেতা স্বাভাবিকের চেয়ে </a:t>
            </a:r>
            <a:pPr algn="l" indent="0" marL="0">
              <a:lnSpc>
                <a:spcPts val="1253"/>
              </a:lnSpc>
              <a:buNone/>
            </a:pPr>
            <a:r>
              <a:rPr lang="en-US" sz="800" b="1" dirty="0">
                <a:solidFill>
                  <a:srgbClr val="B23A2A"/>
                </a:solidFill>
                <a:latin typeface="Carlito" pitchFamily="34" charset="0"/>
                <a:ea typeface="Carlito" pitchFamily="34" charset="-122"/>
                <a:cs typeface="Carlito" pitchFamily="34" charset="-120"/>
              </a:rPr>
              <a:t>৪০% কম দামে</a:t>
            </a:r>
            <a:pPr algn="l" indent="0" marL="0">
              <a:lnSpc>
                <a:spcPts val="1253"/>
              </a:lnSpc>
              <a:buNone/>
            </a:pPr>
            <a:r>
              <a:rPr lang="en-US" sz="800" dirty="0">
                <a:solidFill>
                  <a:srgbClr val="1A1A1A"/>
                </a:solidFill>
                <a:latin typeface="Carlito" pitchFamily="34" charset="0"/>
                <a:ea typeface="Carlito" pitchFamily="34" charset="-122"/>
                <a:cs typeface="Carlito" pitchFamily="34" charset="-120"/>
              </a:rPr>
              <a:t> 'জেনেরিক' কীটনাশক সরবরাহ করেন। খুচরা বিক্রেতা কম দামে প্রলুব্ধ হয়ে চালান ছাড়াই ক্রয় করেন। প্যাকেজিংয়ে কোনো নিবন্ধন নম্বর ছিল না, শুধু 'ব্র্যান্ডেড জেনেরিক' লেখা।</a:t>
            </a:r>
            <a:endParaRPr lang="en-US" sz="800" dirty="0"/>
          </a:p>
        </p:txBody>
      </p:sp>
      <p:sp>
        <p:nvSpPr>
          <p:cNvPr id="15" name="Text 13"/>
          <p:cNvSpPr/>
          <p:nvPr/>
        </p:nvSpPr>
        <p:spPr>
          <a:xfrm>
            <a:off x="3768998" y="1214438"/>
            <a:ext cx="2408895" cy="1435224"/>
          </a:xfrm>
          <a:prstGeom prst="roundRect">
            <a:avLst>
              <a:gd name="adj" fmla="val 9291"/>
            </a:avLst>
          </a:prstGeom>
          <a:solidFill>
            <a:srgbClr val="1E4D3B"/>
          </a:solidFill>
          <a:ln/>
        </p:spPr>
        <p:txBody>
          <a:bodyPr wrap="square" rtlCol="0" anchor="ctr"/>
          <a:lstStyle/>
          <a:p>
            <a:pPr indent="0" marL="0">
              <a:buNone/>
            </a:pPr>
            <a:endParaRPr lang="en-US" dirty="0"/>
          </a:p>
        </p:txBody>
      </p:sp>
      <p:sp>
        <p:nvSpPr>
          <p:cNvPr id="16" name="Text 14"/>
          <p:cNvSpPr/>
          <p:nvPr/>
        </p:nvSpPr>
        <p:spPr>
          <a:xfrm>
            <a:off x="3926160" y="1345720"/>
            <a:ext cx="355513" cy="216402"/>
          </a:xfrm>
          <a:prstGeom prst="roundRect">
            <a:avLst>
              <a:gd name="adj" fmla="val 4397129"/>
            </a:avLst>
          </a:prstGeom>
          <a:solidFill>
            <a:srgbClr val="C7912C"/>
          </a:solidFill>
          <a:ln w="7144">
            <a:solidFill>
              <a:srgbClr val="C7912C"/>
            </a:solidFill>
            <a:prstDash val="solid"/>
          </a:ln>
        </p:spPr>
        <p:txBody>
          <a:bodyPr wrap="square" rtlCol="0" anchor="ctr"/>
          <a:lstStyle/>
          <a:p>
            <a:pPr indent="0" marL="0">
              <a:buNone/>
            </a:pPr>
            <a:endParaRPr lang="en-US" dirty="0"/>
          </a:p>
        </p:txBody>
      </p:sp>
      <p:sp>
        <p:nvSpPr>
          <p:cNvPr id="17" name="Text 15"/>
          <p:cNvSpPr/>
          <p:nvPr/>
        </p:nvSpPr>
        <p:spPr>
          <a:xfrm>
            <a:off x="3926160" y="1357313"/>
            <a:ext cx="355513" cy="193216"/>
          </a:xfrm>
          <a:prstGeom prst="rect">
            <a:avLst/>
          </a:prstGeom>
          <a:noFill/>
          <a:ln/>
        </p:spPr>
        <p:txBody>
          <a:bodyPr wrap="none" lIns="0" tIns="0" rIns="0" bIns="0" rtlCol="0" anchor="ctr"/>
          <a:lstStyle/>
          <a:p>
            <a:pPr algn="ctr" indent="0" marL="0">
              <a:lnSpc>
                <a:spcPts val="959"/>
              </a:lnSpc>
              <a:buNone/>
            </a:pPr>
            <a:r>
              <a:rPr lang="en-US" sz="800" spc="25" kern="0" dirty="0">
                <a:solidFill>
                  <a:srgbClr val="FFFFFF"/>
                </a:solidFill>
                <a:latin typeface="Carlito" pitchFamily="34" charset="0"/>
                <a:ea typeface="Carlito" pitchFamily="34" charset="-122"/>
                <a:cs typeface="Carlito" pitchFamily="34" charset="-120"/>
              </a:rPr>
              <a:t>তদন্ত</a:t>
            </a:r>
            <a:endParaRPr lang="en-US" sz="800" dirty="0"/>
          </a:p>
        </p:txBody>
      </p:sp>
      <p:sp>
        <p:nvSpPr>
          <p:cNvPr id="18" name="Text 16"/>
          <p:cNvSpPr/>
          <p:nvPr/>
        </p:nvSpPr>
        <p:spPr>
          <a:xfrm>
            <a:off x="4338824" y="1389571"/>
            <a:ext cx="128588" cy="128588"/>
          </a:xfrm>
          <a:prstGeom prst="rect">
            <a:avLst/>
          </a:prstGeom>
          <a:noFill/>
          <a:ln/>
        </p:spPr>
        <p:txBody>
          <a:bodyPr wrap="none" lIns="0" tIns="0" rIns="0" bIns="0" rtlCol="0" anchor="ctr"/>
          <a:lstStyle/>
          <a:p>
            <a:pPr algn="ctr" indent="0" marL="0">
              <a:buNone/>
            </a:pPr>
            <a:r>
              <a:rPr lang="en-US" sz="1266" dirty="0">
                <a:solidFill>
                  <a:srgbClr val="E0B659"/>
                </a:solidFill>
                <a:latin typeface="Segoe UI Symbol" pitchFamily="34" charset="0"/>
                <a:ea typeface="Segoe UI Symbol" pitchFamily="34" charset="-122"/>
                <a:cs typeface="Segoe UI Symbol" pitchFamily="34" charset="-120"/>
              </a:rPr>
              <a:t>▤</a:t>
            </a:r>
            <a:endParaRPr lang="en-US" sz="1266" dirty="0"/>
          </a:p>
        </p:txBody>
      </p:sp>
      <p:sp>
        <p:nvSpPr>
          <p:cNvPr id="19" name="Text 17"/>
          <p:cNvSpPr/>
          <p:nvPr/>
        </p:nvSpPr>
        <p:spPr>
          <a:xfrm>
            <a:off x="3926160" y="1636254"/>
            <a:ext cx="2094570" cy="191314"/>
          </a:xfrm>
          <a:prstGeom prst="rect">
            <a:avLst/>
          </a:prstGeom>
          <a:noFill/>
          <a:ln/>
        </p:spPr>
        <p:txBody>
          <a:bodyPr wrap="none" lIns="0" tIns="0" rIns="0" bIns="0" rtlCol="0" anchor="t"/>
          <a:lstStyle/>
          <a:p>
            <a:pPr algn="l" indent="0" marL="0">
              <a:lnSpc>
                <a:spcPts val="1395"/>
              </a:lnSpc>
              <a:buNone/>
            </a:pPr>
            <a:r>
              <a:rPr lang="en-US" sz="900" b="1" dirty="0">
                <a:solidFill>
                  <a:srgbClr val="FAF6EE"/>
                </a:solidFill>
                <a:latin typeface="Tinos" pitchFamily="34" charset="0"/>
                <a:ea typeface="Tinos" pitchFamily="34" charset="-122"/>
                <a:cs typeface="Tinos" pitchFamily="34" charset="-120"/>
              </a:rPr>
              <a:t>পাচারকৃত নিবন্ধনহীন</a:t>
            </a:r>
            <a:endParaRPr lang="en-US" sz="900" dirty="0"/>
          </a:p>
        </p:txBody>
      </p:sp>
      <p:sp>
        <p:nvSpPr>
          <p:cNvPr id="20" name="Text 18"/>
          <p:cNvSpPr/>
          <p:nvPr/>
        </p:nvSpPr>
        <p:spPr>
          <a:xfrm>
            <a:off x="3926160" y="1870546"/>
            <a:ext cx="2094570" cy="636240"/>
          </a:xfrm>
          <a:prstGeom prst="rect">
            <a:avLst/>
          </a:prstGeom>
          <a:noFill/>
          <a:ln/>
        </p:spPr>
        <p:txBody>
          <a:bodyPr wrap="square" lIns="0" tIns="0" rIns="0" bIns="0" rtlCol="0" anchor="t"/>
          <a:lstStyle/>
          <a:p>
            <a:pPr algn="l" indent="0" marL="0">
              <a:lnSpc>
                <a:spcPts val="1253"/>
              </a:lnSpc>
              <a:buNone/>
            </a:pPr>
            <a:r>
              <a:rPr lang="en-US" sz="800" dirty="0">
                <a:solidFill>
                  <a:srgbClr val="FAF6EE"/>
                </a:solidFill>
                <a:latin typeface="Carlito" pitchFamily="34" charset="0"/>
                <a:ea typeface="Carlito" pitchFamily="34" charset="-122"/>
                <a:cs typeface="Carlito" pitchFamily="34" charset="-120"/>
              </a:rPr>
              <a:t>স্থানীয় কৃষকের অভিযোগে উপজেলা কৃষি অফিস তদন্ত শুরু করে। র‍্যাডে সরবরাহকারীর গুদামে অনুমোদিত পণ্যের কোনো নথি পাওয়া যায় নি। পণ্য </a:t>
            </a:r>
            <a:pPr algn="l" indent="0" marL="0">
              <a:lnSpc>
                <a:spcPts val="1253"/>
              </a:lnSpc>
              <a:buNone/>
            </a:pPr>
            <a:r>
              <a:rPr lang="en-US" sz="800" b="1" dirty="0">
                <a:solidFill>
                  <a:srgbClr val="E0B659"/>
                </a:solidFill>
                <a:latin typeface="Carlito" pitchFamily="34" charset="0"/>
                <a:ea typeface="Carlito" pitchFamily="34" charset="-122"/>
                <a:cs typeface="Carlito" pitchFamily="34" charset="-120"/>
              </a:rPr>
              <a:t>ভারত থেকে পাচারকৃত</a:t>
            </a:r>
            <a:pPr algn="l" indent="0" marL="0">
              <a:lnSpc>
                <a:spcPts val="1253"/>
              </a:lnSpc>
              <a:buNone/>
            </a:pPr>
            <a:r>
              <a:rPr lang="en-US" sz="800" dirty="0">
                <a:solidFill>
                  <a:srgbClr val="FAF6EE"/>
                </a:solidFill>
                <a:latin typeface="Carlito" pitchFamily="34" charset="0"/>
                <a:ea typeface="Carlito" pitchFamily="34" charset="-122"/>
                <a:cs typeface="Carlito" pitchFamily="34" charset="-120"/>
              </a:rPr>
              <a:t> নিবন্ধনহীন হিসেবে নিশ্চিত হয়।</a:t>
            </a:r>
            <a:endParaRPr lang="en-US" sz="800" dirty="0"/>
          </a:p>
        </p:txBody>
      </p:sp>
      <p:sp>
        <p:nvSpPr>
          <p:cNvPr id="21" name="Text 19"/>
          <p:cNvSpPr/>
          <p:nvPr/>
        </p:nvSpPr>
        <p:spPr>
          <a:xfrm>
            <a:off x="6277905" y="1214438"/>
            <a:ext cx="2408783" cy="1435224"/>
          </a:xfrm>
          <a:prstGeom prst="roundRect">
            <a:avLst>
              <a:gd name="adj" fmla="val 9291"/>
            </a:avLst>
          </a:prstGeom>
          <a:solidFill>
            <a:srgbClr val="F2E0DC"/>
          </a:solidFill>
          <a:ln/>
        </p:spPr>
        <p:txBody>
          <a:bodyPr wrap="square" rtlCol="0" anchor="ctr"/>
          <a:lstStyle/>
          <a:p>
            <a:pPr indent="0" marL="0">
              <a:buNone/>
            </a:pPr>
            <a:endParaRPr lang="en-US" dirty="0"/>
          </a:p>
        </p:txBody>
      </p:sp>
      <p:sp>
        <p:nvSpPr>
          <p:cNvPr id="22" name="Shape 20"/>
          <p:cNvSpPr/>
          <p:nvPr/>
        </p:nvSpPr>
        <p:spPr>
          <a:xfrm>
            <a:off x="6277905" y="1218009"/>
            <a:ext cx="2408783" cy="0"/>
          </a:xfrm>
          <a:prstGeom prst="line">
            <a:avLst/>
          </a:prstGeom>
          <a:noFill/>
          <a:ln w="7144">
            <a:solidFill>
              <a:srgbClr val="D9D2BF"/>
            </a:solidFill>
            <a:prstDash val="solid"/>
          </a:ln>
        </p:spPr>
        <p:txBody>
          <a:bodyPr/>
          <a:p/>
        </p:txBody>
      </p:sp>
      <p:sp>
        <p:nvSpPr>
          <p:cNvPr id="23" name="Shape 21"/>
          <p:cNvSpPr/>
          <p:nvPr/>
        </p:nvSpPr>
        <p:spPr>
          <a:xfrm>
            <a:off x="8683117" y="1214438"/>
            <a:ext cx="0" cy="1435224"/>
          </a:xfrm>
          <a:prstGeom prst="line">
            <a:avLst/>
          </a:prstGeom>
          <a:noFill/>
          <a:ln w="7144">
            <a:solidFill>
              <a:srgbClr val="D9D2BF"/>
            </a:solidFill>
            <a:prstDash val="solid"/>
          </a:ln>
        </p:spPr>
        <p:txBody>
          <a:bodyPr/>
          <a:p/>
        </p:txBody>
      </p:sp>
      <p:sp>
        <p:nvSpPr>
          <p:cNvPr id="24" name="Shape 22"/>
          <p:cNvSpPr/>
          <p:nvPr/>
        </p:nvSpPr>
        <p:spPr>
          <a:xfrm>
            <a:off x="6277905" y="2646090"/>
            <a:ext cx="2408783" cy="0"/>
          </a:xfrm>
          <a:prstGeom prst="line">
            <a:avLst/>
          </a:prstGeom>
          <a:noFill/>
          <a:ln w="7144">
            <a:solidFill>
              <a:srgbClr val="D9D2BF"/>
            </a:solidFill>
            <a:prstDash val="solid"/>
          </a:ln>
        </p:spPr>
        <p:txBody>
          <a:bodyPr/>
          <a:p/>
        </p:txBody>
      </p:sp>
      <p:sp>
        <p:nvSpPr>
          <p:cNvPr id="25" name="Shape 23"/>
          <p:cNvSpPr/>
          <p:nvPr/>
        </p:nvSpPr>
        <p:spPr>
          <a:xfrm>
            <a:off x="6292193" y="1214438"/>
            <a:ext cx="0" cy="1435224"/>
          </a:xfrm>
          <a:prstGeom prst="line">
            <a:avLst/>
          </a:prstGeom>
          <a:noFill/>
          <a:ln w="28575">
            <a:solidFill>
              <a:srgbClr val="B23A2A"/>
            </a:solidFill>
            <a:prstDash val="solid"/>
          </a:ln>
        </p:spPr>
        <p:txBody>
          <a:bodyPr/>
          <a:p/>
        </p:txBody>
      </p:sp>
      <p:sp>
        <p:nvSpPr>
          <p:cNvPr id="26" name="Text 24"/>
          <p:cNvSpPr/>
          <p:nvPr/>
        </p:nvSpPr>
        <p:spPr>
          <a:xfrm>
            <a:off x="6463643" y="1352863"/>
            <a:ext cx="398376" cy="216402"/>
          </a:xfrm>
          <a:prstGeom prst="roundRect">
            <a:avLst>
              <a:gd name="adj" fmla="val 4397129"/>
            </a:avLst>
          </a:prstGeom>
          <a:solidFill>
            <a:srgbClr val="F2E0DC"/>
          </a:solidFill>
          <a:ln w="7144">
            <a:solidFill>
              <a:srgbClr val="B23A2A"/>
            </a:solidFill>
            <a:prstDash val="solid"/>
          </a:ln>
        </p:spPr>
        <p:txBody>
          <a:bodyPr wrap="square" rtlCol="0" anchor="ctr"/>
          <a:lstStyle/>
          <a:p>
            <a:pPr indent="0" marL="0">
              <a:buNone/>
            </a:pPr>
            <a:endParaRPr lang="en-US" dirty="0"/>
          </a:p>
        </p:txBody>
      </p:sp>
      <p:sp>
        <p:nvSpPr>
          <p:cNvPr id="27" name="Text 25"/>
          <p:cNvSpPr/>
          <p:nvPr/>
        </p:nvSpPr>
        <p:spPr>
          <a:xfrm>
            <a:off x="6463643" y="1364456"/>
            <a:ext cx="398376" cy="193216"/>
          </a:xfrm>
          <a:prstGeom prst="rect">
            <a:avLst/>
          </a:prstGeom>
          <a:noFill/>
          <a:ln/>
        </p:spPr>
        <p:txBody>
          <a:bodyPr wrap="none" lIns="0" tIns="0" rIns="0" bIns="0" rtlCol="0" anchor="ctr"/>
          <a:lstStyle/>
          <a:p>
            <a:pPr algn="ctr" indent="0" marL="0">
              <a:lnSpc>
                <a:spcPts val="959"/>
              </a:lnSpc>
              <a:buNone/>
            </a:pPr>
            <a:r>
              <a:rPr lang="en-US" sz="800" spc="25" kern="0" dirty="0">
                <a:solidFill>
                  <a:srgbClr val="B23A2A"/>
                </a:solidFill>
                <a:latin typeface="Carlito" pitchFamily="34" charset="0"/>
                <a:ea typeface="Carlito" pitchFamily="34" charset="-122"/>
                <a:cs typeface="Carlito" pitchFamily="34" charset="-120"/>
              </a:rPr>
              <a:t>ফলাফল</a:t>
            </a:r>
            <a:endParaRPr lang="en-US" sz="800" dirty="0"/>
          </a:p>
        </p:txBody>
      </p:sp>
      <p:sp>
        <p:nvSpPr>
          <p:cNvPr id="28" name="Text 26"/>
          <p:cNvSpPr/>
          <p:nvPr/>
        </p:nvSpPr>
        <p:spPr>
          <a:xfrm>
            <a:off x="6919168" y="1396715"/>
            <a:ext cx="128588" cy="128588"/>
          </a:xfrm>
          <a:prstGeom prst="rect">
            <a:avLst/>
          </a:prstGeom>
          <a:noFill/>
          <a:ln/>
        </p:spPr>
        <p:txBody>
          <a:bodyPr wrap="none" lIns="0" tIns="0" rIns="0" bIns="0" rtlCol="0" anchor="ctr"/>
          <a:lstStyle/>
          <a:p>
            <a:pPr algn="ctr" indent="0" marL="0">
              <a:buNone/>
            </a:pPr>
            <a:r>
              <a:rPr lang="en-US" sz="1266" dirty="0">
                <a:solidFill>
                  <a:srgbClr val="B23A2A"/>
                </a:solidFill>
                <a:latin typeface="Segoe UI Symbol" pitchFamily="34" charset="0"/>
                <a:ea typeface="Segoe UI Symbol" pitchFamily="34" charset="-122"/>
                <a:cs typeface="Segoe UI Symbol" pitchFamily="34" charset="-120"/>
              </a:rPr>
              <a:t>☞</a:t>
            </a:r>
            <a:endParaRPr lang="en-US" sz="1266" dirty="0"/>
          </a:p>
        </p:txBody>
      </p:sp>
      <p:sp>
        <p:nvSpPr>
          <p:cNvPr id="29" name="Text 27"/>
          <p:cNvSpPr/>
          <p:nvPr/>
        </p:nvSpPr>
        <p:spPr>
          <a:xfrm>
            <a:off x="6463643" y="1643397"/>
            <a:ext cx="2058739" cy="157922"/>
          </a:xfrm>
          <a:prstGeom prst="rect">
            <a:avLst/>
          </a:prstGeom>
          <a:noFill/>
          <a:ln/>
        </p:spPr>
        <p:txBody>
          <a:bodyPr wrap="none" lIns="0" tIns="0" rIns="0" bIns="0" rtlCol="0" anchor="t"/>
          <a:lstStyle/>
          <a:p>
            <a:pPr algn="l" indent="0" marL="0">
              <a:lnSpc>
                <a:spcPts val="1152"/>
              </a:lnSpc>
              <a:buNone/>
            </a:pPr>
            <a:r>
              <a:rPr lang="en-US" sz="900" dirty="0">
                <a:solidFill>
                  <a:srgbClr val="B23A2A"/>
                </a:solidFill>
                <a:latin typeface="Tinos" pitchFamily="34" charset="0"/>
                <a:ea typeface="Tinos" pitchFamily="34" charset="-122"/>
                <a:cs typeface="Tinos" pitchFamily="34" charset="-120"/>
              </a:rPr>
              <a:t>গ্রেপ্তার, স্থায়ী বাতিল</a:t>
            </a:r>
            <a:endParaRPr lang="en-US" sz="900" dirty="0"/>
          </a:p>
        </p:txBody>
      </p:sp>
      <p:sp>
        <p:nvSpPr>
          <p:cNvPr id="30" name="Text 28"/>
          <p:cNvSpPr/>
          <p:nvPr/>
        </p:nvSpPr>
        <p:spPr>
          <a:xfrm>
            <a:off x="6463643" y="1846771"/>
            <a:ext cx="2058739" cy="542925"/>
          </a:xfrm>
          <a:prstGeom prst="rect">
            <a:avLst/>
          </a:prstGeom>
          <a:noFill/>
          <a:ln/>
        </p:spPr>
        <p:txBody>
          <a:bodyPr wrap="square" lIns="0" tIns="0" rIns="0" bIns="0" rtlCol="0" anchor="t"/>
          <a:lstStyle/>
          <a:p>
            <a:pPr algn="l" indent="0" marL="0">
              <a:lnSpc>
                <a:spcPts val="1253"/>
              </a:lnSpc>
              <a:buNone/>
            </a:pPr>
            <a:r>
              <a:rPr lang="en-US" sz="800" dirty="0">
                <a:solidFill>
                  <a:srgbClr val="1A1A1A"/>
                </a:solidFill>
                <a:latin typeface="Carlito" pitchFamily="34" charset="0"/>
                <a:ea typeface="Carlito" pitchFamily="34" charset="-122"/>
                <a:cs typeface="Carlito" pitchFamily="34" charset="-120"/>
              </a:rPr>
              <a:t>পাইকারি বিক্রেতা গ্রেপ্তার। খুচরা বিক্রেতার লাইসেন্স </a:t>
            </a:r>
            <a:pPr algn="l" indent="0" marL="0">
              <a:lnSpc>
                <a:spcPts val="1253"/>
              </a:lnSpc>
              <a:buNone/>
            </a:pPr>
            <a:r>
              <a:rPr lang="en-US" sz="800" b="1" dirty="0">
                <a:solidFill>
                  <a:srgbClr val="B23A2A"/>
                </a:solidFill>
                <a:latin typeface="Carlito" pitchFamily="34" charset="0"/>
                <a:ea typeface="Carlito" pitchFamily="34" charset="-122"/>
                <a:cs typeface="Carlito" pitchFamily="34" charset="-120"/>
              </a:rPr>
              <a:t>স্থায়ীভাবে বাতিল</a:t>
            </a:r>
            <a:pPr algn="l" indent="0" marL="0">
              <a:lnSpc>
                <a:spcPts val="1253"/>
              </a:lnSpc>
              <a:buNone/>
            </a:pPr>
            <a:r>
              <a:rPr lang="en-US" sz="800" dirty="0">
                <a:solidFill>
                  <a:srgbClr val="1A1A1A"/>
                </a:solidFill>
                <a:latin typeface="Carlito" pitchFamily="34" charset="0"/>
                <a:ea typeface="Carlito" pitchFamily="34" charset="-122"/>
                <a:cs typeface="Carlito" pitchFamily="34" charset="-120"/>
              </a:rPr>
              <a:t>। সমস্ত স্টক বাজেয়াপ্ত। আদালতে মামলা চলমান।</a:t>
            </a:r>
            <a:endParaRPr lang="en-US" sz="800" dirty="0"/>
          </a:p>
        </p:txBody>
      </p:sp>
      <p:sp>
        <p:nvSpPr>
          <p:cNvPr id="31" name="Text 29"/>
          <p:cNvSpPr/>
          <p:nvPr/>
        </p:nvSpPr>
        <p:spPr>
          <a:xfrm>
            <a:off x="457200" y="3906292"/>
            <a:ext cx="8229600" cy="794296"/>
          </a:xfrm>
          <a:prstGeom prst="roundRect">
            <a:avLst>
              <a:gd name="adj" fmla="val 16788"/>
            </a:avLst>
          </a:prstGeom>
          <a:solidFill>
            <a:srgbClr val="FFFFFF"/>
          </a:solidFill>
          <a:ln/>
        </p:spPr>
        <p:txBody>
          <a:bodyPr wrap="square" rtlCol="0" anchor="ctr"/>
          <a:lstStyle/>
          <a:p>
            <a:pPr indent="0" marL="0">
              <a:buNone/>
            </a:pPr>
            <a:endParaRPr lang="en-US" dirty="0"/>
          </a:p>
        </p:txBody>
      </p:sp>
      <p:sp>
        <p:nvSpPr>
          <p:cNvPr id="32" name="Shape 30"/>
          <p:cNvSpPr/>
          <p:nvPr/>
        </p:nvSpPr>
        <p:spPr>
          <a:xfrm>
            <a:off x="457200" y="3909864"/>
            <a:ext cx="8229600" cy="0"/>
          </a:xfrm>
          <a:prstGeom prst="line">
            <a:avLst/>
          </a:prstGeom>
          <a:noFill/>
          <a:ln w="7144">
            <a:solidFill>
              <a:srgbClr val="D9D2BF"/>
            </a:solidFill>
            <a:prstDash val="solid"/>
          </a:ln>
        </p:spPr>
        <p:txBody>
          <a:bodyPr/>
          <a:p/>
        </p:txBody>
      </p:sp>
      <p:sp>
        <p:nvSpPr>
          <p:cNvPr id="33" name="Shape 31"/>
          <p:cNvSpPr/>
          <p:nvPr/>
        </p:nvSpPr>
        <p:spPr>
          <a:xfrm>
            <a:off x="8683228" y="3906292"/>
            <a:ext cx="0" cy="794296"/>
          </a:xfrm>
          <a:prstGeom prst="line">
            <a:avLst/>
          </a:prstGeom>
          <a:noFill/>
          <a:ln w="7144">
            <a:solidFill>
              <a:srgbClr val="D9D2BF"/>
            </a:solidFill>
            <a:prstDash val="solid"/>
          </a:ln>
        </p:spPr>
        <p:txBody>
          <a:bodyPr/>
          <a:p/>
        </p:txBody>
      </p:sp>
      <p:sp>
        <p:nvSpPr>
          <p:cNvPr id="34" name="Shape 32"/>
          <p:cNvSpPr/>
          <p:nvPr/>
        </p:nvSpPr>
        <p:spPr>
          <a:xfrm>
            <a:off x="457200" y="4697016"/>
            <a:ext cx="8229600" cy="0"/>
          </a:xfrm>
          <a:prstGeom prst="line">
            <a:avLst/>
          </a:prstGeom>
          <a:noFill/>
          <a:ln w="7144">
            <a:solidFill>
              <a:srgbClr val="D9D2BF"/>
            </a:solidFill>
            <a:prstDash val="solid"/>
          </a:ln>
        </p:spPr>
        <p:txBody>
          <a:bodyPr/>
          <a:p/>
        </p:txBody>
      </p:sp>
      <p:sp>
        <p:nvSpPr>
          <p:cNvPr id="35" name="Shape 33"/>
          <p:cNvSpPr/>
          <p:nvPr/>
        </p:nvSpPr>
        <p:spPr>
          <a:xfrm>
            <a:off x="471488" y="3906292"/>
            <a:ext cx="0" cy="794296"/>
          </a:xfrm>
          <a:prstGeom prst="line">
            <a:avLst/>
          </a:prstGeom>
          <a:noFill/>
          <a:ln w="28575">
            <a:solidFill>
              <a:srgbClr val="C7912C"/>
            </a:solidFill>
            <a:prstDash val="solid"/>
          </a:ln>
        </p:spPr>
        <p:txBody>
          <a:bodyPr/>
          <a:p/>
        </p:txBody>
      </p:sp>
      <p:sp>
        <p:nvSpPr>
          <p:cNvPr id="36" name="Text 34"/>
          <p:cNvSpPr/>
          <p:nvPr/>
        </p:nvSpPr>
        <p:spPr>
          <a:xfrm>
            <a:off x="642938" y="4196283"/>
            <a:ext cx="214313" cy="214313"/>
          </a:xfrm>
          <a:prstGeom prst="rect">
            <a:avLst/>
          </a:prstGeom>
          <a:noFill/>
          <a:ln/>
        </p:spPr>
        <p:txBody>
          <a:bodyPr wrap="none" lIns="0" tIns="0" rIns="0" bIns="0" rtlCol="0" anchor="ctr"/>
          <a:lstStyle/>
          <a:p>
            <a:pPr algn="ctr" indent="0" marL="0">
              <a:buNone/>
            </a:pPr>
            <a:r>
              <a:rPr lang="en-US" sz="2109" dirty="0">
                <a:solidFill>
                  <a:srgbClr val="C7912C"/>
                </a:solidFill>
                <a:latin typeface="Segoe UI Symbol" pitchFamily="34" charset="0"/>
                <a:ea typeface="Segoe UI Symbol" pitchFamily="34" charset="-122"/>
                <a:cs typeface="Segoe UI Symbol" pitchFamily="34" charset="-120"/>
              </a:rPr>
              <a:t>▿</a:t>
            </a:r>
            <a:endParaRPr lang="en-US" sz="2109" dirty="0"/>
          </a:p>
        </p:txBody>
      </p:sp>
      <p:sp>
        <p:nvSpPr>
          <p:cNvPr id="37" name="Text 35"/>
          <p:cNvSpPr/>
          <p:nvPr/>
        </p:nvSpPr>
        <p:spPr>
          <a:xfrm>
            <a:off x="948926" y="4220617"/>
            <a:ext cx="446776" cy="128016"/>
          </a:xfrm>
          <a:prstGeom prst="rect">
            <a:avLst/>
          </a:prstGeom>
          <a:noFill/>
          <a:ln/>
        </p:spPr>
        <p:txBody>
          <a:bodyPr wrap="none" lIns="0" tIns="0" rIns="0" bIns="0" rtlCol="0" anchor="t"/>
          <a:lstStyle/>
          <a:p>
            <a:pPr algn="l" indent="0" marL="0">
              <a:lnSpc>
                <a:spcPts val="1046"/>
              </a:lnSpc>
              <a:buNone/>
            </a:pPr>
            <a:r>
              <a:rPr lang="en-US" sz="800" b="1" spc="95" kern="0" dirty="0">
                <a:solidFill>
                  <a:srgbClr val="9A6E1E"/>
                </a:solidFill>
                <a:latin typeface="Segoe UI Symbol" pitchFamily="34" charset="0"/>
                <a:ea typeface="Segoe UI Symbol" pitchFamily="34" charset="-122"/>
                <a:cs typeface="Segoe UI Symbol" pitchFamily="34" charset="-120"/>
              </a:rPr>
              <a:t>📚</a:t>
            </a:r>
            <a:pPr algn="l" indent="0" marL="0">
              <a:lnSpc>
                <a:spcPts val="1046"/>
              </a:lnSpc>
              <a:buNone/>
            </a:pPr>
            <a:r>
              <a:rPr lang="en-US" sz="800" b="1" spc="95" kern="0" dirty="0">
                <a:solidFill>
                  <a:srgbClr val="9A6E1E"/>
                </a:solidFill>
                <a:latin typeface="Carlito" pitchFamily="34" charset="0"/>
                <a:ea typeface="Carlito" pitchFamily="34" charset="-122"/>
                <a:cs typeface="Carlito" pitchFamily="34" charset="-120"/>
              </a:rPr>
              <a:t> শিক্ষা</a:t>
            </a:r>
            <a:endParaRPr lang="en-US" sz="800" dirty="0"/>
          </a:p>
        </p:txBody>
      </p:sp>
      <p:sp>
        <p:nvSpPr>
          <p:cNvPr id="38" name="Text 36"/>
          <p:cNvSpPr/>
          <p:nvPr/>
        </p:nvSpPr>
        <p:spPr>
          <a:xfrm>
            <a:off x="957263" y="4418409"/>
            <a:ext cx="3123158" cy="160734"/>
          </a:xfrm>
          <a:prstGeom prst="rect">
            <a:avLst/>
          </a:prstGeom>
          <a:noFill/>
          <a:ln/>
        </p:spPr>
        <p:txBody>
          <a:bodyPr wrap="square" lIns="0" tIns="0" rIns="0" bIns="0" rtlCol="0" anchor="t"/>
          <a:lstStyle/>
          <a:p>
            <a:pPr algn="l" indent="0" marL="0">
              <a:lnSpc>
                <a:spcPts val="1266"/>
              </a:lnSpc>
              <a:buNone/>
            </a:pPr>
            <a:r>
              <a:rPr lang="en-US" sz="844" dirty="0">
                <a:solidFill>
                  <a:srgbClr val="1A1A1A"/>
                </a:solidFill>
                <a:latin typeface="Carlito" pitchFamily="34" charset="0"/>
                <a:ea typeface="Carlito" pitchFamily="34" charset="-122"/>
                <a:cs typeface="Carlito" pitchFamily="34" charset="-120"/>
              </a:rPr>
              <a:t>অস্বাভাবিক কম দাম প্রথম রেড ফ্ল্যাগ। সর্বদা অনুমোদিত উৎস থেকে চালান সহ ক্রয় করুন।</a:t>
            </a:r>
            <a:endParaRPr lang="en-US" sz="844" dirty="0"/>
          </a:p>
        </p:txBody>
      </p:sp>
      <p:sp>
        <p:nvSpPr>
          <p:cNvPr id="39" name="Text 37"/>
          <p:cNvSpPr/>
          <p:nvPr/>
        </p:nvSpPr>
        <p:spPr>
          <a:xfrm>
            <a:off x="8694725" y="4706392"/>
            <a:ext cx="30736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২৬</a:t>
            </a:r>
            <a:endParaRPr lang="en-US" sz="1350" dirty="0"/>
          </a:p>
        </p:txBody>
      </p:sp>
      <p:pic>
        <p:nvPicPr>
          <p:cNvPr id="40"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840435" cy="5143500"/>
          </a:xfrm>
          <a:prstGeom prst="rect">
            <a:avLst/>
          </a:prstGeom>
        </p:spPr>
      </p:pic>
      <p:sp>
        <p:nvSpPr>
          <p:cNvPr id="3" name="Text 0"/>
          <p:cNvSpPr/>
          <p:nvPr/>
        </p:nvSpPr>
        <p:spPr>
          <a:xfrm>
            <a:off x="7722394" y="578644"/>
            <a:ext cx="985838" cy="985838"/>
          </a:xfrm>
          <a:prstGeom prst="ellipse">
            <a:avLst/>
          </a:prstGeom>
          <a:noFill/>
          <a:ln w="14288">
            <a:solidFill>
              <a:srgbClr val="C7912C"/>
            </a:solidFill>
            <a:prstDash val="solid"/>
          </a:ln>
        </p:spPr>
        <p:txBody>
          <a:bodyPr wrap="square" rtlCol="0" anchor="ctr"/>
          <a:lstStyle/>
          <a:p>
            <a:pPr indent="0" marL="0">
              <a:buNone/>
            </a:pPr>
            <a:endParaRPr lang="en-US" dirty="0"/>
          </a:p>
        </p:txBody>
      </p:sp>
      <p:sp>
        <p:nvSpPr>
          <p:cNvPr id="4" name="Text 1"/>
          <p:cNvSpPr/>
          <p:nvPr/>
        </p:nvSpPr>
        <p:spPr>
          <a:xfrm>
            <a:off x="7500938" y="3357563"/>
            <a:ext cx="642938" cy="642938"/>
          </a:xfrm>
          <a:prstGeom prst="ellipse">
            <a:avLst/>
          </a:prstGeom>
          <a:solidFill>
            <a:srgbClr val="C7912C">
              <a:alpha val="8000"/>
            </a:srgbClr>
          </a:solidFill>
          <a:ln/>
        </p:spPr>
        <p:txBody>
          <a:bodyPr wrap="square" rtlCol="0" anchor="ctr"/>
          <a:lstStyle/>
          <a:p>
            <a:pPr indent="0" marL="0">
              <a:buNone/>
            </a:pPr>
            <a:endParaRPr lang="en-US" dirty="0"/>
          </a:p>
        </p:txBody>
      </p:sp>
      <p:sp>
        <p:nvSpPr>
          <p:cNvPr id="5" name="Text 2"/>
          <p:cNvSpPr/>
          <p:nvPr/>
        </p:nvSpPr>
        <p:spPr>
          <a:xfrm>
            <a:off x="4937671" y="1507666"/>
            <a:ext cx="2400407"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অধ্যায় · দীর্ঘমেয়াদি প্রভাব</a:t>
            </a:r>
            <a:endParaRPr lang="en-US" sz="1350" dirty="0"/>
          </a:p>
        </p:txBody>
      </p:sp>
      <p:sp>
        <p:nvSpPr>
          <p:cNvPr id="6" name="Text 3"/>
          <p:cNvSpPr/>
          <p:nvPr/>
        </p:nvSpPr>
        <p:spPr>
          <a:xfrm>
            <a:off x="4937671" y="1901912"/>
            <a:ext cx="4124042" cy="418673"/>
          </a:xfrm>
          <a:prstGeom prst="rect">
            <a:avLst/>
          </a:prstGeom>
          <a:noFill/>
          <a:ln/>
        </p:spPr>
        <p:txBody>
          <a:bodyPr wrap="square" lIns="0" tIns="0" rIns="0" bIns="0" rtlCol="0" anchor="t"/>
          <a:lstStyle/>
          <a:p>
            <a:pPr algn="l" indent="0" marL="0">
              <a:lnSpc>
                <a:spcPts val="3053"/>
              </a:lnSpc>
              <a:buNone/>
            </a:pPr>
            <a:r>
              <a:rPr lang="en-US" sz="2588" b="1" spc="-26" kern="0" dirty="0">
                <a:solidFill>
                  <a:srgbClr val="14342A"/>
                </a:solidFill>
                <a:latin typeface="Tinos" pitchFamily="34" charset="0"/>
                <a:ea typeface="Tinos" pitchFamily="34" charset="-122"/>
                <a:cs typeface="Tinos" pitchFamily="34" charset="-120"/>
              </a:rPr>
              <a:t>প্রতিরোধ ক্ষমতা ও দীর্ঘমেয়াদি ক্ষতি</a:t>
            </a:r>
            <a:endParaRPr lang="en-US" sz="2588" dirty="0"/>
          </a:p>
        </p:txBody>
      </p:sp>
      <p:sp>
        <p:nvSpPr>
          <p:cNvPr id="7" name="Shape 4"/>
          <p:cNvSpPr/>
          <p:nvPr/>
        </p:nvSpPr>
        <p:spPr>
          <a:xfrm>
            <a:off x="4937671" y="2457450"/>
            <a:ext cx="400050" cy="0"/>
          </a:xfrm>
          <a:prstGeom prst="line">
            <a:avLst/>
          </a:prstGeom>
          <a:noFill/>
          <a:ln w="7144">
            <a:solidFill>
              <a:srgbClr val="1A1A1A"/>
            </a:solidFill>
            <a:prstDash val="solid"/>
          </a:ln>
        </p:spPr>
        <p:txBody>
          <a:bodyPr/>
          <a:p/>
        </p:txBody>
      </p:sp>
      <p:sp>
        <p:nvSpPr>
          <p:cNvPr id="8" name="Text 5"/>
          <p:cNvSpPr/>
          <p:nvPr/>
        </p:nvSpPr>
        <p:spPr>
          <a:xfrm>
            <a:off x="4937671" y="2625328"/>
            <a:ext cx="3571875" cy="668695"/>
          </a:xfrm>
          <a:prstGeom prst="rect">
            <a:avLst/>
          </a:prstGeom>
          <a:noFill/>
          <a:ln/>
        </p:spPr>
        <p:txBody>
          <a:bodyPr wrap="square" lIns="0" tIns="0" rIns="0" bIns="0" rtlCol="0" anchor="t"/>
          <a:lstStyle/>
          <a:p>
            <a:pPr algn="l" indent="0" marL="0">
              <a:lnSpc>
                <a:spcPts val="1626"/>
              </a:lnSpc>
              <a:buNone/>
            </a:pPr>
            <a:r>
              <a:rPr lang="en-US" sz="956" dirty="0">
                <a:solidFill>
                  <a:srgbClr val="4A4A4A"/>
                </a:solidFill>
                <a:latin typeface="Carlito" pitchFamily="34" charset="0"/>
                <a:ea typeface="Carlito" pitchFamily="34" charset="-122"/>
                <a:cs typeface="Carlito" pitchFamily="34" charset="-120"/>
              </a:rPr>
              <a:t>ভেজাল বালাইনাশক শুধু এখনকার ফসলেই ক্ষতি করে না — এটি কীটপতঙ্গের প্রতিরোধ ক্ষমতা তৈরি করে, পরিবেশ ও স্বাস্থ্যের ওপর স্থায়ী ক্ষতি করে। এই অধ্যায়ে আমরা দেখব সেই গভীর ও দীর্ঘমেয়াদি প্রভাব।</a:t>
            </a:r>
            <a:endParaRPr lang="en-US" sz="956" dirty="0"/>
          </a:p>
        </p:txBody>
      </p:sp>
      <p:sp>
        <p:nvSpPr>
          <p:cNvPr id="9" name="Text 6"/>
          <p:cNvSpPr/>
          <p:nvPr/>
        </p:nvSpPr>
        <p:spPr>
          <a:xfrm>
            <a:off x="4937671" y="3417426"/>
            <a:ext cx="1130945" cy="362699"/>
          </a:xfrm>
          <a:prstGeom prst="roundRect">
            <a:avLst>
              <a:gd name="adj" fmla="val 2623518"/>
            </a:avLst>
          </a:prstGeom>
          <a:solidFill>
            <a:srgbClr val="FAF6EE">
              <a:alpha val="60000"/>
            </a:srgbClr>
          </a:solidFill>
          <a:ln w="7144">
            <a:solidFill>
              <a:srgbClr val="D9D2BF"/>
            </a:solidFill>
            <a:prstDash val="solid"/>
          </a:ln>
        </p:spPr>
        <p:txBody>
          <a:bodyPr wrap="square" rtlCol="0" anchor="ctr"/>
          <a:lstStyle/>
          <a:p>
            <a:pPr indent="0" marL="0">
              <a:buNone/>
            </a:pPr>
            <a:endParaRPr lang="en-US" dirty="0"/>
          </a:p>
        </p:txBody>
      </p:sp>
      <p:sp>
        <p:nvSpPr>
          <p:cNvPr id="10" name="Text 7"/>
          <p:cNvSpPr/>
          <p:nvPr/>
        </p:nvSpPr>
        <p:spPr>
          <a:xfrm>
            <a:off x="4937671" y="3430228"/>
            <a:ext cx="1130945" cy="337096"/>
          </a:xfrm>
          <a:prstGeom prst="rect">
            <a:avLst/>
          </a:prstGeom>
          <a:noFill/>
          <a:ln/>
        </p:spPr>
        <p:txBody>
          <a:bodyPr wrap="none" lIns="0" tIns="0" rIns="0" bIns="0" rtlCol="0" anchor="ctr"/>
          <a:lstStyle/>
          <a:p>
            <a:pPr algn="ctr" indent="0" marL="0">
              <a:lnSpc>
                <a:spcPts val="2093"/>
              </a:lnSpc>
              <a:buNone/>
            </a:pPr>
            <a:r>
              <a:rPr lang="en-US" sz="1350" spc="54" kern="0" dirty="0">
                <a:solidFill>
                  <a:srgbClr val="1E4D3B"/>
                </a:solidFill>
                <a:latin typeface="Carlito" pitchFamily="34" charset="0"/>
                <a:ea typeface="Carlito" pitchFamily="34" charset="-122"/>
                <a:cs typeface="Carlito" pitchFamily="34" charset="-120"/>
              </a:rPr>
              <a:t>প্রতিরোধ ক্ষমতা</a:t>
            </a:r>
            <a:endParaRPr lang="en-US" sz="1350" dirty="0"/>
          </a:p>
        </p:txBody>
      </p:sp>
      <p:sp>
        <p:nvSpPr>
          <p:cNvPr id="11" name="Text 8"/>
          <p:cNvSpPr/>
          <p:nvPr/>
        </p:nvSpPr>
        <p:spPr>
          <a:xfrm>
            <a:off x="6125766" y="3417426"/>
            <a:ext cx="1116657" cy="362699"/>
          </a:xfrm>
          <a:prstGeom prst="roundRect">
            <a:avLst>
              <a:gd name="adj" fmla="val 2623518"/>
            </a:avLst>
          </a:prstGeom>
          <a:solidFill>
            <a:srgbClr val="FAF6EE">
              <a:alpha val="60000"/>
            </a:srgbClr>
          </a:solidFill>
          <a:ln w="7144">
            <a:solidFill>
              <a:srgbClr val="D9D2BF"/>
            </a:solidFill>
            <a:prstDash val="solid"/>
          </a:ln>
        </p:spPr>
        <p:txBody>
          <a:bodyPr wrap="square" rtlCol="0" anchor="ctr"/>
          <a:lstStyle/>
          <a:p>
            <a:pPr indent="0" marL="0">
              <a:buNone/>
            </a:pPr>
            <a:endParaRPr lang="en-US" dirty="0"/>
          </a:p>
        </p:txBody>
      </p:sp>
      <p:sp>
        <p:nvSpPr>
          <p:cNvPr id="12" name="Text 9"/>
          <p:cNvSpPr/>
          <p:nvPr/>
        </p:nvSpPr>
        <p:spPr>
          <a:xfrm>
            <a:off x="6125766" y="3430228"/>
            <a:ext cx="1116657" cy="337096"/>
          </a:xfrm>
          <a:prstGeom prst="rect">
            <a:avLst/>
          </a:prstGeom>
          <a:noFill/>
          <a:ln/>
        </p:spPr>
        <p:txBody>
          <a:bodyPr wrap="none" lIns="0" tIns="0" rIns="0" bIns="0" rtlCol="0" anchor="ctr"/>
          <a:lstStyle/>
          <a:p>
            <a:pPr algn="ctr" indent="0" marL="0">
              <a:lnSpc>
                <a:spcPts val="2093"/>
              </a:lnSpc>
              <a:buNone/>
            </a:pPr>
            <a:r>
              <a:rPr lang="en-US" sz="1350" spc="54" kern="0" dirty="0">
                <a:solidFill>
                  <a:srgbClr val="1E4D3B"/>
                </a:solidFill>
                <a:latin typeface="Carlito" pitchFamily="34" charset="0"/>
                <a:ea typeface="Carlito" pitchFamily="34" charset="-122"/>
                <a:cs typeface="Carlito" pitchFamily="34" charset="-120"/>
              </a:rPr>
              <a:t>পরিবেশগত ক্ষতি</a:t>
            </a:r>
            <a:endParaRPr lang="en-US" sz="1350" dirty="0"/>
          </a:p>
        </p:txBody>
      </p:sp>
      <p:sp>
        <p:nvSpPr>
          <p:cNvPr id="13" name="Text 10"/>
          <p:cNvSpPr/>
          <p:nvPr/>
        </p:nvSpPr>
        <p:spPr>
          <a:xfrm>
            <a:off x="7299573" y="3417426"/>
            <a:ext cx="1016422" cy="362699"/>
          </a:xfrm>
          <a:prstGeom prst="roundRect">
            <a:avLst>
              <a:gd name="adj" fmla="val 2623518"/>
            </a:avLst>
          </a:prstGeom>
          <a:solidFill>
            <a:srgbClr val="FAF6EE">
              <a:alpha val="60000"/>
            </a:srgbClr>
          </a:solidFill>
          <a:ln w="7144">
            <a:solidFill>
              <a:srgbClr val="D9D2BF"/>
            </a:solidFill>
            <a:prstDash val="solid"/>
          </a:ln>
        </p:spPr>
        <p:txBody>
          <a:bodyPr wrap="square" rtlCol="0" anchor="ctr"/>
          <a:lstStyle/>
          <a:p>
            <a:pPr indent="0" marL="0">
              <a:buNone/>
            </a:pPr>
            <a:endParaRPr lang="en-US" dirty="0"/>
          </a:p>
        </p:txBody>
      </p:sp>
      <p:sp>
        <p:nvSpPr>
          <p:cNvPr id="14" name="Text 11"/>
          <p:cNvSpPr/>
          <p:nvPr/>
        </p:nvSpPr>
        <p:spPr>
          <a:xfrm>
            <a:off x="7299573" y="3430228"/>
            <a:ext cx="1016422" cy="337096"/>
          </a:xfrm>
          <a:prstGeom prst="rect">
            <a:avLst/>
          </a:prstGeom>
          <a:noFill/>
          <a:ln/>
        </p:spPr>
        <p:txBody>
          <a:bodyPr wrap="none" lIns="0" tIns="0" rIns="0" bIns="0" rtlCol="0" anchor="ctr"/>
          <a:lstStyle/>
          <a:p>
            <a:pPr algn="ctr" indent="0" marL="0">
              <a:lnSpc>
                <a:spcPts val="2093"/>
              </a:lnSpc>
              <a:buNone/>
            </a:pPr>
            <a:r>
              <a:rPr lang="en-US" sz="1350" spc="54" kern="0" dirty="0">
                <a:solidFill>
                  <a:srgbClr val="1E4D3B"/>
                </a:solidFill>
                <a:latin typeface="Carlito" pitchFamily="34" charset="0"/>
                <a:ea typeface="Carlito" pitchFamily="34" charset="-122"/>
                <a:cs typeface="Carlito" pitchFamily="34" charset="-120"/>
              </a:rPr>
              <a:t>স্বাস্থ্য প্রভাব</a:t>
            </a:r>
            <a:endParaRPr lang="en-US" sz="1350" dirty="0"/>
          </a:p>
        </p:txBody>
      </p:sp>
      <p:sp>
        <p:nvSpPr>
          <p:cNvPr id="15" name="Text 12"/>
          <p:cNvSpPr/>
          <p:nvPr/>
        </p:nvSpPr>
        <p:spPr>
          <a:xfrm>
            <a:off x="8694725" y="4706392"/>
            <a:ext cx="30736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FAF6EE">
                    <a:alpha val="85000"/>
                  </a:srgbClr>
                </a:solidFill>
                <a:latin typeface="Carlito" pitchFamily="34" charset="0"/>
                <a:ea typeface="Carlito" pitchFamily="34" charset="-122"/>
                <a:cs typeface="Carlito" pitchFamily="34" charset="-120"/>
              </a:rPr>
              <a:t>২৭</a:t>
            </a:r>
            <a:endParaRPr lang="en-US" sz="1350" dirty="0"/>
          </a:p>
        </p:txBody>
      </p:sp>
      <p:pic>
        <p:nvPicPr>
          <p:cNvPr id="16" name="Image 1" descr="preencoded.png">    </p:cNvPr>
          <p:cNvPicPr>
            <a:picLocks noChangeAspect="1"/>
          </p:cNvPicPr>
          <p:nvPr/>
        </p:nvPicPr>
        <p:blipFill>
          <a:blip r:embed="rId2"/>
          <a:stretch>
            <a:fillRect/>
          </a:stretch>
        </p:blipFill>
        <p:spPr>
          <a:xfrm>
            <a:off x="0" y="5100638"/>
            <a:ext cx="9144000" cy="42863"/>
          </a:xfrm>
          <a:prstGeom prst="rect">
            <a:avLst/>
          </a:prstGeom>
        </p:spPr>
      </p:pic>
      <p:sp>
        <p:nvSpPr>
          <p:cNvPr id="17" name="Text 13"/>
          <p:cNvSpPr/>
          <p:nvPr/>
        </p:nvSpPr>
        <p:spPr>
          <a:xfrm>
            <a:off x="284196" y="1423783"/>
            <a:ext cx="3885914" cy="1958531"/>
          </a:xfrm>
          <a:prstGeom prst="rect">
            <a:avLst/>
          </a:prstGeom>
          <a:noFill/>
          <a:ln/>
        </p:spPr>
        <p:txBody>
          <a:bodyPr wrap="square" lIns="0" tIns="0" rIns="0" bIns="0" rtlCol="0" anchor="t">
            <a:normAutofit/>
          </a:bodyPr>
          <a:lstStyle/>
          <a:p>
            <a:pPr algn="l" indent="0" marL="0">
              <a:lnSpc>
                <a:spcPts val="15188"/>
              </a:lnSpc>
              <a:buNone/>
            </a:pPr>
            <a:r>
              <a:rPr lang="en-US" sz="16875" b="1" spc="-675" kern="0" dirty="0">
                <a:solidFill>
                  <a:srgbClr val="C7912C"/>
                </a:solidFill>
                <a:latin typeface="Liberation Sans Narrow" pitchFamily="34" charset="0"/>
                <a:ea typeface="Liberation Sans Narrow" pitchFamily="34" charset="-122"/>
                <a:cs typeface="Liberation Sans Narrow" pitchFamily="34" charset="-120"/>
              </a:rPr>
              <a:t>05</a:t>
            </a:r>
            <a:endParaRPr lang="en-US" sz="16875" dirty="0"/>
          </a:p>
        </p:txBody>
      </p:sp>
      <p:sp>
        <p:nvSpPr>
          <p:cNvPr id="18" name="Text 14"/>
          <p:cNvSpPr/>
          <p:nvPr/>
        </p:nvSpPr>
        <p:spPr>
          <a:xfrm>
            <a:off x="457200" y="3409745"/>
            <a:ext cx="3539907" cy="334770"/>
          </a:xfrm>
          <a:prstGeom prst="rect">
            <a:avLst/>
          </a:prstGeom>
          <a:noFill/>
          <a:ln/>
        </p:spPr>
        <p:txBody>
          <a:bodyPr wrap="none" lIns="0" tIns="0" rIns="0" bIns="0" rtlCol="0" anchor="t"/>
          <a:lstStyle/>
          <a:p>
            <a:pPr algn="l" indent="0" marL="0">
              <a:lnSpc>
                <a:spcPts val="2441"/>
              </a:lnSpc>
              <a:buNone/>
            </a:pPr>
            <a:r>
              <a:rPr lang="en-US" sz="1575" spc="63" kern="0" dirty="0">
                <a:solidFill>
                  <a:srgbClr val="FAF6EE">
                    <a:alpha val="70000"/>
                  </a:srgbClr>
                </a:solidFill>
                <a:latin typeface="Carlito" pitchFamily="34" charset="0"/>
                <a:ea typeface="Carlito" pitchFamily="34" charset="-122"/>
                <a:cs typeface="Carlito" pitchFamily="34" charset="-120"/>
              </a:rPr>
              <a:t>/ ০৭</a:t>
            </a:r>
            <a:endParaRPr lang="en-US" sz="157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6980530" y="-428625"/>
            <a:ext cx="2163470" cy="2160270"/>
          </a:xfrm>
          <a:prstGeom prst="rect">
            <a:avLst/>
          </a:prstGeom>
          <a:noFill/>
          <a:ln/>
        </p:spPr>
        <p:txBody>
          <a:bodyPr wrap="none" lIns="0" tIns="0" rIns="0" bIns="0" rtlCol="0" anchor="t"/>
          <a:lstStyle/>
          <a:p>
            <a:pPr algn="l" indent="0" marL="0">
              <a:lnSpc>
                <a:spcPts val="15750"/>
              </a:lnSpc>
              <a:buNone/>
            </a:pPr>
            <a:r>
              <a:rPr lang="en-US" sz="15750" b="1" dirty="0">
                <a:solidFill>
                  <a:srgbClr val="1E4D3B">
                    <a:alpha val="4000"/>
                  </a:srgbClr>
                </a:solidFill>
                <a:latin typeface="Carlito" pitchFamily="34" charset="0"/>
                <a:ea typeface="Carlito" pitchFamily="34" charset="-122"/>
                <a:cs typeface="Carlito" pitchFamily="34" charset="-120"/>
              </a:rPr>
              <a:t>R</a:t>
            </a:r>
            <a:endParaRPr lang="en-US" sz="15750" dirty="0"/>
          </a:p>
        </p:txBody>
      </p:sp>
      <p:sp>
        <p:nvSpPr>
          <p:cNvPr id="3" name="Text 1"/>
          <p:cNvSpPr/>
          <p:nvPr/>
        </p:nvSpPr>
        <p:spPr>
          <a:xfrm>
            <a:off x="457200" y="474390"/>
            <a:ext cx="3997773" cy="286911"/>
          </a:xfrm>
          <a:prstGeom prst="rect">
            <a:avLst/>
          </a:prstGeom>
          <a:noFill/>
          <a:ln/>
        </p:spPr>
        <p:txBody>
          <a:bodyPr wrap="squar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০৫ · প্রতিরোধ ক্ষমতা ও দীর্ঘমেয়াদি ক্ষতি</a:t>
            </a:r>
            <a:endParaRPr lang="en-US" sz="1350" dirty="0"/>
          </a:p>
        </p:txBody>
      </p:sp>
      <p:sp>
        <p:nvSpPr>
          <p:cNvPr id="4" name="Text 2"/>
          <p:cNvSpPr/>
          <p:nvPr/>
        </p:nvSpPr>
        <p:spPr>
          <a:xfrm>
            <a:off x="457200" y="840060"/>
            <a:ext cx="8636000" cy="509809"/>
          </a:xfrm>
          <a:prstGeom prst="rect">
            <a:avLst/>
          </a:prstGeom>
          <a:noFill/>
          <a:ln/>
        </p:spPr>
        <p:txBody>
          <a:bodyPr wrap="square" lIns="0" tIns="0" rIns="0" bIns="0" rtlCol="0" anchor="t"/>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প্রতিরোধ ক্ষমতা (Resistance) কী?</a:t>
            </a:r>
            <a:endParaRPr lang="en-US" sz="3150" dirty="0"/>
          </a:p>
        </p:txBody>
      </p:sp>
      <p:sp>
        <p:nvSpPr>
          <p:cNvPr id="5" name="Shape 3"/>
          <p:cNvSpPr/>
          <p:nvPr/>
        </p:nvSpPr>
        <p:spPr>
          <a:xfrm>
            <a:off x="457200" y="1422834"/>
            <a:ext cx="400050" cy="0"/>
          </a:xfrm>
          <a:prstGeom prst="line">
            <a:avLst/>
          </a:prstGeom>
          <a:noFill/>
          <a:ln w="7144">
            <a:solidFill>
              <a:srgbClr val="1A1A1A"/>
            </a:solidFill>
            <a:prstDash val="solid"/>
          </a:ln>
        </p:spPr>
        <p:txBody>
          <a:bodyPr/>
          <a:p/>
        </p:txBody>
      </p:sp>
      <p:sp>
        <p:nvSpPr>
          <p:cNvPr id="6" name="Text 4"/>
          <p:cNvSpPr/>
          <p:nvPr/>
        </p:nvSpPr>
        <p:spPr>
          <a:xfrm>
            <a:off x="457200" y="1285875"/>
            <a:ext cx="8229600" cy="1047229"/>
          </a:xfrm>
          <a:prstGeom prst="roundRect">
            <a:avLst>
              <a:gd name="adj" fmla="val 12734"/>
            </a:avLst>
          </a:prstGeom>
          <a:solidFill>
            <a:srgbClr val="F2ECDD"/>
          </a:solidFill>
          <a:ln/>
        </p:spPr>
        <p:txBody>
          <a:bodyPr wrap="square" rtlCol="0" anchor="ctr"/>
          <a:lstStyle/>
          <a:p>
            <a:pPr indent="0" marL="0">
              <a:buNone/>
            </a:pPr>
            <a:endParaRPr lang="en-US" dirty="0"/>
          </a:p>
        </p:txBody>
      </p:sp>
      <p:sp>
        <p:nvSpPr>
          <p:cNvPr id="7" name="Shape 5"/>
          <p:cNvSpPr/>
          <p:nvPr/>
        </p:nvSpPr>
        <p:spPr>
          <a:xfrm>
            <a:off x="471488" y="1285875"/>
            <a:ext cx="0" cy="1047229"/>
          </a:xfrm>
          <a:prstGeom prst="line">
            <a:avLst/>
          </a:prstGeom>
          <a:noFill/>
          <a:ln w="28575">
            <a:solidFill>
              <a:srgbClr val="C7912C"/>
            </a:solidFill>
            <a:prstDash val="solid"/>
          </a:ln>
        </p:spPr>
        <p:txBody>
          <a:bodyPr/>
          <a:p/>
        </p:txBody>
      </p:sp>
      <p:sp>
        <p:nvSpPr>
          <p:cNvPr id="8" name="Text 6"/>
          <p:cNvSpPr/>
          <p:nvPr/>
        </p:nvSpPr>
        <p:spPr>
          <a:xfrm>
            <a:off x="714375" y="1471613"/>
            <a:ext cx="342900" cy="342900"/>
          </a:xfrm>
          <a:prstGeom prst="rect">
            <a:avLst/>
          </a:prstGeom>
          <a:noFill/>
          <a:ln/>
        </p:spPr>
        <p:txBody>
          <a:bodyPr wrap="none" lIns="0" tIns="0" rIns="0" bIns="0" rtlCol="0" anchor="ctr"/>
          <a:lstStyle/>
          <a:p>
            <a:pPr algn="ctr" indent="0" marL="0">
              <a:buNone/>
            </a:pPr>
            <a:r>
              <a:rPr lang="en-US" sz="3375" dirty="0">
                <a:solidFill>
                  <a:srgbClr val="C7912C"/>
                </a:solidFill>
                <a:latin typeface="Segoe UI Symbol" pitchFamily="34" charset="0"/>
                <a:ea typeface="Segoe UI Symbol" pitchFamily="34" charset="-122"/>
                <a:cs typeface="Segoe UI Symbol" pitchFamily="34" charset="-120"/>
              </a:rPr>
              <a:t>“</a:t>
            </a:r>
            <a:endParaRPr lang="en-US" sz="3375" dirty="0"/>
          </a:p>
        </p:txBody>
      </p:sp>
      <p:sp>
        <p:nvSpPr>
          <p:cNvPr id="9" name="Text 7"/>
          <p:cNvSpPr/>
          <p:nvPr/>
        </p:nvSpPr>
        <p:spPr>
          <a:xfrm>
            <a:off x="1185863" y="1471613"/>
            <a:ext cx="7272338" cy="162547"/>
          </a:xfrm>
          <a:prstGeom prst="rect">
            <a:avLst/>
          </a:prstGeom>
          <a:noFill/>
          <a:ln/>
        </p:spPr>
        <p:txBody>
          <a:bodyPr wrap="none" lIns="0" tIns="0" rIns="0" bIns="0" rtlCol="0" anchor="t">
            <a:normAutofit/>
          </a:bodyPr>
          <a:lstStyle/>
          <a:p>
            <a:pPr algn="l" indent="0" marL="0">
              <a:lnSpc>
                <a:spcPts val="1046"/>
              </a:lnSpc>
              <a:buNone/>
            </a:pPr>
            <a:r>
              <a:rPr lang="en-US" sz="800" b="1" spc="122" kern="0" dirty="0">
                <a:solidFill>
                  <a:srgbClr val="9A6E1E"/>
                </a:solidFill>
                <a:latin typeface="Carlito" pitchFamily="34" charset="0"/>
                <a:ea typeface="Carlito" pitchFamily="34" charset="-122"/>
                <a:cs typeface="Carlito" pitchFamily="34" charset="-120"/>
              </a:rPr>
              <a:t>সংজ্ঞা</a:t>
            </a:r>
            <a:endParaRPr lang="en-US" sz="800" dirty="0"/>
          </a:p>
        </p:txBody>
      </p:sp>
      <p:sp>
        <p:nvSpPr>
          <p:cNvPr id="10" name="Text 8"/>
          <p:cNvSpPr/>
          <p:nvPr/>
        </p:nvSpPr>
        <p:spPr>
          <a:xfrm>
            <a:off x="1185863" y="1661592"/>
            <a:ext cx="7272338" cy="485775"/>
          </a:xfrm>
          <a:prstGeom prst="rect">
            <a:avLst/>
          </a:prstGeom>
          <a:noFill/>
          <a:ln/>
        </p:spPr>
        <p:txBody>
          <a:bodyPr wrap="square" lIns="0" tIns="0" rIns="0" bIns="0" rtlCol="0" anchor="t"/>
          <a:lstStyle/>
          <a:p>
            <a:pPr algn="l" indent="0" marL="0">
              <a:lnSpc>
                <a:spcPts val="1913"/>
              </a:lnSpc>
              <a:buNone/>
            </a:pPr>
            <a:r>
              <a:rPr lang="en-US" sz="1125" dirty="0">
                <a:solidFill>
                  <a:srgbClr val="14342A"/>
                </a:solidFill>
                <a:latin typeface="Tinos" pitchFamily="34" charset="0"/>
                <a:ea typeface="Tinos" pitchFamily="34" charset="-122"/>
                <a:cs typeface="Tinos" pitchFamily="34" charset="-120"/>
              </a:rPr>
              <a:t>কীটপতঙ্গ বা রোগজীবাণুর বংশগত বৈশিষ্ট্য যার ফলে একটি বালাইনাশক যা পূর্বে কার্যকর ছিল, তা আর সেই পোকা বা রোগকে দমন করতে পারে না। অতিরিক্ত বা অনিয়ন্ত্রিত ব্যবহার, ভুল মাত্রা, এবং একই গ্রুপের বালাইনাশকের পুনরাবৃত্তি — এই তিন কারণে প্রতিরোধ ক্ষমতা তৈরি হয়।</a:t>
            </a:r>
            <a:endParaRPr lang="en-US" sz="1125" dirty="0"/>
          </a:p>
        </p:txBody>
      </p:sp>
      <p:sp>
        <p:nvSpPr>
          <p:cNvPr id="11" name="Text 9"/>
          <p:cNvSpPr/>
          <p:nvPr/>
        </p:nvSpPr>
        <p:spPr>
          <a:xfrm>
            <a:off x="457200" y="3883409"/>
            <a:ext cx="4050506" cy="817178"/>
          </a:xfrm>
          <a:prstGeom prst="roundRect">
            <a:avLst>
              <a:gd name="adj" fmla="val 16318"/>
            </a:avLst>
          </a:prstGeom>
          <a:solidFill>
            <a:srgbClr val="F2ECDD"/>
          </a:solidFill>
          <a:ln/>
        </p:spPr>
        <p:txBody>
          <a:bodyPr wrap="square" rtlCol="0" anchor="ctr"/>
          <a:lstStyle/>
          <a:p>
            <a:pPr indent="0" marL="0">
              <a:buNone/>
            </a:pPr>
            <a:endParaRPr lang="en-US" dirty="0"/>
          </a:p>
        </p:txBody>
      </p:sp>
      <p:sp>
        <p:nvSpPr>
          <p:cNvPr id="12" name="Text 10"/>
          <p:cNvSpPr/>
          <p:nvPr/>
        </p:nvSpPr>
        <p:spPr>
          <a:xfrm>
            <a:off x="614363" y="4026284"/>
            <a:ext cx="300038" cy="300038"/>
          </a:xfrm>
          <a:prstGeom prst="roundRect">
            <a:avLst>
              <a:gd name="adj" fmla="val 31746"/>
            </a:avLst>
          </a:prstGeom>
          <a:solidFill>
            <a:srgbClr val="1E4D3B"/>
          </a:solidFill>
          <a:ln/>
        </p:spPr>
        <p:txBody>
          <a:bodyPr wrap="square" rtlCol="0" anchor="ctr"/>
          <a:lstStyle/>
          <a:p>
            <a:pPr indent="0" marL="0">
              <a:buNone/>
            </a:pPr>
            <a:endParaRPr lang="en-US" dirty="0"/>
          </a:p>
        </p:txBody>
      </p:sp>
      <p:sp>
        <p:nvSpPr>
          <p:cNvPr id="13" name="Text 11"/>
          <p:cNvSpPr/>
          <p:nvPr/>
        </p:nvSpPr>
        <p:spPr>
          <a:xfrm>
            <a:off x="640080" y="4052002"/>
            <a:ext cx="248602" cy="248602"/>
          </a:xfrm>
          <a:prstGeom prst="rect">
            <a:avLst/>
          </a:prstGeom>
          <a:noFill/>
          <a:ln/>
        </p:spPr>
        <p:txBody>
          <a:bodyPr wrap="none" lIns="0" tIns="0" rIns="0" bIns="0" rtlCol="0" anchor="ctr"/>
          <a:lstStyle/>
          <a:p>
            <a:pPr algn="ctr" indent="0" marL="0">
              <a:buNone/>
            </a:pPr>
            <a:r>
              <a:rPr lang="en-US" sz="1688" dirty="0">
                <a:solidFill>
                  <a:srgbClr val="FAF6EE"/>
                </a:solidFill>
                <a:latin typeface="Segoe UI Symbol" pitchFamily="34" charset="0"/>
                <a:ea typeface="Segoe UI Symbol" pitchFamily="34" charset="-122"/>
                <a:cs typeface="Segoe UI Symbol" pitchFamily="34" charset="-120"/>
              </a:rPr>
              <a:t>⚗</a:t>
            </a:r>
            <a:endParaRPr lang="en-US" sz="1688" dirty="0"/>
          </a:p>
        </p:txBody>
      </p:sp>
      <p:sp>
        <p:nvSpPr>
          <p:cNvPr id="14" name="Text 12"/>
          <p:cNvSpPr/>
          <p:nvPr/>
        </p:nvSpPr>
        <p:spPr>
          <a:xfrm>
            <a:off x="985838" y="4094038"/>
            <a:ext cx="3364706" cy="177692"/>
          </a:xfrm>
          <a:prstGeom prst="rect">
            <a:avLst/>
          </a:prstGeom>
          <a:noFill/>
          <a:ln/>
        </p:spPr>
        <p:txBody>
          <a:bodyPr wrap="none" lIns="0" tIns="0" rIns="0" bIns="0" rtlCol="0" anchor="t"/>
          <a:lstStyle/>
          <a:p>
            <a:pPr algn="l" indent="0" marL="0">
              <a:lnSpc>
                <a:spcPts val="1296"/>
              </a:lnSpc>
              <a:buNone/>
            </a:pPr>
            <a:r>
              <a:rPr lang="en-US" sz="1013" dirty="0">
                <a:solidFill>
                  <a:srgbClr val="1E4D3B"/>
                </a:solidFill>
                <a:latin typeface="Tinos" pitchFamily="34" charset="0"/>
                <a:ea typeface="Tinos" pitchFamily="34" charset="-122"/>
                <a:cs typeface="Tinos" pitchFamily="34" charset="-120"/>
              </a:rPr>
              <a:t>বংশগত বৈশিষ্ট্য</a:t>
            </a:r>
            <a:endParaRPr lang="en-US" sz="1013" dirty="0"/>
          </a:p>
        </p:txBody>
      </p:sp>
      <p:sp>
        <p:nvSpPr>
          <p:cNvPr id="15" name="Text 13"/>
          <p:cNvSpPr/>
          <p:nvPr/>
        </p:nvSpPr>
        <p:spPr>
          <a:xfrm>
            <a:off x="614363" y="4397759"/>
            <a:ext cx="3736181" cy="159953"/>
          </a:xfrm>
          <a:prstGeom prst="rect">
            <a:avLst/>
          </a:prstGeom>
          <a:noFill/>
          <a:ln/>
        </p:spPr>
        <p:txBody>
          <a:bodyPr wrap="square" lIns="0" tIns="0" rIns="0" bIns="0" rtlCol="0" anchor="t"/>
          <a:lstStyle/>
          <a:p>
            <a:pPr algn="l" indent="0" marL="0">
              <a:lnSpc>
                <a:spcPts val="1260"/>
              </a:lnSpc>
              <a:buNone/>
            </a:pPr>
            <a:r>
              <a:rPr lang="en-US" sz="788" dirty="0">
                <a:solidFill>
                  <a:srgbClr val="1A1A1A"/>
                </a:solidFill>
                <a:latin typeface="Carlito" pitchFamily="34" charset="0"/>
                <a:ea typeface="Carlito" pitchFamily="34" charset="-122"/>
                <a:cs typeface="Carlito" pitchFamily="34" charset="-120"/>
              </a:rPr>
              <a:t>একবার তৈরি হলে পরবর্তী প্রজন্মে স্থানান্তরিত হয়। পোকার পুরো পপুলেশন দ্রুত প্রতিরোধী হয়ে ওঠে।</a:t>
            </a:r>
            <a:endParaRPr lang="en-US" sz="788" dirty="0"/>
          </a:p>
        </p:txBody>
      </p:sp>
      <p:sp>
        <p:nvSpPr>
          <p:cNvPr id="16" name="Text 14"/>
          <p:cNvSpPr/>
          <p:nvPr/>
        </p:nvSpPr>
        <p:spPr>
          <a:xfrm>
            <a:off x="4636294" y="3883409"/>
            <a:ext cx="4050506" cy="817178"/>
          </a:xfrm>
          <a:prstGeom prst="roundRect">
            <a:avLst>
              <a:gd name="adj" fmla="val 16318"/>
            </a:avLst>
          </a:prstGeom>
          <a:solidFill>
            <a:srgbClr val="F2ECDD"/>
          </a:solidFill>
          <a:ln/>
        </p:spPr>
        <p:txBody>
          <a:bodyPr wrap="square" rtlCol="0" anchor="ctr"/>
          <a:lstStyle/>
          <a:p>
            <a:pPr indent="0" marL="0">
              <a:buNone/>
            </a:pPr>
            <a:endParaRPr lang="en-US" dirty="0"/>
          </a:p>
        </p:txBody>
      </p:sp>
      <p:sp>
        <p:nvSpPr>
          <p:cNvPr id="17" name="Text 15"/>
          <p:cNvSpPr/>
          <p:nvPr/>
        </p:nvSpPr>
        <p:spPr>
          <a:xfrm>
            <a:off x="4793456" y="4026284"/>
            <a:ext cx="300038" cy="300038"/>
          </a:xfrm>
          <a:prstGeom prst="roundRect">
            <a:avLst>
              <a:gd name="adj" fmla="val 31746"/>
            </a:avLst>
          </a:prstGeom>
          <a:solidFill>
            <a:srgbClr val="C7912C"/>
          </a:solidFill>
          <a:ln/>
        </p:spPr>
        <p:txBody>
          <a:bodyPr wrap="square" rtlCol="0" anchor="ctr"/>
          <a:lstStyle/>
          <a:p>
            <a:pPr indent="0" marL="0">
              <a:buNone/>
            </a:pPr>
            <a:endParaRPr lang="en-US" dirty="0"/>
          </a:p>
        </p:txBody>
      </p:sp>
      <p:sp>
        <p:nvSpPr>
          <p:cNvPr id="18" name="Text 16"/>
          <p:cNvSpPr/>
          <p:nvPr/>
        </p:nvSpPr>
        <p:spPr>
          <a:xfrm>
            <a:off x="4819174" y="4052002"/>
            <a:ext cx="248602" cy="248602"/>
          </a:xfrm>
          <a:prstGeom prst="rect">
            <a:avLst/>
          </a:prstGeom>
          <a:noFill/>
          <a:ln/>
        </p:spPr>
        <p:txBody>
          <a:bodyPr wrap="none" lIns="0" tIns="0" rIns="0" bIns="0" rtlCol="0" anchor="ctr"/>
          <a:lstStyle/>
          <a:p>
            <a:pPr algn="ctr" indent="0" marL="0">
              <a:buNone/>
            </a:pPr>
            <a:r>
              <a:rPr lang="en-US" sz="1688" dirty="0">
                <a:solidFill>
                  <a:srgbClr val="FAF6EE"/>
                </a:solidFill>
                <a:latin typeface="Segoe UI Symbol" pitchFamily="34" charset="0"/>
                <a:ea typeface="Segoe UI Symbol" pitchFamily="34" charset="-122"/>
                <a:cs typeface="Segoe UI Symbol" pitchFamily="34" charset="-120"/>
              </a:rPr>
              <a:t>↗</a:t>
            </a:r>
            <a:endParaRPr lang="en-US" sz="1688" dirty="0"/>
          </a:p>
        </p:txBody>
      </p:sp>
      <p:sp>
        <p:nvSpPr>
          <p:cNvPr id="19" name="Text 17"/>
          <p:cNvSpPr/>
          <p:nvPr/>
        </p:nvSpPr>
        <p:spPr>
          <a:xfrm>
            <a:off x="5164931" y="4094038"/>
            <a:ext cx="3364706" cy="177692"/>
          </a:xfrm>
          <a:prstGeom prst="rect">
            <a:avLst/>
          </a:prstGeom>
          <a:noFill/>
          <a:ln/>
        </p:spPr>
        <p:txBody>
          <a:bodyPr wrap="none" lIns="0" tIns="0" rIns="0" bIns="0" rtlCol="0" anchor="t"/>
          <a:lstStyle/>
          <a:p>
            <a:pPr algn="l" indent="0" marL="0">
              <a:lnSpc>
                <a:spcPts val="1296"/>
              </a:lnSpc>
              <a:buNone/>
            </a:pPr>
            <a:r>
              <a:rPr lang="en-US" sz="1013" dirty="0">
                <a:solidFill>
                  <a:srgbClr val="1E4D3B"/>
                </a:solidFill>
                <a:latin typeface="Tinos" pitchFamily="34" charset="0"/>
                <a:ea typeface="Tinos" pitchFamily="34" charset="-122"/>
                <a:cs typeface="Tinos" pitchFamily="34" charset="-120"/>
              </a:rPr>
              <a:t>অপ্রত্যাশিত বৃদ্ধি</a:t>
            </a:r>
            <a:endParaRPr lang="en-US" sz="1013" dirty="0"/>
          </a:p>
        </p:txBody>
      </p:sp>
      <p:sp>
        <p:nvSpPr>
          <p:cNvPr id="20" name="Text 18"/>
          <p:cNvSpPr/>
          <p:nvPr/>
        </p:nvSpPr>
        <p:spPr>
          <a:xfrm>
            <a:off x="4793456" y="4397759"/>
            <a:ext cx="3736181" cy="159953"/>
          </a:xfrm>
          <a:prstGeom prst="rect">
            <a:avLst/>
          </a:prstGeom>
          <a:noFill/>
          <a:ln/>
        </p:spPr>
        <p:txBody>
          <a:bodyPr wrap="square" lIns="0" tIns="0" rIns="0" bIns="0" rtlCol="0" anchor="t"/>
          <a:lstStyle/>
          <a:p>
            <a:pPr algn="l" indent="0" marL="0">
              <a:lnSpc>
                <a:spcPts val="1260"/>
              </a:lnSpc>
              <a:buNone/>
            </a:pPr>
            <a:r>
              <a:rPr lang="en-US" sz="788" dirty="0">
                <a:solidFill>
                  <a:srgbClr val="1A1A1A"/>
                </a:solidFill>
                <a:latin typeface="Carlito" pitchFamily="34" charset="0"/>
                <a:ea typeface="Carlito" pitchFamily="34" charset="-122"/>
                <a:cs typeface="Carlito" pitchFamily="34" charset="-120"/>
              </a:rPr>
              <a:t>প্রতিরোধী পোকা দ্রুত বংশবৃদ্ধি করে। পরবর্তী মৌসুমে আরও বেশি ক্ষতি হয়, নতুন বালাইনাশকও কাজ করে না।</a:t>
            </a:r>
            <a:endParaRPr lang="en-US" sz="788" dirty="0"/>
          </a:p>
        </p:txBody>
      </p:sp>
      <p:sp>
        <p:nvSpPr>
          <p:cNvPr id="21" name="Text 19"/>
          <p:cNvSpPr/>
          <p:nvPr/>
        </p:nvSpPr>
        <p:spPr>
          <a:xfrm>
            <a:off x="8694725" y="4706392"/>
            <a:ext cx="30736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২৮</a:t>
            </a:r>
            <a:endParaRPr lang="en-US" sz="1350" dirty="0"/>
          </a:p>
        </p:txBody>
      </p:sp>
      <p:pic>
        <p:nvPicPr>
          <p:cNvPr id="22"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57200" y="474390"/>
            <a:ext cx="3997773" cy="286911"/>
          </a:xfrm>
          <a:prstGeom prst="rect">
            <a:avLst/>
          </a:prstGeom>
          <a:noFill/>
          <a:ln/>
        </p:spPr>
        <p:txBody>
          <a:bodyPr wrap="squar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০৫ · প্রতিরোধ ক্ষমতা ও দীর্ঘমেয়াদি ক্ষতি</a:t>
            </a:r>
            <a:endParaRPr lang="en-US" sz="1350" dirty="0"/>
          </a:p>
        </p:txBody>
      </p:sp>
      <p:sp>
        <p:nvSpPr>
          <p:cNvPr id="3" name="Text 1"/>
          <p:cNvSpPr/>
          <p:nvPr/>
        </p:nvSpPr>
        <p:spPr>
          <a:xfrm>
            <a:off x="457200" y="840060"/>
            <a:ext cx="8636000" cy="509809"/>
          </a:xfrm>
          <a:prstGeom prst="rect">
            <a:avLst/>
          </a:prstGeom>
          <a:noFill/>
          <a:ln/>
        </p:spPr>
        <p:txBody>
          <a:bodyPr wrap="square" lIns="0" tIns="0" rIns="0" bIns="0" rtlCol="0" anchor="t"/>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প্রতিরোধ ক্ষমতার প্রধান কারণ</a:t>
            </a:r>
            <a:endParaRPr lang="en-US" sz="3150" dirty="0"/>
          </a:p>
        </p:txBody>
      </p:sp>
      <p:sp>
        <p:nvSpPr>
          <p:cNvPr id="4" name="Shape 2"/>
          <p:cNvSpPr/>
          <p:nvPr/>
        </p:nvSpPr>
        <p:spPr>
          <a:xfrm>
            <a:off x="457200" y="1422834"/>
            <a:ext cx="400050" cy="0"/>
          </a:xfrm>
          <a:prstGeom prst="line">
            <a:avLst/>
          </a:prstGeom>
          <a:noFill/>
          <a:ln w="7144">
            <a:solidFill>
              <a:srgbClr val="1A1A1A"/>
            </a:solidFill>
            <a:prstDash val="solid"/>
          </a:ln>
        </p:spPr>
        <p:txBody>
          <a:bodyPr/>
          <a:p/>
        </p:txBody>
      </p:sp>
      <p:sp>
        <p:nvSpPr>
          <p:cNvPr id="5" name="Text 3"/>
          <p:cNvSpPr/>
          <p:nvPr/>
        </p:nvSpPr>
        <p:spPr>
          <a:xfrm>
            <a:off x="457200" y="1428750"/>
            <a:ext cx="4057650" cy="1578769"/>
          </a:xfrm>
          <a:prstGeom prst="roundRect">
            <a:avLst>
              <a:gd name="adj" fmla="val 8446"/>
            </a:avLst>
          </a:prstGeom>
          <a:solidFill>
            <a:srgbClr val="FFFFFF"/>
          </a:solidFill>
          <a:ln/>
        </p:spPr>
        <p:txBody>
          <a:bodyPr wrap="square" rtlCol="0" anchor="ctr"/>
          <a:lstStyle/>
          <a:p>
            <a:pPr indent="0" marL="0">
              <a:buNone/>
            </a:pPr>
            <a:endParaRPr lang="en-US" dirty="0"/>
          </a:p>
        </p:txBody>
      </p:sp>
      <p:sp>
        <p:nvSpPr>
          <p:cNvPr id="6" name="Shape 4"/>
          <p:cNvSpPr/>
          <p:nvPr/>
        </p:nvSpPr>
        <p:spPr>
          <a:xfrm>
            <a:off x="457200" y="1443038"/>
            <a:ext cx="4057650" cy="0"/>
          </a:xfrm>
          <a:prstGeom prst="line">
            <a:avLst/>
          </a:prstGeom>
          <a:noFill/>
          <a:ln w="28575">
            <a:solidFill>
              <a:srgbClr val="B23A2A"/>
            </a:solidFill>
            <a:prstDash val="solid"/>
          </a:ln>
        </p:spPr>
        <p:txBody>
          <a:bodyPr/>
          <a:p/>
        </p:txBody>
      </p:sp>
      <p:sp>
        <p:nvSpPr>
          <p:cNvPr id="7" name="Shape 5"/>
          <p:cNvSpPr/>
          <p:nvPr/>
        </p:nvSpPr>
        <p:spPr>
          <a:xfrm>
            <a:off x="4511278" y="1428750"/>
            <a:ext cx="0" cy="1578769"/>
          </a:xfrm>
          <a:prstGeom prst="line">
            <a:avLst/>
          </a:prstGeom>
          <a:noFill/>
          <a:ln w="7144">
            <a:solidFill>
              <a:srgbClr val="D9D2BF"/>
            </a:solidFill>
            <a:prstDash val="solid"/>
          </a:ln>
        </p:spPr>
        <p:txBody>
          <a:bodyPr/>
          <a:p/>
        </p:txBody>
      </p:sp>
      <p:sp>
        <p:nvSpPr>
          <p:cNvPr id="8" name="Shape 6"/>
          <p:cNvSpPr/>
          <p:nvPr/>
        </p:nvSpPr>
        <p:spPr>
          <a:xfrm>
            <a:off x="457200" y="3003947"/>
            <a:ext cx="4057650" cy="0"/>
          </a:xfrm>
          <a:prstGeom prst="line">
            <a:avLst/>
          </a:prstGeom>
          <a:noFill/>
          <a:ln w="7144">
            <a:solidFill>
              <a:srgbClr val="D9D2BF"/>
            </a:solidFill>
            <a:prstDash val="solid"/>
          </a:ln>
        </p:spPr>
        <p:txBody>
          <a:bodyPr/>
          <a:p/>
        </p:txBody>
      </p:sp>
      <p:sp>
        <p:nvSpPr>
          <p:cNvPr id="9" name="Shape 7"/>
          <p:cNvSpPr/>
          <p:nvPr/>
        </p:nvSpPr>
        <p:spPr>
          <a:xfrm>
            <a:off x="460772" y="1428750"/>
            <a:ext cx="0" cy="1578769"/>
          </a:xfrm>
          <a:prstGeom prst="line">
            <a:avLst/>
          </a:prstGeom>
          <a:noFill/>
          <a:ln w="7144">
            <a:solidFill>
              <a:srgbClr val="D9D2BF"/>
            </a:solidFill>
            <a:prstDash val="solid"/>
          </a:ln>
        </p:spPr>
        <p:txBody>
          <a:bodyPr/>
          <a:p/>
        </p:txBody>
      </p:sp>
      <p:sp>
        <p:nvSpPr>
          <p:cNvPr id="10" name="Text 8"/>
          <p:cNvSpPr/>
          <p:nvPr/>
        </p:nvSpPr>
        <p:spPr>
          <a:xfrm>
            <a:off x="635794" y="1614488"/>
            <a:ext cx="314325" cy="314325"/>
          </a:xfrm>
          <a:prstGeom prst="roundRect">
            <a:avLst>
              <a:gd name="adj" fmla="val 30303"/>
            </a:avLst>
          </a:prstGeom>
          <a:solidFill>
            <a:srgbClr val="F2E0DC"/>
          </a:solidFill>
          <a:ln/>
        </p:spPr>
        <p:txBody>
          <a:bodyPr wrap="square" rtlCol="0" anchor="ctr"/>
          <a:lstStyle/>
          <a:p>
            <a:pPr indent="0" marL="0">
              <a:buNone/>
            </a:pPr>
            <a:endParaRPr lang="en-US" dirty="0"/>
          </a:p>
        </p:txBody>
      </p:sp>
      <p:sp>
        <p:nvSpPr>
          <p:cNvPr id="11" name="Text 9"/>
          <p:cNvSpPr/>
          <p:nvPr/>
        </p:nvSpPr>
        <p:spPr>
          <a:xfrm>
            <a:off x="668655" y="1647349"/>
            <a:ext cx="248602" cy="248602"/>
          </a:xfrm>
          <a:prstGeom prst="rect">
            <a:avLst/>
          </a:prstGeom>
          <a:noFill/>
          <a:ln/>
        </p:spPr>
        <p:txBody>
          <a:bodyPr wrap="none" lIns="0" tIns="0" rIns="0" bIns="0" rtlCol="0" anchor="ctr"/>
          <a:lstStyle/>
          <a:p>
            <a:pPr algn="ctr" indent="0" marL="0">
              <a:buNone/>
            </a:pPr>
            <a:r>
              <a:rPr lang="en-US" sz="1688" dirty="0">
                <a:solidFill>
                  <a:srgbClr val="B23A2A"/>
                </a:solidFill>
                <a:latin typeface="Segoe UI Symbol" pitchFamily="34" charset="0"/>
                <a:ea typeface="Segoe UI Symbol" pitchFamily="34" charset="-122"/>
                <a:cs typeface="Segoe UI Symbol" pitchFamily="34" charset="-120"/>
              </a:rPr>
              <a:t>⚠</a:t>
            </a:r>
            <a:endParaRPr lang="en-US" sz="1688" dirty="0"/>
          </a:p>
        </p:txBody>
      </p:sp>
      <p:sp>
        <p:nvSpPr>
          <p:cNvPr id="12" name="Text 10"/>
          <p:cNvSpPr/>
          <p:nvPr/>
        </p:nvSpPr>
        <p:spPr>
          <a:xfrm>
            <a:off x="1035844" y="1628440"/>
            <a:ext cx="1137285" cy="94347"/>
          </a:xfrm>
          <a:prstGeom prst="rect">
            <a:avLst/>
          </a:prstGeom>
          <a:noFill/>
          <a:ln/>
        </p:spPr>
        <p:txBody>
          <a:bodyPr wrap="none" lIns="0" tIns="0" rIns="0" bIns="0" rtlCol="0" anchor="t">
            <a:normAutofit/>
          </a:bodyPr>
          <a:lstStyle/>
          <a:p>
            <a:pPr algn="l" indent="0" marL="0">
              <a:lnSpc>
                <a:spcPts val="959"/>
              </a:lnSpc>
              <a:buNone/>
            </a:pPr>
            <a:r>
              <a:rPr lang="en-US" sz="800" b="1" spc="87" kern="0" dirty="0">
                <a:solidFill>
                  <a:srgbClr val="9A6E1E"/>
                </a:solidFill>
                <a:latin typeface="Carlito" pitchFamily="34" charset="0"/>
                <a:ea typeface="Carlito" pitchFamily="34" charset="-122"/>
                <a:cs typeface="Carlito" pitchFamily="34" charset="-120"/>
              </a:rPr>
              <a:t>০১</a:t>
            </a:r>
            <a:endParaRPr lang="en-US" sz="800" dirty="0"/>
          </a:p>
        </p:txBody>
      </p:sp>
      <p:sp>
        <p:nvSpPr>
          <p:cNvPr id="13" name="Text 11"/>
          <p:cNvSpPr/>
          <p:nvPr/>
        </p:nvSpPr>
        <p:spPr>
          <a:xfrm>
            <a:off x="1035844" y="1750219"/>
            <a:ext cx="833061" cy="177692"/>
          </a:xfrm>
          <a:prstGeom prst="rect">
            <a:avLst/>
          </a:prstGeom>
          <a:noFill/>
          <a:ln/>
        </p:spPr>
        <p:txBody>
          <a:bodyPr wrap="square" lIns="0" tIns="0" rIns="0" bIns="0" rtlCol="0" anchor="t"/>
          <a:lstStyle/>
          <a:p>
            <a:pPr algn="l" indent="0" marL="0">
              <a:lnSpc>
                <a:spcPts val="1296"/>
              </a:lnSpc>
              <a:buNone/>
            </a:pPr>
            <a:r>
              <a:rPr lang="en-US" sz="1013" dirty="0">
                <a:solidFill>
                  <a:srgbClr val="1E4D3B"/>
                </a:solidFill>
                <a:latin typeface="Tinos" pitchFamily="34" charset="0"/>
                <a:ea typeface="Tinos" pitchFamily="34" charset="-122"/>
                <a:cs typeface="Tinos" pitchFamily="34" charset="-120"/>
              </a:rPr>
              <a:t>অতিরিক্ত ব্যবহার</a:t>
            </a:r>
            <a:endParaRPr lang="en-US" sz="1013" dirty="0"/>
          </a:p>
        </p:txBody>
      </p:sp>
      <p:sp>
        <p:nvSpPr>
          <p:cNvPr id="14" name="Text 12"/>
          <p:cNvSpPr/>
          <p:nvPr/>
        </p:nvSpPr>
        <p:spPr>
          <a:xfrm>
            <a:off x="635794" y="2000250"/>
            <a:ext cx="3700463" cy="362004"/>
          </a:xfrm>
          <a:prstGeom prst="rect">
            <a:avLst/>
          </a:prstGeom>
          <a:noFill/>
          <a:ln/>
        </p:spPr>
        <p:txBody>
          <a:bodyPr wrap="square" lIns="0" tIns="0" rIns="0" bIns="0" rtlCol="0" anchor="t"/>
          <a:lstStyle/>
          <a:p>
            <a:pPr algn="l" indent="0" marL="0">
              <a:lnSpc>
                <a:spcPts val="1299"/>
              </a:lnSpc>
              <a:buNone/>
            </a:pPr>
            <a:r>
              <a:rPr lang="en-US" sz="800" dirty="0">
                <a:solidFill>
                  <a:srgbClr val="1A1A1A"/>
                </a:solidFill>
                <a:latin typeface="Carlito" pitchFamily="34" charset="0"/>
                <a:ea typeface="Carlito" pitchFamily="34" charset="-122"/>
                <a:cs typeface="Carlito" pitchFamily="34" charset="-120"/>
              </a:rPr>
              <a:t>প্রয়োজনের চেয়ে বেশি মাত্রা বা ফ্রিকোয়েন্সি — পোকার মধ্যে বেঁচে থাকা প্রতিরোধী ব্যক্তিদের দ্রুত বংশবৃদ্ধির সুযোগ করে।</a:t>
            </a:r>
            <a:endParaRPr lang="en-US" sz="800" dirty="0"/>
          </a:p>
        </p:txBody>
      </p:sp>
      <p:sp>
        <p:nvSpPr>
          <p:cNvPr id="15" name="Text 13"/>
          <p:cNvSpPr/>
          <p:nvPr/>
        </p:nvSpPr>
        <p:spPr>
          <a:xfrm>
            <a:off x="4629150" y="1428750"/>
            <a:ext cx="4057650" cy="1578769"/>
          </a:xfrm>
          <a:prstGeom prst="roundRect">
            <a:avLst>
              <a:gd name="adj" fmla="val 8446"/>
            </a:avLst>
          </a:prstGeom>
          <a:solidFill>
            <a:srgbClr val="FFFFFF"/>
          </a:solidFill>
          <a:ln/>
        </p:spPr>
        <p:txBody>
          <a:bodyPr wrap="square" rtlCol="0" anchor="ctr"/>
          <a:lstStyle/>
          <a:p>
            <a:pPr indent="0" marL="0">
              <a:buNone/>
            </a:pPr>
            <a:endParaRPr lang="en-US" dirty="0"/>
          </a:p>
        </p:txBody>
      </p:sp>
      <p:sp>
        <p:nvSpPr>
          <p:cNvPr id="16" name="Shape 14"/>
          <p:cNvSpPr/>
          <p:nvPr/>
        </p:nvSpPr>
        <p:spPr>
          <a:xfrm>
            <a:off x="4629150" y="1443038"/>
            <a:ext cx="4057650" cy="0"/>
          </a:xfrm>
          <a:prstGeom prst="line">
            <a:avLst/>
          </a:prstGeom>
          <a:noFill/>
          <a:ln w="28575">
            <a:solidFill>
              <a:srgbClr val="1E4D3B"/>
            </a:solidFill>
            <a:prstDash val="solid"/>
          </a:ln>
        </p:spPr>
        <p:txBody>
          <a:bodyPr/>
          <a:p/>
        </p:txBody>
      </p:sp>
      <p:sp>
        <p:nvSpPr>
          <p:cNvPr id="17" name="Shape 15"/>
          <p:cNvSpPr/>
          <p:nvPr/>
        </p:nvSpPr>
        <p:spPr>
          <a:xfrm>
            <a:off x="8683228" y="1428750"/>
            <a:ext cx="0" cy="1578769"/>
          </a:xfrm>
          <a:prstGeom prst="line">
            <a:avLst/>
          </a:prstGeom>
          <a:noFill/>
          <a:ln w="7144">
            <a:solidFill>
              <a:srgbClr val="D9D2BF"/>
            </a:solidFill>
            <a:prstDash val="solid"/>
          </a:ln>
        </p:spPr>
        <p:txBody>
          <a:bodyPr/>
          <a:p/>
        </p:txBody>
      </p:sp>
      <p:sp>
        <p:nvSpPr>
          <p:cNvPr id="18" name="Shape 16"/>
          <p:cNvSpPr/>
          <p:nvPr/>
        </p:nvSpPr>
        <p:spPr>
          <a:xfrm>
            <a:off x="4629150" y="3003947"/>
            <a:ext cx="4057650" cy="0"/>
          </a:xfrm>
          <a:prstGeom prst="line">
            <a:avLst/>
          </a:prstGeom>
          <a:noFill/>
          <a:ln w="7144">
            <a:solidFill>
              <a:srgbClr val="D9D2BF"/>
            </a:solidFill>
            <a:prstDash val="solid"/>
          </a:ln>
        </p:spPr>
        <p:txBody>
          <a:bodyPr/>
          <a:p/>
        </p:txBody>
      </p:sp>
      <p:sp>
        <p:nvSpPr>
          <p:cNvPr id="19" name="Shape 17"/>
          <p:cNvSpPr/>
          <p:nvPr/>
        </p:nvSpPr>
        <p:spPr>
          <a:xfrm>
            <a:off x="4632722" y="1428750"/>
            <a:ext cx="0" cy="1578769"/>
          </a:xfrm>
          <a:prstGeom prst="line">
            <a:avLst/>
          </a:prstGeom>
          <a:noFill/>
          <a:ln w="7144">
            <a:solidFill>
              <a:srgbClr val="D9D2BF"/>
            </a:solidFill>
            <a:prstDash val="solid"/>
          </a:ln>
        </p:spPr>
        <p:txBody>
          <a:bodyPr/>
          <a:p/>
        </p:txBody>
      </p:sp>
      <p:sp>
        <p:nvSpPr>
          <p:cNvPr id="20" name="Text 18"/>
          <p:cNvSpPr/>
          <p:nvPr/>
        </p:nvSpPr>
        <p:spPr>
          <a:xfrm>
            <a:off x="4807744" y="1614488"/>
            <a:ext cx="314325" cy="314325"/>
          </a:xfrm>
          <a:prstGeom prst="roundRect">
            <a:avLst>
              <a:gd name="adj" fmla="val 30303"/>
            </a:avLst>
          </a:prstGeom>
          <a:solidFill>
            <a:srgbClr val="E6EDE9"/>
          </a:solidFill>
          <a:ln/>
        </p:spPr>
        <p:txBody>
          <a:bodyPr wrap="square" rtlCol="0" anchor="ctr"/>
          <a:lstStyle/>
          <a:p>
            <a:pPr indent="0" marL="0">
              <a:buNone/>
            </a:pPr>
            <a:endParaRPr lang="en-US" dirty="0"/>
          </a:p>
        </p:txBody>
      </p:sp>
      <p:sp>
        <p:nvSpPr>
          <p:cNvPr id="21" name="Text 19"/>
          <p:cNvSpPr/>
          <p:nvPr/>
        </p:nvSpPr>
        <p:spPr>
          <a:xfrm>
            <a:off x="4840605" y="1647349"/>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22" name="Text 20"/>
          <p:cNvSpPr/>
          <p:nvPr/>
        </p:nvSpPr>
        <p:spPr>
          <a:xfrm>
            <a:off x="5207794" y="1628440"/>
            <a:ext cx="1617345" cy="94347"/>
          </a:xfrm>
          <a:prstGeom prst="rect">
            <a:avLst/>
          </a:prstGeom>
          <a:noFill/>
          <a:ln/>
        </p:spPr>
        <p:txBody>
          <a:bodyPr wrap="none" lIns="0" tIns="0" rIns="0" bIns="0" rtlCol="0" anchor="t">
            <a:normAutofit/>
          </a:bodyPr>
          <a:lstStyle/>
          <a:p>
            <a:pPr algn="l" indent="0" marL="0">
              <a:lnSpc>
                <a:spcPts val="959"/>
              </a:lnSpc>
              <a:buNone/>
            </a:pPr>
            <a:r>
              <a:rPr lang="en-US" sz="800" b="1" spc="87" kern="0" dirty="0">
                <a:solidFill>
                  <a:srgbClr val="9A6E1E"/>
                </a:solidFill>
                <a:latin typeface="Carlito" pitchFamily="34" charset="0"/>
                <a:ea typeface="Carlito" pitchFamily="34" charset="-122"/>
                <a:cs typeface="Carlito" pitchFamily="34" charset="-120"/>
              </a:rPr>
              <a:t>০২</a:t>
            </a:r>
            <a:endParaRPr lang="en-US" sz="800" dirty="0"/>
          </a:p>
        </p:txBody>
      </p:sp>
      <p:sp>
        <p:nvSpPr>
          <p:cNvPr id="23" name="Text 21"/>
          <p:cNvSpPr/>
          <p:nvPr/>
        </p:nvSpPr>
        <p:spPr>
          <a:xfrm>
            <a:off x="5207794" y="1750219"/>
            <a:ext cx="1184705" cy="177692"/>
          </a:xfrm>
          <a:prstGeom prst="rect">
            <a:avLst/>
          </a:prstGeom>
          <a:noFill/>
          <a:ln/>
        </p:spPr>
        <p:txBody>
          <a:bodyPr wrap="none" lIns="0" tIns="0" rIns="0" bIns="0" rtlCol="0" anchor="t"/>
          <a:lstStyle/>
          <a:p>
            <a:pPr algn="l" indent="0" marL="0">
              <a:lnSpc>
                <a:spcPts val="1296"/>
              </a:lnSpc>
              <a:buNone/>
            </a:pPr>
            <a:r>
              <a:rPr lang="en-US" sz="1013" dirty="0">
                <a:solidFill>
                  <a:srgbClr val="1E4D3B"/>
                </a:solidFill>
                <a:latin typeface="Tinos" pitchFamily="34" charset="0"/>
                <a:ea typeface="Tinos" pitchFamily="34" charset="-122"/>
                <a:cs typeface="Tinos" pitchFamily="34" charset="-120"/>
              </a:rPr>
              <a:t>একই মোড অফ অ্যাকশন</a:t>
            </a:r>
            <a:endParaRPr lang="en-US" sz="1013" dirty="0"/>
          </a:p>
        </p:txBody>
      </p:sp>
      <p:sp>
        <p:nvSpPr>
          <p:cNvPr id="24" name="Text 22"/>
          <p:cNvSpPr/>
          <p:nvPr/>
        </p:nvSpPr>
        <p:spPr>
          <a:xfrm>
            <a:off x="4807744" y="2000250"/>
            <a:ext cx="3700463" cy="181002"/>
          </a:xfrm>
          <a:prstGeom prst="rect">
            <a:avLst/>
          </a:prstGeom>
          <a:noFill/>
          <a:ln/>
        </p:spPr>
        <p:txBody>
          <a:bodyPr wrap="square" lIns="0" tIns="0" rIns="0" bIns="0" rtlCol="0" anchor="t"/>
          <a:lstStyle/>
          <a:p>
            <a:pPr algn="l" indent="0" marL="0">
              <a:lnSpc>
                <a:spcPts val="1299"/>
              </a:lnSpc>
              <a:buNone/>
            </a:pPr>
            <a:r>
              <a:rPr lang="en-US" sz="788" dirty="0">
                <a:solidFill>
                  <a:srgbClr val="1A1A1A"/>
                </a:solidFill>
                <a:latin typeface="Carlito" pitchFamily="34" charset="0"/>
                <a:ea typeface="Carlito" pitchFamily="34" charset="-122"/>
                <a:cs typeface="Carlito" pitchFamily="34" charset="-120"/>
              </a:rPr>
              <a:t>পুনরায় পুনরায় একই রাসায়নিক গ্রুপের ব্যবহার — পোকা সেই নির্দিষ্ট মেকানিজমের বিরুদ্ধে দ্রুত প্রতিরোধী হয়।</a:t>
            </a:r>
            <a:endParaRPr lang="en-US" sz="788" dirty="0"/>
          </a:p>
        </p:txBody>
      </p:sp>
      <p:sp>
        <p:nvSpPr>
          <p:cNvPr id="25" name="Text 23"/>
          <p:cNvSpPr/>
          <p:nvPr/>
        </p:nvSpPr>
        <p:spPr>
          <a:xfrm>
            <a:off x="457200" y="3121819"/>
            <a:ext cx="4057650" cy="1578769"/>
          </a:xfrm>
          <a:prstGeom prst="roundRect">
            <a:avLst>
              <a:gd name="adj" fmla="val 8446"/>
            </a:avLst>
          </a:prstGeom>
          <a:solidFill>
            <a:srgbClr val="FFFFFF"/>
          </a:solidFill>
          <a:ln/>
        </p:spPr>
        <p:txBody>
          <a:bodyPr wrap="square" rtlCol="0" anchor="ctr"/>
          <a:lstStyle/>
          <a:p>
            <a:pPr indent="0" marL="0">
              <a:buNone/>
            </a:pPr>
            <a:endParaRPr lang="en-US" dirty="0"/>
          </a:p>
        </p:txBody>
      </p:sp>
      <p:sp>
        <p:nvSpPr>
          <p:cNvPr id="26" name="Shape 24"/>
          <p:cNvSpPr/>
          <p:nvPr/>
        </p:nvSpPr>
        <p:spPr>
          <a:xfrm>
            <a:off x="457200" y="3136106"/>
            <a:ext cx="4057650" cy="0"/>
          </a:xfrm>
          <a:prstGeom prst="line">
            <a:avLst/>
          </a:prstGeom>
          <a:noFill/>
          <a:ln w="28575">
            <a:solidFill>
              <a:srgbClr val="C7912C"/>
            </a:solidFill>
            <a:prstDash val="solid"/>
          </a:ln>
        </p:spPr>
        <p:txBody>
          <a:bodyPr/>
          <a:p/>
        </p:txBody>
      </p:sp>
      <p:sp>
        <p:nvSpPr>
          <p:cNvPr id="27" name="Shape 25"/>
          <p:cNvSpPr/>
          <p:nvPr/>
        </p:nvSpPr>
        <p:spPr>
          <a:xfrm>
            <a:off x="4511278" y="3121819"/>
            <a:ext cx="0" cy="1578769"/>
          </a:xfrm>
          <a:prstGeom prst="line">
            <a:avLst/>
          </a:prstGeom>
          <a:noFill/>
          <a:ln w="7144">
            <a:solidFill>
              <a:srgbClr val="D9D2BF"/>
            </a:solidFill>
            <a:prstDash val="solid"/>
          </a:ln>
        </p:spPr>
        <p:txBody>
          <a:bodyPr/>
          <a:p/>
        </p:txBody>
      </p:sp>
      <p:sp>
        <p:nvSpPr>
          <p:cNvPr id="28" name="Shape 26"/>
          <p:cNvSpPr/>
          <p:nvPr/>
        </p:nvSpPr>
        <p:spPr>
          <a:xfrm>
            <a:off x="457200" y="4697016"/>
            <a:ext cx="4057650" cy="0"/>
          </a:xfrm>
          <a:prstGeom prst="line">
            <a:avLst/>
          </a:prstGeom>
          <a:noFill/>
          <a:ln w="7144">
            <a:solidFill>
              <a:srgbClr val="D9D2BF"/>
            </a:solidFill>
            <a:prstDash val="solid"/>
          </a:ln>
        </p:spPr>
        <p:txBody>
          <a:bodyPr/>
          <a:p/>
        </p:txBody>
      </p:sp>
      <p:sp>
        <p:nvSpPr>
          <p:cNvPr id="29" name="Shape 27"/>
          <p:cNvSpPr/>
          <p:nvPr/>
        </p:nvSpPr>
        <p:spPr>
          <a:xfrm>
            <a:off x="460772" y="3121819"/>
            <a:ext cx="0" cy="1578769"/>
          </a:xfrm>
          <a:prstGeom prst="line">
            <a:avLst/>
          </a:prstGeom>
          <a:noFill/>
          <a:ln w="7144">
            <a:solidFill>
              <a:srgbClr val="D9D2BF"/>
            </a:solidFill>
            <a:prstDash val="solid"/>
          </a:ln>
        </p:spPr>
        <p:txBody>
          <a:bodyPr/>
          <a:p/>
        </p:txBody>
      </p:sp>
      <p:sp>
        <p:nvSpPr>
          <p:cNvPr id="30" name="Text 28"/>
          <p:cNvSpPr/>
          <p:nvPr/>
        </p:nvSpPr>
        <p:spPr>
          <a:xfrm>
            <a:off x="635794" y="3307556"/>
            <a:ext cx="314325" cy="314325"/>
          </a:xfrm>
          <a:prstGeom prst="roundRect">
            <a:avLst>
              <a:gd name="adj" fmla="val 30303"/>
            </a:avLst>
          </a:prstGeom>
          <a:solidFill>
            <a:srgbClr val="FAF1DD"/>
          </a:solidFill>
          <a:ln/>
        </p:spPr>
        <p:txBody>
          <a:bodyPr wrap="square" rtlCol="0" anchor="ctr"/>
          <a:lstStyle/>
          <a:p>
            <a:pPr indent="0" marL="0">
              <a:buNone/>
            </a:pPr>
            <a:endParaRPr lang="en-US" dirty="0"/>
          </a:p>
        </p:txBody>
      </p:sp>
      <p:sp>
        <p:nvSpPr>
          <p:cNvPr id="31" name="Text 29"/>
          <p:cNvSpPr/>
          <p:nvPr/>
        </p:nvSpPr>
        <p:spPr>
          <a:xfrm>
            <a:off x="668655" y="3340418"/>
            <a:ext cx="248602" cy="248602"/>
          </a:xfrm>
          <a:prstGeom prst="rect">
            <a:avLst/>
          </a:prstGeom>
          <a:noFill/>
          <a:ln/>
        </p:spPr>
        <p:txBody>
          <a:bodyPr wrap="none" lIns="0" tIns="0" rIns="0" bIns="0" rtlCol="0" anchor="ctr"/>
          <a:lstStyle/>
          <a:p>
            <a:pPr algn="ctr" indent="0" marL="0">
              <a:buNone/>
            </a:pPr>
            <a:r>
              <a:rPr lang="en-US" sz="1688" dirty="0">
                <a:solidFill>
                  <a:srgbClr val="C7912C"/>
                </a:solidFill>
                <a:latin typeface="Segoe UI Symbol" pitchFamily="34" charset="0"/>
                <a:ea typeface="Segoe UI Symbol" pitchFamily="34" charset="-122"/>
                <a:cs typeface="Segoe UI Symbol" pitchFamily="34" charset="-120"/>
              </a:rPr>
              <a:t>◔</a:t>
            </a:r>
            <a:endParaRPr lang="en-US" sz="1688" dirty="0"/>
          </a:p>
        </p:txBody>
      </p:sp>
      <p:sp>
        <p:nvSpPr>
          <p:cNvPr id="32" name="Text 30"/>
          <p:cNvSpPr/>
          <p:nvPr/>
        </p:nvSpPr>
        <p:spPr>
          <a:xfrm>
            <a:off x="1035844" y="3321509"/>
            <a:ext cx="1074420" cy="94347"/>
          </a:xfrm>
          <a:prstGeom prst="rect">
            <a:avLst/>
          </a:prstGeom>
          <a:noFill/>
          <a:ln/>
        </p:spPr>
        <p:txBody>
          <a:bodyPr wrap="none" lIns="0" tIns="0" rIns="0" bIns="0" rtlCol="0" anchor="t">
            <a:normAutofit/>
          </a:bodyPr>
          <a:lstStyle/>
          <a:p>
            <a:pPr algn="l" indent="0" marL="0">
              <a:lnSpc>
                <a:spcPts val="959"/>
              </a:lnSpc>
              <a:buNone/>
            </a:pPr>
            <a:r>
              <a:rPr lang="en-US" sz="800" b="1" spc="87" kern="0" dirty="0">
                <a:solidFill>
                  <a:srgbClr val="9A6E1E"/>
                </a:solidFill>
                <a:latin typeface="Carlito" pitchFamily="34" charset="0"/>
                <a:ea typeface="Carlito" pitchFamily="34" charset="-122"/>
                <a:cs typeface="Carlito" pitchFamily="34" charset="-120"/>
              </a:rPr>
              <a:t>০৩</a:t>
            </a:r>
            <a:endParaRPr lang="en-US" sz="800" dirty="0"/>
          </a:p>
        </p:txBody>
      </p:sp>
      <p:sp>
        <p:nvSpPr>
          <p:cNvPr id="33" name="Text 31"/>
          <p:cNvSpPr/>
          <p:nvPr/>
        </p:nvSpPr>
        <p:spPr>
          <a:xfrm>
            <a:off x="1035844" y="3443288"/>
            <a:ext cx="787013" cy="177692"/>
          </a:xfrm>
          <a:prstGeom prst="rect">
            <a:avLst/>
          </a:prstGeom>
          <a:noFill/>
          <a:ln/>
        </p:spPr>
        <p:txBody>
          <a:bodyPr wrap="square" lIns="0" tIns="0" rIns="0" bIns="0" rtlCol="0" anchor="t"/>
          <a:lstStyle/>
          <a:p>
            <a:pPr algn="l" indent="0" marL="0">
              <a:lnSpc>
                <a:spcPts val="1296"/>
              </a:lnSpc>
              <a:buNone/>
            </a:pPr>
            <a:r>
              <a:rPr lang="en-US" sz="1013" dirty="0">
                <a:solidFill>
                  <a:srgbClr val="1E4D3B"/>
                </a:solidFill>
                <a:latin typeface="Tinos" pitchFamily="34" charset="0"/>
                <a:ea typeface="Tinos" pitchFamily="34" charset="-122"/>
                <a:cs typeface="Tinos" pitchFamily="34" charset="-120"/>
              </a:rPr>
              <a:t>ভুল সময় প্রয়োগ</a:t>
            </a:r>
            <a:endParaRPr lang="en-US" sz="1013" dirty="0"/>
          </a:p>
        </p:txBody>
      </p:sp>
      <p:sp>
        <p:nvSpPr>
          <p:cNvPr id="34" name="Text 32"/>
          <p:cNvSpPr/>
          <p:nvPr/>
        </p:nvSpPr>
        <p:spPr>
          <a:xfrm>
            <a:off x="635794" y="3693319"/>
            <a:ext cx="3700463" cy="181002"/>
          </a:xfrm>
          <a:prstGeom prst="rect">
            <a:avLst/>
          </a:prstGeom>
          <a:noFill/>
          <a:ln/>
        </p:spPr>
        <p:txBody>
          <a:bodyPr wrap="square" lIns="0" tIns="0" rIns="0" bIns="0" rtlCol="0" anchor="t"/>
          <a:lstStyle/>
          <a:p>
            <a:pPr algn="l" indent="0" marL="0">
              <a:lnSpc>
                <a:spcPts val="1299"/>
              </a:lnSpc>
              <a:buNone/>
            </a:pPr>
            <a:r>
              <a:rPr lang="en-US" sz="788" dirty="0">
                <a:solidFill>
                  <a:srgbClr val="1A1A1A"/>
                </a:solidFill>
                <a:latin typeface="Carlito" pitchFamily="34" charset="0"/>
                <a:ea typeface="Carlito" pitchFamily="34" charset="-122"/>
                <a:cs typeface="Carlito" pitchFamily="34" charset="-120"/>
              </a:rPr>
              <a:t>পোকার সংবেদনশীল পর্যায়ে নয় — প্রাপ্তবয়স্ক বা ডিম পর্যায়ে প্রয়োগে কার্যকারিতা কম, প্রতিরোধ বেশি।</a:t>
            </a:r>
            <a:endParaRPr lang="en-US" sz="788" dirty="0"/>
          </a:p>
        </p:txBody>
      </p:sp>
      <p:sp>
        <p:nvSpPr>
          <p:cNvPr id="35" name="Text 33"/>
          <p:cNvSpPr/>
          <p:nvPr/>
        </p:nvSpPr>
        <p:spPr>
          <a:xfrm>
            <a:off x="4629150" y="3121819"/>
            <a:ext cx="4057650" cy="1578769"/>
          </a:xfrm>
          <a:prstGeom prst="roundRect">
            <a:avLst>
              <a:gd name="adj" fmla="val 8446"/>
            </a:avLst>
          </a:prstGeom>
          <a:solidFill>
            <a:srgbClr val="F2E0DC"/>
          </a:solidFill>
          <a:ln/>
        </p:spPr>
        <p:txBody>
          <a:bodyPr wrap="square" rtlCol="0" anchor="ctr"/>
          <a:lstStyle/>
          <a:p>
            <a:pPr indent="0" marL="0">
              <a:buNone/>
            </a:pPr>
            <a:endParaRPr lang="en-US" dirty="0"/>
          </a:p>
        </p:txBody>
      </p:sp>
      <p:sp>
        <p:nvSpPr>
          <p:cNvPr id="36" name="Shape 34"/>
          <p:cNvSpPr/>
          <p:nvPr/>
        </p:nvSpPr>
        <p:spPr>
          <a:xfrm>
            <a:off x="4629150" y="3125391"/>
            <a:ext cx="4057650" cy="0"/>
          </a:xfrm>
          <a:prstGeom prst="line">
            <a:avLst/>
          </a:prstGeom>
          <a:noFill/>
          <a:ln w="7144">
            <a:solidFill>
              <a:srgbClr val="D9D2BF"/>
            </a:solidFill>
            <a:prstDash val="solid"/>
          </a:ln>
        </p:spPr>
        <p:txBody>
          <a:bodyPr/>
          <a:p/>
        </p:txBody>
      </p:sp>
      <p:sp>
        <p:nvSpPr>
          <p:cNvPr id="37" name="Shape 35"/>
          <p:cNvSpPr/>
          <p:nvPr/>
        </p:nvSpPr>
        <p:spPr>
          <a:xfrm>
            <a:off x="8683228" y="3121819"/>
            <a:ext cx="0" cy="1578769"/>
          </a:xfrm>
          <a:prstGeom prst="line">
            <a:avLst/>
          </a:prstGeom>
          <a:noFill/>
          <a:ln w="7144">
            <a:solidFill>
              <a:srgbClr val="D9D2BF"/>
            </a:solidFill>
            <a:prstDash val="solid"/>
          </a:ln>
        </p:spPr>
        <p:txBody>
          <a:bodyPr/>
          <a:p/>
        </p:txBody>
      </p:sp>
      <p:sp>
        <p:nvSpPr>
          <p:cNvPr id="38" name="Shape 36"/>
          <p:cNvSpPr/>
          <p:nvPr/>
        </p:nvSpPr>
        <p:spPr>
          <a:xfrm>
            <a:off x="4629150" y="4697016"/>
            <a:ext cx="4057650" cy="0"/>
          </a:xfrm>
          <a:prstGeom prst="line">
            <a:avLst/>
          </a:prstGeom>
          <a:noFill/>
          <a:ln w="7144">
            <a:solidFill>
              <a:srgbClr val="D9D2BF"/>
            </a:solidFill>
            <a:prstDash val="solid"/>
          </a:ln>
        </p:spPr>
        <p:txBody>
          <a:bodyPr/>
          <a:p/>
        </p:txBody>
      </p:sp>
      <p:sp>
        <p:nvSpPr>
          <p:cNvPr id="39" name="Shape 37"/>
          <p:cNvSpPr/>
          <p:nvPr/>
        </p:nvSpPr>
        <p:spPr>
          <a:xfrm>
            <a:off x="4643438" y="3121819"/>
            <a:ext cx="0" cy="1578769"/>
          </a:xfrm>
          <a:prstGeom prst="line">
            <a:avLst/>
          </a:prstGeom>
          <a:noFill/>
          <a:ln w="28575">
            <a:solidFill>
              <a:srgbClr val="B23A2A"/>
            </a:solidFill>
            <a:prstDash val="solid"/>
          </a:ln>
        </p:spPr>
        <p:txBody>
          <a:bodyPr/>
          <a:p/>
        </p:txBody>
      </p:sp>
      <p:sp>
        <p:nvSpPr>
          <p:cNvPr id="40" name="Text 38"/>
          <p:cNvSpPr/>
          <p:nvPr/>
        </p:nvSpPr>
        <p:spPr>
          <a:xfrm>
            <a:off x="4829175" y="3286125"/>
            <a:ext cx="314325" cy="314325"/>
          </a:xfrm>
          <a:prstGeom prst="roundRect">
            <a:avLst>
              <a:gd name="adj" fmla="val 30303"/>
            </a:avLst>
          </a:prstGeom>
          <a:solidFill>
            <a:srgbClr val="B23A2A"/>
          </a:solidFill>
          <a:ln/>
        </p:spPr>
        <p:txBody>
          <a:bodyPr wrap="square" rtlCol="0" anchor="ctr"/>
          <a:lstStyle/>
          <a:p>
            <a:pPr indent="0" marL="0">
              <a:buNone/>
            </a:pPr>
            <a:endParaRPr lang="en-US" dirty="0"/>
          </a:p>
        </p:txBody>
      </p:sp>
      <p:sp>
        <p:nvSpPr>
          <p:cNvPr id="41" name="Text 39"/>
          <p:cNvSpPr/>
          <p:nvPr/>
        </p:nvSpPr>
        <p:spPr>
          <a:xfrm>
            <a:off x="4862036" y="3318986"/>
            <a:ext cx="248602" cy="248602"/>
          </a:xfrm>
          <a:prstGeom prst="rect">
            <a:avLst/>
          </a:prstGeom>
          <a:noFill/>
          <a:ln/>
        </p:spPr>
        <p:txBody>
          <a:bodyPr wrap="none" lIns="0" tIns="0" rIns="0" bIns="0" rtlCol="0" anchor="ctr"/>
          <a:lstStyle/>
          <a:p>
            <a:pPr algn="ctr" indent="0" marL="0">
              <a:buNone/>
            </a:pPr>
            <a:r>
              <a:rPr lang="en-US" sz="1688" dirty="0">
                <a:solidFill>
                  <a:srgbClr val="FAF6EE"/>
                </a:solidFill>
                <a:latin typeface="Segoe UI Symbol" pitchFamily="34" charset="0"/>
                <a:ea typeface="Segoe UI Symbol" pitchFamily="34" charset="-122"/>
                <a:cs typeface="Segoe UI Symbol" pitchFamily="34" charset="-120"/>
              </a:rPr>
              <a:t>⊘</a:t>
            </a:r>
            <a:endParaRPr lang="en-US" sz="1688" dirty="0"/>
          </a:p>
        </p:txBody>
      </p:sp>
      <p:sp>
        <p:nvSpPr>
          <p:cNvPr id="42" name="Text 40"/>
          <p:cNvSpPr/>
          <p:nvPr/>
        </p:nvSpPr>
        <p:spPr>
          <a:xfrm>
            <a:off x="5229225" y="3300078"/>
            <a:ext cx="1183005" cy="94347"/>
          </a:xfrm>
          <a:prstGeom prst="rect">
            <a:avLst/>
          </a:prstGeom>
          <a:noFill/>
          <a:ln/>
        </p:spPr>
        <p:txBody>
          <a:bodyPr wrap="none" lIns="0" tIns="0" rIns="0" bIns="0" rtlCol="0" anchor="t">
            <a:normAutofit/>
          </a:bodyPr>
          <a:lstStyle/>
          <a:p>
            <a:pPr algn="l" indent="0" marL="0">
              <a:lnSpc>
                <a:spcPts val="959"/>
              </a:lnSpc>
              <a:buNone/>
            </a:pPr>
            <a:r>
              <a:rPr lang="en-US" sz="800" b="1" spc="87" kern="0" dirty="0">
                <a:solidFill>
                  <a:srgbClr val="B23A2A"/>
                </a:solidFill>
                <a:latin typeface="Carlito" pitchFamily="34" charset="0"/>
                <a:ea typeface="Carlito" pitchFamily="34" charset="-122"/>
                <a:cs typeface="Carlito" pitchFamily="34" charset="-120"/>
              </a:rPr>
              <a:t>০৪</a:t>
            </a:r>
            <a:endParaRPr lang="en-US" sz="800" dirty="0"/>
          </a:p>
        </p:txBody>
      </p:sp>
      <p:sp>
        <p:nvSpPr>
          <p:cNvPr id="43" name="Text 41"/>
          <p:cNvSpPr/>
          <p:nvPr/>
        </p:nvSpPr>
        <p:spPr>
          <a:xfrm>
            <a:off x="5229225" y="3421856"/>
            <a:ext cx="866551" cy="177692"/>
          </a:xfrm>
          <a:prstGeom prst="rect">
            <a:avLst/>
          </a:prstGeom>
          <a:noFill/>
          <a:ln/>
        </p:spPr>
        <p:txBody>
          <a:bodyPr wrap="none" lIns="0" tIns="0" rIns="0" bIns="0" rtlCol="0" anchor="t"/>
          <a:lstStyle/>
          <a:p>
            <a:pPr algn="l" indent="0" marL="0">
              <a:lnSpc>
                <a:spcPts val="1296"/>
              </a:lnSpc>
              <a:buNone/>
            </a:pPr>
            <a:r>
              <a:rPr lang="en-US" sz="1013" dirty="0">
                <a:solidFill>
                  <a:srgbClr val="B23A2A"/>
                </a:solidFill>
                <a:latin typeface="Tinos" pitchFamily="34" charset="0"/>
                <a:ea typeface="Tinos" pitchFamily="34" charset="-122"/>
                <a:cs typeface="Tinos" pitchFamily="34" charset="-120"/>
              </a:rPr>
              <a:t>ভেজাল বালাইনাশক</a:t>
            </a:r>
            <a:endParaRPr lang="en-US" sz="1013" dirty="0"/>
          </a:p>
        </p:txBody>
      </p:sp>
      <p:sp>
        <p:nvSpPr>
          <p:cNvPr id="44" name="Text 42"/>
          <p:cNvSpPr/>
          <p:nvPr/>
        </p:nvSpPr>
        <p:spPr>
          <a:xfrm>
            <a:off x="4829175" y="3671888"/>
            <a:ext cx="3679031" cy="362004"/>
          </a:xfrm>
          <a:prstGeom prst="rect">
            <a:avLst/>
          </a:prstGeom>
          <a:noFill/>
          <a:ln/>
        </p:spPr>
        <p:txBody>
          <a:bodyPr wrap="square" lIns="0" tIns="0" rIns="0" bIns="0" rtlCol="0" anchor="t"/>
          <a:lstStyle/>
          <a:p>
            <a:pPr algn="l" indent="0" marL="0">
              <a:lnSpc>
                <a:spcPts val="1299"/>
              </a:lnSpc>
              <a:buNone/>
            </a:pPr>
            <a:r>
              <a:rPr lang="en-US" sz="800" dirty="0">
                <a:solidFill>
                  <a:srgbClr val="1A1A1A"/>
                </a:solidFill>
                <a:latin typeface="Carlito" pitchFamily="34" charset="0"/>
                <a:ea typeface="Carlito" pitchFamily="34" charset="-122"/>
                <a:cs typeface="Carlito" pitchFamily="34" charset="-120"/>
              </a:rPr>
              <a:t>কম মাত্রায় উপাদান — পোকা আংশিক মারা যায়, বেঁচে থাকা পোকা প্রতিরোধী হয়ে ওঠে। </a:t>
            </a:r>
            <a:pPr algn="l" indent="0" marL="0">
              <a:lnSpc>
                <a:spcPts val="1299"/>
              </a:lnSpc>
              <a:buNone/>
            </a:pPr>
            <a:r>
              <a:rPr lang="en-US" sz="800" b="1" dirty="0">
                <a:solidFill>
                  <a:srgbClr val="B23A2A"/>
                </a:solidFill>
                <a:latin typeface="Carlito" pitchFamily="34" charset="0"/>
                <a:ea typeface="Carlito" pitchFamily="34" charset="-122"/>
                <a:cs typeface="Carlito" pitchFamily="34" charset="-120"/>
              </a:rPr>
              <a:t>ভেজাল = প্রতিরোধের প্রধান কারণ।</a:t>
            </a:r>
            <a:endParaRPr lang="en-US" sz="800" dirty="0"/>
          </a:p>
        </p:txBody>
      </p:sp>
      <p:sp>
        <p:nvSpPr>
          <p:cNvPr id="45" name="Text 43"/>
          <p:cNvSpPr/>
          <p:nvPr/>
        </p:nvSpPr>
        <p:spPr>
          <a:xfrm>
            <a:off x="8694725" y="4706392"/>
            <a:ext cx="30736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২৯</a:t>
            </a:r>
            <a:endParaRPr lang="en-US" sz="1350" dirty="0"/>
          </a:p>
        </p:txBody>
      </p:sp>
      <p:pic>
        <p:nvPicPr>
          <p:cNvPr id="46"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57200" y="342900"/>
            <a:ext cx="7023899" cy="286911"/>
          </a:xfrm>
          <a:prstGeom prst="rect">
            <a:avLst/>
          </a:prstGeom>
          <a:noFill/>
          <a:ln/>
        </p:spPr>
        <p:txBody>
          <a:bodyPr wrap="squar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০৫ · প্রতিরোধ ক্ষমতা ও দীর্ঘমেয়াদি ক্ষতি</a:t>
            </a:r>
            <a:endParaRPr lang="en-US" sz="1350" dirty="0"/>
          </a:p>
        </p:txBody>
      </p:sp>
      <p:sp>
        <p:nvSpPr>
          <p:cNvPr id="3" name="Text 1"/>
          <p:cNvSpPr/>
          <p:nvPr/>
        </p:nvSpPr>
        <p:spPr>
          <a:xfrm>
            <a:off x="457200" y="708571"/>
            <a:ext cx="6236159" cy="509809"/>
          </a:xfrm>
          <a:prstGeom prst="rect">
            <a:avLst/>
          </a:prstGeom>
          <a:noFill/>
          <a:ln/>
        </p:spPr>
        <p:txBody>
          <a:bodyPr wrap="square" lIns="0" tIns="0" rIns="0" bIns="0" rtlCol="0" anchor="t"/>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কীটপতঙ্গের প্রতিরোধ ক্ষমতা বৃদ্ধি</a:t>
            </a:r>
            <a:endParaRPr lang="en-US" sz="3150" dirty="0"/>
          </a:p>
        </p:txBody>
      </p:sp>
      <p:sp>
        <p:nvSpPr>
          <p:cNvPr id="4" name="Shape 2"/>
          <p:cNvSpPr/>
          <p:nvPr/>
        </p:nvSpPr>
        <p:spPr>
          <a:xfrm>
            <a:off x="457200" y="1291344"/>
            <a:ext cx="400050" cy="0"/>
          </a:xfrm>
          <a:prstGeom prst="line">
            <a:avLst/>
          </a:prstGeom>
          <a:noFill/>
          <a:ln w="7144">
            <a:solidFill>
              <a:srgbClr val="1A1A1A"/>
            </a:solidFill>
            <a:prstDash val="solid"/>
          </a:ln>
        </p:spPr>
        <p:txBody>
          <a:bodyPr/>
          <a:p/>
        </p:txBody>
      </p:sp>
      <p:sp>
        <p:nvSpPr>
          <p:cNvPr id="5" name="Text 3"/>
          <p:cNvSpPr/>
          <p:nvPr/>
        </p:nvSpPr>
        <p:spPr>
          <a:xfrm>
            <a:off x="457200" y="1402073"/>
            <a:ext cx="5669235" cy="380217"/>
          </a:xfrm>
          <a:prstGeom prst="rect">
            <a:avLst/>
          </a:prstGeom>
          <a:noFill/>
          <a:ln/>
        </p:spPr>
        <p:txBody>
          <a:bodyPr wrap="square" lIns="0" tIns="0" rIns="0" bIns="0" rtlCol="0" anchor="t"/>
          <a:lstStyle/>
          <a:p>
            <a:pPr algn="l" indent="0" marL="0">
              <a:lnSpc>
                <a:spcPts val="1387"/>
              </a:lnSpc>
              <a:buNone/>
            </a:pPr>
            <a:r>
              <a:rPr lang="en-US" sz="816" dirty="0">
                <a:solidFill>
                  <a:srgbClr val="1A1A1A"/>
                </a:solidFill>
                <a:latin typeface="Carlito" pitchFamily="34" charset="0"/>
                <a:ea typeface="Carlito" pitchFamily="34" charset="-122"/>
                <a:cs typeface="Carlito" pitchFamily="34" charset="-120"/>
              </a:rPr>
              <a:t>বাংলাদেশে ব্রাউন প্ল্যান্টহপার, ফলের মাছি, এবং কিছু ফাংগাসের মধ্যে উল্লেখযোগ্য প্রতিরোধ ক্ষমতা দেখা গেছে। </a:t>
            </a:r>
            <a:pPr algn="l" indent="0" marL="0">
              <a:lnSpc>
                <a:spcPts val="1387"/>
              </a:lnSpc>
              <a:buNone/>
            </a:pPr>
            <a:r>
              <a:rPr lang="en-US" sz="816" dirty="0">
                <a:solidFill>
                  <a:srgbClr val="1E4D3B"/>
                </a:solidFill>
                <a:latin typeface="Carlito" pitchFamily="34" charset="0"/>
                <a:ea typeface="Carlito" pitchFamily="34" charset="-122"/>
                <a:cs typeface="Carlito" pitchFamily="34" charset="-120"/>
              </a:rPr>
              <a:t>২০২০ সালের</a:t>
            </a:r>
            <a:pPr algn="l" indent="0" marL="0">
              <a:lnSpc>
                <a:spcPts val="1387"/>
              </a:lnSpc>
              <a:buNone/>
            </a:pPr>
            <a:r>
              <a:rPr lang="en-US" sz="816" dirty="0">
                <a:solidFill>
                  <a:srgbClr val="1A1A1A"/>
                </a:solidFill>
                <a:latin typeface="Carlito" pitchFamily="34" charset="0"/>
                <a:ea typeface="Carlito" pitchFamily="34" charset="-122"/>
                <a:cs typeface="Carlito" pitchFamily="34" charset="-120"/>
              </a:rPr>
              <a:t> বাংলাদেশ কৃষি গবেষণা ইনস্টিটিউটের গবেষণায় দেখা গেছে — ধানের ব্রাউন প্ল্যান্টহপার প্রায় </a:t>
            </a:r>
            <a:pPr algn="l" indent="0" marL="0">
              <a:lnSpc>
                <a:spcPts val="1387"/>
              </a:lnSpc>
              <a:buNone/>
            </a:pPr>
            <a:r>
              <a:rPr lang="en-US" sz="816" b="1" dirty="0">
                <a:solidFill>
                  <a:srgbClr val="B23A2A"/>
                </a:solidFill>
                <a:latin typeface="Carlito" pitchFamily="34" charset="0"/>
                <a:ea typeface="Carlito" pitchFamily="34" charset="-122"/>
                <a:cs typeface="Carlito" pitchFamily="34" charset="-120"/>
              </a:rPr>
              <a:t>৬০% ক্ষেত্রে</a:t>
            </a:r>
            <a:pPr algn="l" indent="0" marL="0">
              <a:lnSpc>
                <a:spcPts val="1387"/>
              </a:lnSpc>
              <a:buNone/>
            </a:pPr>
            <a:r>
              <a:rPr lang="en-US" sz="816" dirty="0">
                <a:solidFill>
                  <a:srgbClr val="1A1A1A"/>
                </a:solidFill>
                <a:latin typeface="Carlito" pitchFamily="34" charset="0"/>
                <a:ea typeface="Carlito" pitchFamily="34" charset="-122"/>
                <a:cs typeface="Carlito" pitchFamily="34" charset="-120"/>
              </a:rPr>
              <a:t> প্রথম প্রজন্মের কীটনাশকের বিরুদ্ধে প্রতিরোধী।</a:t>
            </a:r>
            <a:endParaRPr lang="en-US" sz="816" dirty="0"/>
          </a:p>
        </p:txBody>
      </p:sp>
      <p:sp>
        <p:nvSpPr>
          <p:cNvPr id="6" name="Text 4"/>
          <p:cNvSpPr/>
          <p:nvPr/>
        </p:nvSpPr>
        <p:spPr>
          <a:xfrm>
            <a:off x="457200" y="1854138"/>
            <a:ext cx="5669235" cy="380217"/>
          </a:xfrm>
          <a:prstGeom prst="rect">
            <a:avLst/>
          </a:prstGeom>
          <a:noFill/>
          <a:ln/>
        </p:spPr>
        <p:txBody>
          <a:bodyPr wrap="square" lIns="0" tIns="0" rIns="0" bIns="0" rtlCol="0" anchor="t"/>
          <a:lstStyle/>
          <a:p>
            <a:pPr algn="l" indent="0" marL="0">
              <a:lnSpc>
                <a:spcPts val="1387"/>
              </a:lnSpc>
              <a:buNone/>
            </a:pPr>
            <a:r>
              <a:rPr lang="en-US" sz="816" dirty="0">
                <a:solidFill>
                  <a:srgbClr val="1A1A1A"/>
                </a:solidFill>
                <a:latin typeface="Carlito" pitchFamily="34" charset="0"/>
                <a:ea typeface="Carlito" pitchFamily="34" charset="-122"/>
                <a:cs typeface="Carlito" pitchFamily="34" charset="-120"/>
              </a:rPr>
              <a:t>ফলের মাছি অনেক প্রচলিত কীটনাশকের বিরুদ্ধে প্রতিরোধী হয়ে গেছে। আম, কাঁঠাল, পেঁপে চাষে এটি বড় সমস্যা। আলুর লিফ মাইনার এবং বেগুনের শুট ও ফল ছিদ্রকারী পোকাও দ্রুত প্রতিরোধী হচ্ছে।</a:t>
            </a:r>
            <a:endParaRPr lang="en-US" sz="816" dirty="0"/>
          </a:p>
        </p:txBody>
      </p:sp>
      <p:sp>
        <p:nvSpPr>
          <p:cNvPr id="7" name="Text 5"/>
          <p:cNvSpPr/>
          <p:nvPr/>
        </p:nvSpPr>
        <p:spPr>
          <a:xfrm>
            <a:off x="457200" y="4293840"/>
            <a:ext cx="1100249" cy="506760"/>
          </a:xfrm>
          <a:prstGeom prst="roundRect">
            <a:avLst>
              <a:gd name="adj" fmla="val 18796"/>
            </a:avLst>
          </a:prstGeom>
          <a:solidFill>
            <a:srgbClr val="FFFFFF"/>
          </a:solidFill>
          <a:ln/>
        </p:spPr>
        <p:txBody>
          <a:bodyPr wrap="square" rtlCol="0" anchor="ctr"/>
          <a:lstStyle/>
          <a:p>
            <a:pPr indent="0" marL="0">
              <a:buNone/>
            </a:pPr>
            <a:endParaRPr lang="en-US" dirty="0"/>
          </a:p>
        </p:txBody>
      </p:sp>
      <p:sp>
        <p:nvSpPr>
          <p:cNvPr id="8" name="Shape 6"/>
          <p:cNvSpPr/>
          <p:nvPr/>
        </p:nvSpPr>
        <p:spPr>
          <a:xfrm>
            <a:off x="457200" y="4297412"/>
            <a:ext cx="1100249" cy="0"/>
          </a:xfrm>
          <a:prstGeom prst="line">
            <a:avLst/>
          </a:prstGeom>
          <a:noFill/>
          <a:ln w="7144">
            <a:solidFill>
              <a:srgbClr val="D9D2BF"/>
            </a:solidFill>
            <a:prstDash val="solid"/>
          </a:ln>
        </p:spPr>
        <p:txBody>
          <a:bodyPr/>
          <a:p/>
        </p:txBody>
      </p:sp>
      <p:sp>
        <p:nvSpPr>
          <p:cNvPr id="9" name="Shape 7"/>
          <p:cNvSpPr/>
          <p:nvPr/>
        </p:nvSpPr>
        <p:spPr>
          <a:xfrm>
            <a:off x="1553877" y="4293840"/>
            <a:ext cx="0" cy="506760"/>
          </a:xfrm>
          <a:prstGeom prst="line">
            <a:avLst/>
          </a:prstGeom>
          <a:noFill/>
          <a:ln w="7144">
            <a:solidFill>
              <a:srgbClr val="D9D2BF"/>
            </a:solidFill>
            <a:prstDash val="solid"/>
          </a:ln>
        </p:spPr>
        <p:txBody>
          <a:bodyPr/>
          <a:p/>
        </p:txBody>
      </p:sp>
      <p:sp>
        <p:nvSpPr>
          <p:cNvPr id="10" name="Shape 8"/>
          <p:cNvSpPr/>
          <p:nvPr/>
        </p:nvSpPr>
        <p:spPr>
          <a:xfrm>
            <a:off x="457200" y="4797028"/>
            <a:ext cx="1100249" cy="0"/>
          </a:xfrm>
          <a:prstGeom prst="line">
            <a:avLst/>
          </a:prstGeom>
          <a:noFill/>
          <a:ln w="7144">
            <a:solidFill>
              <a:srgbClr val="D9D2BF"/>
            </a:solidFill>
            <a:prstDash val="solid"/>
          </a:ln>
        </p:spPr>
        <p:txBody>
          <a:bodyPr/>
          <a:p/>
        </p:txBody>
      </p:sp>
      <p:sp>
        <p:nvSpPr>
          <p:cNvPr id="11" name="Shape 9"/>
          <p:cNvSpPr/>
          <p:nvPr/>
        </p:nvSpPr>
        <p:spPr>
          <a:xfrm>
            <a:off x="471488" y="4293840"/>
            <a:ext cx="0" cy="506760"/>
          </a:xfrm>
          <a:prstGeom prst="line">
            <a:avLst/>
          </a:prstGeom>
          <a:noFill/>
          <a:ln w="28575">
            <a:solidFill>
              <a:srgbClr val="B23A2A"/>
            </a:solidFill>
            <a:prstDash val="solid"/>
          </a:ln>
        </p:spPr>
        <p:txBody>
          <a:bodyPr/>
          <a:p/>
        </p:txBody>
      </p:sp>
      <p:sp>
        <p:nvSpPr>
          <p:cNvPr id="12" name="Text 10"/>
          <p:cNvSpPr/>
          <p:nvPr/>
        </p:nvSpPr>
        <p:spPr>
          <a:xfrm>
            <a:off x="600075" y="4475783"/>
            <a:ext cx="142875" cy="142875"/>
          </a:xfrm>
          <a:prstGeom prst="rect">
            <a:avLst/>
          </a:prstGeom>
          <a:noFill/>
          <a:ln/>
        </p:spPr>
        <p:txBody>
          <a:bodyPr wrap="none" lIns="0" tIns="0" rIns="0" bIns="0" rtlCol="0" anchor="ctr"/>
          <a:lstStyle/>
          <a:p>
            <a:pPr algn="ctr" indent="0" marL="0">
              <a:buNone/>
            </a:pPr>
            <a:r>
              <a:rPr lang="en-US" sz="1406" dirty="0">
                <a:solidFill>
                  <a:srgbClr val="B23A2A"/>
                </a:solidFill>
                <a:latin typeface="Segoe UI Symbol" pitchFamily="34" charset="0"/>
                <a:ea typeface="Segoe UI Symbol" pitchFamily="34" charset="-122"/>
                <a:cs typeface="Segoe UI Symbol" pitchFamily="34" charset="-120"/>
              </a:rPr>
              <a:t>✦</a:t>
            </a:r>
            <a:endParaRPr lang="en-US" sz="1406" dirty="0"/>
          </a:p>
        </p:txBody>
      </p:sp>
      <p:sp>
        <p:nvSpPr>
          <p:cNvPr id="13" name="Text 11"/>
          <p:cNvSpPr/>
          <p:nvPr/>
        </p:nvSpPr>
        <p:spPr>
          <a:xfrm>
            <a:off x="782536" y="4386709"/>
            <a:ext cx="685320" cy="171812"/>
          </a:xfrm>
          <a:prstGeom prst="rect">
            <a:avLst/>
          </a:prstGeom>
          <a:noFill/>
          <a:ln/>
        </p:spPr>
        <p:txBody>
          <a:bodyPr wrap="none" lIns="0" tIns="0" rIns="0" bIns="0" rtlCol="0" anchor="t">
            <a:normAutofit/>
          </a:bodyPr>
          <a:lstStyle/>
          <a:p>
            <a:pPr algn="l" indent="0" marL="0">
              <a:lnSpc>
                <a:spcPts val="1569"/>
              </a:lnSpc>
              <a:buNone/>
            </a:pPr>
            <a:r>
              <a:rPr lang="en-US" sz="1013" b="1" dirty="0">
                <a:solidFill>
                  <a:srgbClr val="B23A2A"/>
                </a:solidFill>
                <a:latin typeface="Carlito" pitchFamily="34" charset="0"/>
                <a:ea typeface="Carlito" pitchFamily="34" charset="-122"/>
                <a:cs typeface="Carlito" pitchFamily="34" charset="-120"/>
              </a:rPr>
              <a:t>BPH · ৬০%</a:t>
            </a:r>
            <a:endParaRPr lang="en-US" sz="1013" dirty="0"/>
          </a:p>
        </p:txBody>
      </p:sp>
      <p:sp>
        <p:nvSpPr>
          <p:cNvPr id="14" name="Text 12"/>
          <p:cNvSpPr/>
          <p:nvPr/>
        </p:nvSpPr>
        <p:spPr>
          <a:xfrm>
            <a:off x="814388" y="4585953"/>
            <a:ext cx="621618" cy="121779"/>
          </a:xfrm>
          <a:prstGeom prst="rect">
            <a:avLst/>
          </a:prstGeom>
          <a:noFill/>
          <a:ln/>
        </p:spPr>
        <p:txBody>
          <a:bodyPr wrap="none" lIns="0" tIns="0" rIns="0" bIns="0" rtlCol="0" anchor="t"/>
          <a:lstStyle/>
          <a:p>
            <a:pPr algn="l" indent="0" marL="0">
              <a:lnSpc>
                <a:spcPts val="959"/>
              </a:lnSpc>
              <a:buNone/>
            </a:pPr>
            <a:r>
              <a:rPr lang="en-US" sz="619" dirty="0">
                <a:solidFill>
                  <a:srgbClr val="6B6B6B"/>
                </a:solidFill>
                <a:latin typeface="Carlito" pitchFamily="34" charset="0"/>
                <a:ea typeface="Carlito" pitchFamily="34" charset="-122"/>
                <a:cs typeface="Carlito" pitchFamily="34" charset="-120"/>
              </a:rPr>
              <a:t>ব্রাউন প্ল্যান্টহপার</a:t>
            </a:r>
            <a:endParaRPr lang="en-US" sz="619" dirty="0"/>
          </a:p>
        </p:txBody>
      </p:sp>
      <p:sp>
        <p:nvSpPr>
          <p:cNvPr id="15" name="Text 13"/>
          <p:cNvSpPr/>
          <p:nvPr/>
        </p:nvSpPr>
        <p:spPr>
          <a:xfrm>
            <a:off x="1628887" y="4293840"/>
            <a:ext cx="1111300" cy="506760"/>
          </a:xfrm>
          <a:prstGeom prst="roundRect">
            <a:avLst>
              <a:gd name="adj" fmla="val 18796"/>
            </a:avLst>
          </a:prstGeom>
          <a:solidFill>
            <a:srgbClr val="FFFFFF"/>
          </a:solidFill>
          <a:ln/>
        </p:spPr>
        <p:txBody>
          <a:bodyPr wrap="square" rtlCol="0" anchor="ctr"/>
          <a:lstStyle/>
          <a:p>
            <a:pPr indent="0" marL="0">
              <a:buNone/>
            </a:pPr>
            <a:endParaRPr lang="en-US" dirty="0"/>
          </a:p>
        </p:txBody>
      </p:sp>
      <p:sp>
        <p:nvSpPr>
          <p:cNvPr id="16" name="Shape 14"/>
          <p:cNvSpPr/>
          <p:nvPr/>
        </p:nvSpPr>
        <p:spPr>
          <a:xfrm>
            <a:off x="1628887" y="4297412"/>
            <a:ext cx="1111300" cy="0"/>
          </a:xfrm>
          <a:prstGeom prst="line">
            <a:avLst/>
          </a:prstGeom>
          <a:noFill/>
          <a:ln w="7144">
            <a:solidFill>
              <a:srgbClr val="D9D2BF"/>
            </a:solidFill>
            <a:prstDash val="solid"/>
          </a:ln>
        </p:spPr>
        <p:txBody>
          <a:bodyPr/>
          <a:p/>
        </p:txBody>
      </p:sp>
      <p:sp>
        <p:nvSpPr>
          <p:cNvPr id="17" name="Shape 15"/>
          <p:cNvSpPr/>
          <p:nvPr/>
        </p:nvSpPr>
        <p:spPr>
          <a:xfrm>
            <a:off x="2736614" y="4293840"/>
            <a:ext cx="0" cy="506760"/>
          </a:xfrm>
          <a:prstGeom prst="line">
            <a:avLst/>
          </a:prstGeom>
          <a:noFill/>
          <a:ln w="7144">
            <a:solidFill>
              <a:srgbClr val="D9D2BF"/>
            </a:solidFill>
            <a:prstDash val="solid"/>
          </a:ln>
        </p:spPr>
        <p:txBody>
          <a:bodyPr/>
          <a:p/>
        </p:txBody>
      </p:sp>
      <p:sp>
        <p:nvSpPr>
          <p:cNvPr id="18" name="Shape 16"/>
          <p:cNvSpPr/>
          <p:nvPr/>
        </p:nvSpPr>
        <p:spPr>
          <a:xfrm>
            <a:off x="1628887" y="4797028"/>
            <a:ext cx="1111300" cy="0"/>
          </a:xfrm>
          <a:prstGeom prst="line">
            <a:avLst/>
          </a:prstGeom>
          <a:noFill/>
          <a:ln w="7144">
            <a:solidFill>
              <a:srgbClr val="D9D2BF"/>
            </a:solidFill>
            <a:prstDash val="solid"/>
          </a:ln>
        </p:spPr>
        <p:txBody>
          <a:bodyPr/>
          <a:p/>
        </p:txBody>
      </p:sp>
      <p:sp>
        <p:nvSpPr>
          <p:cNvPr id="19" name="Shape 17"/>
          <p:cNvSpPr/>
          <p:nvPr/>
        </p:nvSpPr>
        <p:spPr>
          <a:xfrm>
            <a:off x="1643174" y="4293840"/>
            <a:ext cx="0" cy="506760"/>
          </a:xfrm>
          <a:prstGeom prst="line">
            <a:avLst/>
          </a:prstGeom>
          <a:noFill/>
          <a:ln w="28575">
            <a:solidFill>
              <a:srgbClr val="C7912C"/>
            </a:solidFill>
            <a:prstDash val="solid"/>
          </a:ln>
        </p:spPr>
        <p:txBody>
          <a:bodyPr/>
          <a:p/>
        </p:txBody>
      </p:sp>
      <p:sp>
        <p:nvSpPr>
          <p:cNvPr id="20" name="Text 18"/>
          <p:cNvSpPr/>
          <p:nvPr/>
        </p:nvSpPr>
        <p:spPr>
          <a:xfrm>
            <a:off x="1771762" y="4475783"/>
            <a:ext cx="142875" cy="142875"/>
          </a:xfrm>
          <a:prstGeom prst="rect">
            <a:avLst/>
          </a:prstGeom>
          <a:noFill/>
          <a:ln/>
        </p:spPr>
        <p:txBody>
          <a:bodyPr wrap="none" lIns="0" tIns="0" rIns="0" bIns="0" rtlCol="0" anchor="ctr"/>
          <a:lstStyle/>
          <a:p>
            <a:pPr algn="ctr" indent="0" marL="0">
              <a:buNone/>
            </a:pPr>
            <a:r>
              <a:rPr lang="en-US" sz="1406" dirty="0">
                <a:solidFill>
                  <a:srgbClr val="C7912C"/>
                </a:solidFill>
                <a:latin typeface="Segoe UI Symbol" pitchFamily="34" charset="0"/>
                <a:ea typeface="Segoe UI Symbol" pitchFamily="34" charset="-122"/>
                <a:cs typeface="Segoe UI Symbol" pitchFamily="34" charset="-120"/>
              </a:rPr>
              <a:t>✦</a:t>
            </a:r>
            <a:endParaRPr lang="en-US" sz="1406" dirty="0"/>
          </a:p>
        </p:txBody>
      </p:sp>
      <p:sp>
        <p:nvSpPr>
          <p:cNvPr id="21" name="Text 19"/>
          <p:cNvSpPr/>
          <p:nvPr/>
        </p:nvSpPr>
        <p:spPr>
          <a:xfrm>
            <a:off x="1986074" y="4408810"/>
            <a:ext cx="632668" cy="127498"/>
          </a:xfrm>
          <a:prstGeom prst="rect">
            <a:avLst/>
          </a:prstGeom>
          <a:noFill/>
          <a:ln/>
        </p:spPr>
        <p:txBody>
          <a:bodyPr wrap="square" lIns="0" tIns="0" rIns="0" bIns="0" rtlCol="0" anchor="t">
            <a:normAutofit/>
          </a:bodyPr>
          <a:lstStyle/>
          <a:p>
            <a:pPr algn="l" indent="0" marL="0">
              <a:lnSpc>
                <a:spcPts val="1221"/>
              </a:lnSpc>
              <a:buNone/>
            </a:pPr>
            <a:r>
              <a:rPr lang="en-US" sz="788" b="1" dirty="0">
                <a:solidFill>
                  <a:srgbClr val="C7912C"/>
                </a:solidFill>
                <a:latin typeface="Carlito" pitchFamily="34" charset="0"/>
                <a:ea typeface="Carlito" pitchFamily="34" charset="-122"/>
                <a:cs typeface="Carlito" pitchFamily="34" charset="-120"/>
              </a:rPr>
              <a:t>ফলের মাছি · ব্যাপক</a:t>
            </a:r>
            <a:endParaRPr lang="en-US" sz="788" dirty="0"/>
          </a:p>
        </p:txBody>
      </p:sp>
      <p:sp>
        <p:nvSpPr>
          <p:cNvPr id="22" name="Text 20"/>
          <p:cNvSpPr/>
          <p:nvPr/>
        </p:nvSpPr>
        <p:spPr>
          <a:xfrm>
            <a:off x="1986074" y="4563740"/>
            <a:ext cx="632668" cy="143991"/>
          </a:xfrm>
          <a:prstGeom prst="rect">
            <a:avLst/>
          </a:prstGeom>
          <a:noFill/>
          <a:ln/>
        </p:spPr>
        <p:txBody>
          <a:bodyPr wrap="none" lIns="0" tIns="0" rIns="0" bIns="0" rtlCol="0" anchor="t"/>
          <a:lstStyle/>
          <a:p>
            <a:pPr algn="l" indent="0" marL="0">
              <a:lnSpc>
                <a:spcPts val="959"/>
              </a:lnSpc>
              <a:buNone/>
            </a:pPr>
            <a:r>
              <a:rPr lang="en-US" sz="619" dirty="0">
                <a:solidFill>
                  <a:srgbClr val="6B6B6B"/>
                </a:solidFill>
                <a:latin typeface="Carlito" pitchFamily="34" charset="0"/>
                <a:ea typeface="Carlito" pitchFamily="34" charset="-122"/>
                <a:cs typeface="Carlito" pitchFamily="34" charset="-120"/>
              </a:rPr>
              <a:t>আম, কাঁঠাল, পেঁপে</a:t>
            </a:r>
            <a:endParaRPr lang="en-US" sz="619" dirty="0"/>
          </a:p>
        </p:txBody>
      </p:sp>
      <p:sp>
        <p:nvSpPr>
          <p:cNvPr id="23" name="Text 21"/>
          <p:cNvSpPr/>
          <p:nvPr/>
        </p:nvSpPr>
        <p:spPr>
          <a:xfrm>
            <a:off x="2811624" y="4293840"/>
            <a:ext cx="1261318" cy="506760"/>
          </a:xfrm>
          <a:prstGeom prst="roundRect">
            <a:avLst>
              <a:gd name="adj" fmla="val 18796"/>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2811624" y="4297412"/>
            <a:ext cx="1261318" cy="0"/>
          </a:xfrm>
          <a:prstGeom prst="line">
            <a:avLst/>
          </a:prstGeom>
          <a:noFill/>
          <a:ln w="7144">
            <a:solidFill>
              <a:srgbClr val="D9D2BF"/>
            </a:solidFill>
            <a:prstDash val="solid"/>
          </a:ln>
        </p:spPr>
        <p:txBody>
          <a:bodyPr/>
          <a:p/>
        </p:txBody>
      </p:sp>
      <p:sp>
        <p:nvSpPr>
          <p:cNvPr id="25" name="Shape 23"/>
          <p:cNvSpPr/>
          <p:nvPr/>
        </p:nvSpPr>
        <p:spPr>
          <a:xfrm>
            <a:off x="4069370" y="4293840"/>
            <a:ext cx="0" cy="506760"/>
          </a:xfrm>
          <a:prstGeom prst="line">
            <a:avLst/>
          </a:prstGeom>
          <a:noFill/>
          <a:ln w="7144">
            <a:solidFill>
              <a:srgbClr val="D9D2BF"/>
            </a:solidFill>
            <a:prstDash val="solid"/>
          </a:ln>
        </p:spPr>
        <p:txBody>
          <a:bodyPr/>
          <a:p/>
        </p:txBody>
      </p:sp>
      <p:sp>
        <p:nvSpPr>
          <p:cNvPr id="26" name="Shape 24"/>
          <p:cNvSpPr/>
          <p:nvPr/>
        </p:nvSpPr>
        <p:spPr>
          <a:xfrm>
            <a:off x="2811624" y="4797028"/>
            <a:ext cx="1261318" cy="0"/>
          </a:xfrm>
          <a:prstGeom prst="line">
            <a:avLst/>
          </a:prstGeom>
          <a:noFill/>
          <a:ln w="7144">
            <a:solidFill>
              <a:srgbClr val="D9D2BF"/>
            </a:solidFill>
            <a:prstDash val="solid"/>
          </a:ln>
        </p:spPr>
        <p:txBody>
          <a:bodyPr/>
          <a:p/>
        </p:txBody>
      </p:sp>
      <p:sp>
        <p:nvSpPr>
          <p:cNvPr id="27" name="Shape 25"/>
          <p:cNvSpPr/>
          <p:nvPr/>
        </p:nvSpPr>
        <p:spPr>
          <a:xfrm>
            <a:off x="2825911" y="4293840"/>
            <a:ext cx="0" cy="506760"/>
          </a:xfrm>
          <a:prstGeom prst="line">
            <a:avLst/>
          </a:prstGeom>
          <a:noFill/>
          <a:ln w="28575">
            <a:solidFill>
              <a:srgbClr val="1E4D3B"/>
            </a:solidFill>
            <a:prstDash val="solid"/>
          </a:ln>
        </p:spPr>
        <p:txBody>
          <a:bodyPr/>
          <a:p/>
        </p:txBody>
      </p:sp>
      <p:sp>
        <p:nvSpPr>
          <p:cNvPr id="28" name="Text 26"/>
          <p:cNvSpPr/>
          <p:nvPr/>
        </p:nvSpPr>
        <p:spPr>
          <a:xfrm>
            <a:off x="2954499" y="4475783"/>
            <a:ext cx="142875" cy="142875"/>
          </a:xfrm>
          <a:prstGeom prst="rect">
            <a:avLst/>
          </a:prstGeom>
          <a:noFill/>
          <a:ln/>
        </p:spPr>
        <p:txBody>
          <a:bodyPr wrap="none" lIns="0" tIns="0" rIns="0" bIns="0" rtlCol="0" anchor="ctr"/>
          <a:lstStyle/>
          <a:p>
            <a:pPr algn="ctr" indent="0" marL="0">
              <a:buNone/>
            </a:pPr>
            <a:r>
              <a:rPr lang="en-US" sz="1406" dirty="0">
                <a:solidFill>
                  <a:srgbClr val="1E4D3B"/>
                </a:solidFill>
                <a:latin typeface="Segoe UI Symbol" pitchFamily="34" charset="0"/>
                <a:ea typeface="Segoe UI Symbol" pitchFamily="34" charset="-122"/>
                <a:cs typeface="Segoe UI Symbol" pitchFamily="34" charset="-120"/>
              </a:rPr>
              <a:t>↗</a:t>
            </a:r>
            <a:endParaRPr lang="en-US" sz="1406" dirty="0"/>
          </a:p>
        </p:txBody>
      </p:sp>
      <p:sp>
        <p:nvSpPr>
          <p:cNvPr id="29" name="Text 27"/>
          <p:cNvSpPr/>
          <p:nvPr/>
        </p:nvSpPr>
        <p:spPr>
          <a:xfrm>
            <a:off x="3168811" y="4408810"/>
            <a:ext cx="782687" cy="127498"/>
          </a:xfrm>
          <a:prstGeom prst="rect">
            <a:avLst/>
          </a:prstGeom>
          <a:noFill/>
          <a:ln/>
        </p:spPr>
        <p:txBody>
          <a:bodyPr wrap="none" lIns="0" tIns="0" rIns="0" bIns="0" rtlCol="0" anchor="t">
            <a:normAutofit/>
          </a:bodyPr>
          <a:lstStyle/>
          <a:p>
            <a:pPr algn="l" indent="0" marL="0">
              <a:lnSpc>
                <a:spcPts val="1221"/>
              </a:lnSpc>
              <a:buNone/>
            </a:pPr>
            <a:r>
              <a:rPr lang="en-US" sz="788" b="1" dirty="0">
                <a:solidFill>
                  <a:srgbClr val="1E4D3B"/>
                </a:solidFill>
                <a:latin typeface="Carlito" pitchFamily="34" charset="0"/>
                <a:ea typeface="Carlito" pitchFamily="34" charset="-122"/>
                <a:cs typeface="Carlito" pitchFamily="34" charset="-120"/>
              </a:rPr>
              <a:t>বেগুন এফবিআর · বাড়ছে</a:t>
            </a:r>
            <a:endParaRPr lang="en-US" sz="788" dirty="0"/>
          </a:p>
        </p:txBody>
      </p:sp>
      <p:sp>
        <p:nvSpPr>
          <p:cNvPr id="30" name="Text 28"/>
          <p:cNvSpPr/>
          <p:nvPr/>
        </p:nvSpPr>
        <p:spPr>
          <a:xfrm>
            <a:off x="3168811" y="4563740"/>
            <a:ext cx="782687" cy="143991"/>
          </a:xfrm>
          <a:prstGeom prst="rect">
            <a:avLst/>
          </a:prstGeom>
          <a:noFill/>
          <a:ln/>
        </p:spPr>
        <p:txBody>
          <a:bodyPr wrap="none" lIns="0" tIns="0" rIns="0" bIns="0" rtlCol="0" anchor="t"/>
          <a:lstStyle/>
          <a:p>
            <a:pPr algn="l" indent="0" marL="0">
              <a:lnSpc>
                <a:spcPts val="959"/>
              </a:lnSpc>
              <a:buNone/>
            </a:pPr>
            <a:r>
              <a:rPr lang="en-US" sz="619" dirty="0">
                <a:solidFill>
                  <a:srgbClr val="6B6B6B"/>
                </a:solidFill>
                <a:latin typeface="Carlito" pitchFamily="34" charset="0"/>
                <a:ea typeface="Carlito" pitchFamily="34" charset="-122"/>
                <a:cs typeface="Carlito" pitchFamily="34" charset="-120"/>
              </a:rPr>
              <a:t>শুট ও ফল ছিদ্রকারী</a:t>
            </a:r>
            <a:endParaRPr lang="en-US" sz="619" dirty="0"/>
          </a:p>
        </p:txBody>
      </p:sp>
      <p:pic>
        <p:nvPicPr>
          <p:cNvPr id="31" name="Image 0" descr="/tmp/h2p-fit-1789050438590-cp6lhr.png">    </p:cNvPr>
          <p:cNvPicPr>
            <a:picLocks noChangeAspect="1"/>
          </p:cNvPicPr>
          <p:nvPr/>
        </p:nvPicPr>
        <p:blipFill>
          <a:blip r:embed="rId1"/>
          <a:stretch>
            <a:fillRect/>
          </a:stretch>
        </p:blipFill>
        <p:spPr>
          <a:xfrm>
            <a:off x="5692229" y="342900"/>
            <a:ext cx="3108871" cy="4257675"/>
          </a:xfrm>
          <a:prstGeom prst="rect">
            <a:avLst/>
          </a:prstGeom>
        </p:spPr>
      </p:pic>
      <p:pic>
        <p:nvPicPr>
          <p:cNvPr id="32" name="Image 1" descr="preencoded.png">    </p:cNvPr>
          <p:cNvPicPr>
            <a:picLocks noChangeAspect="1"/>
          </p:cNvPicPr>
          <p:nvPr/>
        </p:nvPicPr>
        <p:blipFill>
          <a:blip r:embed="rId2"/>
          <a:stretch>
            <a:fillRect/>
          </a:stretch>
        </p:blipFill>
        <p:spPr>
          <a:xfrm>
            <a:off x="5692229" y="342900"/>
            <a:ext cx="3108871" cy="4257675"/>
          </a:xfrm>
          <a:prstGeom prst="rect">
            <a:avLst/>
          </a:prstGeom>
        </p:spPr>
      </p:pic>
      <p:sp>
        <p:nvSpPr>
          <p:cNvPr id="33" name="Text 29"/>
          <p:cNvSpPr/>
          <p:nvPr/>
        </p:nvSpPr>
        <p:spPr>
          <a:xfrm>
            <a:off x="5770775" y="430462"/>
            <a:ext cx="579608" cy="232404"/>
          </a:xfrm>
          <a:prstGeom prst="roundRect">
            <a:avLst>
              <a:gd name="adj" fmla="val 4094368"/>
            </a:avLst>
          </a:prstGeom>
          <a:solidFill>
            <a:srgbClr val="14342A">
              <a:alpha val="85000"/>
            </a:srgbClr>
          </a:solidFill>
          <a:ln/>
        </p:spPr>
        <p:txBody>
          <a:bodyPr wrap="square" rtlCol="0" anchor="ctr"/>
          <a:lstStyle/>
          <a:p>
            <a:pPr indent="0" marL="0">
              <a:buNone/>
            </a:pPr>
            <a:endParaRPr lang="en-US" dirty="0"/>
          </a:p>
        </p:txBody>
      </p:sp>
      <p:sp>
        <p:nvSpPr>
          <p:cNvPr id="34" name="Text 30"/>
          <p:cNvSpPr/>
          <p:nvPr/>
        </p:nvSpPr>
        <p:spPr>
          <a:xfrm>
            <a:off x="5766457" y="442913"/>
            <a:ext cx="588244" cy="289751"/>
          </a:xfrm>
          <a:prstGeom prst="rect">
            <a:avLst/>
          </a:prstGeom>
          <a:noFill/>
          <a:ln/>
        </p:spPr>
        <p:txBody>
          <a:bodyPr wrap="none" lIns="0" tIns="0" rIns="0" bIns="0" rtlCol="0" anchor="t"/>
          <a:lstStyle/>
          <a:p>
            <a:pPr algn="l" indent="0" marL="0">
              <a:lnSpc>
                <a:spcPts val="959"/>
              </a:lnSpc>
              <a:buNone/>
            </a:pPr>
            <a:r>
              <a:rPr lang="en-US" sz="800" dirty="0">
                <a:solidFill>
                  <a:srgbClr val="C7912C"/>
                </a:solidFill>
                <a:latin typeface="Segoe UI Symbol" pitchFamily="34" charset="0"/>
                <a:ea typeface="Segoe UI Symbol" pitchFamily="34" charset="-122"/>
                <a:cs typeface="Segoe UI Symbol" pitchFamily="34" charset="-120"/>
              </a:rPr>
              <a:t>✦</a:t>
            </a:r>
            <a:pPr algn="l" indent="0" marL="0">
              <a:lnSpc>
                <a:spcPts val="959"/>
              </a:lnSpc>
              <a:buNone/>
            </a:pPr>
            <a:r>
              <a:rPr lang="en-US" sz="800" dirty="0">
                <a:solidFill>
                  <a:srgbClr val="FAF6EE"/>
                </a:solidFill>
                <a:latin typeface="Carlito" pitchFamily="34" charset="0"/>
                <a:ea typeface="Carlito" pitchFamily="34" charset="-122"/>
                <a:cs typeface="Carlito" pitchFamily="34" charset="-120"/>
              </a:rPr>
              <a:t> ফিল্ড ফটো</a:t>
            </a:r>
            <a:endParaRPr lang="en-US" sz="800" dirty="0"/>
          </a:p>
        </p:txBody>
      </p:sp>
      <p:sp>
        <p:nvSpPr>
          <p:cNvPr id="35" name="Text 31"/>
          <p:cNvSpPr/>
          <p:nvPr/>
        </p:nvSpPr>
        <p:spPr>
          <a:xfrm>
            <a:off x="5567874" y="4672013"/>
            <a:ext cx="3357580" cy="164592"/>
          </a:xfrm>
          <a:prstGeom prst="rect">
            <a:avLst/>
          </a:prstGeom>
          <a:noFill/>
          <a:ln/>
        </p:spPr>
        <p:txBody>
          <a:bodyPr wrap="square" lIns="0" tIns="0" rIns="0" bIns="0" rtlCol="0" anchor="t"/>
          <a:lstStyle/>
          <a:p>
            <a:pPr algn="ctr" indent="0" marL="0">
              <a:lnSpc>
                <a:spcPts val="1013"/>
              </a:lnSpc>
              <a:buNone/>
            </a:pPr>
            <a:r>
              <a:rPr lang="en-US" sz="800" i="1" dirty="0">
                <a:solidFill>
                  <a:srgbClr val="6B6B6B"/>
                </a:solidFill>
                <a:latin typeface="Carlito" pitchFamily="34" charset="0"/>
                <a:ea typeface="Carlito" pitchFamily="34" charset="-122"/>
                <a:cs typeface="Carlito" pitchFamily="34" charset="-120"/>
              </a:rPr>
              <a:t>প্রতিরোধী পোকার কারণে বিনষ্ট ফসল</a:t>
            </a:r>
            <a:endParaRPr lang="en-US" sz="800" dirty="0"/>
          </a:p>
        </p:txBody>
      </p:sp>
      <p:sp>
        <p:nvSpPr>
          <p:cNvPr id="36" name="Text 32"/>
          <p:cNvSpPr/>
          <p:nvPr/>
        </p:nvSpPr>
        <p:spPr>
          <a:xfrm>
            <a:off x="8687581" y="4706392"/>
            <a:ext cx="31879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৩০</a:t>
            </a:r>
            <a:endParaRPr lang="en-US" sz="1350" dirty="0"/>
          </a:p>
        </p:txBody>
      </p:sp>
      <p:pic>
        <p:nvPicPr>
          <p:cNvPr id="37" name="Image 2" descr="preencoded.png">    </p:cNvPr>
          <p:cNvPicPr>
            <a:picLocks noChangeAspect="1"/>
          </p:cNvPicPr>
          <p:nvPr/>
        </p:nvPicPr>
        <p:blipFill>
          <a:blip r:embed="rId3"/>
          <a:stretch>
            <a:fillRect/>
          </a:stretch>
        </p:blipFill>
        <p:spPr>
          <a:xfrm>
            <a:off x="0" y="5100638"/>
            <a:ext cx="9144000" cy="4286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57200" y="474390"/>
            <a:ext cx="3997773" cy="286911"/>
          </a:xfrm>
          <a:prstGeom prst="rect">
            <a:avLst/>
          </a:prstGeom>
          <a:noFill/>
          <a:ln/>
        </p:spPr>
        <p:txBody>
          <a:bodyPr wrap="squar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০৫ · প্রতিরোধ ক্ষমতা ও দীর্ঘমেয়াদি ক্ষতি</a:t>
            </a:r>
            <a:endParaRPr lang="en-US" sz="1350" dirty="0"/>
          </a:p>
        </p:txBody>
      </p:sp>
      <p:sp>
        <p:nvSpPr>
          <p:cNvPr id="3" name="Text 1"/>
          <p:cNvSpPr/>
          <p:nvPr/>
        </p:nvSpPr>
        <p:spPr>
          <a:xfrm>
            <a:off x="457200" y="840060"/>
            <a:ext cx="8636000" cy="509809"/>
          </a:xfrm>
          <a:prstGeom prst="rect">
            <a:avLst/>
          </a:prstGeom>
          <a:noFill/>
          <a:ln/>
        </p:spPr>
        <p:txBody>
          <a:bodyPr wrap="square" lIns="0" tIns="0" rIns="0" bIns="0" rtlCol="0" anchor="t"/>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পরিবেশগত দীর্ঘমেয়াদি ক্ষতি</a:t>
            </a:r>
            <a:endParaRPr lang="en-US" sz="3150" dirty="0"/>
          </a:p>
        </p:txBody>
      </p:sp>
      <p:sp>
        <p:nvSpPr>
          <p:cNvPr id="4" name="Shape 2"/>
          <p:cNvSpPr/>
          <p:nvPr/>
        </p:nvSpPr>
        <p:spPr>
          <a:xfrm>
            <a:off x="457200" y="1422834"/>
            <a:ext cx="400050" cy="0"/>
          </a:xfrm>
          <a:prstGeom prst="line">
            <a:avLst/>
          </a:prstGeom>
          <a:noFill/>
          <a:ln w="7144">
            <a:solidFill>
              <a:srgbClr val="1A1A1A"/>
            </a:solidFill>
            <a:prstDash val="solid"/>
          </a:ln>
        </p:spPr>
        <p:txBody>
          <a:bodyPr/>
          <a:p/>
        </p:txBody>
      </p:sp>
      <p:sp>
        <p:nvSpPr>
          <p:cNvPr id="5" name="Text 3"/>
          <p:cNvSpPr/>
          <p:nvPr/>
        </p:nvSpPr>
        <p:spPr>
          <a:xfrm>
            <a:off x="457200" y="1385888"/>
            <a:ext cx="2676451" cy="1607344"/>
          </a:xfrm>
          <a:prstGeom prst="roundRect">
            <a:avLst>
              <a:gd name="adj" fmla="val 8296"/>
            </a:avLst>
          </a:prstGeom>
          <a:solidFill>
            <a:srgbClr val="FFFFFF"/>
          </a:solidFill>
          <a:ln/>
        </p:spPr>
        <p:txBody>
          <a:bodyPr wrap="square" rtlCol="0" anchor="ctr"/>
          <a:lstStyle/>
          <a:p>
            <a:pPr indent="0" marL="0">
              <a:buNone/>
            </a:pPr>
            <a:endParaRPr lang="en-US" dirty="0"/>
          </a:p>
        </p:txBody>
      </p:sp>
      <p:sp>
        <p:nvSpPr>
          <p:cNvPr id="6" name="Shape 4"/>
          <p:cNvSpPr/>
          <p:nvPr/>
        </p:nvSpPr>
        <p:spPr>
          <a:xfrm>
            <a:off x="457200" y="1396603"/>
            <a:ext cx="2676451" cy="0"/>
          </a:xfrm>
          <a:prstGeom prst="line">
            <a:avLst/>
          </a:prstGeom>
          <a:noFill/>
          <a:ln w="21431">
            <a:solidFill>
              <a:srgbClr val="1E4D3B"/>
            </a:solidFill>
            <a:prstDash val="solid"/>
          </a:ln>
        </p:spPr>
        <p:txBody>
          <a:bodyPr/>
          <a:p/>
        </p:txBody>
      </p:sp>
      <p:sp>
        <p:nvSpPr>
          <p:cNvPr id="7" name="Shape 5"/>
          <p:cNvSpPr/>
          <p:nvPr/>
        </p:nvSpPr>
        <p:spPr>
          <a:xfrm>
            <a:off x="3130079" y="1385888"/>
            <a:ext cx="0" cy="1607344"/>
          </a:xfrm>
          <a:prstGeom prst="line">
            <a:avLst/>
          </a:prstGeom>
          <a:noFill/>
          <a:ln w="7144">
            <a:solidFill>
              <a:srgbClr val="D9D2BF"/>
            </a:solidFill>
            <a:prstDash val="solid"/>
          </a:ln>
        </p:spPr>
        <p:txBody>
          <a:bodyPr/>
          <a:p/>
        </p:txBody>
      </p:sp>
      <p:sp>
        <p:nvSpPr>
          <p:cNvPr id="8" name="Shape 6"/>
          <p:cNvSpPr/>
          <p:nvPr/>
        </p:nvSpPr>
        <p:spPr>
          <a:xfrm>
            <a:off x="457200" y="2989659"/>
            <a:ext cx="2676451" cy="0"/>
          </a:xfrm>
          <a:prstGeom prst="line">
            <a:avLst/>
          </a:prstGeom>
          <a:noFill/>
          <a:ln w="7144">
            <a:solidFill>
              <a:srgbClr val="D9D2BF"/>
            </a:solidFill>
            <a:prstDash val="solid"/>
          </a:ln>
        </p:spPr>
        <p:txBody>
          <a:bodyPr/>
          <a:p/>
        </p:txBody>
      </p:sp>
      <p:sp>
        <p:nvSpPr>
          <p:cNvPr id="9" name="Shape 7"/>
          <p:cNvSpPr/>
          <p:nvPr/>
        </p:nvSpPr>
        <p:spPr>
          <a:xfrm>
            <a:off x="460772" y="1385888"/>
            <a:ext cx="0" cy="1607344"/>
          </a:xfrm>
          <a:prstGeom prst="line">
            <a:avLst/>
          </a:prstGeom>
          <a:noFill/>
          <a:ln w="7144">
            <a:solidFill>
              <a:srgbClr val="D9D2BF"/>
            </a:solidFill>
            <a:prstDash val="solid"/>
          </a:ln>
        </p:spPr>
        <p:txBody>
          <a:bodyPr/>
          <a:p/>
        </p:txBody>
      </p:sp>
      <p:sp>
        <p:nvSpPr>
          <p:cNvPr id="10" name="Text 8"/>
          <p:cNvSpPr/>
          <p:nvPr/>
        </p:nvSpPr>
        <p:spPr>
          <a:xfrm>
            <a:off x="607219" y="1535906"/>
            <a:ext cx="271463" cy="271463"/>
          </a:xfrm>
          <a:prstGeom prst="roundRect">
            <a:avLst>
              <a:gd name="adj" fmla="val 28070"/>
            </a:avLst>
          </a:prstGeom>
          <a:solidFill>
            <a:srgbClr val="E6EDE9"/>
          </a:solidFill>
          <a:ln/>
        </p:spPr>
        <p:txBody>
          <a:bodyPr wrap="square" rtlCol="0" anchor="ctr"/>
          <a:lstStyle/>
          <a:p>
            <a:pPr indent="0" marL="0">
              <a:buNone/>
            </a:pPr>
            <a:endParaRPr lang="en-US" dirty="0"/>
          </a:p>
        </p:txBody>
      </p:sp>
      <p:sp>
        <p:nvSpPr>
          <p:cNvPr id="11" name="Text 9"/>
          <p:cNvSpPr/>
          <p:nvPr/>
        </p:nvSpPr>
        <p:spPr>
          <a:xfrm>
            <a:off x="629007" y="1557695"/>
            <a:ext cx="227886" cy="227886"/>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12" name="Text 10"/>
          <p:cNvSpPr/>
          <p:nvPr/>
        </p:nvSpPr>
        <p:spPr>
          <a:xfrm>
            <a:off x="950119" y="1598526"/>
            <a:ext cx="2033513" cy="157922"/>
          </a:xfrm>
          <a:prstGeom prst="rect">
            <a:avLst/>
          </a:prstGeom>
          <a:noFill/>
          <a:ln/>
        </p:spPr>
        <p:txBody>
          <a:bodyPr wrap="none" lIns="0" tIns="0" rIns="0" bIns="0" rtlCol="0" anchor="t"/>
          <a:lstStyle/>
          <a:p>
            <a:pPr algn="l" indent="0" marL="0">
              <a:lnSpc>
                <a:spcPts val="1152"/>
              </a:lnSpc>
              <a:buNone/>
            </a:pPr>
            <a:r>
              <a:rPr lang="en-US" sz="900" dirty="0">
                <a:solidFill>
                  <a:srgbClr val="1E4D3B"/>
                </a:solidFill>
                <a:latin typeface="Tinos" pitchFamily="34" charset="0"/>
                <a:ea typeface="Tinos" pitchFamily="34" charset="-122"/>
                <a:cs typeface="Tinos" pitchFamily="34" charset="-120"/>
              </a:rPr>
              <a:t>উপকারী পোকা ধ্বংস</a:t>
            </a:r>
            <a:endParaRPr lang="en-US" sz="900" dirty="0"/>
          </a:p>
        </p:txBody>
      </p:sp>
      <p:sp>
        <p:nvSpPr>
          <p:cNvPr id="13" name="Text 11"/>
          <p:cNvSpPr/>
          <p:nvPr/>
        </p:nvSpPr>
        <p:spPr>
          <a:xfrm>
            <a:off x="607219" y="1878806"/>
            <a:ext cx="2376413" cy="169999"/>
          </a:xfrm>
          <a:prstGeom prst="rect">
            <a:avLst/>
          </a:prstGeom>
          <a:noFill/>
          <a:ln/>
        </p:spPr>
        <p:txBody>
          <a:bodyPr wrap="square" lIns="0" tIns="0" rIns="0" bIns="0" rtlCol="0" anchor="t"/>
          <a:lstStyle/>
          <a:p>
            <a:pPr algn="l" indent="0" marL="0">
              <a:lnSpc>
                <a:spcPts val="1133"/>
              </a:lnSpc>
              <a:buNone/>
            </a:pPr>
            <a:r>
              <a:rPr lang="en-US" sz="731" dirty="0">
                <a:solidFill>
                  <a:srgbClr val="4A4A4A"/>
                </a:solidFill>
                <a:latin typeface="Carlito" pitchFamily="34" charset="0"/>
                <a:ea typeface="Carlito" pitchFamily="34" charset="-122"/>
                <a:cs typeface="Carlito" pitchFamily="34" charset="-120"/>
              </a:rPr>
              <a:t>মৌমাছি, উলুচা, শিকারি পোকা — প্রাকৃতিক শত্রু নিয়ন্ত্রণ বিঘ্ন</a:t>
            </a:r>
            <a:endParaRPr lang="en-US" sz="731" dirty="0"/>
          </a:p>
        </p:txBody>
      </p:sp>
      <p:sp>
        <p:nvSpPr>
          <p:cNvPr id="14" name="Text 12"/>
          <p:cNvSpPr/>
          <p:nvPr/>
        </p:nvSpPr>
        <p:spPr>
          <a:xfrm>
            <a:off x="3233663" y="1385888"/>
            <a:ext cx="2676562" cy="1607344"/>
          </a:xfrm>
          <a:prstGeom prst="roundRect">
            <a:avLst>
              <a:gd name="adj" fmla="val 8296"/>
            </a:avLst>
          </a:prstGeom>
          <a:solidFill>
            <a:srgbClr val="FFFFFF"/>
          </a:solidFill>
          <a:ln/>
        </p:spPr>
        <p:txBody>
          <a:bodyPr wrap="square" rtlCol="0" anchor="ctr"/>
          <a:lstStyle/>
          <a:p>
            <a:pPr indent="0" marL="0">
              <a:buNone/>
            </a:pPr>
            <a:endParaRPr lang="en-US" dirty="0"/>
          </a:p>
        </p:txBody>
      </p:sp>
      <p:sp>
        <p:nvSpPr>
          <p:cNvPr id="15" name="Shape 13"/>
          <p:cNvSpPr/>
          <p:nvPr/>
        </p:nvSpPr>
        <p:spPr>
          <a:xfrm>
            <a:off x="3233663" y="1396603"/>
            <a:ext cx="2676562" cy="0"/>
          </a:xfrm>
          <a:prstGeom prst="line">
            <a:avLst/>
          </a:prstGeom>
          <a:noFill/>
          <a:ln w="21431">
            <a:solidFill>
              <a:srgbClr val="1E4D3B"/>
            </a:solidFill>
            <a:prstDash val="solid"/>
          </a:ln>
        </p:spPr>
        <p:txBody>
          <a:bodyPr/>
          <a:p/>
        </p:txBody>
      </p:sp>
      <p:sp>
        <p:nvSpPr>
          <p:cNvPr id="16" name="Shape 14"/>
          <p:cNvSpPr/>
          <p:nvPr/>
        </p:nvSpPr>
        <p:spPr>
          <a:xfrm>
            <a:off x="5906653" y="1385888"/>
            <a:ext cx="0" cy="1607344"/>
          </a:xfrm>
          <a:prstGeom prst="line">
            <a:avLst/>
          </a:prstGeom>
          <a:noFill/>
          <a:ln w="7144">
            <a:solidFill>
              <a:srgbClr val="D9D2BF"/>
            </a:solidFill>
            <a:prstDash val="solid"/>
          </a:ln>
        </p:spPr>
        <p:txBody>
          <a:bodyPr/>
          <a:p/>
        </p:txBody>
      </p:sp>
      <p:sp>
        <p:nvSpPr>
          <p:cNvPr id="17" name="Shape 15"/>
          <p:cNvSpPr/>
          <p:nvPr/>
        </p:nvSpPr>
        <p:spPr>
          <a:xfrm>
            <a:off x="3233663" y="2989659"/>
            <a:ext cx="2676562" cy="0"/>
          </a:xfrm>
          <a:prstGeom prst="line">
            <a:avLst/>
          </a:prstGeom>
          <a:noFill/>
          <a:ln w="7144">
            <a:solidFill>
              <a:srgbClr val="D9D2BF"/>
            </a:solidFill>
            <a:prstDash val="solid"/>
          </a:ln>
        </p:spPr>
        <p:txBody>
          <a:bodyPr/>
          <a:p/>
        </p:txBody>
      </p:sp>
      <p:sp>
        <p:nvSpPr>
          <p:cNvPr id="18" name="Shape 16"/>
          <p:cNvSpPr/>
          <p:nvPr/>
        </p:nvSpPr>
        <p:spPr>
          <a:xfrm>
            <a:off x="3237235" y="1385888"/>
            <a:ext cx="0" cy="1607344"/>
          </a:xfrm>
          <a:prstGeom prst="line">
            <a:avLst/>
          </a:prstGeom>
          <a:noFill/>
          <a:ln w="7144">
            <a:solidFill>
              <a:srgbClr val="D9D2BF"/>
            </a:solidFill>
            <a:prstDash val="solid"/>
          </a:ln>
        </p:spPr>
        <p:txBody>
          <a:bodyPr/>
          <a:p/>
        </p:txBody>
      </p:sp>
      <p:sp>
        <p:nvSpPr>
          <p:cNvPr id="19" name="Text 17"/>
          <p:cNvSpPr/>
          <p:nvPr/>
        </p:nvSpPr>
        <p:spPr>
          <a:xfrm>
            <a:off x="3383682" y="1535906"/>
            <a:ext cx="271463" cy="271463"/>
          </a:xfrm>
          <a:prstGeom prst="roundRect">
            <a:avLst>
              <a:gd name="adj" fmla="val 28070"/>
            </a:avLst>
          </a:prstGeom>
          <a:solidFill>
            <a:srgbClr val="E6EDE9"/>
          </a:solidFill>
          <a:ln/>
        </p:spPr>
        <p:txBody>
          <a:bodyPr wrap="square" rtlCol="0" anchor="ctr"/>
          <a:lstStyle/>
          <a:p>
            <a:pPr indent="0" marL="0">
              <a:buNone/>
            </a:pPr>
            <a:endParaRPr lang="en-US" dirty="0"/>
          </a:p>
        </p:txBody>
      </p:sp>
      <p:sp>
        <p:nvSpPr>
          <p:cNvPr id="20" name="Text 18"/>
          <p:cNvSpPr/>
          <p:nvPr/>
        </p:nvSpPr>
        <p:spPr>
          <a:xfrm>
            <a:off x="3405470" y="1557695"/>
            <a:ext cx="227886" cy="227886"/>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21" name="Text 19"/>
          <p:cNvSpPr/>
          <p:nvPr/>
        </p:nvSpPr>
        <p:spPr>
          <a:xfrm>
            <a:off x="3726582" y="1598526"/>
            <a:ext cx="2033625" cy="157922"/>
          </a:xfrm>
          <a:prstGeom prst="rect">
            <a:avLst/>
          </a:prstGeom>
          <a:noFill/>
          <a:ln/>
        </p:spPr>
        <p:txBody>
          <a:bodyPr wrap="none" lIns="0" tIns="0" rIns="0" bIns="0" rtlCol="0" anchor="t"/>
          <a:lstStyle/>
          <a:p>
            <a:pPr algn="l" indent="0" marL="0">
              <a:lnSpc>
                <a:spcPts val="1152"/>
              </a:lnSpc>
              <a:buNone/>
            </a:pPr>
            <a:r>
              <a:rPr lang="en-US" sz="900" dirty="0">
                <a:solidFill>
                  <a:srgbClr val="1E4D3B"/>
                </a:solidFill>
                <a:latin typeface="Tinos" pitchFamily="34" charset="0"/>
                <a:ea typeface="Tinos" pitchFamily="34" charset="-122"/>
                <a:cs typeface="Tinos" pitchFamily="34" charset="-120"/>
              </a:rPr>
              <a:t>মাটির অণুজীব হ্রাস</a:t>
            </a:r>
            <a:endParaRPr lang="en-US" sz="900" dirty="0"/>
          </a:p>
        </p:txBody>
      </p:sp>
      <p:sp>
        <p:nvSpPr>
          <p:cNvPr id="22" name="Text 20"/>
          <p:cNvSpPr/>
          <p:nvPr/>
        </p:nvSpPr>
        <p:spPr>
          <a:xfrm>
            <a:off x="3383682" y="1878806"/>
            <a:ext cx="2376525" cy="169999"/>
          </a:xfrm>
          <a:prstGeom prst="rect">
            <a:avLst/>
          </a:prstGeom>
          <a:noFill/>
          <a:ln/>
        </p:spPr>
        <p:txBody>
          <a:bodyPr wrap="square" lIns="0" tIns="0" rIns="0" bIns="0" rtlCol="0" anchor="t"/>
          <a:lstStyle/>
          <a:p>
            <a:pPr algn="l" indent="0" marL="0">
              <a:lnSpc>
                <a:spcPts val="1133"/>
              </a:lnSpc>
              <a:buNone/>
            </a:pPr>
            <a:r>
              <a:rPr lang="en-US" sz="731" dirty="0">
                <a:solidFill>
                  <a:srgbClr val="4A4A4A"/>
                </a:solidFill>
                <a:latin typeface="Carlito" pitchFamily="34" charset="0"/>
                <a:ea typeface="Carlito" pitchFamily="34" charset="-122"/>
                <a:cs typeface="Carlito" pitchFamily="34" charset="-120"/>
              </a:rPr>
              <a:t>নাইট্রোজেন স্থিরকারী ব্যাকটেরিয়া ধ্বংস, প্রাকৃতিক উর্বরতা কমে</a:t>
            </a:r>
            <a:endParaRPr lang="en-US" sz="731" dirty="0"/>
          </a:p>
        </p:txBody>
      </p:sp>
      <p:sp>
        <p:nvSpPr>
          <p:cNvPr id="23" name="Text 21"/>
          <p:cNvSpPr/>
          <p:nvPr/>
        </p:nvSpPr>
        <p:spPr>
          <a:xfrm>
            <a:off x="6010238" y="1385888"/>
            <a:ext cx="2676451" cy="1607344"/>
          </a:xfrm>
          <a:prstGeom prst="roundRect">
            <a:avLst>
              <a:gd name="adj" fmla="val 8296"/>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6010238" y="1396603"/>
            <a:ext cx="2676451" cy="0"/>
          </a:xfrm>
          <a:prstGeom prst="line">
            <a:avLst/>
          </a:prstGeom>
          <a:noFill/>
          <a:ln w="21431">
            <a:solidFill>
              <a:srgbClr val="1E4D3B"/>
            </a:solidFill>
            <a:prstDash val="solid"/>
          </a:ln>
        </p:spPr>
        <p:txBody>
          <a:bodyPr/>
          <a:p/>
        </p:txBody>
      </p:sp>
      <p:sp>
        <p:nvSpPr>
          <p:cNvPr id="25" name="Shape 23"/>
          <p:cNvSpPr/>
          <p:nvPr/>
        </p:nvSpPr>
        <p:spPr>
          <a:xfrm>
            <a:off x="8683117" y="1385888"/>
            <a:ext cx="0" cy="1607344"/>
          </a:xfrm>
          <a:prstGeom prst="line">
            <a:avLst/>
          </a:prstGeom>
          <a:noFill/>
          <a:ln w="7144">
            <a:solidFill>
              <a:srgbClr val="D9D2BF"/>
            </a:solidFill>
            <a:prstDash val="solid"/>
          </a:ln>
        </p:spPr>
        <p:txBody>
          <a:bodyPr/>
          <a:p/>
        </p:txBody>
      </p:sp>
      <p:sp>
        <p:nvSpPr>
          <p:cNvPr id="26" name="Shape 24"/>
          <p:cNvSpPr/>
          <p:nvPr/>
        </p:nvSpPr>
        <p:spPr>
          <a:xfrm>
            <a:off x="6010238" y="2989659"/>
            <a:ext cx="2676451" cy="0"/>
          </a:xfrm>
          <a:prstGeom prst="line">
            <a:avLst/>
          </a:prstGeom>
          <a:noFill/>
          <a:ln w="7144">
            <a:solidFill>
              <a:srgbClr val="D9D2BF"/>
            </a:solidFill>
            <a:prstDash val="solid"/>
          </a:ln>
        </p:spPr>
        <p:txBody>
          <a:bodyPr/>
          <a:p/>
        </p:txBody>
      </p:sp>
      <p:sp>
        <p:nvSpPr>
          <p:cNvPr id="27" name="Shape 25"/>
          <p:cNvSpPr/>
          <p:nvPr/>
        </p:nvSpPr>
        <p:spPr>
          <a:xfrm>
            <a:off x="6013810" y="1385888"/>
            <a:ext cx="0" cy="1607344"/>
          </a:xfrm>
          <a:prstGeom prst="line">
            <a:avLst/>
          </a:prstGeom>
          <a:noFill/>
          <a:ln w="7144">
            <a:solidFill>
              <a:srgbClr val="D9D2BF"/>
            </a:solidFill>
            <a:prstDash val="solid"/>
          </a:ln>
        </p:spPr>
        <p:txBody>
          <a:bodyPr/>
          <a:p/>
        </p:txBody>
      </p:sp>
      <p:sp>
        <p:nvSpPr>
          <p:cNvPr id="28" name="Text 26"/>
          <p:cNvSpPr/>
          <p:nvPr/>
        </p:nvSpPr>
        <p:spPr>
          <a:xfrm>
            <a:off x="6160257" y="1535906"/>
            <a:ext cx="271463" cy="271463"/>
          </a:xfrm>
          <a:prstGeom prst="roundRect">
            <a:avLst>
              <a:gd name="adj" fmla="val 28070"/>
            </a:avLst>
          </a:prstGeom>
          <a:solidFill>
            <a:srgbClr val="E6EDE9"/>
          </a:solidFill>
          <a:ln/>
        </p:spPr>
        <p:txBody>
          <a:bodyPr wrap="square" rtlCol="0" anchor="ctr"/>
          <a:lstStyle/>
          <a:p>
            <a:pPr indent="0" marL="0">
              <a:buNone/>
            </a:pPr>
            <a:endParaRPr lang="en-US" dirty="0"/>
          </a:p>
        </p:txBody>
      </p:sp>
      <p:sp>
        <p:nvSpPr>
          <p:cNvPr id="29" name="Text 27"/>
          <p:cNvSpPr/>
          <p:nvPr/>
        </p:nvSpPr>
        <p:spPr>
          <a:xfrm>
            <a:off x="6182045" y="1557695"/>
            <a:ext cx="227886" cy="227886"/>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30" name="Text 28"/>
          <p:cNvSpPr/>
          <p:nvPr/>
        </p:nvSpPr>
        <p:spPr>
          <a:xfrm>
            <a:off x="6503157" y="1598526"/>
            <a:ext cx="2033513" cy="157922"/>
          </a:xfrm>
          <a:prstGeom prst="rect">
            <a:avLst/>
          </a:prstGeom>
          <a:noFill/>
          <a:ln/>
        </p:spPr>
        <p:txBody>
          <a:bodyPr wrap="none" lIns="0" tIns="0" rIns="0" bIns="0" rtlCol="0" anchor="t"/>
          <a:lstStyle/>
          <a:p>
            <a:pPr algn="l" indent="0" marL="0">
              <a:lnSpc>
                <a:spcPts val="1152"/>
              </a:lnSpc>
              <a:buNone/>
            </a:pPr>
            <a:r>
              <a:rPr lang="en-US" sz="900" dirty="0">
                <a:solidFill>
                  <a:srgbClr val="1E4D3B"/>
                </a:solidFill>
                <a:latin typeface="Tinos" pitchFamily="34" charset="0"/>
                <a:ea typeface="Tinos" pitchFamily="34" charset="-122"/>
                <a:cs typeface="Tinos" pitchFamily="34" charset="-120"/>
              </a:rPr>
              <a:t>পানির দূষণ</a:t>
            </a:r>
            <a:endParaRPr lang="en-US" sz="900" dirty="0"/>
          </a:p>
        </p:txBody>
      </p:sp>
      <p:sp>
        <p:nvSpPr>
          <p:cNvPr id="31" name="Text 29"/>
          <p:cNvSpPr/>
          <p:nvPr/>
        </p:nvSpPr>
        <p:spPr>
          <a:xfrm>
            <a:off x="6160257" y="1878806"/>
            <a:ext cx="2376413" cy="169999"/>
          </a:xfrm>
          <a:prstGeom prst="rect">
            <a:avLst/>
          </a:prstGeom>
          <a:noFill/>
          <a:ln/>
        </p:spPr>
        <p:txBody>
          <a:bodyPr wrap="square" lIns="0" tIns="0" rIns="0" bIns="0" rtlCol="0" anchor="t"/>
          <a:lstStyle/>
          <a:p>
            <a:pPr algn="l" indent="0" marL="0">
              <a:lnSpc>
                <a:spcPts val="1133"/>
              </a:lnSpc>
              <a:buNone/>
            </a:pPr>
            <a:r>
              <a:rPr lang="en-US" sz="731" dirty="0">
                <a:solidFill>
                  <a:srgbClr val="4A4A4A"/>
                </a:solidFill>
                <a:latin typeface="Carlito" pitchFamily="34" charset="0"/>
                <a:ea typeface="Carlito" pitchFamily="34" charset="-122"/>
                <a:cs typeface="Carlito" pitchFamily="34" charset="-120"/>
              </a:rPr>
              <a:t>নদী, পুকুর, ভূগর্ভস্থ পানি — মাছ ও মানুষের জন্য বিপজ্জনক</a:t>
            </a:r>
            <a:endParaRPr lang="en-US" sz="731" dirty="0"/>
          </a:p>
        </p:txBody>
      </p:sp>
      <p:sp>
        <p:nvSpPr>
          <p:cNvPr id="32" name="Text 30"/>
          <p:cNvSpPr/>
          <p:nvPr/>
        </p:nvSpPr>
        <p:spPr>
          <a:xfrm>
            <a:off x="457200" y="3093244"/>
            <a:ext cx="2676451" cy="1607344"/>
          </a:xfrm>
          <a:prstGeom prst="roundRect">
            <a:avLst>
              <a:gd name="adj" fmla="val 8296"/>
            </a:avLst>
          </a:prstGeom>
          <a:solidFill>
            <a:srgbClr val="FFFFFF"/>
          </a:solidFill>
          <a:ln/>
        </p:spPr>
        <p:txBody>
          <a:bodyPr wrap="square" rtlCol="0" anchor="ctr"/>
          <a:lstStyle/>
          <a:p>
            <a:pPr indent="0" marL="0">
              <a:buNone/>
            </a:pPr>
            <a:endParaRPr lang="en-US" dirty="0"/>
          </a:p>
        </p:txBody>
      </p:sp>
      <p:sp>
        <p:nvSpPr>
          <p:cNvPr id="33" name="Shape 31"/>
          <p:cNvSpPr/>
          <p:nvPr/>
        </p:nvSpPr>
        <p:spPr>
          <a:xfrm>
            <a:off x="457200" y="3103959"/>
            <a:ext cx="2676451" cy="0"/>
          </a:xfrm>
          <a:prstGeom prst="line">
            <a:avLst/>
          </a:prstGeom>
          <a:noFill/>
          <a:ln w="21431">
            <a:solidFill>
              <a:srgbClr val="C7912C"/>
            </a:solidFill>
            <a:prstDash val="solid"/>
          </a:ln>
        </p:spPr>
        <p:txBody>
          <a:bodyPr/>
          <a:p/>
        </p:txBody>
      </p:sp>
      <p:sp>
        <p:nvSpPr>
          <p:cNvPr id="34" name="Shape 32"/>
          <p:cNvSpPr/>
          <p:nvPr/>
        </p:nvSpPr>
        <p:spPr>
          <a:xfrm>
            <a:off x="3130079" y="3093244"/>
            <a:ext cx="0" cy="1607344"/>
          </a:xfrm>
          <a:prstGeom prst="line">
            <a:avLst/>
          </a:prstGeom>
          <a:noFill/>
          <a:ln w="7144">
            <a:solidFill>
              <a:srgbClr val="D9D2BF"/>
            </a:solidFill>
            <a:prstDash val="solid"/>
          </a:ln>
        </p:spPr>
        <p:txBody>
          <a:bodyPr/>
          <a:p/>
        </p:txBody>
      </p:sp>
      <p:sp>
        <p:nvSpPr>
          <p:cNvPr id="35" name="Shape 33"/>
          <p:cNvSpPr/>
          <p:nvPr/>
        </p:nvSpPr>
        <p:spPr>
          <a:xfrm>
            <a:off x="457200" y="4697016"/>
            <a:ext cx="2676451" cy="0"/>
          </a:xfrm>
          <a:prstGeom prst="line">
            <a:avLst/>
          </a:prstGeom>
          <a:noFill/>
          <a:ln w="7144">
            <a:solidFill>
              <a:srgbClr val="D9D2BF"/>
            </a:solidFill>
            <a:prstDash val="solid"/>
          </a:ln>
        </p:spPr>
        <p:txBody>
          <a:bodyPr/>
          <a:p/>
        </p:txBody>
      </p:sp>
      <p:sp>
        <p:nvSpPr>
          <p:cNvPr id="36" name="Shape 34"/>
          <p:cNvSpPr/>
          <p:nvPr/>
        </p:nvSpPr>
        <p:spPr>
          <a:xfrm>
            <a:off x="460772" y="3093244"/>
            <a:ext cx="0" cy="1607344"/>
          </a:xfrm>
          <a:prstGeom prst="line">
            <a:avLst/>
          </a:prstGeom>
          <a:noFill/>
          <a:ln w="7144">
            <a:solidFill>
              <a:srgbClr val="D9D2BF"/>
            </a:solidFill>
            <a:prstDash val="solid"/>
          </a:ln>
        </p:spPr>
        <p:txBody>
          <a:bodyPr/>
          <a:p/>
        </p:txBody>
      </p:sp>
      <p:sp>
        <p:nvSpPr>
          <p:cNvPr id="37" name="Text 35"/>
          <p:cNvSpPr/>
          <p:nvPr/>
        </p:nvSpPr>
        <p:spPr>
          <a:xfrm>
            <a:off x="607219" y="3243263"/>
            <a:ext cx="271463" cy="271463"/>
          </a:xfrm>
          <a:prstGeom prst="roundRect">
            <a:avLst>
              <a:gd name="adj" fmla="val 28070"/>
            </a:avLst>
          </a:prstGeom>
          <a:solidFill>
            <a:srgbClr val="FAF1DD"/>
          </a:solidFill>
          <a:ln/>
        </p:spPr>
        <p:txBody>
          <a:bodyPr wrap="square" rtlCol="0" anchor="ctr"/>
          <a:lstStyle/>
          <a:p>
            <a:pPr indent="0" marL="0">
              <a:buNone/>
            </a:pPr>
            <a:endParaRPr lang="en-US" dirty="0"/>
          </a:p>
        </p:txBody>
      </p:sp>
      <p:sp>
        <p:nvSpPr>
          <p:cNvPr id="38" name="Text 36"/>
          <p:cNvSpPr/>
          <p:nvPr/>
        </p:nvSpPr>
        <p:spPr>
          <a:xfrm>
            <a:off x="629007" y="3265051"/>
            <a:ext cx="227886" cy="227886"/>
          </a:xfrm>
          <a:prstGeom prst="rect">
            <a:avLst/>
          </a:prstGeom>
          <a:noFill/>
          <a:ln/>
        </p:spPr>
        <p:txBody>
          <a:bodyPr wrap="none" lIns="0" tIns="0" rIns="0" bIns="0" rtlCol="0" anchor="ctr"/>
          <a:lstStyle/>
          <a:p>
            <a:pPr algn="ctr" indent="0" marL="0">
              <a:buNone/>
            </a:pPr>
            <a:r>
              <a:rPr lang="en-US" sz="1547" dirty="0">
                <a:solidFill>
                  <a:srgbClr val="C7912C"/>
                </a:solidFill>
                <a:latin typeface="Segoe UI Symbol" pitchFamily="34" charset="0"/>
                <a:ea typeface="Segoe UI Symbol" pitchFamily="34" charset="-122"/>
                <a:cs typeface="Segoe UI Symbol" pitchFamily="34" charset="-120"/>
              </a:rPr>
              <a:t>◯</a:t>
            </a:r>
            <a:endParaRPr lang="en-US" sz="1547" dirty="0"/>
          </a:p>
        </p:txBody>
      </p:sp>
      <p:sp>
        <p:nvSpPr>
          <p:cNvPr id="39" name="Text 37"/>
          <p:cNvSpPr/>
          <p:nvPr/>
        </p:nvSpPr>
        <p:spPr>
          <a:xfrm>
            <a:off x="950119" y="3305882"/>
            <a:ext cx="2033513" cy="157922"/>
          </a:xfrm>
          <a:prstGeom prst="rect">
            <a:avLst/>
          </a:prstGeom>
          <a:noFill/>
          <a:ln/>
        </p:spPr>
        <p:txBody>
          <a:bodyPr wrap="none" lIns="0" tIns="0" rIns="0" bIns="0" rtlCol="0" anchor="t"/>
          <a:lstStyle/>
          <a:p>
            <a:pPr algn="l" indent="0" marL="0">
              <a:lnSpc>
                <a:spcPts val="1152"/>
              </a:lnSpc>
              <a:buNone/>
            </a:pPr>
            <a:r>
              <a:rPr lang="en-US" sz="900" dirty="0">
                <a:solidFill>
                  <a:srgbClr val="1E4D3B"/>
                </a:solidFill>
                <a:latin typeface="Tinos" pitchFamily="34" charset="0"/>
                <a:ea typeface="Tinos" pitchFamily="34" charset="-122"/>
                <a:cs typeface="Tinos" pitchFamily="34" charset="-120"/>
              </a:rPr>
              <a:t>জীববৈচিত্র্য হ্রাস</a:t>
            </a:r>
            <a:endParaRPr lang="en-US" sz="900" dirty="0"/>
          </a:p>
        </p:txBody>
      </p:sp>
      <p:sp>
        <p:nvSpPr>
          <p:cNvPr id="40" name="Text 38"/>
          <p:cNvSpPr/>
          <p:nvPr/>
        </p:nvSpPr>
        <p:spPr>
          <a:xfrm>
            <a:off x="607219" y="3586163"/>
            <a:ext cx="2486141" cy="169999"/>
          </a:xfrm>
          <a:prstGeom prst="rect">
            <a:avLst/>
          </a:prstGeom>
          <a:noFill/>
          <a:ln/>
        </p:spPr>
        <p:txBody>
          <a:bodyPr wrap="square" lIns="0" tIns="0" rIns="0" bIns="0" rtlCol="0" anchor="t"/>
          <a:lstStyle/>
          <a:p>
            <a:pPr algn="l" indent="0" marL="0">
              <a:lnSpc>
                <a:spcPts val="1133"/>
              </a:lnSpc>
              <a:buNone/>
            </a:pPr>
            <a:r>
              <a:rPr lang="en-US" sz="800" dirty="0">
                <a:solidFill>
                  <a:srgbClr val="4A4A4A"/>
                </a:solidFill>
                <a:latin typeface="Carlito" pitchFamily="34" charset="0"/>
                <a:ea typeface="Carlito" pitchFamily="34" charset="-122"/>
                <a:cs typeface="Carlito" pitchFamily="34" charset="-120"/>
              </a:rPr>
              <a:t>পাখি, মাছ, উভয়চর — পুরো খাদ্যচক্রে প্রভাব</a:t>
            </a:r>
            <a:endParaRPr lang="en-US" sz="800" dirty="0"/>
          </a:p>
        </p:txBody>
      </p:sp>
      <p:sp>
        <p:nvSpPr>
          <p:cNvPr id="41" name="Text 39"/>
          <p:cNvSpPr/>
          <p:nvPr/>
        </p:nvSpPr>
        <p:spPr>
          <a:xfrm>
            <a:off x="3233663" y="3093244"/>
            <a:ext cx="2676562" cy="1607344"/>
          </a:xfrm>
          <a:prstGeom prst="roundRect">
            <a:avLst>
              <a:gd name="adj" fmla="val 8296"/>
            </a:avLst>
          </a:prstGeom>
          <a:solidFill>
            <a:srgbClr val="FFFFFF"/>
          </a:solidFill>
          <a:ln/>
        </p:spPr>
        <p:txBody>
          <a:bodyPr wrap="square" rtlCol="0" anchor="ctr"/>
          <a:lstStyle/>
          <a:p>
            <a:pPr indent="0" marL="0">
              <a:buNone/>
            </a:pPr>
            <a:endParaRPr lang="en-US" dirty="0"/>
          </a:p>
        </p:txBody>
      </p:sp>
      <p:sp>
        <p:nvSpPr>
          <p:cNvPr id="42" name="Shape 40"/>
          <p:cNvSpPr/>
          <p:nvPr/>
        </p:nvSpPr>
        <p:spPr>
          <a:xfrm>
            <a:off x="3233663" y="3103959"/>
            <a:ext cx="2676562" cy="0"/>
          </a:xfrm>
          <a:prstGeom prst="line">
            <a:avLst/>
          </a:prstGeom>
          <a:noFill/>
          <a:ln w="21431">
            <a:solidFill>
              <a:srgbClr val="C7912C"/>
            </a:solidFill>
            <a:prstDash val="solid"/>
          </a:ln>
        </p:spPr>
        <p:txBody>
          <a:bodyPr/>
          <a:p/>
        </p:txBody>
      </p:sp>
      <p:sp>
        <p:nvSpPr>
          <p:cNvPr id="43" name="Shape 41"/>
          <p:cNvSpPr/>
          <p:nvPr/>
        </p:nvSpPr>
        <p:spPr>
          <a:xfrm>
            <a:off x="5906653" y="3093244"/>
            <a:ext cx="0" cy="1607344"/>
          </a:xfrm>
          <a:prstGeom prst="line">
            <a:avLst/>
          </a:prstGeom>
          <a:noFill/>
          <a:ln w="7144">
            <a:solidFill>
              <a:srgbClr val="D9D2BF"/>
            </a:solidFill>
            <a:prstDash val="solid"/>
          </a:ln>
        </p:spPr>
        <p:txBody>
          <a:bodyPr/>
          <a:p/>
        </p:txBody>
      </p:sp>
      <p:sp>
        <p:nvSpPr>
          <p:cNvPr id="44" name="Shape 42"/>
          <p:cNvSpPr/>
          <p:nvPr/>
        </p:nvSpPr>
        <p:spPr>
          <a:xfrm>
            <a:off x="3233663" y="4697016"/>
            <a:ext cx="2676562" cy="0"/>
          </a:xfrm>
          <a:prstGeom prst="line">
            <a:avLst/>
          </a:prstGeom>
          <a:noFill/>
          <a:ln w="7144">
            <a:solidFill>
              <a:srgbClr val="D9D2BF"/>
            </a:solidFill>
            <a:prstDash val="solid"/>
          </a:ln>
        </p:spPr>
        <p:txBody>
          <a:bodyPr/>
          <a:p/>
        </p:txBody>
      </p:sp>
      <p:sp>
        <p:nvSpPr>
          <p:cNvPr id="45" name="Shape 43"/>
          <p:cNvSpPr/>
          <p:nvPr/>
        </p:nvSpPr>
        <p:spPr>
          <a:xfrm>
            <a:off x="3237235" y="3093244"/>
            <a:ext cx="0" cy="1607344"/>
          </a:xfrm>
          <a:prstGeom prst="line">
            <a:avLst/>
          </a:prstGeom>
          <a:noFill/>
          <a:ln w="7144">
            <a:solidFill>
              <a:srgbClr val="D9D2BF"/>
            </a:solidFill>
            <a:prstDash val="solid"/>
          </a:ln>
        </p:spPr>
        <p:txBody>
          <a:bodyPr/>
          <a:p/>
        </p:txBody>
      </p:sp>
      <p:sp>
        <p:nvSpPr>
          <p:cNvPr id="46" name="Text 44"/>
          <p:cNvSpPr/>
          <p:nvPr/>
        </p:nvSpPr>
        <p:spPr>
          <a:xfrm>
            <a:off x="3383682" y="3243263"/>
            <a:ext cx="271463" cy="271463"/>
          </a:xfrm>
          <a:prstGeom prst="roundRect">
            <a:avLst>
              <a:gd name="adj" fmla="val 28070"/>
            </a:avLst>
          </a:prstGeom>
          <a:solidFill>
            <a:srgbClr val="FAF1DD"/>
          </a:solidFill>
          <a:ln/>
        </p:spPr>
        <p:txBody>
          <a:bodyPr wrap="square" rtlCol="0" anchor="ctr"/>
          <a:lstStyle/>
          <a:p>
            <a:pPr indent="0" marL="0">
              <a:buNone/>
            </a:pPr>
            <a:endParaRPr lang="en-US" dirty="0"/>
          </a:p>
        </p:txBody>
      </p:sp>
      <p:sp>
        <p:nvSpPr>
          <p:cNvPr id="47" name="Text 45"/>
          <p:cNvSpPr/>
          <p:nvPr/>
        </p:nvSpPr>
        <p:spPr>
          <a:xfrm>
            <a:off x="3405470" y="3265051"/>
            <a:ext cx="227886" cy="227886"/>
          </a:xfrm>
          <a:prstGeom prst="rect">
            <a:avLst/>
          </a:prstGeom>
          <a:noFill/>
          <a:ln/>
        </p:spPr>
        <p:txBody>
          <a:bodyPr wrap="none" lIns="0" tIns="0" rIns="0" bIns="0" rtlCol="0" anchor="ctr"/>
          <a:lstStyle/>
          <a:p>
            <a:pPr algn="ctr" indent="0" marL="0">
              <a:buNone/>
            </a:pPr>
            <a:r>
              <a:rPr lang="en-US" sz="1547" dirty="0">
                <a:solidFill>
                  <a:srgbClr val="C7912C"/>
                </a:solidFill>
                <a:latin typeface="Segoe UI Symbol" pitchFamily="34" charset="0"/>
                <a:ea typeface="Segoe UI Symbol" pitchFamily="34" charset="-122"/>
                <a:cs typeface="Segoe UI Symbol" pitchFamily="34" charset="-120"/>
              </a:rPr>
              <a:t>△</a:t>
            </a:r>
            <a:endParaRPr lang="en-US" sz="1547" dirty="0"/>
          </a:p>
        </p:txBody>
      </p:sp>
      <p:sp>
        <p:nvSpPr>
          <p:cNvPr id="48" name="Text 46"/>
          <p:cNvSpPr/>
          <p:nvPr/>
        </p:nvSpPr>
        <p:spPr>
          <a:xfrm>
            <a:off x="3726582" y="3305882"/>
            <a:ext cx="2033625" cy="157922"/>
          </a:xfrm>
          <a:prstGeom prst="rect">
            <a:avLst/>
          </a:prstGeom>
          <a:noFill/>
          <a:ln/>
        </p:spPr>
        <p:txBody>
          <a:bodyPr wrap="none" lIns="0" tIns="0" rIns="0" bIns="0" rtlCol="0" anchor="t"/>
          <a:lstStyle/>
          <a:p>
            <a:pPr algn="l" indent="0" marL="0">
              <a:lnSpc>
                <a:spcPts val="1152"/>
              </a:lnSpc>
              <a:buNone/>
            </a:pPr>
            <a:r>
              <a:rPr lang="en-US" sz="900" dirty="0">
                <a:solidFill>
                  <a:srgbClr val="1E4D3B"/>
                </a:solidFill>
                <a:latin typeface="Tinos" pitchFamily="34" charset="0"/>
                <a:ea typeface="Tinos" pitchFamily="34" charset="-122"/>
                <a:cs typeface="Tinos" pitchFamily="34" charset="-120"/>
              </a:rPr>
              <a:t>মাটির অম্লতা পরিবর্তন</a:t>
            </a:r>
            <a:endParaRPr lang="en-US" sz="900" dirty="0"/>
          </a:p>
        </p:txBody>
      </p:sp>
      <p:sp>
        <p:nvSpPr>
          <p:cNvPr id="49" name="Text 47"/>
          <p:cNvSpPr/>
          <p:nvPr/>
        </p:nvSpPr>
        <p:spPr>
          <a:xfrm>
            <a:off x="3383682" y="3586163"/>
            <a:ext cx="2486253" cy="169999"/>
          </a:xfrm>
          <a:prstGeom prst="rect">
            <a:avLst/>
          </a:prstGeom>
          <a:noFill/>
          <a:ln/>
        </p:spPr>
        <p:txBody>
          <a:bodyPr wrap="square" lIns="0" tIns="0" rIns="0" bIns="0" rtlCol="0" anchor="t"/>
          <a:lstStyle/>
          <a:p>
            <a:pPr algn="l" indent="0" marL="0">
              <a:lnSpc>
                <a:spcPts val="1133"/>
              </a:lnSpc>
              <a:buNone/>
            </a:pPr>
            <a:r>
              <a:rPr lang="en-US" sz="800" dirty="0">
                <a:solidFill>
                  <a:srgbClr val="4A4A4A"/>
                </a:solidFill>
                <a:latin typeface="Carlito" pitchFamily="34" charset="0"/>
                <a:ea typeface="Carlito" pitchFamily="34" charset="-122"/>
                <a:cs typeface="Carlito" pitchFamily="34" charset="-120"/>
              </a:rPr>
              <a:t>pH ব্যালেন্স নষ্ট, দীর্ঘমেয়াদে উর্বরতা হ্রাস</a:t>
            </a:r>
            <a:endParaRPr lang="en-US" sz="800" dirty="0"/>
          </a:p>
        </p:txBody>
      </p:sp>
      <p:sp>
        <p:nvSpPr>
          <p:cNvPr id="50" name="Text 48"/>
          <p:cNvSpPr/>
          <p:nvPr/>
        </p:nvSpPr>
        <p:spPr>
          <a:xfrm>
            <a:off x="6010238" y="3093244"/>
            <a:ext cx="2676451" cy="1607344"/>
          </a:xfrm>
          <a:prstGeom prst="roundRect">
            <a:avLst>
              <a:gd name="adj" fmla="val 8296"/>
            </a:avLst>
          </a:prstGeom>
          <a:solidFill>
            <a:srgbClr val="FFFFFF"/>
          </a:solidFill>
          <a:ln/>
        </p:spPr>
        <p:txBody>
          <a:bodyPr wrap="square" rtlCol="0" anchor="ctr"/>
          <a:lstStyle/>
          <a:p>
            <a:pPr indent="0" marL="0">
              <a:buNone/>
            </a:pPr>
            <a:endParaRPr lang="en-US" dirty="0"/>
          </a:p>
        </p:txBody>
      </p:sp>
      <p:sp>
        <p:nvSpPr>
          <p:cNvPr id="51" name="Shape 49"/>
          <p:cNvSpPr/>
          <p:nvPr/>
        </p:nvSpPr>
        <p:spPr>
          <a:xfrm>
            <a:off x="6010238" y="3103959"/>
            <a:ext cx="2676451" cy="0"/>
          </a:xfrm>
          <a:prstGeom prst="line">
            <a:avLst/>
          </a:prstGeom>
          <a:noFill/>
          <a:ln w="21431">
            <a:solidFill>
              <a:srgbClr val="C7912C"/>
            </a:solidFill>
            <a:prstDash val="solid"/>
          </a:ln>
        </p:spPr>
        <p:txBody>
          <a:bodyPr/>
          <a:p/>
        </p:txBody>
      </p:sp>
      <p:sp>
        <p:nvSpPr>
          <p:cNvPr id="52" name="Shape 50"/>
          <p:cNvSpPr/>
          <p:nvPr/>
        </p:nvSpPr>
        <p:spPr>
          <a:xfrm>
            <a:off x="8683117" y="3093244"/>
            <a:ext cx="0" cy="1607344"/>
          </a:xfrm>
          <a:prstGeom prst="line">
            <a:avLst/>
          </a:prstGeom>
          <a:noFill/>
          <a:ln w="7144">
            <a:solidFill>
              <a:srgbClr val="D9D2BF"/>
            </a:solidFill>
            <a:prstDash val="solid"/>
          </a:ln>
        </p:spPr>
        <p:txBody>
          <a:bodyPr/>
          <a:p/>
        </p:txBody>
      </p:sp>
      <p:sp>
        <p:nvSpPr>
          <p:cNvPr id="53" name="Shape 51"/>
          <p:cNvSpPr/>
          <p:nvPr/>
        </p:nvSpPr>
        <p:spPr>
          <a:xfrm>
            <a:off x="6010238" y="4697016"/>
            <a:ext cx="2676451" cy="0"/>
          </a:xfrm>
          <a:prstGeom prst="line">
            <a:avLst/>
          </a:prstGeom>
          <a:noFill/>
          <a:ln w="7144">
            <a:solidFill>
              <a:srgbClr val="D9D2BF"/>
            </a:solidFill>
            <a:prstDash val="solid"/>
          </a:ln>
        </p:spPr>
        <p:txBody>
          <a:bodyPr/>
          <a:p/>
        </p:txBody>
      </p:sp>
      <p:sp>
        <p:nvSpPr>
          <p:cNvPr id="54" name="Shape 52"/>
          <p:cNvSpPr/>
          <p:nvPr/>
        </p:nvSpPr>
        <p:spPr>
          <a:xfrm>
            <a:off x="6013810" y="3093244"/>
            <a:ext cx="0" cy="1607344"/>
          </a:xfrm>
          <a:prstGeom prst="line">
            <a:avLst/>
          </a:prstGeom>
          <a:noFill/>
          <a:ln w="7144">
            <a:solidFill>
              <a:srgbClr val="D9D2BF"/>
            </a:solidFill>
            <a:prstDash val="solid"/>
          </a:ln>
        </p:spPr>
        <p:txBody>
          <a:bodyPr/>
          <a:p/>
        </p:txBody>
      </p:sp>
      <p:sp>
        <p:nvSpPr>
          <p:cNvPr id="55" name="Text 53"/>
          <p:cNvSpPr/>
          <p:nvPr/>
        </p:nvSpPr>
        <p:spPr>
          <a:xfrm>
            <a:off x="6160257" y="3243263"/>
            <a:ext cx="271463" cy="271463"/>
          </a:xfrm>
          <a:prstGeom prst="roundRect">
            <a:avLst>
              <a:gd name="adj" fmla="val 28070"/>
            </a:avLst>
          </a:prstGeom>
          <a:solidFill>
            <a:srgbClr val="FAF1DD"/>
          </a:solidFill>
          <a:ln/>
        </p:spPr>
        <p:txBody>
          <a:bodyPr wrap="square" rtlCol="0" anchor="ctr"/>
          <a:lstStyle/>
          <a:p>
            <a:pPr indent="0" marL="0">
              <a:buNone/>
            </a:pPr>
            <a:endParaRPr lang="en-US" dirty="0"/>
          </a:p>
        </p:txBody>
      </p:sp>
      <p:sp>
        <p:nvSpPr>
          <p:cNvPr id="56" name="Text 54"/>
          <p:cNvSpPr/>
          <p:nvPr/>
        </p:nvSpPr>
        <p:spPr>
          <a:xfrm>
            <a:off x="6182045" y="3265051"/>
            <a:ext cx="227886" cy="227886"/>
          </a:xfrm>
          <a:prstGeom prst="rect">
            <a:avLst/>
          </a:prstGeom>
          <a:noFill/>
          <a:ln/>
        </p:spPr>
        <p:txBody>
          <a:bodyPr wrap="none" lIns="0" tIns="0" rIns="0" bIns="0" rtlCol="0" anchor="ctr"/>
          <a:lstStyle/>
          <a:p>
            <a:pPr algn="ctr" indent="0" marL="0">
              <a:buNone/>
            </a:pPr>
            <a:r>
              <a:rPr lang="en-US" sz="1547" dirty="0">
                <a:solidFill>
                  <a:srgbClr val="C7912C"/>
                </a:solidFill>
                <a:latin typeface="Segoe UI Symbol" pitchFamily="34" charset="0"/>
                <a:ea typeface="Segoe UI Symbol" pitchFamily="34" charset="-122"/>
                <a:cs typeface="Segoe UI Symbol" pitchFamily="34" charset="-120"/>
              </a:rPr>
              <a:t>✦</a:t>
            </a:r>
            <a:endParaRPr lang="en-US" sz="1547" dirty="0"/>
          </a:p>
        </p:txBody>
      </p:sp>
      <p:sp>
        <p:nvSpPr>
          <p:cNvPr id="57" name="Text 55"/>
          <p:cNvSpPr/>
          <p:nvPr/>
        </p:nvSpPr>
        <p:spPr>
          <a:xfrm>
            <a:off x="6503157" y="3305882"/>
            <a:ext cx="2033513" cy="157922"/>
          </a:xfrm>
          <a:prstGeom prst="rect">
            <a:avLst/>
          </a:prstGeom>
          <a:noFill/>
          <a:ln/>
        </p:spPr>
        <p:txBody>
          <a:bodyPr wrap="none" lIns="0" tIns="0" rIns="0" bIns="0" rtlCol="0" anchor="t"/>
          <a:lstStyle/>
          <a:p>
            <a:pPr algn="l" indent="0" marL="0">
              <a:lnSpc>
                <a:spcPts val="1152"/>
              </a:lnSpc>
              <a:buNone/>
            </a:pPr>
            <a:r>
              <a:rPr lang="en-US" sz="900" dirty="0">
                <a:solidFill>
                  <a:srgbClr val="1E4D3B"/>
                </a:solidFill>
                <a:latin typeface="Tinos" pitchFamily="34" charset="0"/>
                <a:ea typeface="Tinos" pitchFamily="34" charset="-122"/>
                <a:cs typeface="Tinos" pitchFamily="34" charset="-120"/>
              </a:rPr>
              <a:t>বায়ু দূষণ</a:t>
            </a:r>
            <a:endParaRPr lang="en-US" sz="900" dirty="0"/>
          </a:p>
        </p:txBody>
      </p:sp>
      <p:sp>
        <p:nvSpPr>
          <p:cNvPr id="58" name="Text 56"/>
          <p:cNvSpPr/>
          <p:nvPr/>
        </p:nvSpPr>
        <p:spPr>
          <a:xfrm>
            <a:off x="6160257" y="3586163"/>
            <a:ext cx="2376413" cy="169999"/>
          </a:xfrm>
          <a:prstGeom prst="rect">
            <a:avLst/>
          </a:prstGeom>
          <a:noFill/>
          <a:ln/>
        </p:spPr>
        <p:txBody>
          <a:bodyPr wrap="square" lIns="0" tIns="0" rIns="0" bIns="0" rtlCol="0" anchor="t"/>
          <a:lstStyle/>
          <a:p>
            <a:pPr algn="l" indent="0" marL="0">
              <a:lnSpc>
                <a:spcPts val="1133"/>
              </a:lnSpc>
              <a:buNone/>
            </a:pPr>
            <a:r>
              <a:rPr lang="en-US" sz="731" dirty="0">
                <a:solidFill>
                  <a:srgbClr val="4A4A4A"/>
                </a:solidFill>
                <a:latin typeface="Carlito" pitchFamily="34" charset="0"/>
                <a:ea typeface="Carlito" pitchFamily="34" charset="-122"/>
                <a:cs typeface="Carlito" pitchFamily="34" charset="-120"/>
              </a:rPr>
              <a:t>বাষ্পীভবন ও বাতাসে ছড়ানো — দূরবর্তী এলাকায় প্রভাব</a:t>
            </a:r>
            <a:endParaRPr lang="en-US" sz="731" dirty="0"/>
          </a:p>
        </p:txBody>
      </p:sp>
      <p:sp>
        <p:nvSpPr>
          <p:cNvPr id="59" name="Text 57"/>
          <p:cNvSpPr/>
          <p:nvPr/>
        </p:nvSpPr>
        <p:spPr>
          <a:xfrm>
            <a:off x="8701869" y="4706392"/>
            <a:ext cx="29593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৩১</a:t>
            </a:r>
            <a:endParaRPr lang="en-US" sz="1350" dirty="0"/>
          </a:p>
        </p:txBody>
      </p:sp>
      <p:pic>
        <p:nvPicPr>
          <p:cNvPr id="60"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7381780" y="-357187"/>
            <a:ext cx="1762220" cy="2160270"/>
          </a:xfrm>
          <a:prstGeom prst="rect">
            <a:avLst/>
          </a:prstGeom>
          <a:noFill/>
          <a:ln/>
        </p:spPr>
        <p:txBody>
          <a:bodyPr wrap="none" lIns="0" tIns="0" rIns="0" bIns="0" rtlCol="0" anchor="t"/>
          <a:lstStyle/>
          <a:p>
            <a:pPr algn="l" indent="0" marL="0">
              <a:lnSpc>
                <a:spcPts val="15750"/>
              </a:lnSpc>
              <a:buNone/>
            </a:pPr>
            <a:r>
              <a:rPr lang="en-US" sz="15750" b="1" dirty="0">
                <a:solidFill>
                  <a:srgbClr val="B23A2A">
                    <a:alpha val="4000"/>
                  </a:srgbClr>
                </a:solidFill>
                <a:latin typeface="Carlito" pitchFamily="34" charset="0"/>
                <a:ea typeface="Carlito" pitchFamily="34" charset="-122"/>
                <a:cs typeface="Carlito" pitchFamily="34" charset="-120"/>
              </a:rPr>
              <a:t>+</a:t>
            </a:r>
            <a:endParaRPr lang="en-US" sz="15750" dirty="0"/>
          </a:p>
        </p:txBody>
      </p:sp>
      <p:sp>
        <p:nvSpPr>
          <p:cNvPr id="3" name="Text 1"/>
          <p:cNvSpPr/>
          <p:nvPr/>
        </p:nvSpPr>
        <p:spPr>
          <a:xfrm>
            <a:off x="457200" y="474390"/>
            <a:ext cx="3997773" cy="286911"/>
          </a:xfrm>
          <a:prstGeom prst="rect">
            <a:avLst/>
          </a:prstGeom>
          <a:noFill/>
          <a:ln/>
        </p:spPr>
        <p:txBody>
          <a:bodyPr wrap="square" lIns="0" tIns="0" rIns="0" bIns="0" rtlCol="0" anchor="t"/>
          <a:lstStyle/>
          <a:p>
            <a:pPr algn="l" indent="0" marL="0">
              <a:lnSpc>
                <a:spcPts val="2093"/>
              </a:lnSpc>
              <a:buNone/>
            </a:pPr>
            <a:r>
              <a:rPr lang="en-US" sz="1350" spc="243" kern="0" dirty="0">
                <a:solidFill>
                  <a:srgbClr val="B23A2A"/>
                </a:solidFill>
                <a:latin typeface="Carlito" pitchFamily="34" charset="0"/>
                <a:ea typeface="Carlito" pitchFamily="34" charset="-122"/>
                <a:cs typeface="Carlito" pitchFamily="34" charset="-120"/>
              </a:rPr>
              <a:t>০৫ · প্রতিরোধ ক্ষমতা ও দীর্ঘমেয়াদি ক্ষতি</a:t>
            </a:r>
            <a:endParaRPr lang="en-US" sz="1350" dirty="0"/>
          </a:p>
        </p:txBody>
      </p:sp>
      <p:sp>
        <p:nvSpPr>
          <p:cNvPr id="4" name="Text 2"/>
          <p:cNvSpPr/>
          <p:nvPr/>
        </p:nvSpPr>
        <p:spPr>
          <a:xfrm>
            <a:off x="457200" y="840060"/>
            <a:ext cx="8636000" cy="509809"/>
          </a:xfrm>
          <a:prstGeom prst="rect">
            <a:avLst/>
          </a:prstGeom>
          <a:noFill/>
          <a:ln/>
        </p:spPr>
        <p:txBody>
          <a:bodyPr wrap="square" lIns="0" tIns="0" rIns="0" bIns="0" rtlCol="0" anchor="t"/>
          <a:lstStyle/>
          <a:p>
            <a:pPr algn="l" indent="0" marL="0">
              <a:lnSpc>
                <a:spcPts val="3717"/>
              </a:lnSpc>
              <a:buNone/>
            </a:pPr>
            <a:r>
              <a:rPr lang="en-US" sz="3150" b="1" dirty="0">
                <a:solidFill>
                  <a:srgbClr val="B23A2A"/>
                </a:solidFill>
                <a:latin typeface="Segoe UI Symbol" pitchFamily="34" charset="0"/>
                <a:ea typeface="Segoe UI Symbol" pitchFamily="34" charset="-122"/>
                <a:cs typeface="Segoe UI Symbol" pitchFamily="34" charset="-120"/>
              </a:rPr>
              <a:t>✚</a:t>
            </a:r>
            <a:pPr algn="l" indent="0" marL="0">
              <a:lnSpc>
                <a:spcPts val="3717"/>
              </a:lnSpc>
              <a:buNone/>
            </a:pPr>
            <a:r>
              <a:rPr lang="en-US" sz="3150" b="1" dirty="0">
                <a:solidFill>
                  <a:srgbClr val="B23A2A"/>
                </a:solidFill>
                <a:latin typeface="Tinos" pitchFamily="34" charset="0"/>
                <a:ea typeface="Tinos" pitchFamily="34" charset="-122"/>
                <a:cs typeface="Tinos" pitchFamily="34" charset="-120"/>
              </a:rPr>
              <a:t> মানবস্বাস্থ্যের ওপর প্রভাব</a:t>
            </a:r>
            <a:endParaRPr lang="en-US" sz="3150" dirty="0"/>
          </a:p>
        </p:txBody>
      </p:sp>
      <p:sp>
        <p:nvSpPr>
          <p:cNvPr id="5" name="Shape 3"/>
          <p:cNvSpPr/>
          <p:nvPr/>
        </p:nvSpPr>
        <p:spPr>
          <a:xfrm>
            <a:off x="457200" y="1422834"/>
            <a:ext cx="400050" cy="0"/>
          </a:xfrm>
          <a:prstGeom prst="line">
            <a:avLst/>
          </a:prstGeom>
          <a:noFill/>
          <a:ln w="7144">
            <a:solidFill>
              <a:srgbClr val="1A1A1A"/>
            </a:solidFill>
            <a:prstDash val="solid"/>
          </a:ln>
        </p:spPr>
        <p:txBody>
          <a:bodyPr/>
          <a:p/>
        </p:txBody>
      </p:sp>
      <p:sp>
        <p:nvSpPr>
          <p:cNvPr id="6" name="Text 4"/>
          <p:cNvSpPr/>
          <p:nvPr/>
        </p:nvSpPr>
        <p:spPr>
          <a:xfrm>
            <a:off x="457200" y="1500188"/>
            <a:ext cx="4050506" cy="1235869"/>
          </a:xfrm>
          <a:prstGeom prst="roundRect">
            <a:avLst>
              <a:gd name="adj" fmla="val 10790"/>
            </a:avLst>
          </a:prstGeom>
          <a:solidFill>
            <a:srgbClr val="F2E0DC"/>
          </a:solidFill>
          <a:ln/>
        </p:spPr>
        <p:txBody>
          <a:bodyPr wrap="square" rtlCol="0" anchor="ctr"/>
          <a:lstStyle/>
          <a:p>
            <a:pPr indent="0" marL="0">
              <a:buNone/>
            </a:pPr>
            <a:endParaRPr lang="en-US" dirty="0"/>
          </a:p>
        </p:txBody>
      </p:sp>
      <p:sp>
        <p:nvSpPr>
          <p:cNvPr id="7" name="Shape 5"/>
          <p:cNvSpPr/>
          <p:nvPr/>
        </p:nvSpPr>
        <p:spPr>
          <a:xfrm>
            <a:off x="457200" y="1503759"/>
            <a:ext cx="4050506" cy="0"/>
          </a:xfrm>
          <a:prstGeom prst="line">
            <a:avLst/>
          </a:prstGeom>
          <a:noFill/>
          <a:ln w="7144">
            <a:solidFill>
              <a:srgbClr val="D9D2BF"/>
            </a:solidFill>
            <a:prstDash val="solid"/>
          </a:ln>
        </p:spPr>
        <p:txBody>
          <a:bodyPr/>
          <a:p/>
        </p:txBody>
      </p:sp>
      <p:sp>
        <p:nvSpPr>
          <p:cNvPr id="8" name="Shape 6"/>
          <p:cNvSpPr/>
          <p:nvPr/>
        </p:nvSpPr>
        <p:spPr>
          <a:xfrm>
            <a:off x="4504134" y="1500188"/>
            <a:ext cx="0" cy="1235869"/>
          </a:xfrm>
          <a:prstGeom prst="line">
            <a:avLst/>
          </a:prstGeom>
          <a:noFill/>
          <a:ln w="7144">
            <a:solidFill>
              <a:srgbClr val="D9D2BF"/>
            </a:solidFill>
            <a:prstDash val="solid"/>
          </a:ln>
        </p:spPr>
        <p:txBody>
          <a:bodyPr/>
          <a:p/>
        </p:txBody>
      </p:sp>
      <p:sp>
        <p:nvSpPr>
          <p:cNvPr id="9" name="Shape 7"/>
          <p:cNvSpPr/>
          <p:nvPr/>
        </p:nvSpPr>
        <p:spPr>
          <a:xfrm>
            <a:off x="457200" y="2732484"/>
            <a:ext cx="4050506" cy="0"/>
          </a:xfrm>
          <a:prstGeom prst="line">
            <a:avLst/>
          </a:prstGeom>
          <a:noFill/>
          <a:ln w="7144">
            <a:solidFill>
              <a:srgbClr val="D9D2BF"/>
            </a:solidFill>
            <a:prstDash val="solid"/>
          </a:ln>
        </p:spPr>
        <p:txBody>
          <a:bodyPr/>
          <a:p/>
        </p:txBody>
      </p:sp>
      <p:sp>
        <p:nvSpPr>
          <p:cNvPr id="10" name="Shape 8"/>
          <p:cNvSpPr/>
          <p:nvPr/>
        </p:nvSpPr>
        <p:spPr>
          <a:xfrm>
            <a:off x="471488" y="1500188"/>
            <a:ext cx="0" cy="1235869"/>
          </a:xfrm>
          <a:prstGeom prst="line">
            <a:avLst/>
          </a:prstGeom>
          <a:noFill/>
          <a:ln w="28575">
            <a:solidFill>
              <a:srgbClr val="B23A2A"/>
            </a:solidFill>
            <a:prstDash val="solid"/>
          </a:ln>
        </p:spPr>
        <p:txBody>
          <a:bodyPr/>
          <a:p/>
        </p:txBody>
      </p:sp>
      <p:sp>
        <p:nvSpPr>
          <p:cNvPr id="11" name="Text 9"/>
          <p:cNvSpPr/>
          <p:nvPr/>
        </p:nvSpPr>
        <p:spPr>
          <a:xfrm>
            <a:off x="671513" y="1678781"/>
            <a:ext cx="157163" cy="157163"/>
          </a:xfrm>
          <a:prstGeom prst="rect">
            <a:avLst/>
          </a:prstGeom>
          <a:noFill/>
          <a:ln/>
        </p:spPr>
        <p:txBody>
          <a:bodyPr wrap="none" lIns="0" tIns="0" rIns="0" bIns="0" rtlCol="0" anchor="ctr"/>
          <a:lstStyle/>
          <a:p>
            <a:pPr algn="ctr" indent="0" marL="0">
              <a:buNone/>
            </a:pPr>
            <a:r>
              <a:rPr lang="en-US" sz="1547" dirty="0">
                <a:solidFill>
                  <a:srgbClr val="B23A2A"/>
                </a:solidFill>
                <a:latin typeface="Segoe UI Symbol" pitchFamily="34" charset="0"/>
                <a:ea typeface="Segoe UI Symbol" pitchFamily="34" charset="-122"/>
                <a:cs typeface="Segoe UI Symbol" pitchFamily="34" charset="-120"/>
              </a:rPr>
              <a:t>◯</a:t>
            </a:r>
            <a:endParaRPr lang="en-US" sz="1547" dirty="0"/>
          </a:p>
        </p:txBody>
      </p:sp>
      <p:sp>
        <p:nvSpPr>
          <p:cNvPr id="12" name="Text 10"/>
          <p:cNvSpPr/>
          <p:nvPr/>
        </p:nvSpPr>
        <p:spPr>
          <a:xfrm>
            <a:off x="885825" y="1690948"/>
            <a:ext cx="3429000" cy="170021"/>
          </a:xfrm>
          <a:prstGeom prst="rect">
            <a:avLst/>
          </a:prstGeom>
          <a:noFill/>
          <a:ln/>
        </p:spPr>
        <p:txBody>
          <a:bodyPr wrap="none" lIns="0" tIns="0" rIns="0" bIns="0" rtlCol="0" anchor="t"/>
          <a:lstStyle/>
          <a:p>
            <a:pPr algn="l" indent="0" marL="0">
              <a:lnSpc>
                <a:spcPts val="1046"/>
              </a:lnSpc>
              <a:buNone/>
            </a:pPr>
            <a:r>
              <a:rPr lang="en-US" sz="800" b="1" spc="95" kern="0" dirty="0">
                <a:solidFill>
                  <a:srgbClr val="B23A2A"/>
                </a:solidFill>
                <a:latin typeface="Carlito" pitchFamily="34" charset="0"/>
                <a:ea typeface="Carlito" pitchFamily="34" charset="-122"/>
                <a:cs typeface="Carlito" pitchFamily="34" charset="-120"/>
              </a:rPr>
              <a:t>বিশ্ব · WHO</a:t>
            </a:r>
            <a:endParaRPr lang="en-US" sz="800" dirty="0"/>
          </a:p>
        </p:txBody>
      </p:sp>
      <p:sp>
        <p:nvSpPr>
          <p:cNvPr id="13" name="Text 11"/>
          <p:cNvSpPr/>
          <p:nvPr/>
        </p:nvSpPr>
        <p:spPr>
          <a:xfrm>
            <a:off x="671513" y="1893094"/>
            <a:ext cx="3643313" cy="486918"/>
          </a:xfrm>
          <a:prstGeom prst="rect">
            <a:avLst/>
          </a:prstGeom>
          <a:noFill/>
          <a:ln/>
        </p:spPr>
        <p:txBody>
          <a:bodyPr wrap="none" lIns="0" tIns="0" rIns="0" bIns="0" rtlCol="0" anchor="t">
            <a:normAutofit/>
          </a:bodyPr>
          <a:lstStyle/>
          <a:p>
            <a:pPr algn="l" indent="0" marL="0">
              <a:lnSpc>
                <a:spcPts val="3600"/>
              </a:lnSpc>
              <a:buNone/>
            </a:pPr>
            <a:r>
              <a:rPr lang="en-US" sz="3600" b="1" spc="-72" kern="0" dirty="0">
                <a:solidFill>
                  <a:srgbClr val="B23A2A"/>
                </a:solidFill>
                <a:latin typeface="Carlito" pitchFamily="34" charset="0"/>
                <a:ea typeface="Carlito" pitchFamily="34" charset="-122"/>
                <a:cs typeface="Carlito" pitchFamily="34" charset="-120"/>
              </a:rPr>
              <a:t>৩ লাখ</a:t>
            </a:r>
            <a:pPr algn="l" indent="0" marL="0">
              <a:lnSpc>
                <a:spcPts val="3600"/>
              </a:lnSpc>
              <a:buNone/>
            </a:pPr>
            <a:r>
              <a:rPr lang="en-US" sz="2025" b="1" spc="-72" kern="0" dirty="0">
                <a:solidFill>
                  <a:srgbClr val="C7912C"/>
                </a:solidFill>
                <a:latin typeface="Carlito" pitchFamily="34" charset="0"/>
                <a:ea typeface="Carlito" pitchFamily="34" charset="-122"/>
                <a:cs typeface="Carlito" pitchFamily="34" charset="-120"/>
              </a:rPr>
              <a:t>+</a:t>
            </a:r>
            <a:endParaRPr lang="en-US" sz="3600" dirty="0"/>
          </a:p>
        </p:txBody>
      </p:sp>
      <p:sp>
        <p:nvSpPr>
          <p:cNvPr id="14" name="Text 12"/>
          <p:cNvSpPr/>
          <p:nvPr/>
        </p:nvSpPr>
        <p:spPr>
          <a:xfrm>
            <a:off x="671513" y="2407444"/>
            <a:ext cx="3753041" cy="150019"/>
          </a:xfrm>
          <a:prstGeom prst="rect">
            <a:avLst/>
          </a:prstGeom>
          <a:noFill/>
          <a:ln/>
        </p:spPr>
        <p:txBody>
          <a:bodyPr wrap="square" lIns="0" tIns="0" rIns="0" bIns="0" rtlCol="0" anchor="t"/>
          <a:lstStyle/>
          <a:p>
            <a:pPr algn="l" indent="0" marL="0">
              <a:lnSpc>
                <a:spcPts val="1181"/>
              </a:lnSpc>
              <a:buNone/>
            </a:pPr>
            <a:r>
              <a:rPr lang="en-US" sz="800" dirty="0">
                <a:solidFill>
                  <a:srgbClr val="4A4A4A"/>
                </a:solidFill>
                <a:latin typeface="Carlito" pitchFamily="34" charset="0"/>
                <a:ea typeface="Carlito" pitchFamily="34" charset="-122"/>
                <a:cs typeface="Carlito" pitchFamily="34" charset="-120"/>
              </a:rPr>
              <a:t>বিশ্বে বার্ষিক বালাইনাশক বিষক্রিয়ার ঘটনা (WHO)</a:t>
            </a:r>
            <a:endParaRPr lang="en-US" sz="800" dirty="0"/>
          </a:p>
        </p:txBody>
      </p:sp>
      <p:sp>
        <p:nvSpPr>
          <p:cNvPr id="15" name="Text 13"/>
          <p:cNvSpPr/>
          <p:nvPr/>
        </p:nvSpPr>
        <p:spPr>
          <a:xfrm>
            <a:off x="4636294" y="1500188"/>
            <a:ext cx="4050506" cy="1235869"/>
          </a:xfrm>
          <a:prstGeom prst="roundRect">
            <a:avLst>
              <a:gd name="adj" fmla="val 10790"/>
            </a:avLst>
          </a:prstGeom>
          <a:solidFill>
            <a:srgbClr val="F2E0DC"/>
          </a:solidFill>
          <a:ln/>
        </p:spPr>
        <p:txBody>
          <a:bodyPr wrap="square" rtlCol="0" anchor="ctr"/>
          <a:lstStyle/>
          <a:p>
            <a:pPr indent="0" marL="0">
              <a:buNone/>
            </a:pPr>
            <a:endParaRPr lang="en-US" dirty="0"/>
          </a:p>
        </p:txBody>
      </p:sp>
      <p:sp>
        <p:nvSpPr>
          <p:cNvPr id="16" name="Shape 14"/>
          <p:cNvSpPr/>
          <p:nvPr/>
        </p:nvSpPr>
        <p:spPr>
          <a:xfrm>
            <a:off x="4636294" y="1503759"/>
            <a:ext cx="4050506" cy="0"/>
          </a:xfrm>
          <a:prstGeom prst="line">
            <a:avLst/>
          </a:prstGeom>
          <a:noFill/>
          <a:ln w="7144">
            <a:solidFill>
              <a:srgbClr val="D9D2BF"/>
            </a:solidFill>
            <a:prstDash val="solid"/>
          </a:ln>
        </p:spPr>
        <p:txBody>
          <a:bodyPr/>
          <a:p/>
        </p:txBody>
      </p:sp>
      <p:sp>
        <p:nvSpPr>
          <p:cNvPr id="17" name="Shape 15"/>
          <p:cNvSpPr/>
          <p:nvPr/>
        </p:nvSpPr>
        <p:spPr>
          <a:xfrm>
            <a:off x="8683228" y="1500188"/>
            <a:ext cx="0" cy="1235869"/>
          </a:xfrm>
          <a:prstGeom prst="line">
            <a:avLst/>
          </a:prstGeom>
          <a:noFill/>
          <a:ln w="7144">
            <a:solidFill>
              <a:srgbClr val="D9D2BF"/>
            </a:solidFill>
            <a:prstDash val="solid"/>
          </a:ln>
        </p:spPr>
        <p:txBody>
          <a:bodyPr/>
          <a:p/>
        </p:txBody>
      </p:sp>
      <p:sp>
        <p:nvSpPr>
          <p:cNvPr id="18" name="Shape 16"/>
          <p:cNvSpPr/>
          <p:nvPr/>
        </p:nvSpPr>
        <p:spPr>
          <a:xfrm>
            <a:off x="4636294" y="2732484"/>
            <a:ext cx="4050506" cy="0"/>
          </a:xfrm>
          <a:prstGeom prst="line">
            <a:avLst/>
          </a:prstGeom>
          <a:noFill/>
          <a:ln w="7144">
            <a:solidFill>
              <a:srgbClr val="D9D2BF"/>
            </a:solidFill>
            <a:prstDash val="solid"/>
          </a:ln>
        </p:spPr>
        <p:txBody>
          <a:bodyPr/>
          <a:p/>
        </p:txBody>
      </p:sp>
      <p:sp>
        <p:nvSpPr>
          <p:cNvPr id="19" name="Shape 17"/>
          <p:cNvSpPr/>
          <p:nvPr/>
        </p:nvSpPr>
        <p:spPr>
          <a:xfrm>
            <a:off x="4650581" y="1500188"/>
            <a:ext cx="0" cy="1235869"/>
          </a:xfrm>
          <a:prstGeom prst="line">
            <a:avLst/>
          </a:prstGeom>
          <a:noFill/>
          <a:ln w="28575">
            <a:solidFill>
              <a:srgbClr val="B23A2A"/>
            </a:solidFill>
            <a:prstDash val="solid"/>
          </a:ln>
        </p:spPr>
        <p:txBody>
          <a:bodyPr/>
          <a:p/>
        </p:txBody>
      </p:sp>
      <p:sp>
        <p:nvSpPr>
          <p:cNvPr id="20" name="Text 18"/>
          <p:cNvSpPr/>
          <p:nvPr/>
        </p:nvSpPr>
        <p:spPr>
          <a:xfrm>
            <a:off x="4850606" y="1678781"/>
            <a:ext cx="157163" cy="157163"/>
          </a:xfrm>
          <a:prstGeom prst="rect">
            <a:avLst/>
          </a:prstGeom>
          <a:noFill/>
          <a:ln/>
        </p:spPr>
        <p:txBody>
          <a:bodyPr wrap="none" lIns="0" tIns="0" rIns="0" bIns="0" rtlCol="0" anchor="ctr"/>
          <a:lstStyle/>
          <a:p>
            <a:pPr algn="ctr" indent="0" marL="0">
              <a:buNone/>
            </a:pPr>
            <a:r>
              <a:rPr lang="en-US" sz="1547" dirty="0">
                <a:solidFill>
                  <a:srgbClr val="B23A2A"/>
                </a:solidFill>
                <a:latin typeface="Segoe UI Symbol" pitchFamily="34" charset="0"/>
                <a:ea typeface="Segoe UI Symbol" pitchFamily="34" charset="-122"/>
                <a:cs typeface="Segoe UI Symbol" pitchFamily="34" charset="-120"/>
              </a:rPr>
              <a:t>✦</a:t>
            </a:r>
            <a:endParaRPr lang="en-US" sz="1547" dirty="0"/>
          </a:p>
        </p:txBody>
      </p:sp>
      <p:sp>
        <p:nvSpPr>
          <p:cNvPr id="21" name="Text 19"/>
          <p:cNvSpPr/>
          <p:nvPr/>
        </p:nvSpPr>
        <p:spPr>
          <a:xfrm>
            <a:off x="5064919" y="1690948"/>
            <a:ext cx="3429000" cy="170021"/>
          </a:xfrm>
          <a:prstGeom prst="rect">
            <a:avLst/>
          </a:prstGeom>
          <a:noFill/>
          <a:ln/>
        </p:spPr>
        <p:txBody>
          <a:bodyPr wrap="none" lIns="0" tIns="0" rIns="0" bIns="0" rtlCol="0" anchor="t"/>
          <a:lstStyle/>
          <a:p>
            <a:pPr algn="l" indent="0" marL="0">
              <a:lnSpc>
                <a:spcPts val="1046"/>
              </a:lnSpc>
              <a:buNone/>
            </a:pPr>
            <a:r>
              <a:rPr lang="en-US" sz="800" b="1" spc="95" kern="0" dirty="0">
                <a:solidFill>
                  <a:srgbClr val="B23A2A"/>
                </a:solidFill>
                <a:latin typeface="Carlito" pitchFamily="34" charset="0"/>
                <a:ea typeface="Carlito" pitchFamily="34" charset="-122"/>
                <a:cs typeface="Carlito" pitchFamily="34" charset="-120"/>
              </a:rPr>
              <a:t>কৃষি শ্রমিক</a:t>
            </a:r>
            <a:endParaRPr lang="en-US" sz="800" dirty="0"/>
          </a:p>
        </p:txBody>
      </p:sp>
      <p:sp>
        <p:nvSpPr>
          <p:cNvPr id="22" name="Text 20"/>
          <p:cNvSpPr/>
          <p:nvPr/>
        </p:nvSpPr>
        <p:spPr>
          <a:xfrm>
            <a:off x="4850606" y="1893094"/>
            <a:ext cx="3643313" cy="486918"/>
          </a:xfrm>
          <a:prstGeom prst="rect">
            <a:avLst/>
          </a:prstGeom>
          <a:noFill/>
          <a:ln/>
        </p:spPr>
        <p:txBody>
          <a:bodyPr wrap="none" lIns="0" tIns="0" rIns="0" bIns="0" rtlCol="0" anchor="t">
            <a:normAutofit/>
          </a:bodyPr>
          <a:lstStyle/>
          <a:p>
            <a:pPr algn="l" indent="0" marL="0">
              <a:lnSpc>
                <a:spcPts val="3600"/>
              </a:lnSpc>
              <a:buNone/>
            </a:pPr>
            <a:r>
              <a:rPr lang="en-US" sz="3600" b="1" spc="-72" kern="0" dirty="0">
                <a:solidFill>
                  <a:srgbClr val="B23A2A"/>
                </a:solidFill>
                <a:latin typeface="Carlito" pitchFamily="34" charset="0"/>
                <a:ea typeface="Carlito" pitchFamily="34" charset="-122"/>
                <a:cs typeface="Carlito" pitchFamily="34" charset="-120"/>
              </a:rPr>
              <a:t>৫০</a:t>
            </a:r>
            <a:pPr algn="l" indent="0" marL="0">
              <a:lnSpc>
                <a:spcPts val="3600"/>
              </a:lnSpc>
              <a:buNone/>
            </a:pPr>
            <a:r>
              <a:rPr lang="en-US" sz="2025" b="1" spc="-72" kern="0" dirty="0">
                <a:solidFill>
                  <a:srgbClr val="C7912C"/>
                </a:solidFill>
                <a:latin typeface="Carlito" pitchFamily="34" charset="0"/>
                <a:ea typeface="Carlito" pitchFamily="34" charset="-122"/>
                <a:cs typeface="Carlito" pitchFamily="34" charset="-120"/>
              </a:rPr>
              <a:t>%</a:t>
            </a:r>
            <a:endParaRPr lang="en-US" sz="3600" dirty="0"/>
          </a:p>
        </p:txBody>
      </p:sp>
      <p:sp>
        <p:nvSpPr>
          <p:cNvPr id="23" name="Text 21"/>
          <p:cNvSpPr/>
          <p:nvPr/>
        </p:nvSpPr>
        <p:spPr>
          <a:xfrm>
            <a:off x="4850606" y="2407444"/>
            <a:ext cx="3643313" cy="150019"/>
          </a:xfrm>
          <a:prstGeom prst="rect">
            <a:avLst/>
          </a:prstGeom>
          <a:noFill/>
          <a:ln/>
        </p:spPr>
        <p:txBody>
          <a:bodyPr wrap="square" lIns="0" tIns="0" rIns="0" bIns="0" rtlCol="0" anchor="t"/>
          <a:lstStyle/>
          <a:p>
            <a:pPr algn="l" indent="0" marL="0">
              <a:lnSpc>
                <a:spcPts val="1181"/>
              </a:lnSpc>
              <a:buNone/>
            </a:pPr>
            <a:r>
              <a:rPr lang="en-US" sz="800" dirty="0">
                <a:solidFill>
                  <a:srgbClr val="4A4A4A"/>
                </a:solidFill>
                <a:latin typeface="Carlito" pitchFamily="34" charset="0"/>
                <a:ea typeface="Carlito" pitchFamily="34" charset="-122"/>
                <a:cs typeface="Carlito" pitchFamily="34" charset="-120"/>
              </a:rPr>
              <a:t>কৃষি শ্রমিকের দীর্ঘমেয়াদি স্নায়বিক সমস্যার সাথে সম্পর্ক</a:t>
            </a:r>
            <a:endParaRPr lang="en-US" sz="800" dirty="0"/>
          </a:p>
        </p:txBody>
      </p:sp>
      <p:sp>
        <p:nvSpPr>
          <p:cNvPr id="24" name="Text 22"/>
          <p:cNvSpPr/>
          <p:nvPr/>
        </p:nvSpPr>
        <p:spPr>
          <a:xfrm>
            <a:off x="457200" y="3903613"/>
            <a:ext cx="4050506" cy="796975"/>
          </a:xfrm>
          <a:prstGeom prst="roundRect">
            <a:avLst>
              <a:gd name="adj" fmla="val 16732"/>
            </a:avLst>
          </a:prstGeom>
          <a:solidFill>
            <a:srgbClr val="F2ECDD"/>
          </a:solidFill>
          <a:ln/>
        </p:spPr>
        <p:txBody>
          <a:bodyPr wrap="square" rtlCol="0" anchor="ctr"/>
          <a:lstStyle/>
          <a:p>
            <a:pPr indent="0" marL="0">
              <a:buNone/>
            </a:pPr>
            <a:endParaRPr lang="en-US" dirty="0"/>
          </a:p>
        </p:txBody>
      </p:sp>
      <p:sp>
        <p:nvSpPr>
          <p:cNvPr id="25" name="Shape 23"/>
          <p:cNvSpPr/>
          <p:nvPr/>
        </p:nvSpPr>
        <p:spPr>
          <a:xfrm>
            <a:off x="471488" y="3903613"/>
            <a:ext cx="0" cy="796975"/>
          </a:xfrm>
          <a:prstGeom prst="line">
            <a:avLst/>
          </a:prstGeom>
          <a:noFill/>
          <a:ln w="28575">
            <a:solidFill>
              <a:srgbClr val="B23A2A"/>
            </a:solidFill>
            <a:prstDash val="solid"/>
          </a:ln>
        </p:spPr>
        <p:txBody>
          <a:bodyPr/>
          <a:p/>
        </p:txBody>
      </p:sp>
      <p:sp>
        <p:nvSpPr>
          <p:cNvPr id="26" name="Text 24"/>
          <p:cNvSpPr/>
          <p:nvPr/>
        </p:nvSpPr>
        <p:spPr>
          <a:xfrm>
            <a:off x="642938" y="4035884"/>
            <a:ext cx="157163" cy="157163"/>
          </a:xfrm>
          <a:prstGeom prst="rect">
            <a:avLst/>
          </a:prstGeom>
          <a:noFill/>
          <a:ln/>
        </p:spPr>
        <p:txBody>
          <a:bodyPr wrap="none" lIns="0" tIns="0" rIns="0" bIns="0" rtlCol="0" anchor="ctr"/>
          <a:lstStyle/>
          <a:p>
            <a:pPr algn="ctr" indent="0" marL="0">
              <a:buNone/>
            </a:pPr>
            <a:r>
              <a:rPr lang="en-US" sz="1547" dirty="0">
                <a:solidFill>
                  <a:srgbClr val="B23A2A"/>
                </a:solidFill>
                <a:latin typeface="Segoe UI Symbol" pitchFamily="34" charset="0"/>
                <a:ea typeface="Segoe UI Symbol" pitchFamily="34" charset="-122"/>
                <a:cs typeface="Segoe UI Symbol" pitchFamily="34" charset="-120"/>
              </a:rPr>
              <a:t>⚡</a:t>
            </a:r>
            <a:endParaRPr lang="en-US" sz="1547" dirty="0"/>
          </a:p>
        </p:txBody>
      </p:sp>
      <p:sp>
        <p:nvSpPr>
          <p:cNvPr id="27" name="Text 25"/>
          <p:cNvSpPr/>
          <p:nvPr/>
        </p:nvSpPr>
        <p:spPr>
          <a:xfrm>
            <a:off x="871538" y="4032200"/>
            <a:ext cx="3479006" cy="177692"/>
          </a:xfrm>
          <a:prstGeom prst="rect">
            <a:avLst/>
          </a:prstGeom>
          <a:noFill/>
          <a:ln/>
        </p:spPr>
        <p:txBody>
          <a:bodyPr wrap="none" lIns="0" tIns="0" rIns="0" bIns="0" rtlCol="0" anchor="t"/>
          <a:lstStyle/>
          <a:p>
            <a:pPr algn="l" indent="0" marL="0">
              <a:lnSpc>
                <a:spcPts val="1296"/>
              </a:lnSpc>
              <a:buNone/>
            </a:pPr>
            <a:r>
              <a:rPr lang="en-US" sz="1013" dirty="0">
                <a:solidFill>
                  <a:srgbClr val="B23A2A"/>
                </a:solidFill>
                <a:latin typeface="Tinos" pitchFamily="34" charset="0"/>
                <a:ea typeface="Tinos" pitchFamily="34" charset="-122"/>
                <a:cs typeface="Tinos" pitchFamily="34" charset="-120"/>
              </a:rPr>
              <a:t>তীব্র বিষক্রিয়া</a:t>
            </a:r>
            <a:endParaRPr lang="en-US" sz="1013" dirty="0"/>
          </a:p>
        </p:txBody>
      </p:sp>
      <p:sp>
        <p:nvSpPr>
          <p:cNvPr id="28" name="Text 26"/>
          <p:cNvSpPr/>
          <p:nvPr/>
        </p:nvSpPr>
        <p:spPr>
          <a:xfrm>
            <a:off x="642938" y="4253880"/>
            <a:ext cx="3707606" cy="318120"/>
          </a:xfrm>
          <a:prstGeom prst="rect">
            <a:avLst/>
          </a:prstGeom>
          <a:noFill/>
          <a:ln/>
        </p:spPr>
        <p:txBody>
          <a:bodyPr wrap="square" lIns="0" tIns="0" rIns="0" bIns="0" rtlCol="0" anchor="t"/>
          <a:lstStyle/>
          <a:p>
            <a:pPr algn="l" indent="0" marL="0">
              <a:lnSpc>
                <a:spcPts val="1253"/>
              </a:lnSpc>
              <a:buNone/>
            </a:pPr>
            <a:r>
              <a:rPr lang="en-US" sz="800" dirty="0">
                <a:solidFill>
                  <a:srgbClr val="1A1A1A"/>
                </a:solidFill>
                <a:latin typeface="Carlito" pitchFamily="34" charset="0"/>
                <a:ea typeface="Carlito" pitchFamily="34" charset="-122"/>
                <a:cs typeface="Carlito" pitchFamily="34" charset="-120"/>
              </a:rPr>
              <a:t>বমি, মাথা ঘোরা, শ্বাসকষ্ট, ঘাম, পেটে ব্যথা। গুরুতর ক্ষেত্রে কোমা বা মৃত্যু। সাধারণত প্রয়োগের সময় বা কয়েক ঘণ্টার মধ্যে লক্ষণ দেখা যায়।</a:t>
            </a:r>
            <a:endParaRPr lang="en-US" sz="800" dirty="0"/>
          </a:p>
        </p:txBody>
      </p:sp>
      <p:sp>
        <p:nvSpPr>
          <p:cNvPr id="29" name="Text 27"/>
          <p:cNvSpPr/>
          <p:nvPr/>
        </p:nvSpPr>
        <p:spPr>
          <a:xfrm>
            <a:off x="4636294" y="3903613"/>
            <a:ext cx="4050506" cy="796975"/>
          </a:xfrm>
          <a:prstGeom prst="roundRect">
            <a:avLst>
              <a:gd name="adj" fmla="val 16732"/>
            </a:avLst>
          </a:prstGeom>
          <a:solidFill>
            <a:srgbClr val="F2ECDD"/>
          </a:solidFill>
          <a:ln/>
        </p:spPr>
        <p:txBody>
          <a:bodyPr wrap="square" rtlCol="0" anchor="ctr"/>
          <a:lstStyle/>
          <a:p>
            <a:pPr indent="0" marL="0">
              <a:buNone/>
            </a:pPr>
            <a:endParaRPr lang="en-US" dirty="0"/>
          </a:p>
        </p:txBody>
      </p:sp>
      <p:sp>
        <p:nvSpPr>
          <p:cNvPr id="30" name="Shape 28"/>
          <p:cNvSpPr/>
          <p:nvPr/>
        </p:nvSpPr>
        <p:spPr>
          <a:xfrm>
            <a:off x="4650581" y="3903613"/>
            <a:ext cx="0" cy="796975"/>
          </a:xfrm>
          <a:prstGeom prst="line">
            <a:avLst/>
          </a:prstGeom>
          <a:noFill/>
          <a:ln w="28575">
            <a:solidFill>
              <a:srgbClr val="B23A2A"/>
            </a:solidFill>
            <a:prstDash val="solid"/>
          </a:ln>
        </p:spPr>
        <p:txBody>
          <a:bodyPr/>
          <a:p/>
        </p:txBody>
      </p:sp>
      <p:sp>
        <p:nvSpPr>
          <p:cNvPr id="31" name="Text 29"/>
          <p:cNvSpPr/>
          <p:nvPr/>
        </p:nvSpPr>
        <p:spPr>
          <a:xfrm>
            <a:off x="4822031" y="4035884"/>
            <a:ext cx="157163" cy="157163"/>
          </a:xfrm>
          <a:prstGeom prst="rect">
            <a:avLst/>
          </a:prstGeom>
          <a:noFill/>
          <a:ln/>
        </p:spPr>
        <p:txBody>
          <a:bodyPr wrap="none" lIns="0" tIns="0" rIns="0" bIns="0" rtlCol="0" anchor="ctr"/>
          <a:lstStyle/>
          <a:p>
            <a:pPr algn="ctr" indent="0" marL="0">
              <a:buNone/>
            </a:pPr>
            <a:r>
              <a:rPr lang="en-US" sz="1547" dirty="0">
                <a:solidFill>
                  <a:srgbClr val="B23A2A"/>
                </a:solidFill>
                <a:latin typeface="Segoe UI Symbol" pitchFamily="34" charset="0"/>
                <a:ea typeface="Segoe UI Symbol" pitchFamily="34" charset="-122"/>
                <a:cs typeface="Segoe UI Symbol" pitchFamily="34" charset="-120"/>
              </a:rPr>
              <a:t>⧗</a:t>
            </a:r>
            <a:endParaRPr lang="en-US" sz="1547" dirty="0"/>
          </a:p>
        </p:txBody>
      </p:sp>
      <p:sp>
        <p:nvSpPr>
          <p:cNvPr id="32" name="Text 30"/>
          <p:cNvSpPr/>
          <p:nvPr/>
        </p:nvSpPr>
        <p:spPr>
          <a:xfrm>
            <a:off x="5050631" y="4032200"/>
            <a:ext cx="3479006" cy="177692"/>
          </a:xfrm>
          <a:prstGeom prst="rect">
            <a:avLst/>
          </a:prstGeom>
          <a:noFill/>
          <a:ln/>
        </p:spPr>
        <p:txBody>
          <a:bodyPr wrap="none" lIns="0" tIns="0" rIns="0" bIns="0" rtlCol="0" anchor="t"/>
          <a:lstStyle/>
          <a:p>
            <a:pPr algn="l" indent="0" marL="0">
              <a:lnSpc>
                <a:spcPts val="1296"/>
              </a:lnSpc>
              <a:buNone/>
            </a:pPr>
            <a:r>
              <a:rPr lang="en-US" sz="1013" dirty="0">
                <a:solidFill>
                  <a:srgbClr val="B23A2A"/>
                </a:solidFill>
                <a:latin typeface="Tinos" pitchFamily="34" charset="0"/>
                <a:ea typeface="Tinos" pitchFamily="34" charset="-122"/>
                <a:cs typeface="Tinos" pitchFamily="34" charset="-120"/>
              </a:rPr>
              <a:t>দীর্ঘমেয়াদি প্রভাব</a:t>
            </a:r>
            <a:endParaRPr lang="en-US" sz="1013" dirty="0"/>
          </a:p>
        </p:txBody>
      </p:sp>
      <p:sp>
        <p:nvSpPr>
          <p:cNvPr id="33" name="Text 31"/>
          <p:cNvSpPr/>
          <p:nvPr/>
        </p:nvSpPr>
        <p:spPr>
          <a:xfrm>
            <a:off x="4822031" y="4253880"/>
            <a:ext cx="3707606" cy="318120"/>
          </a:xfrm>
          <a:prstGeom prst="rect">
            <a:avLst/>
          </a:prstGeom>
          <a:noFill/>
          <a:ln/>
        </p:spPr>
        <p:txBody>
          <a:bodyPr wrap="square" lIns="0" tIns="0" rIns="0" bIns="0" rtlCol="0" anchor="t"/>
          <a:lstStyle/>
          <a:p>
            <a:pPr algn="l" indent="0" marL="0">
              <a:lnSpc>
                <a:spcPts val="1253"/>
              </a:lnSpc>
              <a:buNone/>
            </a:pPr>
            <a:r>
              <a:rPr lang="en-US" sz="800" dirty="0">
                <a:solidFill>
                  <a:srgbClr val="1A1A1A"/>
                </a:solidFill>
                <a:latin typeface="Carlito" pitchFamily="34" charset="0"/>
                <a:ea typeface="Carlito" pitchFamily="34" charset="-122"/>
                <a:cs typeface="Carlito" pitchFamily="34" charset="-120"/>
              </a:rPr>
              <a:t>স্নায়বিক বিকলতা, ক্যানসার, হরমোন বৈষম্য, প্রজনন সমস্যা, শিশুর বিকাশে ব্যাঘাত। ভেজাল বালাইনাশক অজানা মাত্রায় রাসায়নিক ধারণ করে বিপদ আরও বাড়ায়।</a:t>
            </a:r>
            <a:endParaRPr lang="en-US" sz="800" dirty="0"/>
          </a:p>
        </p:txBody>
      </p:sp>
      <p:sp>
        <p:nvSpPr>
          <p:cNvPr id="34" name="Text 32"/>
          <p:cNvSpPr/>
          <p:nvPr/>
        </p:nvSpPr>
        <p:spPr>
          <a:xfrm>
            <a:off x="8687581" y="4706392"/>
            <a:ext cx="31879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৩২</a:t>
            </a:r>
            <a:endParaRPr lang="en-US" sz="1350" dirty="0"/>
          </a:p>
        </p:txBody>
      </p:sp>
      <p:pic>
        <p:nvPicPr>
          <p:cNvPr id="35"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14350" y="1208410"/>
            <a:ext cx="5664479" cy="286911"/>
          </a:xfrm>
          <a:prstGeom prst="rect">
            <a:avLst/>
          </a:prstGeom>
          <a:noFill/>
          <a:ln/>
        </p:spPr>
        <p:txBody>
          <a:bodyPr wrap="squar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০৫ · প্রতিরোধ ক্ষমতা ও দীর্ঘমেয়াদি ক্ষতি</a:t>
            </a:r>
            <a:endParaRPr lang="en-US" sz="1350" dirty="0"/>
          </a:p>
        </p:txBody>
      </p:sp>
      <p:sp>
        <p:nvSpPr>
          <p:cNvPr id="3" name="Text 1"/>
          <p:cNvSpPr/>
          <p:nvPr/>
        </p:nvSpPr>
        <p:spPr>
          <a:xfrm>
            <a:off x="514350" y="1574081"/>
            <a:ext cx="4800600" cy="509809"/>
          </a:xfrm>
          <a:prstGeom prst="rect">
            <a:avLst/>
          </a:prstGeom>
          <a:noFill/>
          <a:ln/>
        </p:spPr>
        <p:txBody>
          <a:bodyPr wrap="none" lIns="0" tIns="0" rIns="0" bIns="0" rtlCol="0" anchor="t"/>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মাটি ও জলজ প্রভাব</a:t>
            </a:r>
            <a:endParaRPr lang="en-US" sz="3150" dirty="0"/>
          </a:p>
        </p:txBody>
      </p:sp>
      <p:sp>
        <p:nvSpPr>
          <p:cNvPr id="4" name="Shape 2"/>
          <p:cNvSpPr/>
          <p:nvPr/>
        </p:nvSpPr>
        <p:spPr>
          <a:xfrm>
            <a:off x="514350" y="2142567"/>
            <a:ext cx="400050" cy="0"/>
          </a:xfrm>
          <a:prstGeom prst="line">
            <a:avLst/>
          </a:prstGeom>
          <a:noFill/>
          <a:ln w="7144">
            <a:solidFill>
              <a:srgbClr val="1A1A1A"/>
            </a:solidFill>
            <a:prstDash val="solid"/>
          </a:ln>
        </p:spPr>
        <p:txBody>
          <a:bodyPr/>
          <a:p/>
        </p:txBody>
      </p:sp>
      <p:sp>
        <p:nvSpPr>
          <p:cNvPr id="5" name="Text 3"/>
          <p:cNvSpPr/>
          <p:nvPr/>
        </p:nvSpPr>
        <p:spPr>
          <a:xfrm>
            <a:off x="514350" y="2239008"/>
            <a:ext cx="4572000" cy="649166"/>
          </a:xfrm>
          <a:prstGeom prst="rect">
            <a:avLst/>
          </a:prstGeom>
          <a:noFill/>
          <a:ln/>
        </p:spPr>
        <p:txBody>
          <a:bodyPr wrap="square" lIns="0" tIns="0" rIns="0" bIns="0" rtlCol="0" anchor="t"/>
          <a:lstStyle/>
          <a:p>
            <a:pPr algn="l" indent="0" marL="0">
              <a:lnSpc>
                <a:spcPts val="1578"/>
              </a:lnSpc>
              <a:buNone/>
            </a:pPr>
            <a:r>
              <a:rPr lang="en-US" sz="928" dirty="0">
                <a:solidFill>
                  <a:srgbClr val="4A4A4A"/>
                </a:solidFill>
                <a:latin typeface="Carlito" pitchFamily="34" charset="0"/>
                <a:ea typeface="Carlito" pitchFamily="34" charset="-122"/>
                <a:cs typeface="Carlito" pitchFamily="34" charset="-120"/>
              </a:rPr>
              <a:t>ক্লোরপাইরিফস, কার্বোফিউরানের মতো রাসায়নিক মাটিতে ৫-১০ বছর ধরে সক্রিয় থাকে। এগুলো উপকারী অণুজীব ধ্বংস করে, মাটির গাঠনিক গুণমান নষ্ট করে। একবার দূষিত হলে মাটির প্রাকৃতিক উর্বরতা ফিরিয়ে আনা অত্যন্ত কঠিন ও ব্যয়বহুল।</a:t>
            </a:r>
            <a:endParaRPr lang="en-US" sz="928" dirty="0"/>
          </a:p>
        </p:txBody>
      </p:sp>
      <p:sp>
        <p:nvSpPr>
          <p:cNvPr id="6" name="Text 4"/>
          <p:cNvSpPr/>
          <p:nvPr/>
        </p:nvSpPr>
        <p:spPr>
          <a:xfrm>
            <a:off x="514350" y="2940100"/>
            <a:ext cx="4572000" cy="432777"/>
          </a:xfrm>
          <a:prstGeom prst="rect">
            <a:avLst/>
          </a:prstGeom>
          <a:noFill/>
          <a:ln/>
        </p:spPr>
        <p:txBody>
          <a:bodyPr wrap="square" lIns="0" tIns="0" rIns="0" bIns="0" rtlCol="0" anchor="t"/>
          <a:lstStyle/>
          <a:p>
            <a:pPr algn="l" indent="0" marL="0">
              <a:lnSpc>
                <a:spcPts val="1578"/>
              </a:lnSpc>
              <a:buNone/>
            </a:pPr>
            <a:r>
              <a:rPr lang="en-US" sz="928" dirty="0">
                <a:solidFill>
                  <a:srgbClr val="4A4A4A"/>
                </a:solidFill>
                <a:latin typeface="Carlito" pitchFamily="34" charset="0"/>
                <a:ea typeface="Carlito" pitchFamily="34" charset="-122"/>
                <a:cs typeface="Carlito" pitchFamily="34" charset="-120"/>
              </a:rPr>
              <a:t>জলজ প্রাণী — মাছ, চিংড়ি, ব্যাঙের পোনা মারা যায়। এই রাসায়নিকগুলো খাদ্যচক্রে প্রবেশ করে এবং শেষে মানুষের খাদ্যে পৌঁছায়। উপকূলীয় চিংড়ি খামারে অননুমোদিত বালাইনাশকের ব্যবহার রপ্তানি বাজারেও হুমকি তৈরি করেছে।</a:t>
            </a:r>
            <a:endParaRPr lang="en-US" sz="928" dirty="0"/>
          </a:p>
        </p:txBody>
      </p:sp>
      <p:sp>
        <p:nvSpPr>
          <p:cNvPr id="7" name="Text 5"/>
          <p:cNvSpPr/>
          <p:nvPr/>
        </p:nvSpPr>
        <p:spPr>
          <a:xfrm>
            <a:off x="514350" y="3585193"/>
            <a:ext cx="1365238" cy="362699"/>
          </a:xfrm>
          <a:prstGeom prst="roundRect">
            <a:avLst>
              <a:gd name="adj" fmla="val 2623518"/>
            </a:avLst>
          </a:prstGeom>
          <a:solidFill>
            <a:srgbClr val="1E4D3B"/>
          </a:solidFill>
          <a:ln w="7144">
            <a:solidFill>
              <a:srgbClr val="1E4D3B"/>
            </a:solidFill>
            <a:prstDash val="solid"/>
          </a:ln>
        </p:spPr>
        <p:txBody>
          <a:bodyPr wrap="square" rtlCol="0" anchor="ctr"/>
          <a:lstStyle/>
          <a:p>
            <a:pPr indent="0" marL="0">
              <a:buNone/>
            </a:pPr>
            <a:endParaRPr lang="en-US" dirty="0"/>
          </a:p>
        </p:txBody>
      </p:sp>
      <p:sp>
        <p:nvSpPr>
          <p:cNvPr id="8" name="Text 6"/>
          <p:cNvSpPr/>
          <p:nvPr/>
        </p:nvSpPr>
        <p:spPr>
          <a:xfrm>
            <a:off x="514350" y="3597994"/>
            <a:ext cx="1365238" cy="337096"/>
          </a:xfrm>
          <a:prstGeom prst="rect">
            <a:avLst/>
          </a:prstGeom>
          <a:noFill/>
          <a:ln/>
        </p:spPr>
        <p:txBody>
          <a:bodyPr wrap="none" lIns="0" tIns="0" rIns="0" bIns="0" rtlCol="0" anchor="ctr"/>
          <a:lstStyle/>
          <a:p>
            <a:pPr algn="ctr" indent="0" marL="0">
              <a:lnSpc>
                <a:spcPts val="2093"/>
              </a:lnSpc>
              <a:buNone/>
            </a:pPr>
            <a:r>
              <a:rPr lang="en-US" sz="1350" spc="54" kern="0" dirty="0">
                <a:solidFill>
                  <a:srgbClr val="FFFFFF"/>
                </a:solidFill>
                <a:latin typeface="Carlito" pitchFamily="34" charset="0"/>
                <a:ea typeface="Carlito" pitchFamily="34" charset="-122"/>
                <a:cs typeface="Carlito" pitchFamily="34" charset="-120"/>
              </a:rPr>
              <a:t>মাটিতে · ৫-১০ বছর</a:t>
            </a:r>
            <a:endParaRPr lang="en-US" sz="1350" dirty="0"/>
          </a:p>
        </p:txBody>
      </p:sp>
      <p:sp>
        <p:nvSpPr>
          <p:cNvPr id="9" name="Text 7"/>
          <p:cNvSpPr/>
          <p:nvPr/>
        </p:nvSpPr>
        <p:spPr>
          <a:xfrm>
            <a:off x="1951025" y="3585193"/>
            <a:ext cx="1258751" cy="362699"/>
          </a:xfrm>
          <a:prstGeom prst="roundRect">
            <a:avLst>
              <a:gd name="adj" fmla="val 2623518"/>
            </a:avLst>
          </a:prstGeom>
          <a:solidFill>
            <a:srgbClr val="F2E0DC"/>
          </a:solidFill>
          <a:ln w="7144">
            <a:solidFill>
              <a:srgbClr val="B23A2A"/>
            </a:solidFill>
            <a:prstDash val="solid"/>
          </a:ln>
        </p:spPr>
        <p:txBody>
          <a:bodyPr wrap="square" rtlCol="0" anchor="ctr"/>
          <a:lstStyle/>
          <a:p>
            <a:pPr indent="0" marL="0">
              <a:buNone/>
            </a:pPr>
            <a:endParaRPr lang="en-US" dirty="0"/>
          </a:p>
        </p:txBody>
      </p:sp>
      <p:sp>
        <p:nvSpPr>
          <p:cNvPr id="10" name="Text 8"/>
          <p:cNvSpPr/>
          <p:nvPr/>
        </p:nvSpPr>
        <p:spPr>
          <a:xfrm>
            <a:off x="1951025" y="3597994"/>
            <a:ext cx="1258751" cy="337096"/>
          </a:xfrm>
          <a:prstGeom prst="rect">
            <a:avLst/>
          </a:prstGeom>
          <a:noFill/>
          <a:ln/>
        </p:spPr>
        <p:txBody>
          <a:bodyPr wrap="none" lIns="0" tIns="0" rIns="0" bIns="0" rtlCol="0" anchor="ctr"/>
          <a:lstStyle/>
          <a:p>
            <a:pPr algn="ctr" indent="0" marL="0">
              <a:lnSpc>
                <a:spcPts val="2093"/>
              </a:lnSpc>
              <a:buNone/>
            </a:pPr>
            <a:r>
              <a:rPr lang="en-US" sz="1350" spc="54" kern="0" dirty="0">
                <a:solidFill>
                  <a:srgbClr val="B23A2A"/>
                </a:solidFill>
                <a:latin typeface="Carlito" pitchFamily="34" charset="0"/>
                <a:ea typeface="Carlito" pitchFamily="34" charset="-122"/>
                <a:cs typeface="Carlito" pitchFamily="34" charset="-120"/>
              </a:rPr>
              <a:t>মাছ · ব্যাপক মৃত্যু</a:t>
            </a:r>
            <a:endParaRPr lang="en-US" sz="1350" dirty="0"/>
          </a:p>
        </p:txBody>
      </p:sp>
      <p:sp>
        <p:nvSpPr>
          <p:cNvPr id="11" name="Text 9"/>
          <p:cNvSpPr/>
          <p:nvPr/>
        </p:nvSpPr>
        <p:spPr>
          <a:xfrm>
            <a:off x="3281214" y="3585193"/>
            <a:ext cx="1189658" cy="362699"/>
          </a:xfrm>
          <a:prstGeom prst="roundRect">
            <a:avLst>
              <a:gd name="adj" fmla="val 2623518"/>
            </a:avLst>
          </a:prstGeom>
          <a:solidFill>
            <a:srgbClr val="C7912C"/>
          </a:solidFill>
          <a:ln w="7144">
            <a:solidFill>
              <a:srgbClr val="C7912C"/>
            </a:solidFill>
            <a:prstDash val="solid"/>
          </a:ln>
        </p:spPr>
        <p:txBody>
          <a:bodyPr wrap="square" rtlCol="0" anchor="ctr"/>
          <a:lstStyle/>
          <a:p>
            <a:pPr indent="0" marL="0">
              <a:buNone/>
            </a:pPr>
            <a:endParaRPr lang="en-US" dirty="0"/>
          </a:p>
        </p:txBody>
      </p:sp>
      <p:sp>
        <p:nvSpPr>
          <p:cNvPr id="12" name="Text 10"/>
          <p:cNvSpPr/>
          <p:nvPr/>
        </p:nvSpPr>
        <p:spPr>
          <a:xfrm>
            <a:off x="3281214" y="3597994"/>
            <a:ext cx="1189658" cy="337096"/>
          </a:xfrm>
          <a:prstGeom prst="rect">
            <a:avLst/>
          </a:prstGeom>
          <a:noFill/>
          <a:ln/>
        </p:spPr>
        <p:txBody>
          <a:bodyPr wrap="none" lIns="0" tIns="0" rIns="0" bIns="0" rtlCol="0" anchor="ctr"/>
          <a:lstStyle/>
          <a:p>
            <a:pPr algn="ctr" indent="0" marL="0">
              <a:lnSpc>
                <a:spcPts val="2093"/>
              </a:lnSpc>
              <a:buNone/>
            </a:pPr>
            <a:r>
              <a:rPr lang="en-US" sz="1350" spc="54" kern="0" dirty="0">
                <a:solidFill>
                  <a:srgbClr val="FFFFFF"/>
                </a:solidFill>
                <a:latin typeface="Carlito" pitchFamily="34" charset="0"/>
                <a:ea typeface="Carlito" pitchFamily="34" charset="-122"/>
                <a:cs typeface="Carlito" pitchFamily="34" charset="-120"/>
              </a:rPr>
              <a:t>খাদ্যচক্র · দূষিত</a:t>
            </a:r>
            <a:endParaRPr lang="en-US" sz="1350" dirty="0"/>
          </a:p>
        </p:txBody>
      </p:sp>
      <p:pic>
        <p:nvPicPr>
          <p:cNvPr id="13" name="Image 0" descr="/tmp/h2p-fit-1789050434501-7fwon2.png">    </p:cNvPr>
          <p:cNvPicPr>
            <a:picLocks noChangeAspect="1"/>
          </p:cNvPicPr>
          <p:nvPr/>
        </p:nvPicPr>
        <p:blipFill>
          <a:blip r:embed="rId1"/>
          <a:stretch>
            <a:fillRect/>
          </a:stretch>
        </p:blipFill>
        <p:spPr>
          <a:xfrm>
            <a:off x="5486400" y="449498"/>
            <a:ext cx="3429000" cy="4000500"/>
          </a:xfrm>
          <a:prstGeom prst="rect">
            <a:avLst/>
          </a:prstGeom>
          <a:effectLst>
            <a:outerShdw sx="100000" sy="100000" kx="0" ky="0" algn="bl" rotWithShape="0" blurRad="342900" dist="114300" dir="5400000">
              <a:srgbClr val="14342A">
                <a:alpha val="22000"/>
              </a:srgbClr>
            </a:outerShdw>
          </a:effectLst>
        </p:spPr>
      </p:pic>
      <p:sp>
        <p:nvSpPr>
          <p:cNvPr id="14" name="Text 11"/>
          <p:cNvSpPr/>
          <p:nvPr/>
        </p:nvSpPr>
        <p:spPr>
          <a:xfrm>
            <a:off x="5486400" y="4550011"/>
            <a:ext cx="3429000" cy="169999"/>
          </a:xfrm>
          <a:prstGeom prst="rect">
            <a:avLst/>
          </a:prstGeom>
          <a:noFill/>
          <a:ln/>
        </p:spPr>
        <p:txBody>
          <a:bodyPr wrap="square" lIns="0" tIns="0" rIns="42863" bIns="0" rtlCol="0" anchor="t"/>
          <a:lstStyle/>
          <a:p>
            <a:pPr algn="r" indent="0" marL="0">
              <a:lnSpc>
                <a:spcPts val="1133"/>
              </a:lnSpc>
              <a:buNone/>
            </a:pPr>
            <a:r>
              <a:rPr lang="en-US" sz="800" i="1" dirty="0">
                <a:solidFill>
                  <a:srgbClr val="6B6B6B"/>
                </a:solidFill>
                <a:latin typeface="Carlito" pitchFamily="34" charset="0"/>
                <a:ea typeface="Carlito" pitchFamily="34" charset="-122"/>
                <a:cs typeface="Carlito" pitchFamily="34" charset="-120"/>
              </a:rPr>
              <a:t>রাসায়নিকের দীর্ঘমেয়াদি পরিণতি</a:t>
            </a:r>
            <a:endParaRPr lang="en-US" sz="800" dirty="0"/>
          </a:p>
        </p:txBody>
      </p:sp>
      <p:sp>
        <p:nvSpPr>
          <p:cNvPr id="15" name="Text 12"/>
          <p:cNvSpPr/>
          <p:nvPr/>
        </p:nvSpPr>
        <p:spPr>
          <a:xfrm>
            <a:off x="8680438" y="4706392"/>
            <a:ext cx="33022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৩৩</a:t>
            </a:r>
            <a:endParaRPr lang="en-US" sz="1350" dirty="0"/>
          </a:p>
        </p:txBody>
      </p:sp>
      <p:pic>
        <p:nvPicPr>
          <p:cNvPr id="16" name="Image 1" descr="preencoded.png">    </p:cNvPr>
          <p:cNvPicPr>
            <a:picLocks noChangeAspect="1"/>
          </p:cNvPicPr>
          <p:nvPr/>
        </p:nvPicPr>
        <p:blipFill>
          <a:blip r:embed="rId2"/>
          <a:stretch>
            <a:fillRect/>
          </a:stretch>
        </p:blipFill>
        <p:spPr>
          <a:xfrm>
            <a:off x="0" y="5100638"/>
            <a:ext cx="9144000" cy="42863"/>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480903" y="3386138"/>
            <a:ext cx="4663097" cy="1757363"/>
          </a:xfrm>
          <a:prstGeom prst="rect">
            <a:avLst/>
          </a:prstGeom>
          <a:noFill/>
          <a:ln/>
        </p:spPr>
        <p:txBody>
          <a:bodyPr wrap="none" lIns="0" tIns="0" rIns="0" bIns="0" rtlCol="0" anchor="t"/>
          <a:lstStyle/>
          <a:p>
            <a:pPr algn="l" indent="0" marL="0">
              <a:lnSpc>
                <a:spcPts val="17213"/>
              </a:lnSpc>
              <a:buNone/>
            </a:pPr>
            <a:r>
              <a:rPr lang="en-US" sz="20250" b="1" dirty="0">
                <a:solidFill>
                  <a:srgbClr val="1E4D3B">
                    <a:alpha val="4000"/>
                  </a:srgbClr>
                </a:solidFill>
                <a:latin typeface="Liberation Sans Narrow" pitchFamily="34" charset="0"/>
                <a:ea typeface="Liberation Sans Narrow" pitchFamily="34" charset="-122"/>
                <a:cs typeface="Liberation Sans Narrow" pitchFamily="34" charset="-120"/>
              </a:rPr>
              <a:t>06</a:t>
            </a:r>
            <a:endParaRPr lang="en-US" sz="20250" dirty="0"/>
          </a:p>
        </p:txBody>
      </p:sp>
      <p:sp>
        <p:nvSpPr>
          <p:cNvPr id="3" name="Text 1"/>
          <p:cNvSpPr/>
          <p:nvPr/>
        </p:nvSpPr>
        <p:spPr>
          <a:xfrm>
            <a:off x="912949" y="1247254"/>
            <a:ext cx="3182969" cy="2098548"/>
          </a:xfrm>
          <a:prstGeom prst="rect">
            <a:avLst/>
          </a:prstGeom>
          <a:noFill/>
          <a:ln/>
        </p:spPr>
        <p:txBody>
          <a:bodyPr wrap="none" lIns="0" tIns="0" rIns="0" bIns="0" rtlCol="0" anchor="t"/>
          <a:lstStyle/>
          <a:p>
            <a:pPr algn="l" indent="0" marL="0">
              <a:lnSpc>
                <a:spcPts val="15300"/>
              </a:lnSpc>
              <a:buNone/>
            </a:pPr>
            <a:r>
              <a:rPr lang="en-US" sz="18000" b="1" spc="-900" kern="0" dirty="0">
                <a:solidFill>
                  <a:srgbClr val="1E4D3B"/>
                </a:solidFill>
                <a:latin typeface="Carlito" pitchFamily="34" charset="0"/>
                <a:ea typeface="Carlito" pitchFamily="34" charset="-122"/>
                <a:cs typeface="Carlito" pitchFamily="34" charset="-120"/>
              </a:rPr>
              <a:t>০৬</a:t>
            </a:r>
            <a:endParaRPr lang="en-US" sz="18000" dirty="0"/>
          </a:p>
        </p:txBody>
      </p:sp>
      <p:sp>
        <p:nvSpPr>
          <p:cNvPr id="4" name="Text 2"/>
          <p:cNvSpPr/>
          <p:nvPr/>
        </p:nvSpPr>
        <p:spPr>
          <a:xfrm>
            <a:off x="1705905" y="3347517"/>
            <a:ext cx="428625" cy="21431"/>
          </a:xfrm>
          <a:prstGeom prst="roundRect">
            <a:avLst>
              <a:gd name="adj" fmla="val 88890"/>
            </a:avLst>
          </a:prstGeom>
          <a:solidFill>
            <a:srgbClr val="C7912C"/>
          </a:solidFill>
          <a:ln/>
        </p:spPr>
        <p:txBody>
          <a:bodyPr wrap="square" rtlCol="0" anchor="ctr"/>
          <a:lstStyle/>
          <a:p>
            <a:pPr indent="0" marL="0">
              <a:buNone/>
            </a:pPr>
            <a:endParaRPr lang="en-US" dirty="0"/>
          </a:p>
        </p:txBody>
      </p:sp>
      <p:sp>
        <p:nvSpPr>
          <p:cNvPr id="5" name="Text 3"/>
          <p:cNvSpPr/>
          <p:nvPr/>
        </p:nvSpPr>
        <p:spPr>
          <a:xfrm>
            <a:off x="1699543" y="3497535"/>
            <a:ext cx="705981" cy="430487"/>
          </a:xfrm>
          <a:prstGeom prst="rect">
            <a:avLst/>
          </a:prstGeom>
          <a:noFill/>
          <a:ln/>
        </p:spPr>
        <p:txBody>
          <a:bodyPr wrap="none" lIns="0" tIns="0" rIns="0" bIns="0" rtlCol="0" anchor="t"/>
          <a:lstStyle/>
          <a:p>
            <a:pPr algn="l" indent="0" marL="0">
              <a:lnSpc>
                <a:spcPts val="3139"/>
              </a:lnSpc>
              <a:buNone/>
            </a:pPr>
            <a:r>
              <a:rPr lang="en-US" sz="2025" spc="81" kern="0" dirty="0">
                <a:solidFill>
                  <a:srgbClr val="9A6E1E"/>
                </a:solidFill>
                <a:latin typeface="Carlito" pitchFamily="34" charset="0"/>
                <a:ea typeface="Carlito" pitchFamily="34" charset="-122"/>
                <a:cs typeface="Carlito" pitchFamily="34" charset="-120"/>
              </a:rPr>
              <a:t>/ ০৭</a:t>
            </a:r>
            <a:endParaRPr lang="en-US" sz="2025" dirty="0"/>
          </a:p>
        </p:txBody>
      </p:sp>
      <p:sp>
        <p:nvSpPr>
          <p:cNvPr id="6" name="Text 4"/>
          <p:cNvSpPr/>
          <p:nvPr/>
        </p:nvSpPr>
        <p:spPr>
          <a:xfrm>
            <a:off x="9136856" y="571500"/>
            <a:ext cx="7144" cy="4000500"/>
          </a:xfrm>
          <a:prstGeom prst="rect">
            <a:avLst/>
          </a:prstGeom>
          <a:solidFill>
            <a:srgbClr val="D9D2BF"/>
          </a:solidFill>
          <a:ln/>
        </p:spPr>
        <p:txBody>
          <a:bodyPr wrap="square" rtlCol="0" anchor="ctr"/>
          <a:lstStyle/>
          <a:p>
            <a:pPr indent="0" marL="0">
              <a:buNone/>
            </a:pPr>
            <a:endParaRPr lang="en-US" dirty="0"/>
          </a:p>
        </p:txBody>
      </p:sp>
      <p:sp>
        <p:nvSpPr>
          <p:cNvPr id="7" name="Text 5"/>
          <p:cNvSpPr/>
          <p:nvPr/>
        </p:nvSpPr>
        <p:spPr>
          <a:xfrm>
            <a:off x="4011885" y="1797993"/>
            <a:ext cx="5132115"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অধ্যায় · আইন প্রয়োগ</a:t>
            </a:r>
            <a:endParaRPr lang="en-US" sz="1350" dirty="0"/>
          </a:p>
        </p:txBody>
      </p:sp>
      <p:sp>
        <p:nvSpPr>
          <p:cNvPr id="8" name="Text 6"/>
          <p:cNvSpPr/>
          <p:nvPr/>
        </p:nvSpPr>
        <p:spPr>
          <a:xfrm>
            <a:off x="4011885" y="2177951"/>
            <a:ext cx="4788528" cy="518368"/>
          </a:xfrm>
          <a:prstGeom prst="rect">
            <a:avLst/>
          </a:prstGeom>
          <a:noFill/>
          <a:ln/>
        </p:spPr>
        <p:txBody>
          <a:bodyPr wrap="none" lIns="0" tIns="0" rIns="0" bIns="0" rtlCol="0" anchor="t"/>
          <a:lstStyle/>
          <a:p>
            <a:pPr algn="l" indent="0" marL="0">
              <a:lnSpc>
                <a:spcPts val="3780"/>
              </a:lnSpc>
              <a:buNone/>
            </a:pPr>
            <a:r>
              <a:rPr lang="en-US" sz="3375" b="1" spc="-34" kern="0" dirty="0">
                <a:solidFill>
                  <a:srgbClr val="14342A"/>
                </a:solidFill>
                <a:latin typeface="Tinos" pitchFamily="34" charset="0"/>
                <a:ea typeface="Tinos" pitchFamily="34" charset="-122"/>
                <a:cs typeface="Tinos" pitchFamily="34" charset="-120"/>
              </a:rPr>
              <a:t>আইন প্রয়োগ ও দণ্ডবিধি</a:t>
            </a:r>
            <a:endParaRPr lang="en-US" sz="3375" dirty="0"/>
          </a:p>
        </p:txBody>
      </p:sp>
      <p:sp>
        <p:nvSpPr>
          <p:cNvPr id="9" name="Shape 7"/>
          <p:cNvSpPr/>
          <p:nvPr/>
        </p:nvSpPr>
        <p:spPr>
          <a:xfrm>
            <a:off x="4011885" y="2754362"/>
            <a:ext cx="400050" cy="0"/>
          </a:xfrm>
          <a:prstGeom prst="line">
            <a:avLst/>
          </a:prstGeom>
          <a:noFill/>
          <a:ln w="7144">
            <a:solidFill>
              <a:srgbClr val="1A1A1A"/>
            </a:solidFill>
            <a:prstDash val="solid"/>
          </a:ln>
        </p:spPr>
        <p:txBody>
          <a:bodyPr/>
          <a:p/>
        </p:txBody>
      </p:sp>
      <p:sp>
        <p:nvSpPr>
          <p:cNvPr id="10" name="Text 8"/>
          <p:cNvSpPr/>
          <p:nvPr/>
        </p:nvSpPr>
        <p:spPr>
          <a:xfrm>
            <a:off x="4011885" y="2907953"/>
            <a:ext cx="4000500" cy="472559"/>
          </a:xfrm>
          <a:prstGeom prst="rect">
            <a:avLst/>
          </a:prstGeom>
          <a:noFill/>
          <a:ln/>
        </p:spPr>
        <p:txBody>
          <a:bodyPr wrap="square" lIns="0" tIns="0" rIns="0" bIns="0" rtlCol="0" anchor="t"/>
          <a:lstStyle/>
          <a:p>
            <a:pPr algn="l" indent="0" marL="0">
              <a:lnSpc>
                <a:spcPts val="1723"/>
              </a:lnSpc>
              <a:buNone/>
            </a:pPr>
            <a:r>
              <a:rPr lang="en-US" sz="984" dirty="0">
                <a:solidFill>
                  <a:srgbClr val="4A4A4A"/>
                </a:solidFill>
                <a:latin typeface="Carlito" pitchFamily="34" charset="0"/>
                <a:ea typeface="Carlito" pitchFamily="34" charset="-122"/>
                <a:cs typeface="Carlito" pitchFamily="34" charset="-120"/>
              </a:rPr>
              <a:t>পরিদর্শকের ক্ষমতা, নমুনা সংগ্রহ প্রক্রিয়া, শাস্তির শ্রেণিবিন্যাস, ও বাজেয়াপ্তকরণ — আইন কীভাবে কাজ করে এবং খুচরা বিক্রেতার সাথে সরাসরি সম্পর্ক কী, এই অধ্যায়ে বিস্তারিত।</a:t>
            </a:r>
            <a:endParaRPr lang="en-US" sz="984" dirty="0"/>
          </a:p>
        </p:txBody>
      </p:sp>
      <p:sp>
        <p:nvSpPr>
          <p:cNvPr id="11" name="Text 9"/>
          <p:cNvSpPr/>
          <p:nvPr/>
        </p:nvSpPr>
        <p:spPr>
          <a:xfrm>
            <a:off x="8687581" y="4706392"/>
            <a:ext cx="31879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৩৪</a:t>
            </a:r>
            <a:endParaRPr lang="en-US" sz="1350" dirty="0"/>
          </a:p>
        </p:txBody>
      </p:sp>
      <p:pic>
        <p:nvPicPr>
          <p:cNvPr id="12"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57200" y="342900"/>
            <a:ext cx="4827175"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০৬ · আইন প্রয়োগ ও দণ্ডবিধি</a:t>
            </a:r>
            <a:endParaRPr lang="en-US" sz="1350" dirty="0"/>
          </a:p>
        </p:txBody>
      </p:sp>
      <p:sp>
        <p:nvSpPr>
          <p:cNvPr id="3" name="Text 1"/>
          <p:cNvSpPr/>
          <p:nvPr/>
        </p:nvSpPr>
        <p:spPr>
          <a:xfrm>
            <a:off x="457200" y="665708"/>
            <a:ext cx="4148353" cy="501764"/>
          </a:xfrm>
          <a:prstGeom prst="rect">
            <a:avLst/>
          </a:prstGeom>
          <a:noFill/>
          <a:ln/>
        </p:spPr>
        <p:txBody>
          <a:bodyPr wrap="square" lIns="0" tIns="0" rIns="0" bIns="0" rtlCol="0" anchor="t">
            <a:normAutofit/>
          </a:bodyPr>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পরিদর্শকের ক্ষমতা (ধারা ৪৬)</a:t>
            </a:r>
            <a:endParaRPr lang="en-US" sz="3150" dirty="0"/>
          </a:p>
        </p:txBody>
      </p:sp>
      <p:sp>
        <p:nvSpPr>
          <p:cNvPr id="4" name="Text 2"/>
          <p:cNvSpPr/>
          <p:nvPr/>
        </p:nvSpPr>
        <p:spPr>
          <a:xfrm>
            <a:off x="457200" y="1194904"/>
            <a:ext cx="3771230" cy="334770"/>
          </a:xfrm>
          <a:prstGeom prst="rect">
            <a:avLst/>
          </a:prstGeom>
          <a:noFill/>
          <a:ln/>
        </p:spPr>
        <p:txBody>
          <a:bodyPr wrap="square" lIns="0" tIns="0" rIns="0" bIns="0" rtlCol="0" anchor="t"/>
          <a:lstStyle/>
          <a:p>
            <a:pPr algn="l" indent="0" marL="0">
              <a:lnSpc>
                <a:spcPts val="2441"/>
              </a:lnSpc>
              <a:buNone/>
            </a:pPr>
            <a:r>
              <a:rPr lang="en-US" sz="1575" dirty="0">
                <a:solidFill>
                  <a:srgbClr val="4A4A4A"/>
                </a:solidFill>
                <a:latin typeface="Carlito" pitchFamily="34" charset="0"/>
                <a:ea typeface="Carlito" pitchFamily="34" charset="-122"/>
                <a:cs typeface="Carlito" pitchFamily="34" charset="-120"/>
              </a:rPr>
              <a:t>বালাইনাশক অধিদপ্তরের অনুমোদিত পরিদর্শকের আইনি ক্ষমতা</a:t>
            </a:r>
            <a:endParaRPr lang="en-US" sz="1575" dirty="0"/>
          </a:p>
        </p:txBody>
      </p:sp>
      <p:sp>
        <p:nvSpPr>
          <p:cNvPr id="5" name="Text 3"/>
          <p:cNvSpPr/>
          <p:nvPr/>
        </p:nvSpPr>
        <p:spPr>
          <a:xfrm>
            <a:off x="8254844" y="1273520"/>
            <a:ext cx="448569" cy="244157"/>
          </a:xfrm>
          <a:prstGeom prst="roundRect">
            <a:avLst>
              <a:gd name="adj" fmla="val 3897277"/>
            </a:avLst>
          </a:prstGeom>
          <a:solidFill>
            <a:srgbClr val="1E4D3B"/>
          </a:solidFill>
          <a:ln/>
        </p:spPr>
        <p:txBody>
          <a:bodyPr wrap="square" rtlCol="0" anchor="ctr"/>
          <a:lstStyle/>
          <a:p>
            <a:pPr indent="0" marL="0">
              <a:buNone/>
            </a:pPr>
            <a:endParaRPr lang="en-US" dirty="0"/>
          </a:p>
        </p:txBody>
      </p:sp>
      <p:sp>
        <p:nvSpPr>
          <p:cNvPr id="6" name="Text 4"/>
          <p:cNvSpPr/>
          <p:nvPr/>
        </p:nvSpPr>
        <p:spPr>
          <a:xfrm>
            <a:off x="8271458" y="1286321"/>
            <a:ext cx="415342" cy="218554"/>
          </a:xfrm>
          <a:prstGeom prst="rect">
            <a:avLst/>
          </a:prstGeom>
          <a:noFill/>
          <a:ln/>
        </p:spPr>
        <p:txBody>
          <a:bodyPr wrap="none" lIns="0" tIns="0" rIns="0" bIns="0" rtlCol="0" anchor="ctr"/>
          <a:lstStyle/>
          <a:p>
            <a:pPr algn="ctr" indent="0" marL="0">
              <a:lnSpc>
                <a:spcPts val="1046"/>
              </a:lnSpc>
              <a:buNone/>
            </a:pPr>
            <a:r>
              <a:rPr lang="en-US" sz="800" spc="54" kern="0" dirty="0">
                <a:solidFill>
                  <a:srgbClr val="FFFFFF"/>
                </a:solidFill>
                <a:latin typeface="Carlito" pitchFamily="34" charset="0"/>
                <a:ea typeface="Carlito" pitchFamily="34" charset="-122"/>
                <a:cs typeface="Carlito" pitchFamily="34" charset="-120"/>
              </a:rPr>
              <a:t>ধারা ৪৬</a:t>
            </a:r>
            <a:endParaRPr lang="en-US" sz="800" dirty="0"/>
          </a:p>
        </p:txBody>
      </p:sp>
      <p:sp>
        <p:nvSpPr>
          <p:cNvPr id="7" name="Text 5"/>
          <p:cNvSpPr/>
          <p:nvPr/>
        </p:nvSpPr>
        <p:spPr>
          <a:xfrm>
            <a:off x="460772" y="1679897"/>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8" name="Text 6"/>
          <p:cNvSpPr/>
          <p:nvPr/>
        </p:nvSpPr>
        <p:spPr>
          <a:xfrm>
            <a:off x="2896946" y="1769194"/>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০১</a:t>
            </a:r>
            <a:endParaRPr lang="en-US" sz="675" dirty="0"/>
          </a:p>
        </p:txBody>
      </p:sp>
      <p:sp>
        <p:nvSpPr>
          <p:cNvPr id="9" name="Text 7"/>
          <p:cNvSpPr/>
          <p:nvPr/>
        </p:nvSpPr>
        <p:spPr>
          <a:xfrm>
            <a:off x="621506" y="1826344"/>
            <a:ext cx="314325" cy="314325"/>
          </a:xfrm>
          <a:prstGeom prst="roundRect">
            <a:avLst>
              <a:gd name="adj" fmla="val 30303"/>
            </a:avLst>
          </a:prstGeom>
          <a:solidFill>
            <a:srgbClr val="F2ECDD"/>
          </a:solidFill>
          <a:ln/>
        </p:spPr>
        <p:txBody>
          <a:bodyPr wrap="square" rtlCol="0" anchor="ctr"/>
          <a:lstStyle/>
          <a:p>
            <a:pPr indent="0" marL="0">
              <a:buNone/>
            </a:pPr>
            <a:endParaRPr lang="en-US" dirty="0"/>
          </a:p>
        </p:txBody>
      </p:sp>
      <p:sp>
        <p:nvSpPr>
          <p:cNvPr id="10" name="Text 8"/>
          <p:cNvSpPr/>
          <p:nvPr/>
        </p:nvSpPr>
        <p:spPr>
          <a:xfrm>
            <a:off x="654368" y="1859206"/>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11" name="Text 9"/>
          <p:cNvSpPr/>
          <p:nvPr/>
        </p:nvSpPr>
        <p:spPr>
          <a:xfrm>
            <a:off x="621506" y="2212107"/>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যেকোনো সময় প্রবেশ</a:t>
            </a:r>
            <a:endParaRPr lang="en-US" sz="1069" dirty="0"/>
          </a:p>
        </p:txBody>
      </p:sp>
      <p:sp>
        <p:nvSpPr>
          <p:cNvPr id="12" name="Text 10"/>
          <p:cNvSpPr/>
          <p:nvPr/>
        </p:nvSpPr>
        <p:spPr>
          <a:xfrm>
            <a:off x="621506" y="2459906"/>
            <a:ext cx="2328863" cy="178897"/>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উৎপাদন, মজুত, বা বিক্রয় কেন্দ্রে — পূর্ব নোটিশ ছাড়াই</a:t>
            </a:r>
            <a:endParaRPr lang="en-US" sz="816" dirty="0"/>
          </a:p>
        </p:txBody>
      </p:sp>
      <p:sp>
        <p:nvSpPr>
          <p:cNvPr id="13" name="Text 11"/>
          <p:cNvSpPr/>
          <p:nvPr/>
        </p:nvSpPr>
        <p:spPr>
          <a:xfrm>
            <a:off x="3246834" y="1679897"/>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4" name="Text 12"/>
          <p:cNvSpPr/>
          <p:nvPr/>
        </p:nvSpPr>
        <p:spPr>
          <a:xfrm>
            <a:off x="5675865" y="1769194"/>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০২</a:t>
            </a:r>
            <a:endParaRPr lang="en-US" sz="675" dirty="0"/>
          </a:p>
        </p:txBody>
      </p:sp>
      <p:sp>
        <p:nvSpPr>
          <p:cNvPr id="15" name="Text 13"/>
          <p:cNvSpPr/>
          <p:nvPr/>
        </p:nvSpPr>
        <p:spPr>
          <a:xfrm>
            <a:off x="3407569" y="1826344"/>
            <a:ext cx="314325" cy="314325"/>
          </a:xfrm>
          <a:prstGeom prst="roundRect">
            <a:avLst>
              <a:gd name="adj" fmla="val 30303"/>
            </a:avLst>
          </a:prstGeom>
          <a:solidFill>
            <a:srgbClr val="F2ECDD"/>
          </a:solidFill>
          <a:ln/>
        </p:spPr>
        <p:txBody>
          <a:bodyPr wrap="square" rtlCol="0" anchor="ctr"/>
          <a:lstStyle/>
          <a:p>
            <a:pPr indent="0" marL="0">
              <a:buNone/>
            </a:pPr>
            <a:endParaRPr lang="en-US" dirty="0"/>
          </a:p>
        </p:txBody>
      </p:sp>
      <p:sp>
        <p:nvSpPr>
          <p:cNvPr id="16" name="Text 14"/>
          <p:cNvSpPr/>
          <p:nvPr/>
        </p:nvSpPr>
        <p:spPr>
          <a:xfrm>
            <a:off x="3440430" y="1859206"/>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17" name="Text 15"/>
          <p:cNvSpPr/>
          <p:nvPr/>
        </p:nvSpPr>
        <p:spPr>
          <a:xfrm>
            <a:off x="3407569" y="2212107"/>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নথি পরিদর্শন</a:t>
            </a:r>
            <a:endParaRPr lang="en-US" sz="1069" dirty="0"/>
          </a:p>
        </p:txBody>
      </p:sp>
      <p:sp>
        <p:nvSpPr>
          <p:cNvPr id="18" name="Text 16"/>
          <p:cNvSpPr/>
          <p:nvPr/>
        </p:nvSpPr>
        <p:spPr>
          <a:xfrm>
            <a:off x="3407569" y="2459906"/>
            <a:ext cx="2328863" cy="178897"/>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লাইসেন্স, চালান, বিক্রয় রেকর্ড — সমস্ত ডকুমেন্ট যাচাই</a:t>
            </a:r>
            <a:endParaRPr lang="en-US" sz="816" dirty="0"/>
          </a:p>
        </p:txBody>
      </p:sp>
      <p:sp>
        <p:nvSpPr>
          <p:cNvPr id="19" name="Text 17"/>
          <p:cNvSpPr/>
          <p:nvPr/>
        </p:nvSpPr>
        <p:spPr>
          <a:xfrm>
            <a:off x="6032897" y="1679897"/>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20" name="Text 18"/>
          <p:cNvSpPr/>
          <p:nvPr/>
        </p:nvSpPr>
        <p:spPr>
          <a:xfrm>
            <a:off x="8461927" y="1769194"/>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০৩</a:t>
            </a:r>
            <a:endParaRPr lang="en-US" sz="675" dirty="0"/>
          </a:p>
        </p:txBody>
      </p:sp>
      <p:sp>
        <p:nvSpPr>
          <p:cNvPr id="21" name="Text 19"/>
          <p:cNvSpPr/>
          <p:nvPr/>
        </p:nvSpPr>
        <p:spPr>
          <a:xfrm>
            <a:off x="6193631" y="1826344"/>
            <a:ext cx="314325" cy="314325"/>
          </a:xfrm>
          <a:prstGeom prst="roundRect">
            <a:avLst>
              <a:gd name="adj" fmla="val 30303"/>
            </a:avLst>
          </a:prstGeom>
          <a:solidFill>
            <a:srgbClr val="F2ECDD"/>
          </a:solidFill>
          <a:ln/>
        </p:spPr>
        <p:txBody>
          <a:bodyPr wrap="square" rtlCol="0" anchor="ctr"/>
          <a:lstStyle/>
          <a:p>
            <a:pPr indent="0" marL="0">
              <a:buNone/>
            </a:pPr>
            <a:endParaRPr lang="en-US" dirty="0"/>
          </a:p>
        </p:txBody>
      </p:sp>
      <p:sp>
        <p:nvSpPr>
          <p:cNvPr id="22" name="Text 20"/>
          <p:cNvSpPr/>
          <p:nvPr/>
        </p:nvSpPr>
        <p:spPr>
          <a:xfrm>
            <a:off x="6226493" y="1859206"/>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23" name="Text 21"/>
          <p:cNvSpPr/>
          <p:nvPr/>
        </p:nvSpPr>
        <p:spPr>
          <a:xfrm>
            <a:off x="6193631" y="2212107"/>
            <a:ext cx="2328862"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নমুনা সংগ্রহ</a:t>
            </a:r>
            <a:endParaRPr lang="en-US" sz="1069" dirty="0"/>
          </a:p>
        </p:txBody>
      </p:sp>
      <p:sp>
        <p:nvSpPr>
          <p:cNvPr id="24" name="Text 22"/>
          <p:cNvSpPr/>
          <p:nvPr/>
        </p:nvSpPr>
        <p:spPr>
          <a:xfrm>
            <a:off x="6193631" y="2459906"/>
            <a:ext cx="2438590" cy="178897"/>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যেকোনো পণ্য থেকে নমুনা নেওয়ার পূর্ণ ক্ষমতা</a:t>
            </a:r>
            <a:endParaRPr lang="en-US" sz="816" dirty="0"/>
          </a:p>
        </p:txBody>
      </p:sp>
      <p:sp>
        <p:nvSpPr>
          <p:cNvPr id="25" name="Text 23"/>
          <p:cNvSpPr/>
          <p:nvPr/>
        </p:nvSpPr>
        <p:spPr>
          <a:xfrm>
            <a:off x="460772" y="3277753"/>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26" name="Text 24"/>
          <p:cNvSpPr/>
          <p:nvPr/>
        </p:nvSpPr>
        <p:spPr>
          <a:xfrm>
            <a:off x="2889802" y="3367050"/>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০৪</a:t>
            </a:r>
            <a:endParaRPr lang="en-US" sz="675" dirty="0"/>
          </a:p>
        </p:txBody>
      </p:sp>
      <p:sp>
        <p:nvSpPr>
          <p:cNvPr id="27" name="Text 25"/>
          <p:cNvSpPr/>
          <p:nvPr/>
        </p:nvSpPr>
        <p:spPr>
          <a:xfrm>
            <a:off x="621506" y="3424200"/>
            <a:ext cx="314325" cy="314325"/>
          </a:xfrm>
          <a:prstGeom prst="roundRect">
            <a:avLst>
              <a:gd name="adj" fmla="val 30303"/>
            </a:avLst>
          </a:prstGeom>
          <a:solidFill>
            <a:srgbClr val="F2ECDD"/>
          </a:solidFill>
          <a:ln/>
        </p:spPr>
        <p:txBody>
          <a:bodyPr wrap="square" rtlCol="0" anchor="ctr"/>
          <a:lstStyle/>
          <a:p>
            <a:pPr indent="0" marL="0">
              <a:buNone/>
            </a:pPr>
            <a:endParaRPr lang="en-US" dirty="0"/>
          </a:p>
        </p:txBody>
      </p:sp>
      <p:sp>
        <p:nvSpPr>
          <p:cNvPr id="28" name="Text 26"/>
          <p:cNvSpPr/>
          <p:nvPr/>
        </p:nvSpPr>
        <p:spPr>
          <a:xfrm>
            <a:off x="654368" y="3457062"/>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29" name="Text 27"/>
          <p:cNvSpPr/>
          <p:nvPr/>
        </p:nvSpPr>
        <p:spPr>
          <a:xfrm>
            <a:off x="621506" y="3809963"/>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পণ্য বাজেয়াপ্ত</a:t>
            </a:r>
            <a:endParaRPr lang="en-US" sz="1069" dirty="0"/>
          </a:p>
        </p:txBody>
      </p:sp>
      <p:sp>
        <p:nvSpPr>
          <p:cNvPr id="30" name="Text 28"/>
          <p:cNvSpPr/>
          <p:nvPr/>
        </p:nvSpPr>
        <p:spPr>
          <a:xfrm>
            <a:off x="621506" y="4057762"/>
            <a:ext cx="2438591" cy="178897"/>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সন্দেহভাজন পণ্য তাৎক্ষণিক জব্দ করা</a:t>
            </a:r>
            <a:endParaRPr lang="en-US" sz="816" dirty="0"/>
          </a:p>
        </p:txBody>
      </p:sp>
      <p:sp>
        <p:nvSpPr>
          <p:cNvPr id="31" name="Text 29"/>
          <p:cNvSpPr/>
          <p:nvPr/>
        </p:nvSpPr>
        <p:spPr>
          <a:xfrm>
            <a:off x="3246834" y="3277753"/>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32" name="Text 30"/>
          <p:cNvSpPr/>
          <p:nvPr/>
        </p:nvSpPr>
        <p:spPr>
          <a:xfrm>
            <a:off x="5675865" y="3367050"/>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০৫</a:t>
            </a:r>
            <a:endParaRPr lang="en-US" sz="675" dirty="0"/>
          </a:p>
        </p:txBody>
      </p:sp>
      <p:sp>
        <p:nvSpPr>
          <p:cNvPr id="33" name="Text 31"/>
          <p:cNvSpPr/>
          <p:nvPr/>
        </p:nvSpPr>
        <p:spPr>
          <a:xfrm>
            <a:off x="3407569" y="3424200"/>
            <a:ext cx="314325" cy="314325"/>
          </a:xfrm>
          <a:prstGeom prst="roundRect">
            <a:avLst>
              <a:gd name="adj" fmla="val 30303"/>
            </a:avLst>
          </a:prstGeom>
          <a:solidFill>
            <a:srgbClr val="F2ECDD"/>
          </a:solidFill>
          <a:ln/>
        </p:spPr>
        <p:txBody>
          <a:bodyPr wrap="square" rtlCol="0" anchor="ctr"/>
          <a:lstStyle/>
          <a:p>
            <a:pPr indent="0" marL="0">
              <a:buNone/>
            </a:pPr>
            <a:endParaRPr lang="en-US" dirty="0"/>
          </a:p>
        </p:txBody>
      </p:sp>
      <p:sp>
        <p:nvSpPr>
          <p:cNvPr id="34" name="Text 32"/>
          <p:cNvSpPr/>
          <p:nvPr/>
        </p:nvSpPr>
        <p:spPr>
          <a:xfrm>
            <a:off x="3440430" y="3457062"/>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35" name="Text 33"/>
          <p:cNvSpPr/>
          <p:nvPr/>
        </p:nvSpPr>
        <p:spPr>
          <a:xfrm>
            <a:off x="3407569" y="3809963"/>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লাইসেন্স স্থগিত</a:t>
            </a:r>
            <a:endParaRPr lang="en-US" sz="1069" dirty="0"/>
          </a:p>
        </p:txBody>
      </p:sp>
      <p:sp>
        <p:nvSpPr>
          <p:cNvPr id="36" name="Text 34"/>
          <p:cNvSpPr/>
          <p:nvPr/>
        </p:nvSpPr>
        <p:spPr>
          <a:xfrm>
            <a:off x="3407569" y="4057762"/>
            <a:ext cx="2438591" cy="178897"/>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তাৎক্ষণিক বিক্রি বন্ধের নির্দেশ দেওয়া</a:t>
            </a:r>
            <a:endParaRPr lang="en-US" sz="816" dirty="0"/>
          </a:p>
        </p:txBody>
      </p:sp>
      <p:sp>
        <p:nvSpPr>
          <p:cNvPr id="37" name="Text 35"/>
          <p:cNvSpPr/>
          <p:nvPr/>
        </p:nvSpPr>
        <p:spPr>
          <a:xfrm>
            <a:off x="6032897" y="3277753"/>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38" name="Text 36"/>
          <p:cNvSpPr/>
          <p:nvPr/>
        </p:nvSpPr>
        <p:spPr>
          <a:xfrm>
            <a:off x="8461927" y="3367050"/>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০৬</a:t>
            </a:r>
            <a:endParaRPr lang="en-US" sz="675" dirty="0"/>
          </a:p>
        </p:txBody>
      </p:sp>
      <p:sp>
        <p:nvSpPr>
          <p:cNvPr id="39" name="Text 37"/>
          <p:cNvSpPr/>
          <p:nvPr/>
        </p:nvSpPr>
        <p:spPr>
          <a:xfrm>
            <a:off x="6193631" y="3424200"/>
            <a:ext cx="314325" cy="314325"/>
          </a:xfrm>
          <a:prstGeom prst="roundRect">
            <a:avLst>
              <a:gd name="adj" fmla="val 30303"/>
            </a:avLst>
          </a:prstGeom>
          <a:solidFill>
            <a:srgbClr val="F2ECDD"/>
          </a:solidFill>
          <a:ln/>
        </p:spPr>
        <p:txBody>
          <a:bodyPr wrap="square" rtlCol="0" anchor="ctr"/>
          <a:lstStyle/>
          <a:p>
            <a:pPr indent="0" marL="0">
              <a:buNone/>
            </a:pPr>
            <a:endParaRPr lang="en-US" dirty="0"/>
          </a:p>
        </p:txBody>
      </p:sp>
      <p:sp>
        <p:nvSpPr>
          <p:cNvPr id="40" name="Text 38"/>
          <p:cNvSpPr/>
          <p:nvPr/>
        </p:nvSpPr>
        <p:spPr>
          <a:xfrm>
            <a:off x="6226493" y="3457062"/>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41" name="Text 39"/>
          <p:cNvSpPr/>
          <p:nvPr/>
        </p:nvSpPr>
        <p:spPr>
          <a:xfrm>
            <a:off x="6193631" y="3809963"/>
            <a:ext cx="2328862"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মামলা দায়ের</a:t>
            </a:r>
            <a:endParaRPr lang="en-US" sz="1069" dirty="0"/>
          </a:p>
        </p:txBody>
      </p:sp>
      <p:sp>
        <p:nvSpPr>
          <p:cNvPr id="42" name="Text 40"/>
          <p:cNvSpPr/>
          <p:nvPr/>
        </p:nvSpPr>
        <p:spPr>
          <a:xfrm>
            <a:off x="6193631" y="4057762"/>
            <a:ext cx="2438590" cy="178897"/>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আদালতে অভিযোগ দাখিল ও বিচার প্রক্রিয়া</a:t>
            </a:r>
            <a:endParaRPr lang="en-US" sz="816" dirty="0"/>
          </a:p>
        </p:txBody>
      </p:sp>
      <p:sp>
        <p:nvSpPr>
          <p:cNvPr id="43" name="Text 41"/>
          <p:cNvSpPr/>
          <p:nvPr/>
        </p:nvSpPr>
        <p:spPr>
          <a:xfrm>
            <a:off x="8687581" y="4706392"/>
            <a:ext cx="31879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৩৫</a:t>
            </a:r>
            <a:endParaRPr lang="en-US" sz="1350" dirty="0"/>
          </a:p>
        </p:txBody>
      </p:sp>
      <p:pic>
        <p:nvPicPr>
          <p:cNvPr id="44"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00050" y="314325"/>
            <a:ext cx="8636000"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০৬ · আইন প্রয়োগ ও দণ্ডবিধি</a:t>
            </a:r>
            <a:endParaRPr lang="en-US" sz="1350" dirty="0"/>
          </a:p>
        </p:txBody>
      </p:sp>
      <p:sp>
        <p:nvSpPr>
          <p:cNvPr id="3" name="Text 1"/>
          <p:cNvSpPr/>
          <p:nvPr/>
        </p:nvSpPr>
        <p:spPr>
          <a:xfrm>
            <a:off x="400050" y="637133"/>
            <a:ext cx="8636000" cy="501764"/>
          </a:xfrm>
          <a:prstGeom prst="rect">
            <a:avLst/>
          </a:prstGeom>
          <a:noFill/>
          <a:ln/>
        </p:spPr>
        <p:txBody>
          <a:bodyPr wrap="square" lIns="0" tIns="0" rIns="0" bIns="0" rtlCol="0" anchor="t">
            <a:normAutofit/>
          </a:bodyPr>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নমুনা সংগ্রহ প্রক্রিয়া (ধারা ৪৭)</a:t>
            </a:r>
            <a:endParaRPr lang="en-US" sz="3150" dirty="0"/>
          </a:p>
        </p:txBody>
      </p:sp>
      <p:sp>
        <p:nvSpPr>
          <p:cNvPr id="4" name="Text 2"/>
          <p:cNvSpPr/>
          <p:nvPr/>
        </p:nvSpPr>
        <p:spPr>
          <a:xfrm>
            <a:off x="400050" y="1166329"/>
            <a:ext cx="8636000" cy="334770"/>
          </a:xfrm>
          <a:prstGeom prst="rect">
            <a:avLst/>
          </a:prstGeom>
          <a:noFill/>
          <a:ln/>
        </p:spPr>
        <p:txBody>
          <a:bodyPr wrap="square" lIns="0" tIns="0" rIns="0" bIns="0" rtlCol="0" anchor="t"/>
          <a:lstStyle/>
          <a:p>
            <a:pPr algn="l" indent="0" marL="0">
              <a:lnSpc>
                <a:spcPts val="2441"/>
              </a:lnSpc>
              <a:buNone/>
            </a:pPr>
            <a:r>
              <a:rPr lang="en-US" sz="1575" dirty="0">
                <a:solidFill>
                  <a:srgbClr val="4A4A4A"/>
                </a:solidFill>
                <a:latin typeface="Carlito" pitchFamily="34" charset="0"/>
                <a:ea typeface="Carlito" pitchFamily="34" charset="-122"/>
                <a:cs typeface="Carlito" pitchFamily="34" charset="-120"/>
              </a:rPr>
              <a:t>আইনি বৈধতা বজায় রেখে নমুনা সংগ্রহের সঠিক পদ্ধতি</a:t>
            </a:r>
            <a:endParaRPr lang="en-US" sz="1575" dirty="0"/>
          </a:p>
        </p:txBody>
      </p:sp>
      <p:sp>
        <p:nvSpPr>
          <p:cNvPr id="5" name="Text 3"/>
          <p:cNvSpPr/>
          <p:nvPr/>
        </p:nvSpPr>
        <p:spPr>
          <a:xfrm>
            <a:off x="403622" y="1637035"/>
            <a:ext cx="1300163" cy="2617068"/>
          </a:xfrm>
          <a:prstGeom prst="roundRect">
            <a:avLst>
              <a:gd name="adj" fmla="val 10256"/>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6" name="Text 4"/>
          <p:cNvSpPr/>
          <p:nvPr/>
        </p:nvSpPr>
        <p:spPr>
          <a:xfrm>
            <a:off x="521494" y="1897893"/>
            <a:ext cx="157163" cy="157163"/>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7" name="Text 5"/>
          <p:cNvSpPr/>
          <p:nvPr/>
        </p:nvSpPr>
        <p:spPr>
          <a:xfrm>
            <a:off x="521494" y="2217018"/>
            <a:ext cx="1064419" cy="216027"/>
          </a:xfrm>
          <a:prstGeom prst="rect">
            <a:avLst/>
          </a:prstGeom>
          <a:noFill/>
          <a:ln/>
        </p:spPr>
        <p:txBody>
          <a:bodyPr wrap="none" lIns="0" tIns="0" rIns="0" bIns="0" rtlCol="0" anchor="t"/>
          <a:lstStyle/>
          <a:p>
            <a:pPr algn="l" indent="0" marL="0">
              <a:lnSpc>
                <a:spcPts val="1575"/>
              </a:lnSpc>
              <a:buNone/>
            </a:pPr>
            <a:r>
              <a:rPr lang="en-US" sz="1575" b="1" spc="-32" kern="0" dirty="0">
                <a:solidFill>
                  <a:srgbClr val="9A6E1E"/>
                </a:solidFill>
                <a:latin typeface="Carlito" pitchFamily="34" charset="0"/>
                <a:ea typeface="Carlito" pitchFamily="34" charset="-122"/>
                <a:cs typeface="Carlito" pitchFamily="34" charset="-120"/>
              </a:rPr>
              <a:t>০১</a:t>
            </a:r>
            <a:endParaRPr lang="en-US" sz="1575" dirty="0"/>
          </a:p>
        </p:txBody>
      </p:sp>
      <p:sp>
        <p:nvSpPr>
          <p:cNvPr id="8" name="Text 6"/>
          <p:cNvSpPr/>
          <p:nvPr/>
        </p:nvSpPr>
        <p:spPr>
          <a:xfrm>
            <a:off x="521494" y="2488481"/>
            <a:ext cx="1064419" cy="165396"/>
          </a:xfrm>
          <a:prstGeom prst="rect">
            <a:avLst/>
          </a:prstGeom>
          <a:noFill/>
          <a:ln/>
        </p:spPr>
        <p:txBody>
          <a:bodyPr wrap="none" lIns="0" tIns="0" rIns="0" bIns="0" rtlCol="0" anchor="t"/>
          <a:lstStyle/>
          <a:p>
            <a:pPr algn="l" indent="0" marL="0">
              <a:lnSpc>
                <a:spcPts val="1207"/>
              </a:lnSpc>
              <a:buNone/>
            </a:pPr>
            <a:r>
              <a:rPr lang="en-US" sz="928" dirty="0">
                <a:solidFill>
                  <a:srgbClr val="14342A"/>
                </a:solidFill>
                <a:latin typeface="Tinos" pitchFamily="34" charset="0"/>
                <a:ea typeface="Tinos" pitchFamily="34" charset="-122"/>
                <a:cs typeface="Tinos" pitchFamily="34" charset="-120"/>
              </a:rPr>
              <a:t>পূর্ব নোটিশ</a:t>
            </a:r>
            <a:endParaRPr lang="en-US" sz="928" dirty="0"/>
          </a:p>
        </p:txBody>
      </p:sp>
      <p:sp>
        <p:nvSpPr>
          <p:cNvPr id="9" name="Text 7"/>
          <p:cNvSpPr/>
          <p:nvPr/>
        </p:nvSpPr>
        <p:spPr>
          <a:xfrm>
            <a:off x="521494" y="2713062"/>
            <a:ext cx="1128284" cy="155068"/>
          </a:xfrm>
          <a:prstGeom prst="rect">
            <a:avLst/>
          </a:prstGeom>
          <a:noFill/>
          <a:ln/>
        </p:spPr>
        <p:txBody>
          <a:bodyPr wrap="square" lIns="0" tIns="0" rIns="0" bIns="0" rtlCol="0" anchor="t">
            <a:normAutofit/>
          </a:bodyPr>
          <a:lstStyle/>
          <a:p>
            <a:pPr algn="l" indent="0" marL="0">
              <a:lnSpc>
                <a:spcPts val="1215"/>
              </a:lnSpc>
              <a:buNone/>
            </a:pPr>
            <a:r>
              <a:rPr lang="en-US" sz="800" dirty="0">
                <a:solidFill>
                  <a:srgbClr val="4A4A4A"/>
                </a:solidFill>
                <a:latin typeface="Carlito" pitchFamily="34" charset="0"/>
                <a:ea typeface="Carlito" pitchFamily="34" charset="-122"/>
                <a:cs typeface="Carlito" pitchFamily="34" charset="-120"/>
              </a:rPr>
              <a:t>সাধারণত অনির্ধারিত পরিদর্শন, ২৪ ঘণ্টা বা তাৎক্ষণিক</a:t>
            </a:r>
            <a:endParaRPr lang="en-US" sz="800" dirty="0"/>
          </a:p>
        </p:txBody>
      </p:sp>
      <p:sp>
        <p:nvSpPr>
          <p:cNvPr id="10" name="Text 8"/>
          <p:cNvSpPr/>
          <p:nvPr/>
        </p:nvSpPr>
        <p:spPr>
          <a:xfrm>
            <a:off x="1810941" y="1637035"/>
            <a:ext cx="1300163" cy="2617068"/>
          </a:xfrm>
          <a:prstGeom prst="roundRect">
            <a:avLst>
              <a:gd name="adj" fmla="val 10256"/>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1" name="Text 9"/>
          <p:cNvSpPr/>
          <p:nvPr/>
        </p:nvSpPr>
        <p:spPr>
          <a:xfrm>
            <a:off x="1928813" y="1897893"/>
            <a:ext cx="157163" cy="157163"/>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12" name="Text 10"/>
          <p:cNvSpPr/>
          <p:nvPr/>
        </p:nvSpPr>
        <p:spPr>
          <a:xfrm>
            <a:off x="1928813" y="2217018"/>
            <a:ext cx="1064419" cy="216027"/>
          </a:xfrm>
          <a:prstGeom prst="rect">
            <a:avLst/>
          </a:prstGeom>
          <a:noFill/>
          <a:ln/>
        </p:spPr>
        <p:txBody>
          <a:bodyPr wrap="none" lIns="0" tIns="0" rIns="0" bIns="0" rtlCol="0" anchor="t"/>
          <a:lstStyle/>
          <a:p>
            <a:pPr algn="l" indent="0" marL="0">
              <a:lnSpc>
                <a:spcPts val="1575"/>
              </a:lnSpc>
              <a:buNone/>
            </a:pPr>
            <a:r>
              <a:rPr lang="en-US" sz="1575" b="1" spc="-32" kern="0" dirty="0">
                <a:solidFill>
                  <a:srgbClr val="9A6E1E"/>
                </a:solidFill>
                <a:latin typeface="Carlito" pitchFamily="34" charset="0"/>
                <a:ea typeface="Carlito" pitchFamily="34" charset="-122"/>
                <a:cs typeface="Carlito" pitchFamily="34" charset="-120"/>
              </a:rPr>
              <a:t>০২</a:t>
            </a:r>
            <a:endParaRPr lang="en-US" sz="1575" dirty="0"/>
          </a:p>
        </p:txBody>
      </p:sp>
      <p:sp>
        <p:nvSpPr>
          <p:cNvPr id="13" name="Text 11"/>
          <p:cNvSpPr/>
          <p:nvPr/>
        </p:nvSpPr>
        <p:spPr>
          <a:xfrm>
            <a:off x="1928813" y="2488481"/>
            <a:ext cx="1064419" cy="165396"/>
          </a:xfrm>
          <a:prstGeom prst="rect">
            <a:avLst/>
          </a:prstGeom>
          <a:noFill/>
          <a:ln/>
        </p:spPr>
        <p:txBody>
          <a:bodyPr wrap="none" lIns="0" tIns="0" rIns="0" bIns="0" rtlCol="0" anchor="t"/>
          <a:lstStyle/>
          <a:p>
            <a:pPr algn="l" indent="0" marL="0">
              <a:lnSpc>
                <a:spcPts val="1207"/>
              </a:lnSpc>
              <a:buNone/>
            </a:pPr>
            <a:r>
              <a:rPr lang="en-US" sz="928" dirty="0">
                <a:solidFill>
                  <a:srgbClr val="14342A"/>
                </a:solidFill>
                <a:latin typeface="Tinos" pitchFamily="34" charset="0"/>
                <a:ea typeface="Tinos" pitchFamily="34" charset="-122"/>
                <a:cs typeface="Tinos" pitchFamily="34" charset="-120"/>
              </a:rPr>
              <a:t>উপস্থিত সাক্ষী</a:t>
            </a:r>
            <a:endParaRPr lang="en-US" sz="928" dirty="0"/>
          </a:p>
        </p:txBody>
      </p:sp>
      <p:sp>
        <p:nvSpPr>
          <p:cNvPr id="14" name="Text 12"/>
          <p:cNvSpPr/>
          <p:nvPr/>
        </p:nvSpPr>
        <p:spPr>
          <a:xfrm>
            <a:off x="1928813" y="2713062"/>
            <a:ext cx="1128284" cy="155068"/>
          </a:xfrm>
          <a:prstGeom prst="rect">
            <a:avLst/>
          </a:prstGeom>
          <a:noFill/>
          <a:ln/>
        </p:spPr>
        <p:txBody>
          <a:bodyPr wrap="square" lIns="0" tIns="0" rIns="0" bIns="0" rtlCol="0" anchor="t">
            <a:normAutofit/>
          </a:bodyPr>
          <a:lstStyle/>
          <a:p>
            <a:pPr algn="l" indent="0" marL="0">
              <a:lnSpc>
                <a:spcPts val="1215"/>
              </a:lnSpc>
              <a:buNone/>
            </a:pPr>
            <a:r>
              <a:rPr lang="en-US" sz="800" dirty="0">
                <a:solidFill>
                  <a:srgbClr val="4A4A4A"/>
                </a:solidFill>
                <a:latin typeface="Carlito" pitchFamily="34" charset="0"/>
                <a:ea typeface="Carlito" pitchFamily="34" charset="-122"/>
                <a:cs typeface="Carlito" pitchFamily="34" charset="-120"/>
              </a:rPr>
              <a:t>বিক্রেতা বা তার প্রতিনিধি উপস্থিত থাকবেন</a:t>
            </a:r>
            <a:endParaRPr lang="en-US" sz="800" dirty="0"/>
          </a:p>
        </p:txBody>
      </p:sp>
      <p:sp>
        <p:nvSpPr>
          <p:cNvPr id="15" name="Text 13"/>
          <p:cNvSpPr/>
          <p:nvPr/>
        </p:nvSpPr>
        <p:spPr>
          <a:xfrm>
            <a:off x="3218259" y="1637035"/>
            <a:ext cx="1300163" cy="2617068"/>
          </a:xfrm>
          <a:prstGeom prst="roundRect">
            <a:avLst>
              <a:gd name="adj" fmla="val 10256"/>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6" name="Text 14"/>
          <p:cNvSpPr/>
          <p:nvPr/>
        </p:nvSpPr>
        <p:spPr>
          <a:xfrm>
            <a:off x="3336131" y="1897893"/>
            <a:ext cx="157163" cy="157163"/>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17" name="Text 15"/>
          <p:cNvSpPr/>
          <p:nvPr/>
        </p:nvSpPr>
        <p:spPr>
          <a:xfrm>
            <a:off x="3336131" y="2217018"/>
            <a:ext cx="1064419" cy="216027"/>
          </a:xfrm>
          <a:prstGeom prst="rect">
            <a:avLst/>
          </a:prstGeom>
          <a:noFill/>
          <a:ln/>
        </p:spPr>
        <p:txBody>
          <a:bodyPr wrap="none" lIns="0" tIns="0" rIns="0" bIns="0" rtlCol="0" anchor="t"/>
          <a:lstStyle/>
          <a:p>
            <a:pPr algn="l" indent="0" marL="0">
              <a:lnSpc>
                <a:spcPts val="1575"/>
              </a:lnSpc>
              <a:buNone/>
            </a:pPr>
            <a:r>
              <a:rPr lang="en-US" sz="1575" b="1" spc="-32" kern="0" dirty="0">
                <a:solidFill>
                  <a:srgbClr val="9A6E1E"/>
                </a:solidFill>
                <a:latin typeface="Carlito" pitchFamily="34" charset="0"/>
                <a:ea typeface="Carlito" pitchFamily="34" charset="-122"/>
                <a:cs typeface="Carlito" pitchFamily="34" charset="-120"/>
              </a:rPr>
              <a:t>০৩</a:t>
            </a:r>
            <a:endParaRPr lang="en-US" sz="1575" dirty="0"/>
          </a:p>
        </p:txBody>
      </p:sp>
      <p:sp>
        <p:nvSpPr>
          <p:cNvPr id="18" name="Text 16"/>
          <p:cNvSpPr/>
          <p:nvPr/>
        </p:nvSpPr>
        <p:spPr>
          <a:xfrm>
            <a:off x="3336131" y="2488481"/>
            <a:ext cx="1064419" cy="165396"/>
          </a:xfrm>
          <a:prstGeom prst="rect">
            <a:avLst/>
          </a:prstGeom>
          <a:noFill/>
          <a:ln/>
        </p:spPr>
        <p:txBody>
          <a:bodyPr wrap="none" lIns="0" tIns="0" rIns="0" bIns="0" rtlCol="0" anchor="t"/>
          <a:lstStyle/>
          <a:p>
            <a:pPr algn="l" indent="0" marL="0">
              <a:lnSpc>
                <a:spcPts val="1207"/>
              </a:lnSpc>
              <a:buNone/>
            </a:pPr>
            <a:r>
              <a:rPr lang="en-US" sz="928" dirty="0">
                <a:solidFill>
                  <a:srgbClr val="14342A"/>
                </a:solidFill>
                <a:latin typeface="Tinos" pitchFamily="34" charset="0"/>
                <a:ea typeface="Tinos" pitchFamily="34" charset="-122"/>
                <a:cs typeface="Tinos" pitchFamily="34" charset="-120"/>
              </a:rPr>
              <a:t>নমুনা বিভাজন</a:t>
            </a:r>
            <a:endParaRPr lang="en-US" sz="928" dirty="0"/>
          </a:p>
        </p:txBody>
      </p:sp>
      <p:sp>
        <p:nvSpPr>
          <p:cNvPr id="19" name="Text 17"/>
          <p:cNvSpPr/>
          <p:nvPr/>
        </p:nvSpPr>
        <p:spPr>
          <a:xfrm>
            <a:off x="3336131" y="2713062"/>
            <a:ext cx="1128284" cy="155068"/>
          </a:xfrm>
          <a:prstGeom prst="rect">
            <a:avLst/>
          </a:prstGeom>
          <a:noFill/>
          <a:ln/>
        </p:spPr>
        <p:txBody>
          <a:bodyPr wrap="square" lIns="0" tIns="0" rIns="0" bIns="0" rtlCol="0" anchor="t">
            <a:normAutofit/>
          </a:bodyPr>
          <a:lstStyle/>
          <a:p>
            <a:pPr algn="l" indent="0" marL="0">
              <a:lnSpc>
                <a:spcPts val="1215"/>
              </a:lnSpc>
              <a:buNone/>
            </a:pPr>
            <a:r>
              <a:rPr lang="en-US" sz="800" dirty="0">
                <a:solidFill>
                  <a:srgbClr val="4A4A4A"/>
                </a:solidFill>
                <a:latin typeface="Carlito" pitchFamily="34" charset="0"/>
                <a:ea typeface="Carlito" pitchFamily="34" charset="-122"/>
                <a:cs typeface="Carlito" pitchFamily="34" charset="-120"/>
              </a:rPr>
              <a:t>৩টি সমান অংশে, আলাদা পাত্রে সিলমোহর</a:t>
            </a:r>
            <a:endParaRPr lang="en-US" sz="800" dirty="0"/>
          </a:p>
        </p:txBody>
      </p:sp>
      <p:sp>
        <p:nvSpPr>
          <p:cNvPr id="20" name="Text 18"/>
          <p:cNvSpPr/>
          <p:nvPr/>
        </p:nvSpPr>
        <p:spPr>
          <a:xfrm>
            <a:off x="4625578" y="1637035"/>
            <a:ext cx="1300163" cy="2617068"/>
          </a:xfrm>
          <a:prstGeom prst="roundRect">
            <a:avLst>
              <a:gd name="adj" fmla="val 10256"/>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21" name="Text 19"/>
          <p:cNvSpPr/>
          <p:nvPr/>
        </p:nvSpPr>
        <p:spPr>
          <a:xfrm>
            <a:off x="4743450" y="1897893"/>
            <a:ext cx="157163" cy="157163"/>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22" name="Text 20"/>
          <p:cNvSpPr/>
          <p:nvPr/>
        </p:nvSpPr>
        <p:spPr>
          <a:xfrm>
            <a:off x="4743450" y="2217018"/>
            <a:ext cx="1064419" cy="216027"/>
          </a:xfrm>
          <a:prstGeom prst="rect">
            <a:avLst/>
          </a:prstGeom>
          <a:noFill/>
          <a:ln/>
        </p:spPr>
        <p:txBody>
          <a:bodyPr wrap="none" lIns="0" tIns="0" rIns="0" bIns="0" rtlCol="0" anchor="t"/>
          <a:lstStyle/>
          <a:p>
            <a:pPr algn="l" indent="0" marL="0">
              <a:lnSpc>
                <a:spcPts val="1575"/>
              </a:lnSpc>
              <a:buNone/>
            </a:pPr>
            <a:r>
              <a:rPr lang="en-US" sz="1575" b="1" spc="-32" kern="0" dirty="0">
                <a:solidFill>
                  <a:srgbClr val="9A6E1E"/>
                </a:solidFill>
                <a:latin typeface="Carlito" pitchFamily="34" charset="0"/>
                <a:ea typeface="Carlito" pitchFamily="34" charset="-122"/>
                <a:cs typeface="Carlito" pitchFamily="34" charset="-120"/>
              </a:rPr>
              <a:t>০৪</a:t>
            </a:r>
            <a:endParaRPr lang="en-US" sz="1575" dirty="0"/>
          </a:p>
        </p:txBody>
      </p:sp>
      <p:sp>
        <p:nvSpPr>
          <p:cNvPr id="23" name="Text 21"/>
          <p:cNvSpPr/>
          <p:nvPr/>
        </p:nvSpPr>
        <p:spPr>
          <a:xfrm>
            <a:off x="4743450" y="2488481"/>
            <a:ext cx="1064419" cy="165396"/>
          </a:xfrm>
          <a:prstGeom prst="rect">
            <a:avLst/>
          </a:prstGeom>
          <a:noFill/>
          <a:ln/>
        </p:spPr>
        <p:txBody>
          <a:bodyPr wrap="none" lIns="0" tIns="0" rIns="0" bIns="0" rtlCol="0" anchor="t"/>
          <a:lstStyle/>
          <a:p>
            <a:pPr algn="l" indent="0" marL="0">
              <a:lnSpc>
                <a:spcPts val="1207"/>
              </a:lnSpc>
              <a:buNone/>
            </a:pPr>
            <a:r>
              <a:rPr lang="en-US" sz="928" dirty="0">
                <a:solidFill>
                  <a:srgbClr val="14342A"/>
                </a:solidFill>
                <a:latin typeface="Tinos" pitchFamily="34" charset="0"/>
                <a:ea typeface="Tinos" pitchFamily="34" charset="-122"/>
                <a:cs typeface="Tinos" pitchFamily="34" charset="-120"/>
              </a:rPr>
              <a:t>চালান প্রস্তুত</a:t>
            </a:r>
            <a:endParaRPr lang="en-US" sz="928" dirty="0"/>
          </a:p>
        </p:txBody>
      </p:sp>
      <p:sp>
        <p:nvSpPr>
          <p:cNvPr id="24" name="Text 22"/>
          <p:cNvSpPr/>
          <p:nvPr/>
        </p:nvSpPr>
        <p:spPr>
          <a:xfrm>
            <a:off x="4743450" y="2713062"/>
            <a:ext cx="1128284" cy="155068"/>
          </a:xfrm>
          <a:prstGeom prst="rect">
            <a:avLst/>
          </a:prstGeom>
          <a:noFill/>
          <a:ln/>
        </p:spPr>
        <p:txBody>
          <a:bodyPr wrap="square" lIns="0" tIns="0" rIns="0" bIns="0" rtlCol="0" anchor="t">
            <a:normAutofit/>
          </a:bodyPr>
          <a:lstStyle/>
          <a:p>
            <a:pPr algn="l" indent="0" marL="0">
              <a:lnSpc>
                <a:spcPts val="1215"/>
              </a:lnSpc>
              <a:buNone/>
            </a:pPr>
            <a:r>
              <a:rPr lang="en-US" sz="759" dirty="0">
                <a:solidFill>
                  <a:srgbClr val="4A4A4A"/>
                </a:solidFill>
                <a:latin typeface="Carlito" pitchFamily="34" charset="0"/>
                <a:ea typeface="Carlito" pitchFamily="34" charset="-122"/>
                <a:cs typeface="Carlito" pitchFamily="34" charset="-120"/>
              </a:rPr>
              <a:t>নমুনা বিবরণী ও সাক্ষী স্বাক্ষর</a:t>
            </a:r>
            <a:endParaRPr lang="en-US" sz="759" dirty="0"/>
          </a:p>
        </p:txBody>
      </p:sp>
      <p:sp>
        <p:nvSpPr>
          <p:cNvPr id="25" name="Text 23"/>
          <p:cNvSpPr/>
          <p:nvPr/>
        </p:nvSpPr>
        <p:spPr>
          <a:xfrm>
            <a:off x="6032897" y="1637035"/>
            <a:ext cx="1300163" cy="2617068"/>
          </a:xfrm>
          <a:prstGeom prst="roundRect">
            <a:avLst>
              <a:gd name="adj" fmla="val 10256"/>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26" name="Text 24"/>
          <p:cNvSpPr/>
          <p:nvPr/>
        </p:nvSpPr>
        <p:spPr>
          <a:xfrm>
            <a:off x="6150769" y="1897893"/>
            <a:ext cx="157163" cy="157163"/>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27" name="Text 25"/>
          <p:cNvSpPr/>
          <p:nvPr/>
        </p:nvSpPr>
        <p:spPr>
          <a:xfrm>
            <a:off x="6150769" y="2217018"/>
            <a:ext cx="1064419" cy="216027"/>
          </a:xfrm>
          <a:prstGeom prst="rect">
            <a:avLst/>
          </a:prstGeom>
          <a:noFill/>
          <a:ln/>
        </p:spPr>
        <p:txBody>
          <a:bodyPr wrap="none" lIns="0" tIns="0" rIns="0" bIns="0" rtlCol="0" anchor="t"/>
          <a:lstStyle/>
          <a:p>
            <a:pPr algn="l" indent="0" marL="0">
              <a:lnSpc>
                <a:spcPts val="1575"/>
              </a:lnSpc>
              <a:buNone/>
            </a:pPr>
            <a:r>
              <a:rPr lang="en-US" sz="1575" b="1" spc="-32" kern="0" dirty="0">
                <a:solidFill>
                  <a:srgbClr val="9A6E1E"/>
                </a:solidFill>
                <a:latin typeface="Carlito" pitchFamily="34" charset="0"/>
                <a:ea typeface="Carlito" pitchFamily="34" charset="-122"/>
                <a:cs typeface="Carlito" pitchFamily="34" charset="-120"/>
              </a:rPr>
              <a:t>০৫</a:t>
            </a:r>
            <a:endParaRPr lang="en-US" sz="1575" dirty="0"/>
          </a:p>
        </p:txBody>
      </p:sp>
      <p:sp>
        <p:nvSpPr>
          <p:cNvPr id="28" name="Text 26"/>
          <p:cNvSpPr/>
          <p:nvPr/>
        </p:nvSpPr>
        <p:spPr>
          <a:xfrm>
            <a:off x="6150769" y="2488481"/>
            <a:ext cx="1064419" cy="165396"/>
          </a:xfrm>
          <a:prstGeom prst="rect">
            <a:avLst/>
          </a:prstGeom>
          <a:noFill/>
          <a:ln/>
        </p:spPr>
        <p:txBody>
          <a:bodyPr wrap="none" lIns="0" tIns="0" rIns="0" bIns="0" rtlCol="0" anchor="t"/>
          <a:lstStyle/>
          <a:p>
            <a:pPr algn="l" indent="0" marL="0">
              <a:lnSpc>
                <a:spcPts val="1207"/>
              </a:lnSpc>
              <a:buNone/>
            </a:pPr>
            <a:r>
              <a:rPr lang="en-US" sz="928" dirty="0">
                <a:solidFill>
                  <a:srgbClr val="14342A"/>
                </a:solidFill>
                <a:latin typeface="Tinos" pitchFamily="34" charset="0"/>
                <a:ea typeface="Tinos" pitchFamily="34" charset="-122"/>
                <a:cs typeface="Tinos" pitchFamily="34" charset="-120"/>
              </a:rPr>
              <a:t>পরীক্ষাগারে প্রেরণ</a:t>
            </a:r>
            <a:endParaRPr lang="en-US" sz="928" dirty="0"/>
          </a:p>
        </p:txBody>
      </p:sp>
      <p:sp>
        <p:nvSpPr>
          <p:cNvPr id="29" name="Text 27"/>
          <p:cNvSpPr/>
          <p:nvPr/>
        </p:nvSpPr>
        <p:spPr>
          <a:xfrm>
            <a:off x="6150769" y="2713062"/>
            <a:ext cx="1128284" cy="155068"/>
          </a:xfrm>
          <a:prstGeom prst="rect">
            <a:avLst/>
          </a:prstGeom>
          <a:noFill/>
          <a:ln/>
        </p:spPr>
        <p:txBody>
          <a:bodyPr wrap="square" lIns="0" tIns="0" rIns="0" bIns="0" rtlCol="0" anchor="t">
            <a:normAutofit/>
          </a:bodyPr>
          <a:lstStyle/>
          <a:p>
            <a:pPr algn="l" indent="0" marL="0">
              <a:lnSpc>
                <a:spcPts val="1215"/>
              </a:lnSpc>
              <a:buNone/>
            </a:pPr>
            <a:r>
              <a:rPr lang="en-US" sz="800" dirty="0">
                <a:solidFill>
                  <a:srgbClr val="4A4A4A"/>
                </a:solidFill>
                <a:latin typeface="Carlito" pitchFamily="34" charset="0"/>
                <a:ea typeface="Carlito" pitchFamily="34" charset="-122"/>
                <a:cs typeface="Carlito" pitchFamily="34" charset="-120"/>
              </a:rPr>
              <a:t>কেন্দ্রীয় বালাইনাশক পরীক্ষাগার, ঢাকা</a:t>
            </a:r>
            <a:endParaRPr lang="en-US" sz="800" dirty="0"/>
          </a:p>
        </p:txBody>
      </p:sp>
      <p:sp>
        <p:nvSpPr>
          <p:cNvPr id="30" name="Text 28"/>
          <p:cNvSpPr/>
          <p:nvPr/>
        </p:nvSpPr>
        <p:spPr>
          <a:xfrm>
            <a:off x="7440216" y="1637035"/>
            <a:ext cx="1300163" cy="2617068"/>
          </a:xfrm>
          <a:prstGeom prst="roundRect">
            <a:avLst>
              <a:gd name="adj" fmla="val 10256"/>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31" name="Text 29"/>
          <p:cNvSpPr/>
          <p:nvPr/>
        </p:nvSpPr>
        <p:spPr>
          <a:xfrm>
            <a:off x="7558088" y="1897893"/>
            <a:ext cx="157163" cy="157163"/>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32" name="Text 30"/>
          <p:cNvSpPr/>
          <p:nvPr/>
        </p:nvSpPr>
        <p:spPr>
          <a:xfrm>
            <a:off x="7558088" y="2217018"/>
            <a:ext cx="1064419" cy="216027"/>
          </a:xfrm>
          <a:prstGeom prst="rect">
            <a:avLst/>
          </a:prstGeom>
          <a:noFill/>
          <a:ln/>
        </p:spPr>
        <p:txBody>
          <a:bodyPr wrap="none" lIns="0" tIns="0" rIns="0" bIns="0" rtlCol="0" anchor="t"/>
          <a:lstStyle/>
          <a:p>
            <a:pPr algn="l" indent="0" marL="0">
              <a:lnSpc>
                <a:spcPts val="1575"/>
              </a:lnSpc>
              <a:buNone/>
            </a:pPr>
            <a:r>
              <a:rPr lang="en-US" sz="1575" b="1" spc="-32" kern="0" dirty="0">
                <a:solidFill>
                  <a:srgbClr val="9A6E1E"/>
                </a:solidFill>
                <a:latin typeface="Carlito" pitchFamily="34" charset="0"/>
                <a:ea typeface="Carlito" pitchFamily="34" charset="-122"/>
                <a:cs typeface="Carlito" pitchFamily="34" charset="-120"/>
              </a:rPr>
              <a:t>০৬</a:t>
            </a:r>
            <a:endParaRPr lang="en-US" sz="1575" dirty="0"/>
          </a:p>
        </p:txBody>
      </p:sp>
      <p:sp>
        <p:nvSpPr>
          <p:cNvPr id="33" name="Text 31"/>
          <p:cNvSpPr/>
          <p:nvPr/>
        </p:nvSpPr>
        <p:spPr>
          <a:xfrm>
            <a:off x="7558088" y="2488481"/>
            <a:ext cx="1064419" cy="165396"/>
          </a:xfrm>
          <a:prstGeom prst="rect">
            <a:avLst/>
          </a:prstGeom>
          <a:noFill/>
          <a:ln/>
        </p:spPr>
        <p:txBody>
          <a:bodyPr wrap="none" lIns="0" tIns="0" rIns="0" bIns="0" rtlCol="0" anchor="t"/>
          <a:lstStyle/>
          <a:p>
            <a:pPr algn="l" indent="0" marL="0">
              <a:lnSpc>
                <a:spcPts val="1207"/>
              </a:lnSpc>
              <a:buNone/>
            </a:pPr>
            <a:r>
              <a:rPr lang="en-US" sz="928" dirty="0">
                <a:solidFill>
                  <a:srgbClr val="14342A"/>
                </a:solidFill>
                <a:latin typeface="Tinos" pitchFamily="34" charset="0"/>
                <a:ea typeface="Tinos" pitchFamily="34" charset="-122"/>
                <a:cs typeface="Tinos" pitchFamily="34" charset="-120"/>
              </a:rPr>
              <a:t>প্রতিবেদন গ্রহণ</a:t>
            </a:r>
            <a:endParaRPr lang="en-US" sz="928" dirty="0"/>
          </a:p>
        </p:txBody>
      </p:sp>
      <p:sp>
        <p:nvSpPr>
          <p:cNvPr id="34" name="Text 32"/>
          <p:cNvSpPr/>
          <p:nvPr/>
        </p:nvSpPr>
        <p:spPr>
          <a:xfrm>
            <a:off x="7558088" y="2713062"/>
            <a:ext cx="1128284" cy="175514"/>
          </a:xfrm>
          <a:prstGeom prst="rect">
            <a:avLst/>
          </a:prstGeom>
          <a:noFill/>
          <a:ln/>
        </p:spPr>
        <p:txBody>
          <a:bodyPr wrap="square" lIns="0" tIns="0" rIns="0" bIns="0" rtlCol="0" anchor="t"/>
          <a:lstStyle/>
          <a:p>
            <a:pPr algn="l" indent="0" marL="0">
              <a:lnSpc>
                <a:spcPts val="1215"/>
              </a:lnSpc>
              <a:buNone/>
            </a:pPr>
            <a:r>
              <a:rPr lang="en-US" sz="759" dirty="0">
                <a:solidFill>
                  <a:srgbClr val="4A4A4A"/>
                </a:solidFill>
                <a:latin typeface="Carlito" pitchFamily="34" charset="0"/>
                <a:ea typeface="Carlito" pitchFamily="34" charset="-122"/>
                <a:cs typeface="Carlito" pitchFamily="34" charset="-120"/>
              </a:rPr>
              <a:t>৩০ দিনের মধ্যে ফলাফল প্রকাশ</a:t>
            </a:r>
            <a:endParaRPr lang="en-US" sz="759" dirty="0"/>
          </a:p>
        </p:txBody>
      </p:sp>
      <p:sp>
        <p:nvSpPr>
          <p:cNvPr id="35" name="Text 33"/>
          <p:cNvSpPr/>
          <p:nvPr/>
        </p:nvSpPr>
        <p:spPr>
          <a:xfrm>
            <a:off x="400050" y="4386263"/>
            <a:ext cx="8343900" cy="385763"/>
          </a:xfrm>
          <a:prstGeom prst="roundRect">
            <a:avLst>
              <a:gd name="adj" fmla="val 29630"/>
            </a:avLst>
          </a:prstGeom>
          <a:solidFill>
            <a:srgbClr val="F2ECDD"/>
          </a:solidFill>
          <a:ln/>
        </p:spPr>
        <p:txBody>
          <a:bodyPr wrap="square" rtlCol="0" anchor="ctr"/>
          <a:lstStyle/>
          <a:p>
            <a:pPr indent="0" marL="0">
              <a:buNone/>
            </a:pPr>
            <a:endParaRPr lang="en-US" dirty="0"/>
          </a:p>
        </p:txBody>
      </p:sp>
      <p:sp>
        <p:nvSpPr>
          <p:cNvPr id="36" name="Text 34"/>
          <p:cNvSpPr/>
          <p:nvPr/>
        </p:nvSpPr>
        <p:spPr>
          <a:xfrm>
            <a:off x="557213" y="4486275"/>
            <a:ext cx="185738" cy="185738"/>
          </a:xfrm>
          <a:prstGeom prst="rect">
            <a:avLst/>
          </a:prstGeom>
          <a:noFill/>
          <a:ln/>
        </p:spPr>
        <p:txBody>
          <a:bodyPr wrap="none" lIns="0" tIns="0" rIns="0" bIns="0" rtlCol="0" anchor="ctr"/>
          <a:lstStyle/>
          <a:p>
            <a:pPr algn="ctr" indent="0" marL="0">
              <a:buNone/>
            </a:pPr>
            <a:r>
              <a:rPr lang="en-US" sz="1828" dirty="0">
                <a:solidFill>
                  <a:srgbClr val="9A6E1E"/>
                </a:solidFill>
                <a:latin typeface="Segoe UI Symbol" pitchFamily="34" charset="0"/>
                <a:ea typeface="Segoe UI Symbol" pitchFamily="34" charset="-122"/>
                <a:cs typeface="Segoe UI Symbol" pitchFamily="34" charset="-120"/>
              </a:rPr>
              <a:t>⛨</a:t>
            </a:r>
            <a:endParaRPr lang="en-US" sz="1828" dirty="0"/>
          </a:p>
        </p:txBody>
      </p:sp>
      <p:sp>
        <p:nvSpPr>
          <p:cNvPr id="37" name="Text 35"/>
          <p:cNvSpPr/>
          <p:nvPr/>
        </p:nvSpPr>
        <p:spPr>
          <a:xfrm>
            <a:off x="842963" y="4501679"/>
            <a:ext cx="7743825" cy="169980"/>
          </a:xfrm>
          <a:prstGeom prst="rect">
            <a:avLst/>
          </a:prstGeom>
          <a:noFill/>
          <a:ln/>
        </p:spPr>
        <p:txBody>
          <a:bodyPr wrap="square" lIns="0" tIns="0" rIns="0" bIns="0" rtlCol="0" anchor="t"/>
          <a:lstStyle/>
          <a:p>
            <a:pPr algn="l" indent="0" marL="0">
              <a:lnSpc>
                <a:spcPts val="1221"/>
              </a:lnSpc>
              <a:buNone/>
            </a:pPr>
            <a:r>
              <a:rPr lang="en-US" sz="800" dirty="0">
                <a:solidFill>
                  <a:srgbClr val="1E4D3B"/>
                </a:solidFill>
                <a:latin typeface="Carlito" pitchFamily="34" charset="0"/>
                <a:ea typeface="Carlito" pitchFamily="34" charset="-122"/>
                <a:cs typeface="Carlito" pitchFamily="34" charset="-120"/>
              </a:rPr>
              <a:t>বিক্রেতার অধিকার —</a:t>
            </a:r>
            <a:pPr algn="l" indent="0" marL="0">
              <a:lnSpc>
                <a:spcPts val="1221"/>
              </a:lnSpc>
              <a:buNone/>
            </a:pPr>
            <a:r>
              <a:rPr lang="en-US" sz="800" dirty="0">
                <a:solidFill>
                  <a:srgbClr val="4A4A4A"/>
                </a:solidFill>
                <a:latin typeface="Carlito" pitchFamily="34" charset="0"/>
                <a:ea typeface="Carlito" pitchFamily="34" charset="-122"/>
                <a:cs typeface="Carlito" pitchFamily="34" charset="-120"/>
              </a:rPr>
              <a:t> নমুনা সংগ্রহের সময় একটি অংশ নিজের কাছে সংরক্ষণ করা। স্বাক্ষরের আগে চালান ভালোভাবে পড়ুন।</a:t>
            </a:r>
            <a:endParaRPr lang="en-US" sz="800" dirty="0"/>
          </a:p>
        </p:txBody>
      </p:sp>
      <p:sp>
        <p:nvSpPr>
          <p:cNvPr id="38" name="Text 36"/>
          <p:cNvSpPr/>
          <p:nvPr/>
        </p:nvSpPr>
        <p:spPr>
          <a:xfrm>
            <a:off x="8687581" y="4706392"/>
            <a:ext cx="31879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৩৬</a:t>
            </a:r>
            <a:endParaRPr lang="en-US" sz="1350" dirty="0"/>
          </a:p>
        </p:txBody>
      </p:sp>
      <p:pic>
        <p:nvPicPr>
          <p:cNvPr id="39" name="Image 0" descr="preencoded.png">    </p:cNvPr>
          <p:cNvPicPr>
            <a:picLocks noChangeAspect="1"/>
          </p:cNvPicPr>
          <p:nvPr/>
        </p:nvPicPr>
        <p:blipFill>
          <a:blip r:embed="rId1"/>
          <a:stretch>
            <a:fillRect/>
          </a:stretch>
        </p:blipFill>
        <p:spPr>
          <a:xfrm>
            <a:off x="0" y="5100638"/>
            <a:ext cx="9144000" cy="42863"/>
          </a:xfrm>
          <a:prstGeom prst="rect">
            <a:avLst/>
          </a:prstGeom>
        </p:spPr>
      </p:pic>
      <p:sp>
        <p:nvSpPr>
          <p:cNvPr id="40" name="Text 37"/>
          <p:cNvSpPr/>
          <p:nvPr/>
        </p:nvSpPr>
        <p:spPr>
          <a:xfrm>
            <a:off x="1663681" y="2895563"/>
            <a:ext cx="173075" cy="100013"/>
          </a:xfrm>
          <a:prstGeom prst="rect">
            <a:avLst/>
          </a:prstGeom>
          <a:noFill/>
          <a:ln/>
        </p:spPr>
        <p:txBody>
          <a:bodyPr wrap="none" lIns="0" tIns="0" rIns="0" bIns="0" rtlCol="0" anchor="ctr"/>
          <a:lstStyle/>
          <a:p>
            <a:pPr algn="ctr" indent="0" marL="0">
              <a:buNone/>
            </a:pPr>
            <a:r>
              <a:rPr lang="en-US" sz="1547" dirty="0">
                <a:solidFill>
                  <a:srgbClr val="C7912C"/>
                </a:solidFill>
                <a:latin typeface="Segoe UI Symbol" pitchFamily="34" charset="0"/>
                <a:ea typeface="Segoe UI Symbol" pitchFamily="34" charset="-122"/>
                <a:cs typeface="Segoe UI Symbol" pitchFamily="34" charset="-120"/>
              </a:rPr>
              <a:t>›</a:t>
            </a:r>
            <a:endParaRPr lang="en-US" sz="1547" dirty="0"/>
          </a:p>
        </p:txBody>
      </p:sp>
      <p:sp>
        <p:nvSpPr>
          <p:cNvPr id="41" name="Text 38"/>
          <p:cNvSpPr/>
          <p:nvPr/>
        </p:nvSpPr>
        <p:spPr>
          <a:xfrm>
            <a:off x="3071000" y="2895563"/>
            <a:ext cx="173075" cy="100013"/>
          </a:xfrm>
          <a:prstGeom prst="rect">
            <a:avLst/>
          </a:prstGeom>
          <a:noFill/>
          <a:ln/>
        </p:spPr>
        <p:txBody>
          <a:bodyPr wrap="none" lIns="0" tIns="0" rIns="0" bIns="0" rtlCol="0" anchor="ctr"/>
          <a:lstStyle/>
          <a:p>
            <a:pPr algn="ctr" indent="0" marL="0">
              <a:buNone/>
            </a:pPr>
            <a:r>
              <a:rPr lang="en-US" sz="1547" dirty="0">
                <a:solidFill>
                  <a:srgbClr val="C7912C"/>
                </a:solidFill>
                <a:latin typeface="Segoe UI Symbol" pitchFamily="34" charset="0"/>
                <a:ea typeface="Segoe UI Symbol" pitchFamily="34" charset="-122"/>
                <a:cs typeface="Segoe UI Symbol" pitchFamily="34" charset="-120"/>
              </a:rPr>
              <a:t>›</a:t>
            </a:r>
            <a:endParaRPr lang="en-US" sz="1547" dirty="0"/>
          </a:p>
        </p:txBody>
      </p:sp>
      <p:sp>
        <p:nvSpPr>
          <p:cNvPr id="42" name="Text 39"/>
          <p:cNvSpPr/>
          <p:nvPr/>
        </p:nvSpPr>
        <p:spPr>
          <a:xfrm>
            <a:off x="4478319" y="2895563"/>
            <a:ext cx="173075" cy="100013"/>
          </a:xfrm>
          <a:prstGeom prst="rect">
            <a:avLst/>
          </a:prstGeom>
          <a:noFill/>
          <a:ln/>
        </p:spPr>
        <p:txBody>
          <a:bodyPr wrap="none" lIns="0" tIns="0" rIns="0" bIns="0" rtlCol="0" anchor="ctr"/>
          <a:lstStyle/>
          <a:p>
            <a:pPr algn="ctr" indent="0" marL="0">
              <a:buNone/>
            </a:pPr>
            <a:r>
              <a:rPr lang="en-US" sz="1547" dirty="0">
                <a:solidFill>
                  <a:srgbClr val="C7912C"/>
                </a:solidFill>
                <a:latin typeface="Segoe UI Symbol" pitchFamily="34" charset="0"/>
                <a:ea typeface="Segoe UI Symbol" pitchFamily="34" charset="-122"/>
                <a:cs typeface="Segoe UI Symbol" pitchFamily="34" charset="-120"/>
              </a:rPr>
              <a:t>›</a:t>
            </a:r>
            <a:endParaRPr lang="en-US" sz="1547" dirty="0"/>
          </a:p>
        </p:txBody>
      </p:sp>
      <p:sp>
        <p:nvSpPr>
          <p:cNvPr id="43" name="Text 40"/>
          <p:cNvSpPr/>
          <p:nvPr/>
        </p:nvSpPr>
        <p:spPr>
          <a:xfrm>
            <a:off x="5885637" y="2895563"/>
            <a:ext cx="173075" cy="100013"/>
          </a:xfrm>
          <a:prstGeom prst="rect">
            <a:avLst/>
          </a:prstGeom>
          <a:noFill/>
          <a:ln/>
        </p:spPr>
        <p:txBody>
          <a:bodyPr wrap="none" lIns="0" tIns="0" rIns="0" bIns="0" rtlCol="0" anchor="ctr"/>
          <a:lstStyle/>
          <a:p>
            <a:pPr algn="ctr" indent="0" marL="0">
              <a:buNone/>
            </a:pPr>
            <a:r>
              <a:rPr lang="en-US" sz="1547" dirty="0">
                <a:solidFill>
                  <a:srgbClr val="C7912C"/>
                </a:solidFill>
                <a:latin typeface="Segoe UI Symbol" pitchFamily="34" charset="0"/>
                <a:ea typeface="Segoe UI Symbol" pitchFamily="34" charset="-122"/>
                <a:cs typeface="Segoe UI Symbol" pitchFamily="34" charset="-120"/>
              </a:rPr>
              <a:t>›</a:t>
            </a:r>
            <a:endParaRPr lang="en-US" sz="1547" dirty="0"/>
          </a:p>
        </p:txBody>
      </p:sp>
      <p:sp>
        <p:nvSpPr>
          <p:cNvPr id="44" name="Text 41"/>
          <p:cNvSpPr/>
          <p:nvPr/>
        </p:nvSpPr>
        <p:spPr>
          <a:xfrm>
            <a:off x="7292956" y="2895563"/>
            <a:ext cx="173075" cy="100013"/>
          </a:xfrm>
          <a:prstGeom prst="rect">
            <a:avLst/>
          </a:prstGeom>
          <a:noFill/>
          <a:ln/>
        </p:spPr>
        <p:txBody>
          <a:bodyPr wrap="none" lIns="0" tIns="0" rIns="0" bIns="0" rtlCol="0" anchor="ctr"/>
          <a:lstStyle/>
          <a:p>
            <a:pPr algn="ctr" indent="0" marL="0">
              <a:buNone/>
            </a:pPr>
            <a:r>
              <a:rPr lang="en-US" sz="1547" dirty="0">
                <a:solidFill>
                  <a:srgbClr val="C7912C"/>
                </a:solidFill>
                <a:latin typeface="Segoe UI Symbol" pitchFamily="34" charset="0"/>
                <a:ea typeface="Segoe UI Symbol" pitchFamily="34" charset="-122"/>
                <a:cs typeface="Segoe UI Symbol" pitchFamily="34" charset="-120"/>
              </a:rPr>
              <a:t>›</a:t>
            </a:r>
            <a:endParaRPr lang="en-US" sz="1547"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57200" y="314325"/>
            <a:ext cx="4699587"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০৬ · আইন প্রয়োগ ও দণ্ডবিধি</a:t>
            </a:r>
            <a:endParaRPr lang="en-US" sz="1350" dirty="0"/>
          </a:p>
        </p:txBody>
      </p:sp>
      <p:sp>
        <p:nvSpPr>
          <p:cNvPr id="3" name="Text 1"/>
          <p:cNvSpPr/>
          <p:nvPr/>
        </p:nvSpPr>
        <p:spPr>
          <a:xfrm>
            <a:off x="457200" y="637133"/>
            <a:ext cx="4038708" cy="487476"/>
          </a:xfrm>
          <a:prstGeom prst="rect">
            <a:avLst/>
          </a:prstGeom>
          <a:noFill/>
          <a:ln/>
        </p:spPr>
        <p:txBody>
          <a:bodyPr wrap="square" lIns="0" tIns="0" rIns="0" bIns="0" rtlCol="0" anchor="t">
            <a:normAutofit/>
          </a:bodyPr>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শাস্তির বিভাগ (ধারা ৫৩-৫৭)</a:t>
            </a:r>
            <a:endParaRPr lang="en-US" sz="3150" dirty="0"/>
          </a:p>
        </p:txBody>
      </p:sp>
      <p:sp>
        <p:nvSpPr>
          <p:cNvPr id="4" name="Text 2"/>
          <p:cNvSpPr/>
          <p:nvPr/>
        </p:nvSpPr>
        <p:spPr>
          <a:xfrm>
            <a:off x="457200" y="1152041"/>
            <a:ext cx="3965277" cy="334770"/>
          </a:xfrm>
          <a:prstGeom prst="rect">
            <a:avLst/>
          </a:prstGeom>
          <a:noFill/>
          <a:ln/>
        </p:spPr>
        <p:txBody>
          <a:bodyPr wrap="square" lIns="0" tIns="0" rIns="0" bIns="0" rtlCol="0" anchor="t"/>
          <a:lstStyle/>
          <a:p>
            <a:pPr algn="l" indent="0" marL="0">
              <a:lnSpc>
                <a:spcPts val="2441"/>
              </a:lnSpc>
              <a:buNone/>
            </a:pPr>
            <a:r>
              <a:rPr lang="en-US" sz="1575" dirty="0">
                <a:solidFill>
                  <a:srgbClr val="4A4A4A"/>
                </a:solidFill>
                <a:latin typeface="Carlito" pitchFamily="34" charset="0"/>
                <a:ea typeface="Carlito" pitchFamily="34" charset="-122"/>
                <a:cs typeface="Carlito" pitchFamily="34" charset="-120"/>
              </a:rPr>
              <a:t>লঙ্ঘনের ধরন অনুসারে শাস্তির তীব্রতা</a:t>
            </a:r>
            <a:endParaRPr lang="en-US" sz="1575" dirty="0"/>
          </a:p>
        </p:txBody>
      </p:sp>
      <p:sp>
        <p:nvSpPr>
          <p:cNvPr id="5" name="Text 3"/>
          <p:cNvSpPr/>
          <p:nvPr/>
        </p:nvSpPr>
        <p:spPr>
          <a:xfrm>
            <a:off x="8065986" y="1230657"/>
            <a:ext cx="643674" cy="244157"/>
          </a:xfrm>
          <a:prstGeom prst="roundRect">
            <a:avLst>
              <a:gd name="adj" fmla="val 3897277"/>
            </a:avLst>
          </a:prstGeom>
          <a:solidFill>
            <a:srgbClr val="B23A2A"/>
          </a:solidFill>
          <a:ln/>
        </p:spPr>
        <p:txBody>
          <a:bodyPr wrap="square" rtlCol="0" anchor="ctr"/>
          <a:lstStyle/>
          <a:p>
            <a:pPr indent="0" marL="0">
              <a:buNone/>
            </a:pPr>
            <a:endParaRPr lang="en-US" dirty="0"/>
          </a:p>
        </p:txBody>
      </p:sp>
      <p:sp>
        <p:nvSpPr>
          <p:cNvPr id="6" name="Text 4"/>
          <p:cNvSpPr/>
          <p:nvPr/>
        </p:nvSpPr>
        <p:spPr>
          <a:xfrm>
            <a:off x="8088846" y="1243459"/>
            <a:ext cx="597954" cy="218554"/>
          </a:xfrm>
          <a:prstGeom prst="rect">
            <a:avLst/>
          </a:prstGeom>
          <a:noFill/>
          <a:ln/>
        </p:spPr>
        <p:txBody>
          <a:bodyPr wrap="none" lIns="0" tIns="0" rIns="0" bIns="0" rtlCol="0" anchor="ctr"/>
          <a:lstStyle/>
          <a:p>
            <a:pPr algn="ctr" indent="0" marL="0">
              <a:lnSpc>
                <a:spcPts val="1046"/>
              </a:lnSpc>
              <a:buNone/>
            </a:pPr>
            <a:r>
              <a:rPr lang="en-US" sz="800" spc="54" kern="0" dirty="0">
                <a:solidFill>
                  <a:srgbClr val="FFFFFF"/>
                </a:solidFill>
                <a:latin typeface="Carlito" pitchFamily="34" charset="0"/>
                <a:ea typeface="Carlito" pitchFamily="34" charset="-122"/>
                <a:cs typeface="Carlito" pitchFamily="34" charset="-120"/>
              </a:rPr>
              <a:t>ধারা ৫৩–৫৭</a:t>
            </a:r>
            <a:endParaRPr lang="en-US" sz="800" dirty="0"/>
          </a:p>
        </p:txBody>
      </p:sp>
      <p:sp>
        <p:nvSpPr>
          <p:cNvPr id="7" name="Text 5"/>
          <p:cNvSpPr/>
          <p:nvPr/>
        </p:nvSpPr>
        <p:spPr>
          <a:xfrm>
            <a:off x="457200" y="1619176"/>
            <a:ext cx="2638388" cy="1717067"/>
          </a:xfrm>
          <a:prstGeom prst="roundRect">
            <a:avLst>
              <a:gd name="adj" fmla="val 7766"/>
            </a:avLst>
          </a:prstGeom>
          <a:solidFill>
            <a:srgbClr val="FFFFFF"/>
          </a:solidFill>
          <a:ln/>
        </p:spPr>
        <p:txBody>
          <a:bodyPr wrap="square" rtlCol="0" anchor="ctr"/>
          <a:lstStyle/>
          <a:p>
            <a:pPr indent="0" marL="0">
              <a:buNone/>
            </a:pPr>
            <a:endParaRPr lang="en-US" dirty="0"/>
          </a:p>
        </p:txBody>
      </p:sp>
      <p:sp>
        <p:nvSpPr>
          <p:cNvPr id="8" name="Shape 6"/>
          <p:cNvSpPr/>
          <p:nvPr/>
        </p:nvSpPr>
        <p:spPr>
          <a:xfrm>
            <a:off x="457200" y="1622747"/>
            <a:ext cx="2638388" cy="0"/>
          </a:xfrm>
          <a:prstGeom prst="line">
            <a:avLst/>
          </a:prstGeom>
          <a:noFill/>
          <a:ln w="7144">
            <a:solidFill>
              <a:srgbClr val="D9D2BF"/>
            </a:solidFill>
            <a:prstDash val="solid"/>
          </a:ln>
        </p:spPr>
        <p:txBody>
          <a:bodyPr/>
          <a:p/>
        </p:txBody>
      </p:sp>
      <p:sp>
        <p:nvSpPr>
          <p:cNvPr id="9" name="Shape 7"/>
          <p:cNvSpPr/>
          <p:nvPr/>
        </p:nvSpPr>
        <p:spPr>
          <a:xfrm>
            <a:off x="3092016" y="1619176"/>
            <a:ext cx="0" cy="1717067"/>
          </a:xfrm>
          <a:prstGeom prst="line">
            <a:avLst/>
          </a:prstGeom>
          <a:noFill/>
          <a:ln w="7144">
            <a:solidFill>
              <a:srgbClr val="D9D2BF"/>
            </a:solidFill>
            <a:prstDash val="solid"/>
          </a:ln>
        </p:spPr>
        <p:txBody>
          <a:bodyPr/>
          <a:p/>
        </p:txBody>
      </p:sp>
      <p:sp>
        <p:nvSpPr>
          <p:cNvPr id="10" name="Shape 8"/>
          <p:cNvSpPr/>
          <p:nvPr/>
        </p:nvSpPr>
        <p:spPr>
          <a:xfrm>
            <a:off x="457200" y="3332671"/>
            <a:ext cx="2638388" cy="0"/>
          </a:xfrm>
          <a:prstGeom prst="line">
            <a:avLst/>
          </a:prstGeom>
          <a:noFill/>
          <a:ln w="7144">
            <a:solidFill>
              <a:srgbClr val="D9D2BF"/>
            </a:solidFill>
            <a:prstDash val="solid"/>
          </a:ln>
        </p:spPr>
        <p:txBody>
          <a:bodyPr/>
          <a:p/>
        </p:txBody>
      </p:sp>
      <p:sp>
        <p:nvSpPr>
          <p:cNvPr id="11" name="Shape 9"/>
          <p:cNvSpPr/>
          <p:nvPr/>
        </p:nvSpPr>
        <p:spPr>
          <a:xfrm>
            <a:off x="471488" y="1619176"/>
            <a:ext cx="0" cy="1717067"/>
          </a:xfrm>
          <a:prstGeom prst="line">
            <a:avLst/>
          </a:prstGeom>
          <a:noFill/>
          <a:ln w="28575">
            <a:solidFill>
              <a:srgbClr val="B23A2A"/>
            </a:solidFill>
            <a:prstDash val="solid"/>
          </a:ln>
        </p:spPr>
        <p:txBody>
          <a:bodyPr/>
          <a:p/>
        </p:txBody>
      </p:sp>
      <p:sp>
        <p:nvSpPr>
          <p:cNvPr id="12" name="Text 10"/>
          <p:cNvSpPr/>
          <p:nvPr/>
        </p:nvSpPr>
        <p:spPr>
          <a:xfrm>
            <a:off x="671513" y="1797769"/>
            <a:ext cx="314325" cy="314325"/>
          </a:xfrm>
          <a:prstGeom prst="roundRect">
            <a:avLst>
              <a:gd name="adj" fmla="val 30303"/>
            </a:avLst>
          </a:prstGeom>
          <a:solidFill>
            <a:srgbClr val="F2E0DC"/>
          </a:solidFill>
          <a:ln/>
        </p:spPr>
        <p:txBody>
          <a:bodyPr wrap="square" rtlCol="0" anchor="ctr"/>
          <a:lstStyle/>
          <a:p>
            <a:pPr indent="0" marL="0">
              <a:buNone/>
            </a:pPr>
            <a:endParaRPr lang="en-US" dirty="0"/>
          </a:p>
        </p:txBody>
      </p:sp>
      <p:sp>
        <p:nvSpPr>
          <p:cNvPr id="13" name="Text 11"/>
          <p:cNvSpPr/>
          <p:nvPr/>
        </p:nvSpPr>
        <p:spPr>
          <a:xfrm>
            <a:off x="694015" y="1820272"/>
            <a:ext cx="269319" cy="269319"/>
          </a:xfrm>
          <a:prstGeom prst="rect">
            <a:avLst/>
          </a:prstGeom>
          <a:noFill/>
          <a:ln/>
        </p:spPr>
        <p:txBody>
          <a:bodyPr wrap="none" lIns="0" tIns="0" rIns="0" bIns="0" rtlCol="0" anchor="ctr"/>
          <a:lstStyle/>
          <a:p>
            <a:pPr algn="ctr" indent="0" marL="0">
              <a:buNone/>
            </a:pPr>
            <a:r>
              <a:rPr lang="en-US" sz="1828" dirty="0">
                <a:solidFill>
                  <a:srgbClr val="B23A2A"/>
                </a:solidFill>
                <a:latin typeface="Segoe UI Symbol" pitchFamily="34" charset="0"/>
                <a:ea typeface="Segoe UI Symbol" pitchFamily="34" charset="-122"/>
                <a:cs typeface="Segoe UI Symbol" pitchFamily="34" charset="-120"/>
              </a:rPr>
              <a:t>⚖</a:t>
            </a:r>
            <a:endParaRPr lang="en-US" sz="1828" dirty="0"/>
          </a:p>
        </p:txBody>
      </p:sp>
      <p:sp>
        <p:nvSpPr>
          <p:cNvPr id="14" name="Text 12"/>
          <p:cNvSpPr/>
          <p:nvPr/>
        </p:nvSpPr>
        <p:spPr>
          <a:xfrm>
            <a:off x="671513" y="2212107"/>
            <a:ext cx="2231194" cy="447485"/>
          </a:xfrm>
          <a:prstGeom prst="rect">
            <a:avLst/>
          </a:prstGeom>
          <a:noFill/>
          <a:ln/>
        </p:spPr>
        <p:txBody>
          <a:bodyPr wrap="none" lIns="0" tIns="0" rIns="0" bIns="0" rtlCol="0" anchor="t"/>
          <a:lstStyle/>
          <a:p>
            <a:pPr algn="l" indent="0" marL="0">
              <a:lnSpc>
                <a:spcPts val="3263"/>
              </a:lnSpc>
              <a:buNone/>
            </a:pPr>
            <a:r>
              <a:rPr lang="en-US" sz="3263" b="1" spc="-65" kern="0" dirty="0">
                <a:solidFill>
                  <a:srgbClr val="B23A2A"/>
                </a:solidFill>
                <a:latin typeface="Carlito" pitchFamily="34" charset="0"/>
                <a:ea typeface="Carlito" pitchFamily="34" charset="-122"/>
                <a:cs typeface="Carlito" pitchFamily="34" charset="-120"/>
              </a:rPr>
              <a:t>১–৫ বছর</a:t>
            </a:r>
            <a:endParaRPr lang="en-US" sz="3263" dirty="0"/>
          </a:p>
        </p:txBody>
      </p:sp>
      <p:sp>
        <p:nvSpPr>
          <p:cNvPr id="15" name="Text 13"/>
          <p:cNvSpPr/>
          <p:nvPr/>
        </p:nvSpPr>
        <p:spPr>
          <a:xfrm>
            <a:off x="671513" y="2740744"/>
            <a:ext cx="2231194" cy="215183"/>
          </a:xfrm>
          <a:prstGeom prst="rect">
            <a:avLst/>
          </a:prstGeom>
          <a:noFill/>
          <a:ln/>
        </p:spPr>
        <p:txBody>
          <a:bodyPr wrap="none" lIns="0" tIns="0" rIns="0" bIns="0" rtlCol="0" anchor="t"/>
          <a:lstStyle/>
          <a:p>
            <a:pPr algn="l" indent="0" marL="0">
              <a:lnSpc>
                <a:spcPts val="1569"/>
              </a:lnSpc>
              <a:buNone/>
            </a:pPr>
            <a:r>
              <a:rPr lang="en-US" sz="1013" dirty="0">
                <a:solidFill>
                  <a:srgbClr val="14342A"/>
                </a:solidFill>
                <a:latin typeface="Tinos" pitchFamily="34" charset="0"/>
                <a:ea typeface="Tinos" pitchFamily="34" charset="-122"/>
                <a:cs typeface="Tinos" pitchFamily="34" charset="-120"/>
              </a:rPr>
              <a:t>কারাদণ</a:t>
            </a:r>
            <a:endParaRPr lang="en-US" sz="1013" dirty="0"/>
          </a:p>
        </p:txBody>
      </p:sp>
      <p:sp>
        <p:nvSpPr>
          <p:cNvPr id="16" name="Text 14"/>
          <p:cNvSpPr/>
          <p:nvPr/>
        </p:nvSpPr>
        <p:spPr>
          <a:xfrm>
            <a:off x="671513" y="2997138"/>
            <a:ext cx="2340922" cy="160511"/>
          </a:xfrm>
          <a:prstGeom prst="rect">
            <a:avLst/>
          </a:prstGeom>
          <a:noFill/>
          <a:ln/>
        </p:spPr>
        <p:txBody>
          <a:bodyPr wrap="square" lIns="0" tIns="0" rIns="0" bIns="0" rtlCol="0" anchor="t"/>
          <a:lstStyle/>
          <a:p>
            <a:pPr algn="l" indent="0" marL="0">
              <a:lnSpc>
                <a:spcPts val="1264"/>
              </a:lnSpc>
              <a:buNone/>
            </a:pPr>
            <a:r>
              <a:rPr lang="en-US" sz="816" dirty="0">
                <a:solidFill>
                  <a:srgbClr val="4A4A4A"/>
                </a:solidFill>
                <a:latin typeface="Carlito" pitchFamily="34" charset="0"/>
                <a:ea typeface="Carlito" pitchFamily="34" charset="-122"/>
                <a:cs typeface="Carlito" pitchFamily="34" charset="-120"/>
              </a:rPr>
              <a:t>নিবন্ধনহীন বালাইনাশক বিক্রি</a:t>
            </a:r>
            <a:endParaRPr lang="en-US" sz="816" dirty="0"/>
          </a:p>
        </p:txBody>
      </p:sp>
      <p:sp>
        <p:nvSpPr>
          <p:cNvPr id="17" name="Text 15"/>
          <p:cNvSpPr/>
          <p:nvPr/>
        </p:nvSpPr>
        <p:spPr>
          <a:xfrm>
            <a:off x="3252750" y="1619176"/>
            <a:ext cx="2638388" cy="1717067"/>
          </a:xfrm>
          <a:prstGeom prst="roundRect">
            <a:avLst>
              <a:gd name="adj" fmla="val 7766"/>
            </a:avLst>
          </a:prstGeom>
          <a:solidFill>
            <a:srgbClr val="FFFFFF"/>
          </a:solidFill>
          <a:ln/>
        </p:spPr>
        <p:txBody>
          <a:bodyPr wrap="square" rtlCol="0" anchor="ctr"/>
          <a:lstStyle/>
          <a:p>
            <a:pPr indent="0" marL="0">
              <a:buNone/>
            </a:pPr>
            <a:endParaRPr lang="en-US" dirty="0"/>
          </a:p>
        </p:txBody>
      </p:sp>
      <p:sp>
        <p:nvSpPr>
          <p:cNvPr id="18" name="Shape 16"/>
          <p:cNvSpPr/>
          <p:nvPr/>
        </p:nvSpPr>
        <p:spPr>
          <a:xfrm>
            <a:off x="3252750" y="1622747"/>
            <a:ext cx="2638388" cy="0"/>
          </a:xfrm>
          <a:prstGeom prst="line">
            <a:avLst/>
          </a:prstGeom>
          <a:noFill/>
          <a:ln w="7144">
            <a:solidFill>
              <a:srgbClr val="D9D2BF"/>
            </a:solidFill>
            <a:prstDash val="solid"/>
          </a:ln>
        </p:spPr>
        <p:txBody>
          <a:bodyPr/>
          <a:p/>
        </p:txBody>
      </p:sp>
      <p:sp>
        <p:nvSpPr>
          <p:cNvPr id="19" name="Shape 17"/>
          <p:cNvSpPr/>
          <p:nvPr/>
        </p:nvSpPr>
        <p:spPr>
          <a:xfrm>
            <a:off x="5887566" y="1619176"/>
            <a:ext cx="0" cy="1717067"/>
          </a:xfrm>
          <a:prstGeom prst="line">
            <a:avLst/>
          </a:prstGeom>
          <a:noFill/>
          <a:ln w="7144">
            <a:solidFill>
              <a:srgbClr val="D9D2BF"/>
            </a:solidFill>
            <a:prstDash val="solid"/>
          </a:ln>
        </p:spPr>
        <p:txBody>
          <a:bodyPr/>
          <a:p/>
        </p:txBody>
      </p:sp>
      <p:sp>
        <p:nvSpPr>
          <p:cNvPr id="20" name="Shape 18"/>
          <p:cNvSpPr/>
          <p:nvPr/>
        </p:nvSpPr>
        <p:spPr>
          <a:xfrm>
            <a:off x="3252750" y="3332671"/>
            <a:ext cx="2638388" cy="0"/>
          </a:xfrm>
          <a:prstGeom prst="line">
            <a:avLst/>
          </a:prstGeom>
          <a:noFill/>
          <a:ln w="7144">
            <a:solidFill>
              <a:srgbClr val="D9D2BF"/>
            </a:solidFill>
            <a:prstDash val="solid"/>
          </a:ln>
        </p:spPr>
        <p:txBody>
          <a:bodyPr/>
          <a:p/>
        </p:txBody>
      </p:sp>
      <p:sp>
        <p:nvSpPr>
          <p:cNvPr id="21" name="Shape 19"/>
          <p:cNvSpPr/>
          <p:nvPr/>
        </p:nvSpPr>
        <p:spPr>
          <a:xfrm>
            <a:off x="3267038" y="1619176"/>
            <a:ext cx="0" cy="1717067"/>
          </a:xfrm>
          <a:prstGeom prst="line">
            <a:avLst/>
          </a:prstGeom>
          <a:noFill/>
          <a:ln w="28575">
            <a:solidFill>
              <a:srgbClr val="B23A2A"/>
            </a:solidFill>
            <a:prstDash val="solid"/>
          </a:ln>
        </p:spPr>
        <p:txBody>
          <a:bodyPr/>
          <a:p/>
        </p:txBody>
      </p:sp>
      <p:sp>
        <p:nvSpPr>
          <p:cNvPr id="22" name="Text 20"/>
          <p:cNvSpPr/>
          <p:nvPr/>
        </p:nvSpPr>
        <p:spPr>
          <a:xfrm>
            <a:off x="3467063" y="1797769"/>
            <a:ext cx="314325" cy="314325"/>
          </a:xfrm>
          <a:prstGeom prst="roundRect">
            <a:avLst>
              <a:gd name="adj" fmla="val 30303"/>
            </a:avLst>
          </a:prstGeom>
          <a:solidFill>
            <a:srgbClr val="F2E0DC"/>
          </a:solidFill>
          <a:ln/>
        </p:spPr>
        <p:txBody>
          <a:bodyPr wrap="square" rtlCol="0" anchor="ctr"/>
          <a:lstStyle/>
          <a:p>
            <a:pPr indent="0" marL="0">
              <a:buNone/>
            </a:pPr>
            <a:endParaRPr lang="en-US" dirty="0"/>
          </a:p>
        </p:txBody>
      </p:sp>
      <p:sp>
        <p:nvSpPr>
          <p:cNvPr id="23" name="Text 21"/>
          <p:cNvSpPr/>
          <p:nvPr/>
        </p:nvSpPr>
        <p:spPr>
          <a:xfrm>
            <a:off x="3489566" y="1820272"/>
            <a:ext cx="269319" cy="269319"/>
          </a:xfrm>
          <a:prstGeom prst="rect">
            <a:avLst/>
          </a:prstGeom>
          <a:noFill/>
          <a:ln/>
        </p:spPr>
        <p:txBody>
          <a:bodyPr wrap="none" lIns="0" tIns="0" rIns="0" bIns="0" rtlCol="0" anchor="ctr"/>
          <a:lstStyle/>
          <a:p>
            <a:pPr algn="ctr" indent="0" marL="0">
              <a:buNone/>
            </a:pPr>
            <a:r>
              <a:rPr lang="en-US" sz="1828" dirty="0">
                <a:solidFill>
                  <a:srgbClr val="B23A2A"/>
                </a:solidFill>
                <a:latin typeface="Segoe UI Symbol" pitchFamily="34" charset="0"/>
                <a:ea typeface="Segoe UI Symbol" pitchFamily="34" charset="-122"/>
                <a:cs typeface="Segoe UI Symbol" pitchFamily="34" charset="-120"/>
              </a:rPr>
              <a:t>$</a:t>
            </a:r>
            <a:endParaRPr lang="en-US" sz="1828" dirty="0"/>
          </a:p>
        </p:txBody>
      </p:sp>
      <p:sp>
        <p:nvSpPr>
          <p:cNvPr id="24" name="Text 22"/>
          <p:cNvSpPr/>
          <p:nvPr/>
        </p:nvSpPr>
        <p:spPr>
          <a:xfrm>
            <a:off x="3467063" y="2212107"/>
            <a:ext cx="2231194" cy="447485"/>
          </a:xfrm>
          <a:prstGeom prst="rect">
            <a:avLst/>
          </a:prstGeom>
          <a:noFill/>
          <a:ln/>
        </p:spPr>
        <p:txBody>
          <a:bodyPr wrap="none" lIns="0" tIns="0" rIns="0" bIns="0" rtlCol="0" anchor="t"/>
          <a:lstStyle/>
          <a:p>
            <a:pPr algn="l" indent="0" marL="0">
              <a:lnSpc>
                <a:spcPts val="3263"/>
              </a:lnSpc>
              <a:buNone/>
            </a:pPr>
            <a:r>
              <a:rPr lang="en-US" sz="3263" b="1" spc="-65" kern="0" dirty="0">
                <a:solidFill>
                  <a:srgbClr val="B23A2A"/>
                </a:solidFill>
                <a:latin typeface="Carlito" pitchFamily="34" charset="0"/>
                <a:ea typeface="Carlito" pitchFamily="34" charset="-122"/>
                <a:cs typeface="Carlito" pitchFamily="34" charset="-120"/>
              </a:rPr>
              <a:t>১–৩ লক্ষ ৳</a:t>
            </a:r>
            <a:endParaRPr lang="en-US" sz="3263" dirty="0"/>
          </a:p>
        </p:txBody>
      </p:sp>
      <p:sp>
        <p:nvSpPr>
          <p:cNvPr id="25" name="Text 23"/>
          <p:cNvSpPr/>
          <p:nvPr/>
        </p:nvSpPr>
        <p:spPr>
          <a:xfrm>
            <a:off x="3467063" y="2740744"/>
            <a:ext cx="2231194" cy="215183"/>
          </a:xfrm>
          <a:prstGeom prst="rect">
            <a:avLst/>
          </a:prstGeom>
          <a:noFill/>
          <a:ln/>
        </p:spPr>
        <p:txBody>
          <a:bodyPr wrap="none" lIns="0" tIns="0" rIns="0" bIns="0" rtlCol="0" anchor="t"/>
          <a:lstStyle/>
          <a:p>
            <a:pPr algn="l" indent="0" marL="0">
              <a:lnSpc>
                <a:spcPts val="1569"/>
              </a:lnSpc>
              <a:buNone/>
            </a:pPr>
            <a:r>
              <a:rPr lang="en-US" sz="1013" dirty="0">
                <a:solidFill>
                  <a:srgbClr val="14342A"/>
                </a:solidFill>
                <a:latin typeface="Tinos" pitchFamily="34" charset="0"/>
                <a:ea typeface="Tinos" pitchFamily="34" charset="-122"/>
                <a:cs typeface="Tinos" pitchFamily="34" charset="-120"/>
              </a:rPr>
              <a:t>জরিমানা</a:t>
            </a:r>
            <a:endParaRPr lang="en-US" sz="1013" dirty="0"/>
          </a:p>
        </p:txBody>
      </p:sp>
      <p:sp>
        <p:nvSpPr>
          <p:cNvPr id="26" name="Text 24"/>
          <p:cNvSpPr/>
          <p:nvPr/>
        </p:nvSpPr>
        <p:spPr>
          <a:xfrm>
            <a:off x="3467063" y="2997138"/>
            <a:ext cx="2231194" cy="160511"/>
          </a:xfrm>
          <a:prstGeom prst="rect">
            <a:avLst/>
          </a:prstGeom>
          <a:noFill/>
          <a:ln/>
        </p:spPr>
        <p:txBody>
          <a:bodyPr wrap="none" lIns="0" tIns="0" rIns="0" bIns="0" rtlCol="0" anchor="t"/>
          <a:lstStyle/>
          <a:p>
            <a:pPr algn="l" indent="0" marL="0">
              <a:lnSpc>
                <a:spcPts val="1264"/>
              </a:lnSpc>
              <a:buNone/>
            </a:pPr>
            <a:r>
              <a:rPr lang="en-US" sz="816" dirty="0">
                <a:solidFill>
                  <a:srgbClr val="4A4A4A"/>
                </a:solidFill>
                <a:latin typeface="Carlito" pitchFamily="34" charset="0"/>
                <a:ea typeface="Carlito" pitchFamily="34" charset="-122"/>
                <a:cs typeface="Carlito" pitchFamily="34" charset="-120"/>
              </a:rPr>
              <a:t>ভেজাল বালাইনাশক বিক্রি</a:t>
            </a:r>
            <a:endParaRPr lang="en-US" sz="816" dirty="0"/>
          </a:p>
        </p:txBody>
      </p:sp>
      <p:sp>
        <p:nvSpPr>
          <p:cNvPr id="27" name="Text 25"/>
          <p:cNvSpPr/>
          <p:nvPr/>
        </p:nvSpPr>
        <p:spPr>
          <a:xfrm>
            <a:off x="6048301" y="1619176"/>
            <a:ext cx="2638499" cy="1717067"/>
          </a:xfrm>
          <a:prstGeom prst="roundRect">
            <a:avLst>
              <a:gd name="adj" fmla="val 7766"/>
            </a:avLst>
          </a:prstGeom>
          <a:solidFill>
            <a:srgbClr val="FFFFFF"/>
          </a:solidFill>
          <a:ln/>
        </p:spPr>
        <p:txBody>
          <a:bodyPr wrap="square" rtlCol="0" anchor="ctr"/>
          <a:lstStyle/>
          <a:p>
            <a:pPr indent="0" marL="0">
              <a:buNone/>
            </a:pPr>
            <a:endParaRPr lang="en-US" dirty="0"/>
          </a:p>
        </p:txBody>
      </p:sp>
      <p:sp>
        <p:nvSpPr>
          <p:cNvPr id="28" name="Shape 26"/>
          <p:cNvSpPr/>
          <p:nvPr/>
        </p:nvSpPr>
        <p:spPr>
          <a:xfrm>
            <a:off x="6048301" y="1622747"/>
            <a:ext cx="2638499" cy="0"/>
          </a:xfrm>
          <a:prstGeom prst="line">
            <a:avLst/>
          </a:prstGeom>
          <a:noFill/>
          <a:ln w="7144">
            <a:solidFill>
              <a:srgbClr val="D9D2BF"/>
            </a:solidFill>
            <a:prstDash val="solid"/>
          </a:ln>
        </p:spPr>
        <p:txBody>
          <a:bodyPr/>
          <a:p/>
        </p:txBody>
      </p:sp>
      <p:sp>
        <p:nvSpPr>
          <p:cNvPr id="29" name="Shape 27"/>
          <p:cNvSpPr/>
          <p:nvPr/>
        </p:nvSpPr>
        <p:spPr>
          <a:xfrm>
            <a:off x="8683228" y="1619176"/>
            <a:ext cx="0" cy="1717067"/>
          </a:xfrm>
          <a:prstGeom prst="line">
            <a:avLst/>
          </a:prstGeom>
          <a:noFill/>
          <a:ln w="7144">
            <a:solidFill>
              <a:srgbClr val="D9D2BF"/>
            </a:solidFill>
            <a:prstDash val="solid"/>
          </a:ln>
        </p:spPr>
        <p:txBody>
          <a:bodyPr/>
          <a:p/>
        </p:txBody>
      </p:sp>
      <p:sp>
        <p:nvSpPr>
          <p:cNvPr id="30" name="Shape 28"/>
          <p:cNvSpPr/>
          <p:nvPr/>
        </p:nvSpPr>
        <p:spPr>
          <a:xfrm>
            <a:off x="6048301" y="3332671"/>
            <a:ext cx="2638499" cy="0"/>
          </a:xfrm>
          <a:prstGeom prst="line">
            <a:avLst/>
          </a:prstGeom>
          <a:noFill/>
          <a:ln w="7144">
            <a:solidFill>
              <a:srgbClr val="D9D2BF"/>
            </a:solidFill>
            <a:prstDash val="solid"/>
          </a:ln>
        </p:spPr>
        <p:txBody>
          <a:bodyPr/>
          <a:p/>
        </p:txBody>
      </p:sp>
      <p:sp>
        <p:nvSpPr>
          <p:cNvPr id="31" name="Shape 29"/>
          <p:cNvSpPr/>
          <p:nvPr/>
        </p:nvSpPr>
        <p:spPr>
          <a:xfrm>
            <a:off x="6062588" y="1619176"/>
            <a:ext cx="0" cy="1717067"/>
          </a:xfrm>
          <a:prstGeom prst="line">
            <a:avLst/>
          </a:prstGeom>
          <a:noFill/>
          <a:ln w="28575">
            <a:solidFill>
              <a:srgbClr val="B23A2A"/>
            </a:solidFill>
            <a:prstDash val="solid"/>
          </a:ln>
        </p:spPr>
        <p:txBody>
          <a:bodyPr/>
          <a:p/>
        </p:txBody>
      </p:sp>
      <p:sp>
        <p:nvSpPr>
          <p:cNvPr id="32" name="Text 30"/>
          <p:cNvSpPr/>
          <p:nvPr/>
        </p:nvSpPr>
        <p:spPr>
          <a:xfrm>
            <a:off x="6262613" y="1797769"/>
            <a:ext cx="314325" cy="314325"/>
          </a:xfrm>
          <a:prstGeom prst="roundRect">
            <a:avLst>
              <a:gd name="adj" fmla="val 30303"/>
            </a:avLst>
          </a:prstGeom>
          <a:solidFill>
            <a:srgbClr val="F2E0DC"/>
          </a:solidFill>
          <a:ln/>
        </p:spPr>
        <p:txBody>
          <a:bodyPr wrap="square" rtlCol="0" anchor="ctr"/>
          <a:lstStyle/>
          <a:p>
            <a:pPr indent="0" marL="0">
              <a:buNone/>
            </a:pPr>
            <a:endParaRPr lang="en-US" dirty="0"/>
          </a:p>
        </p:txBody>
      </p:sp>
      <p:sp>
        <p:nvSpPr>
          <p:cNvPr id="33" name="Text 31"/>
          <p:cNvSpPr/>
          <p:nvPr/>
        </p:nvSpPr>
        <p:spPr>
          <a:xfrm>
            <a:off x="6285116" y="1820272"/>
            <a:ext cx="269319" cy="269319"/>
          </a:xfrm>
          <a:prstGeom prst="rect">
            <a:avLst/>
          </a:prstGeom>
          <a:noFill/>
          <a:ln/>
        </p:spPr>
        <p:txBody>
          <a:bodyPr wrap="none" lIns="0" tIns="0" rIns="0" bIns="0" rtlCol="0" anchor="ctr"/>
          <a:lstStyle/>
          <a:p>
            <a:pPr algn="ctr" indent="0" marL="0">
              <a:buNone/>
            </a:pPr>
            <a:r>
              <a:rPr lang="en-US" sz="1828" dirty="0">
                <a:solidFill>
                  <a:srgbClr val="B23A2A"/>
                </a:solidFill>
                <a:latin typeface="Segoe UI Symbol" pitchFamily="34" charset="0"/>
                <a:ea typeface="Segoe UI Symbol" pitchFamily="34" charset="-122"/>
                <a:cs typeface="Segoe UI Symbol" pitchFamily="34" charset="-120"/>
              </a:rPr>
              <a:t>⚠</a:t>
            </a:r>
            <a:endParaRPr lang="en-US" sz="1828" dirty="0"/>
          </a:p>
        </p:txBody>
      </p:sp>
      <p:sp>
        <p:nvSpPr>
          <p:cNvPr id="34" name="Text 32"/>
          <p:cNvSpPr/>
          <p:nvPr/>
        </p:nvSpPr>
        <p:spPr>
          <a:xfrm>
            <a:off x="6262613" y="2212107"/>
            <a:ext cx="2231306" cy="447485"/>
          </a:xfrm>
          <a:prstGeom prst="rect">
            <a:avLst/>
          </a:prstGeom>
          <a:noFill/>
          <a:ln/>
        </p:spPr>
        <p:txBody>
          <a:bodyPr wrap="none" lIns="0" tIns="0" rIns="0" bIns="0" rtlCol="0" anchor="t"/>
          <a:lstStyle/>
          <a:p>
            <a:pPr algn="l" indent="0" marL="0">
              <a:lnSpc>
                <a:spcPts val="3263"/>
              </a:lnSpc>
              <a:buNone/>
            </a:pPr>
            <a:r>
              <a:rPr lang="en-US" sz="3263" b="1" spc="-65" kern="0" dirty="0">
                <a:solidFill>
                  <a:srgbClr val="B23A2A"/>
                </a:solidFill>
                <a:latin typeface="Carlito" pitchFamily="34" charset="0"/>
                <a:ea typeface="Carlito" pitchFamily="34" charset="-122"/>
                <a:cs typeface="Carlito" pitchFamily="34" charset="-120"/>
              </a:rPr>
              <a:t>যাবজ্জীবন</a:t>
            </a:r>
            <a:endParaRPr lang="en-US" sz="3263" dirty="0"/>
          </a:p>
        </p:txBody>
      </p:sp>
      <p:sp>
        <p:nvSpPr>
          <p:cNvPr id="35" name="Text 33"/>
          <p:cNvSpPr/>
          <p:nvPr/>
        </p:nvSpPr>
        <p:spPr>
          <a:xfrm>
            <a:off x="6262613" y="2740744"/>
            <a:ext cx="2231306" cy="215183"/>
          </a:xfrm>
          <a:prstGeom prst="rect">
            <a:avLst/>
          </a:prstGeom>
          <a:noFill/>
          <a:ln/>
        </p:spPr>
        <p:txBody>
          <a:bodyPr wrap="none" lIns="0" tIns="0" rIns="0" bIns="0" rtlCol="0" anchor="t"/>
          <a:lstStyle/>
          <a:p>
            <a:pPr algn="l" indent="0" marL="0">
              <a:lnSpc>
                <a:spcPts val="1569"/>
              </a:lnSpc>
              <a:buNone/>
            </a:pPr>
            <a:r>
              <a:rPr lang="en-US" sz="1013" dirty="0">
                <a:solidFill>
                  <a:srgbClr val="14342A"/>
                </a:solidFill>
                <a:latin typeface="Tinos" pitchFamily="34" charset="0"/>
                <a:ea typeface="Tinos" pitchFamily="34" charset="-122"/>
                <a:cs typeface="Tinos" pitchFamily="34" charset="-120"/>
              </a:rPr>
              <a:t>কারাদণ</a:t>
            </a:r>
            <a:endParaRPr lang="en-US" sz="1013" dirty="0"/>
          </a:p>
        </p:txBody>
      </p:sp>
      <p:sp>
        <p:nvSpPr>
          <p:cNvPr id="36" name="Text 34"/>
          <p:cNvSpPr/>
          <p:nvPr/>
        </p:nvSpPr>
        <p:spPr>
          <a:xfrm>
            <a:off x="6262613" y="2997138"/>
            <a:ext cx="2231306" cy="160511"/>
          </a:xfrm>
          <a:prstGeom prst="rect">
            <a:avLst/>
          </a:prstGeom>
          <a:noFill/>
          <a:ln/>
        </p:spPr>
        <p:txBody>
          <a:bodyPr wrap="none" lIns="0" tIns="0" rIns="0" bIns="0" rtlCol="0" anchor="t"/>
          <a:lstStyle/>
          <a:p>
            <a:pPr algn="l" indent="0" marL="0">
              <a:lnSpc>
                <a:spcPts val="1264"/>
              </a:lnSpc>
              <a:buNone/>
            </a:pPr>
            <a:r>
              <a:rPr lang="en-US" sz="816" dirty="0">
                <a:solidFill>
                  <a:srgbClr val="4A4A4A"/>
                </a:solidFill>
                <a:latin typeface="Carlito" pitchFamily="34" charset="0"/>
                <a:ea typeface="Carlito" pitchFamily="34" charset="-122"/>
                <a:cs typeface="Carlito" pitchFamily="34" charset="-120"/>
              </a:rPr>
              <a:t>ভেজালের কারণে মৃত্যু হলে</a:t>
            </a:r>
            <a:endParaRPr lang="en-US" sz="816" dirty="0"/>
          </a:p>
        </p:txBody>
      </p:sp>
      <p:sp>
        <p:nvSpPr>
          <p:cNvPr id="37" name="Text 35"/>
          <p:cNvSpPr/>
          <p:nvPr/>
        </p:nvSpPr>
        <p:spPr>
          <a:xfrm>
            <a:off x="457200" y="3493405"/>
            <a:ext cx="8229600" cy="1278620"/>
          </a:xfrm>
          <a:prstGeom prst="roundRect">
            <a:avLst>
              <a:gd name="adj" fmla="val 10429"/>
            </a:avLst>
          </a:prstGeom>
          <a:solidFill>
            <a:srgbClr val="F2ECDD"/>
          </a:solidFill>
          <a:ln/>
        </p:spPr>
        <p:txBody>
          <a:bodyPr wrap="square" rtlCol="0" anchor="ctr"/>
          <a:lstStyle/>
          <a:p>
            <a:pPr indent="0" marL="0">
              <a:buNone/>
            </a:pPr>
            <a:endParaRPr lang="en-US" dirty="0"/>
          </a:p>
        </p:txBody>
      </p:sp>
      <p:sp>
        <p:nvSpPr>
          <p:cNvPr id="38" name="Text 36"/>
          <p:cNvSpPr/>
          <p:nvPr/>
        </p:nvSpPr>
        <p:spPr>
          <a:xfrm>
            <a:off x="642938" y="4018359"/>
            <a:ext cx="228600" cy="228600"/>
          </a:xfrm>
          <a:prstGeom prst="rect">
            <a:avLst/>
          </a:prstGeom>
          <a:noFill/>
          <a:ln/>
        </p:spPr>
        <p:txBody>
          <a:bodyPr wrap="none" lIns="0" tIns="0" rIns="0" bIns="0" rtlCol="0" anchor="ctr"/>
          <a:lstStyle/>
          <a:p>
            <a:pPr algn="ctr" indent="0" marL="0">
              <a:buNone/>
            </a:pPr>
            <a:r>
              <a:rPr lang="en-US" sz="2250" dirty="0">
                <a:solidFill>
                  <a:srgbClr val="1E4D3B"/>
                </a:solidFill>
                <a:latin typeface="Segoe UI Symbol" pitchFamily="34" charset="0"/>
                <a:ea typeface="Segoe UI Symbol" pitchFamily="34" charset="-122"/>
                <a:cs typeface="Segoe UI Symbol" pitchFamily="34" charset="-120"/>
              </a:rPr>
              <a:t>ⓘ</a:t>
            </a:r>
            <a:endParaRPr lang="en-US" sz="2250" dirty="0"/>
          </a:p>
        </p:txBody>
      </p:sp>
      <p:sp>
        <p:nvSpPr>
          <p:cNvPr id="39" name="Text 37"/>
          <p:cNvSpPr/>
          <p:nvPr/>
        </p:nvSpPr>
        <p:spPr>
          <a:xfrm>
            <a:off x="1000125" y="3944466"/>
            <a:ext cx="7500938" cy="406497"/>
          </a:xfrm>
          <a:prstGeom prst="rect">
            <a:avLst/>
          </a:prstGeom>
          <a:noFill/>
          <a:ln/>
        </p:spPr>
        <p:txBody>
          <a:bodyPr wrap="square" lIns="0" tIns="0" rIns="0" bIns="0" rtlCol="0" anchor="t"/>
          <a:lstStyle/>
          <a:p>
            <a:pPr algn="l" indent="0" marL="0">
              <a:lnSpc>
                <a:spcPts val="1482"/>
              </a:lnSpc>
              <a:buNone/>
            </a:pPr>
            <a:r>
              <a:rPr lang="en-US" sz="872" dirty="0">
                <a:solidFill>
                  <a:srgbClr val="4A4A4A"/>
                </a:solidFill>
                <a:latin typeface="Carlito" pitchFamily="34" charset="0"/>
                <a:ea typeface="Carlito" pitchFamily="34" charset="-122"/>
                <a:cs typeface="Carlito" pitchFamily="34" charset="-120"/>
              </a:rPr>
              <a:t>প্রথমবার লঙ্ঘনে ন্যূনতম শাস্তি প্রযোজ্য। পুনরাবৃত্তিতে শাস্তির মাত্রা দ্বিগুণ হয়। কোম্পানির ক্ষেত্রে মালিক, পরিচালক, বা অংশীদার ব্যক্তিগতভাবে আইনি দায়ে দায়ী। শাস্তি পরবর্তী আপিলের সুযোগ ৬০ দিনের মধ্যে — আপিল আদালতে দাখিল করতে হয়।</a:t>
            </a:r>
            <a:endParaRPr lang="en-US" sz="872" dirty="0"/>
          </a:p>
        </p:txBody>
      </p:sp>
      <p:sp>
        <p:nvSpPr>
          <p:cNvPr id="40" name="Text 38"/>
          <p:cNvSpPr/>
          <p:nvPr/>
        </p:nvSpPr>
        <p:spPr>
          <a:xfrm>
            <a:off x="8687581" y="4706392"/>
            <a:ext cx="31879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৩৭</a:t>
            </a:r>
            <a:endParaRPr lang="en-US" sz="1350" dirty="0"/>
          </a:p>
        </p:txBody>
      </p:sp>
      <p:pic>
        <p:nvPicPr>
          <p:cNvPr id="41"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57200" y="342900"/>
            <a:ext cx="5221224"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০৬ · আইন প্রয়োগ ও দণ্ডবিধি</a:t>
            </a:r>
            <a:endParaRPr lang="en-US" sz="1350" dirty="0"/>
          </a:p>
        </p:txBody>
      </p:sp>
      <p:sp>
        <p:nvSpPr>
          <p:cNvPr id="3" name="Text 1"/>
          <p:cNvSpPr/>
          <p:nvPr/>
        </p:nvSpPr>
        <p:spPr>
          <a:xfrm>
            <a:off x="457200" y="665708"/>
            <a:ext cx="4486989" cy="501764"/>
          </a:xfrm>
          <a:prstGeom prst="rect">
            <a:avLst/>
          </a:prstGeom>
          <a:noFill/>
          <a:ln/>
        </p:spPr>
        <p:txBody>
          <a:bodyPr wrap="square" lIns="0" tIns="0" rIns="0" bIns="0" rtlCol="0" anchor="t">
            <a:normAutofit/>
          </a:bodyPr>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বাজেয়াপ্তকরণ ও লাইসেন্স বাতিল</a:t>
            </a:r>
            <a:endParaRPr lang="en-US" sz="3150" dirty="0"/>
          </a:p>
        </p:txBody>
      </p:sp>
      <p:sp>
        <p:nvSpPr>
          <p:cNvPr id="4" name="Text 2"/>
          <p:cNvSpPr/>
          <p:nvPr/>
        </p:nvSpPr>
        <p:spPr>
          <a:xfrm>
            <a:off x="457200" y="1194904"/>
            <a:ext cx="4405408" cy="334770"/>
          </a:xfrm>
          <a:prstGeom prst="rect">
            <a:avLst/>
          </a:prstGeom>
          <a:noFill/>
          <a:ln/>
        </p:spPr>
        <p:txBody>
          <a:bodyPr wrap="square" lIns="0" tIns="0" rIns="0" bIns="0" rtlCol="0" anchor="t"/>
          <a:lstStyle/>
          <a:p>
            <a:pPr algn="l" indent="0" marL="0">
              <a:lnSpc>
                <a:spcPts val="2441"/>
              </a:lnSpc>
              <a:buNone/>
            </a:pPr>
            <a:r>
              <a:rPr lang="en-US" sz="1575" dirty="0">
                <a:solidFill>
                  <a:srgbClr val="4A4A4A"/>
                </a:solidFill>
                <a:latin typeface="Carlito" pitchFamily="34" charset="0"/>
                <a:ea typeface="Carlito" pitchFamily="34" charset="-122"/>
                <a:cs typeface="Carlito" pitchFamily="34" charset="-120"/>
              </a:rPr>
              <a:t>ধারা ৫৮–৬০ অনুসারে — গুরুতর লঙ্ঘনের পরিণতি</a:t>
            </a:r>
            <a:endParaRPr lang="en-US" sz="1575" dirty="0"/>
          </a:p>
        </p:txBody>
      </p:sp>
      <p:sp>
        <p:nvSpPr>
          <p:cNvPr id="5" name="Text 3"/>
          <p:cNvSpPr/>
          <p:nvPr/>
        </p:nvSpPr>
        <p:spPr>
          <a:xfrm>
            <a:off x="8065986" y="1267364"/>
            <a:ext cx="643674" cy="208026"/>
          </a:xfrm>
          <a:prstGeom prst="roundRect">
            <a:avLst>
              <a:gd name="adj" fmla="val 4574176"/>
            </a:avLst>
          </a:prstGeom>
          <a:solidFill>
            <a:srgbClr val="B23A2A"/>
          </a:solidFill>
          <a:ln/>
        </p:spPr>
        <p:txBody>
          <a:bodyPr wrap="square" rtlCol="0" anchor="ctr"/>
          <a:lstStyle/>
          <a:p>
            <a:pPr indent="0" marL="0">
              <a:buNone/>
            </a:pPr>
            <a:endParaRPr lang="en-US" dirty="0"/>
          </a:p>
        </p:txBody>
      </p:sp>
      <p:sp>
        <p:nvSpPr>
          <p:cNvPr id="6" name="Text 4"/>
          <p:cNvSpPr/>
          <p:nvPr/>
        </p:nvSpPr>
        <p:spPr>
          <a:xfrm>
            <a:off x="8088846" y="1278508"/>
            <a:ext cx="597954" cy="185738"/>
          </a:xfrm>
          <a:prstGeom prst="rect">
            <a:avLst/>
          </a:prstGeom>
          <a:noFill/>
          <a:ln/>
        </p:spPr>
        <p:txBody>
          <a:bodyPr wrap="none" lIns="0" tIns="0" rIns="0" bIns="0" rtlCol="0" anchor="ctr"/>
          <a:lstStyle/>
          <a:p>
            <a:pPr algn="ctr" indent="0" marL="0">
              <a:lnSpc>
                <a:spcPts val="1046"/>
              </a:lnSpc>
              <a:buNone/>
            </a:pPr>
            <a:r>
              <a:rPr lang="en-US" sz="800" spc="54" kern="0" dirty="0">
                <a:solidFill>
                  <a:srgbClr val="FFFFFF"/>
                </a:solidFill>
                <a:latin typeface="Carlito" pitchFamily="34" charset="0"/>
                <a:ea typeface="Carlito" pitchFamily="34" charset="-122"/>
                <a:cs typeface="Carlito" pitchFamily="34" charset="-120"/>
              </a:rPr>
              <a:t>ধারা ৫৮–৬০</a:t>
            </a:r>
            <a:endParaRPr lang="en-US" sz="800" dirty="0"/>
          </a:p>
        </p:txBody>
      </p:sp>
      <p:sp>
        <p:nvSpPr>
          <p:cNvPr id="7" name="Text 5"/>
          <p:cNvSpPr/>
          <p:nvPr/>
        </p:nvSpPr>
        <p:spPr>
          <a:xfrm>
            <a:off x="460772" y="1679897"/>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8" name="Text 6"/>
          <p:cNvSpPr/>
          <p:nvPr/>
        </p:nvSpPr>
        <p:spPr>
          <a:xfrm>
            <a:off x="2896946" y="1769194"/>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০১</a:t>
            </a:r>
            <a:endParaRPr lang="en-US" sz="675" dirty="0"/>
          </a:p>
        </p:txBody>
      </p:sp>
      <p:sp>
        <p:nvSpPr>
          <p:cNvPr id="9" name="Text 7"/>
          <p:cNvSpPr/>
          <p:nvPr/>
        </p:nvSpPr>
        <p:spPr>
          <a:xfrm>
            <a:off x="621506" y="1826344"/>
            <a:ext cx="314325" cy="314325"/>
          </a:xfrm>
          <a:prstGeom prst="roundRect">
            <a:avLst>
              <a:gd name="adj" fmla="val 30303"/>
            </a:avLst>
          </a:prstGeom>
          <a:solidFill>
            <a:srgbClr val="F2E0DC"/>
          </a:solidFill>
          <a:ln/>
        </p:spPr>
        <p:txBody>
          <a:bodyPr wrap="square" rtlCol="0" anchor="ctr"/>
          <a:lstStyle/>
          <a:p>
            <a:pPr indent="0" marL="0">
              <a:buNone/>
            </a:pPr>
            <a:endParaRPr lang="en-US" dirty="0"/>
          </a:p>
        </p:txBody>
      </p:sp>
      <p:sp>
        <p:nvSpPr>
          <p:cNvPr id="10" name="Text 8"/>
          <p:cNvSpPr/>
          <p:nvPr/>
        </p:nvSpPr>
        <p:spPr>
          <a:xfrm>
            <a:off x="654368" y="1859206"/>
            <a:ext cx="248602" cy="248602"/>
          </a:xfrm>
          <a:prstGeom prst="rect">
            <a:avLst/>
          </a:prstGeom>
          <a:noFill/>
          <a:ln/>
        </p:spPr>
        <p:txBody>
          <a:bodyPr wrap="none" lIns="0" tIns="0" rIns="0" bIns="0" rtlCol="0" anchor="ctr"/>
          <a:lstStyle/>
          <a:p>
            <a:pPr algn="ctr" indent="0" marL="0">
              <a:buNone/>
            </a:pPr>
            <a:r>
              <a:rPr lang="en-US" sz="1688" dirty="0">
                <a:solidFill>
                  <a:srgbClr val="B23A2A"/>
                </a:solidFill>
                <a:latin typeface="Segoe UI Symbol" pitchFamily="34" charset="0"/>
                <a:ea typeface="Segoe UI Symbol" pitchFamily="34" charset="-122"/>
                <a:cs typeface="Segoe UI Symbol" pitchFamily="34" charset="-120"/>
              </a:rPr>
              <a:t>▣</a:t>
            </a:r>
            <a:endParaRPr lang="en-US" sz="1688" dirty="0"/>
          </a:p>
        </p:txBody>
      </p:sp>
      <p:sp>
        <p:nvSpPr>
          <p:cNvPr id="11" name="Text 9"/>
          <p:cNvSpPr/>
          <p:nvPr/>
        </p:nvSpPr>
        <p:spPr>
          <a:xfrm>
            <a:off x="621506" y="2212107"/>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সম্পূর্ণ স্টক বাজেয়াপ্ত</a:t>
            </a:r>
            <a:endParaRPr lang="en-US" sz="1069" dirty="0"/>
          </a:p>
        </p:txBody>
      </p:sp>
      <p:sp>
        <p:nvSpPr>
          <p:cNvPr id="12" name="Text 10"/>
          <p:cNvSpPr/>
          <p:nvPr/>
        </p:nvSpPr>
        <p:spPr>
          <a:xfrm>
            <a:off x="621506" y="2459906"/>
            <a:ext cx="2438591" cy="178897"/>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সন্দেহভাজন পণ্য সরকার তাৎক্ষণিক জব্দ করবে</a:t>
            </a:r>
            <a:endParaRPr lang="en-US" sz="816" dirty="0"/>
          </a:p>
        </p:txBody>
      </p:sp>
      <p:sp>
        <p:nvSpPr>
          <p:cNvPr id="13" name="Text 11"/>
          <p:cNvSpPr/>
          <p:nvPr/>
        </p:nvSpPr>
        <p:spPr>
          <a:xfrm>
            <a:off x="3246834" y="1679897"/>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4" name="Text 12"/>
          <p:cNvSpPr/>
          <p:nvPr/>
        </p:nvSpPr>
        <p:spPr>
          <a:xfrm>
            <a:off x="5675865" y="1769194"/>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০২</a:t>
            </a:r>
            <a:endParaRPr lang="en-US" sz="675" dirty="0"/>
          </a:p>
        </p:txBody>
      </p:sp>
      <p:sp>
        <p:nvSpPr>
          <p:cNvPr id="15" name="Text 13"/>
          <p:cNvSpPr/>
          <p:nvPr/>
        </p:nvSpPr>
        <p:spPr>
          <a:xfrm>
            <a:off x="3407569" y="1826344"/>
            <a:ext cx="314325" cy="314325"/>
          </a:xfrm>
          <a:prstGeom prst="roundRect">
            <a:avLst>
              <a:gd name="adj" fmla="val 30303"/>
            </a:avLst>
          </a:prstGeom>
          <a:solidFill>
            <a:srgbClr val="F2E0DC"/>
          </a:solidFill>
          <a:ln/>
        </p:spPr>
        <p:txBody>
          <a:bodyPr wrap="square" rtlCol="0" anchor="ctr"/>
          <a:lstStyle/>
          <a:p>
            <a:pPr indent="0" marL="0">
              <a:buNone/>
            </a:pPr>
            <a:endParaRPr lang="en-US" dirty="0"/>
          </a:p>
        </p:txBody>
      </p:sp>
      <p:sp>
        <p:nvSpPr>
          <p:cNvPr id="16" name="Text 14"/>
          <p:cNvSpPr/>
          <p:nvPr/>
        </p:nvSpPr>
        <p:spPr>
          <a:xfrm>
            <a:off x="3440430" y="1859206"/>
            <a:ext cx="248602" cy="248602"/>
          </a:xfrm>
          <a:prstGeom prst="rect">
            <a:avLst/>
          </a:prstGeom>
          <a:noFill/>
          <a:ln/>
        </p:spPr>
        <p:txBody>
          <a:bodyPr wrap="none" lIns="0" tIns="0" rIns="0" bIns="0" rtlCol="0" anchor="ctr"/>
          <a:lstStyle/>
          <a:p>
            <a:pPr algn="ctr" indent="0" marL="0">
              <a:buNone/>
            </a:pPr>
            <a:r>
              <a:rPr lang="en-US" sz="1688" dirty="0">
                <a:solidFill>
                  <a:srgbClr val="B23A2A"/>
                </a:solidFill>
                <a:latin typeface="Segoe UI Symbol" pitchFamily="34" charset="0"/>
                <a:ea typeface="Segoe UI Symbol" pitchFamily="34" charset="-122"/>
                <a:cs typeface="Segoe UI Symbol" pitchFamily="34" charset="-120"/>
              </a:rPr>
              <a:t>◔</a:t>
            </a:r>
            <a:endParaRPr lang="en-US" sz="1688" dirty="0"/>
          </a:p>
        </p:txBody>
      </p:sp>
      <p:sp>
        <p:nvSpPr>
          <p:cNvPr id="17" name="Text 15"/>
          <p:cNvSpPr/>
          <p:nvPr/>
        </p:nvSpPr>
        <p:spPr>
          <a:xfrm>
            <a:off x="3407569" y="2212107"/>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যন্ত্রপাতি বাজেয়াপ্ত</a:t>
            </a:r>
            <a:endParaRPr lang="en-US" sz="1069" dirty="0"/>
          </a:p>
        </p:txBody>
      </p:sp>
      <p:sp>
        <p:nvSpPr>
          <p:cNvPr id="18" name="Text 16"/>
          <p:cNvSpPr/>
          <p:nvPr/>
        </p:nvSpPr>
        <p:spPr>
          <a:xfrm>
            <a:off x="3407569" y="2459906"/>
            <a:ext cx="2438591" cy="178897"/>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উৎপাদন সরঞ্জাম ও প্যাকেজিং মেশিন জব্দ</a:t>
            </a:r>
            <a:endParaRPr lang="en-US" sz="816" dirty="0"/>
          </a:p>
        </p:txBody>
      </p:sp>
      <p:sp>
        <p:nvSpPr>
          <p:cNvPr id="19" name="Text 17"/>
          <p:cNvSpPr/>
          <p:nvPr/>
        </p:nvSpPr>
        <p:spPr>
          <a:xfrm>
            <a:off x="6032897" y="1679897"/>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20" name="Text 18"/>
          <p:cNvSpPr/>
          <p:nvPr/>
        </p:nvSpPr>
        <p:spPr>
          <a:xfrm>
            <a:off x="8461927" y="1769194"/>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০৩</a:t>
            </a:r>
            <a:endParaRPr lang="en-US" sz="675" dirty="0"/>
          </a:p>
        </p:txBody>
      </p:sp>
      <p:sp>
        <p:nvSpPr>
          <p:cNvPr id="21" name="Text 19"/>
          <p:cNvSpPr/>
          <p:nvPr/>
        </p:nvSpPr>
        <p:spPr>
          <a:xfrm>
            <a:off x="6193631" y="1826344"/>
            <a:ext cx="314325" cy="314325"/>
          </a:xfrm>
          <a:prstGeom prst="roundRect">
            <a:avLst>
              <a:gd name="adj" fmla="val 30303"/>
            </a:avLst>
          </a:prstGeom>
          <a:solidFill>
            <a:srgbClr val="F2ECDD"/>
          </a:solidFill>
          <a:ln/>
        </p:spPr>
        <p:txBody>
          <a:bodyPr wrap="square" rtlCol="0" anchor="ctr"/>
          <a:lstStyle/>
          <a:p>
            <a:pPr indent="0" marL="0">
              <a:buNone/>
            </a:pPr>
            <a:endParaRPr lang="en-US" dirty="0"/>
          </a:p>
        </p:txBody>
      </p:sp>
      <p:sp>
        <p:nvSpPr>
          <p:cNvPr id="22" name="Text 20"/>
          <p:cNvSpPr/>
          <p:nvPr/>
        </p:nvSpPr>
        <p:spPr>
          <a:xfrm>
            <a:off x="6226493" y="1859206"/>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23" name="Text 21"/>
          <p:cNvSpPr/>
          <p:nvPr/>
        </p:nvSpPr>
        <p:spPr>
          <a:xfrm>
            <a:off x="6193631" y="2212107"/>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লাইসেন্স স্থগিত</a:t>
            </a:r>
            <a:endParaRPr lang="en-US" sz="1069" dirty="0"/>
          </a:p>
        </p:txBody>
      </p:sp>
      <p:sp>
        <p:nvSpPr>
          <p:cNvPr id="24" name="Text 22"/>
          <p:cNvSpPr/>
          <p:nvPr/>
        </p:nvSpPr>
        <p:spPr>
          <a:xfrm>
            <a:off x="6193631" y="2459906"/>
            <a:ext cx="2438590" cy="178897"/>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৬ মাস থেকে ২ বছর পর্যন্ত সাময়িক স্থগিত</a:t>
            </a:r>
            <a:endParaRPr lang="en-US" sz="816" dirty="0"/>
          </a:p>
        </p:txBody>
      </p:sp>
      <p:sp>
        <p:nvSpPr>
          <p:cNvPr id="25" name="Text 23"/>
          <p:cNvSpPr/>
          <p:nvPr/>
        </p:nvSpPr>
        <p:spPr>
          <a:xfrm>
            <a:off x="460772" y="3277753"/>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26" name="Text 24"/>
          <p:cNvSpPr/>
          <p:nvPr/>
        </p:nvSpPr>
        <p:spPr>
          <a:xfrm>
            <a:off x="2889802" y="3367050"/>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০৪</a:t>
            </a:r>
            <a:endParaRPr lang="en-US" sz="675" dirty="0"/>
          </a:p>
        </p:txBody>
      </p:sp>
      <p:sp>
        <p:nvSpPr>
          <p:cNvPr id="27" name="Text 25"/>
          <p:cNvSpPr/>
          <p:nvPr/>
        </p:nvSpPr>
        <p:spPr>
          <a:xfrm>
            <a:off x="621506" y="3424200"/>
            <a:ext cx="314325" cy="314325"/>
          </a:xfrm>
          <a:prstGeom prst="roundRect">
            <a:avLst>
              <a:gd name="adj" fmla="val 30303"/>
            </a:avLst>
          </a:prstGeom>
          <a:solidFill>
            <a:srgbClr val="F2E0DC"/>
          </a:solidFill>
          <a:ln/>
        </p:spPr>
        <p:txBody>
          <a:bodyPr wrap="square" rtlCol="0" anchor="ctr"/>
          <a:lstStyle/>
          <a:p>
            <a:pPr indent="0" marL="0">
              <a:buNone/>
            </a:pPr>
            <a:endParaRPr lang="en-US" dirty="0"/>
          </a:p>
        </p:txBody>
      </p:sp>
      <p:sp>
        <p:nvSpPr>
          <p:cNvPr id="28" name="Text 26"/>
          <p:cNvSpPr/>
          <p:nvPr/>
        </p:nvSpPr>
        <p:spPr>
          <a:xfrm>
            <a:off x="654368" y="3457062"/>
            <a:ext cx="248602" cy="248602"/>
          </a:xfrm>
          <a:prstGeom prst="rect">
            <a:avLst/>
          </a:prstGeom>
          <a:noFill/>
          <a:ln/>
        </p:spPr>
        <p:txBody>
          <a:bodyPr wrap="none" lIns="0" tIns="0" rIns="0" bIns="0" rtlCol="0" anchor="ctr"/>
          <a:lstStyle/>
          <a:p>
            <a:pPr algn="ctr" indent="0" marL="0">
              <a:buNone/>
            </a:pPr>
            <a:r>
              <a:rPr lang="en-US" sz="1688" dirty="0">
                <a:solidFill>
                  <a:srgbClr val="B23A2A"/>
                </a:solidFill>
                <a:latin typeface="Segoe UI Symbol" pitchFamily="34" charset="0"/>
                <a:ea typeface="Segoe UI Symbol" pitchFamily="34" charset="-122"/>
                <a:cs typeface="Segoe UI Symbol" pitchFamily="34" charset="-120"/>
              </a:rPr>
              <a:t>⊘</a:t>
            </a:r>
            <a:endParaRPr lang="en-US" sz="1688" dirty="0"/>
          </a:p>
        </p:txBody>
      </p:sp>
      <p:sp>
        <p:nvSpPr>
          <p:cNvPr id="29" name="Text 27"/>
          <p:cNvSpPr/>
          <p:nvPr/>
        </p:nvSpPr>
        <p:spPr>
          <a:xfrm>
            <a:off x="621506" y="3809963"/>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স্থায়ী বাতিল</a:t>
            </a:r>
            <a:endParaRPr lang="en-US" sz="1069" dirty="0"/>
          </a:p>
        </p:txBody>
      </p:sp>
      <p:sp>
        <p:nvSpPr>
          <p:cNvPr id="30" name="Text 28"/>
          <p:cNvSpPr/>
          <p:nvPr/>
        </p:nvSpPr>
        <p:spPr>
          <a:xfrm>
            <a:off x="621506" y="4057762"/>
            <a:ext cx="2438591" cy="178897"/>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গুরুতর বা পুনরাবৃত্ত লঙ্ঘনে আজীবন বাতিল</a:t>
            </a:r>
            <a:endParaRPr lang="en-US" sz="816" dirty="0"/>
          </a:p>
        </p:txBody>
      </p:sp>
      <p:sp>
        <p:nvSpPr>
          <p:cNvPr id="31" name="Text 29"/>
          <p:cNvSpPr/>
          <p:nvPr/>
        </p:nvSpPr>
        <p:spPr>
          <a:xfrm>
            <a:off x="3246834" y="3277753"/>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32" name="Text 30"/>
          <p:cNvSpPr/>
          <p:nvPr/>
        </p:nvSpPr>
        <p:spPr>
          <a:xfrm>
            <a:off x="5675865" y="3367050"/>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০৫</a:t>
            </a:r>
            <a:endParaRPr lang="en-US" sz="675" dirty="0"/>
          </a:p>
        </p:txBody>
      </p:sp>
      <p:sp>
        <p:nvSpPr>
          <p:cNvPr id="33" name="Text 31"/>
          <p:cNvSpPr/>
          <p:nvPr/>
        </p:nvSpPr>
        <p:spPr>
          <a:xfrm>
            <a:off x="3407569" y="3424200"/>
            <a:ext cx="314325" cy="314325"/>
          </a:xfrm>
          <a:prstGeom prst="roundRect">
            <a:avLst>
              <a:gd name="adj" fmla="val 30303"/>
            </a:avLst>
          </a:prstGeom>
          <a:solidFill>
            <a:srgbClr val="F2E0DC"/>
          </a:solidFill>
          <a:ln/>
        </p:spPr>
        <p:txBody>
          <a:bodyPr wrap="square" rtlCol="0" anchor="ctr"/>
          <a:lstStyle/>
          <a:p>
            <a:pPr indent="0" marL="0">
              <a:buNone/>
            </a:pPr>
            <a:endParaRPr lang="en-US" dirty="0"/>
          </a:p>
        </p:txBody>
      </p:sp>
      <p:sp>
        <p:nvSpPr>
          <p:cNvPr id="34" name="Text 32"/>
          <p:cNvSpPr/>
          <p:nvPr/>
        </p:nvSpPr>
        <p:spPr>
          <a:xfrm>
            <a:off x="3440430" y="3457062"/>
            <a:ext cx="248602" cy="248602"/>
          </a:xfrm>
          <a:prstGeom prst="rect">
            <a:avLst/>
          </a:prstGeom>
          <a:noFill/>
          <a:ln/>
        </p:spPr>
        <p:txBody>
          <a:bodyPr wrap="none" lIns="0" tIns="0" rIns="0" bIns="0" rtlCol="0" anchor="ctr"/>
          <a:lstStyle/>
          <a:p>
            <a:pPr algn="ctr" indent="0" marL="0">
              <a:buNone/>
            </a:pPr>
            <a:r>
              <a:rPr lang="en-US" sz="1688" dirty="0">
                <a:solidFill>
                  <a:srgbClr val="B23A2A"/>
                </a:solidFill>
                <a:latin typeface="Segoe UI Symbol" pitchFamily="34" charset="0"/>
                <a:ea typeface="Segoe UI Symbol" pitchFamily="34" charset="-122"/>
                <a:cs typeface="Segoe UI Symbol" pitchFamily="34" charset="-120"/>
              </a:rPr>
              <a:t>☻</a:t>
            </a:r>
            <a:endParaRPr lang="en-US" sz="1688" dirty="0"/>
          </a:p>
        </p:txBody>
      </p:sp>
      <p:sp>
        <p:nvSpPr>
          <p:cNvPr id="35" name="Text 33"/>
          <p:cNvSpPr/>
          <p:nvPr/>
        </p:nvSpPr>
        <p:spPr>
          <a:xfrm>
            <a:off x="3407569" y="3809963"/>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নাম বাতিল</a:t>
            </a:r>
            <a:endParaRPr lang="en-US" sz="1069" dirty="0"/>
          </a:p>
        </p:txBody>
      </p:sp>
      <p:sp>
        <p:nvSpPr>
          <p:cNvPr id="36" name="Text 34"/>
          <p:cNvSpPr/>
          <p:nvPr/>
        </p:nvSpPr>
        <p:spPr>
          <a:xfrm>
            <a:off x="3407569" y="4057762"/>
            <a:ext cx="2438591" cy="178897"/>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বালাইনাশক অধিদপ্তরের নিবন্ধন তালিকা থেকে</a:t>
            </a:r>
            <a:endParaRPr lang="en-US" sz="816" dirty="0"/>
          </a:p>
        </p:txBody>
      </p:sp>
      <p:sp>
        <p:nvSpPr>
          <p:cNvPr id="37" name="Text 35"/>
          <p:cNvSpPr/>
          <p:nvPr/>
        </p:nvSpPr>
        <p:spPr>
          <a:xfrm>
            <a:off x="6032897" y="3277753"/>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38" name="Text 36"/>
          <p:cNvSpPr/>
          <p:nvPr/>
        </p:nvSpPr>
        <p:spPr>
          <a:xfrm>
            <a:off x="8461927" y="3367050"/>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০৬</a:t>
            </a:r>
            <a:endParaRPr lang="en-US" sz="675" dirty="0"/>
          </a:p>
        </p:txBody>
      </p:sp>
      <p:sp>
        <p:nvSpPr>
          <p:cNvPr id="39" name="Text 37"/>
          <p:cNvSpPr/>
          <p:nvPr/>
        </p:nvSpPr>
        <p:spPr>
          <a:xfrm>
            <a:off x="6193631" y="3424200"/>
            <a:ext cx="314325" cy="314325"/>
          </a:xfrm>
          <a:prstGeom prst="roundRect">
            <a:avLst>
              <a:gd name="adj" fmla="val 30303"/>
            </a:avLst>
          </a:prstGeom>
          <a:solidFill>
            <a:srgbClr val="F2ECDD"/>
          </a:solidFill>
          <a:ln/>
        </p:spPr>
        <p:txBody>
          <a:bodyPr wrap="square" rtlCol="0" anchor="ctr"/>
          <a:lstStyle/>
          <a:p>
            <a:pPr indent="0" marL="0">
              <a:buNone/>
            </a:pPr>
            <a:endParaRPr lang="en-US" dirty="0"/>
          </a:p>
        </p:txBody>
      </p:sp>
      <p:sp>
        <p:nvSpPr>
          <p:cNvPr id="40" name="Text 38"/>
          <p:cNvSpPr/>
          <p:nvPr/>
        </p:nvSpPr>
        <p:spPr>
          <a:xfrm>
            <a:off x="6226493" y="3457062"/>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41" name="Text 39"/>
          <p:cNvSpPr/>
          <p:nvPr/>
        </p:nvSpPr>
        <p:spPr>
          <a:xfrm>
            <a:off x="6193631" y="3809963"/>
            <a:ext cx="2328862"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পুনর্বিবেচনা</a:t>
            </a:r>
            <a:endParaRPr lang="en-US" sz="1069" dirty="0"/>
          </a:p>
        </p:txBody>
      </p:sp>
      <p:sp>
        <p:nvSpPr>
          <p:cNvPr id="42" name="Text 40"/>
          <p:cNvSpPr/>
          <p:nvPr/>
        </p:nvSpPr>
        <p:spPr>
          <a:xfrm>
            <a:off x="6193631" y="4057762"/>
            <a:ext cx="2438590" cy="178897"/>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স্থগিত লাইসেন্সের ক্ষেত্রে আপিল সুযোগ রয়েছে</a:t>
            </a:r>
            <a:endParaRPr lang="en-US" sz="816" dirty="0"/>
          </a:p>
        </p:txBody>
      </p:sp>
      <p:sp>
        <p:nvSpPr>
          <p:cNvPr id="43" name="Text 41"/>
          <p:cNvSpPr/>
          <p:nvPr/>
        </p:nvSpPr>
        <p:spPr>
          <a:xfrm>
            <a:off x="8687581" y="4706392"/>
            <a:ext cx="31879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৩৮</a:t>
            </a:r>
            <a:endParaRPr lang="en-US" sz="1350" dirty="0"/>
          </a:p>
        </p:txBody>
      </p:sp>
      <p:pic>
        <p:nvPicPr>
          <p:cNvPr id="44"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480903" y="3386138"/>
            <a:ext cx="4663097" cy="1757363"/>
          </a:xfrm>
          <a:prstGeom prst="rect">
            <a:avLst/>
          </a:prstGeom>
          <a:noFill/>
          <a:ln/>
        </p:spPr>
        <p:txBody>
          <a:bodyPr wrap="none" lIns="0" tIns="0" rIns="0" bIns="0" rtlCol="0" anchor="t"/>
          <a:lstStyle/>
          <a:p>
            <a:pPr algn="l" indent="0" marL="0">
              <a:lnSpc>
                <a:spcPts val="17213"/>
              </a:lnSpc>
              <a:buNone/>
            </a:pPr>
            <a:r>
              <a:rPr lang="en-US" sz="20250" b="1" dirty="0">
                <a:solidFill>
                  <a:srgbClr val="1E4D3B">
                    <a:alpha val="4000"/>
                  </a:srgbClr>
                </a:solidFill>
                <a:latin typeface="Liberation Sans Narrow" pitchFamily="34" charset="0"/>
                <a:ea typeface="Liberation Sans Narrow" pitchFamily="34" charset="-122"/>
                <a:cs typeface="Liberation Sans Narrow" pitchFamily="34" charset="-120"/>
              </a:rPr>
              <a:t>07</a:t>
            </a:r>
            <a:endParaRPr lang="en-US" sz="20250" dirty="0"/>
          </a:p>
        </p:txBody>
      </p:sp>
      <p:sp>
        <p:nvSpPr>
          <p:cNvPr id="3" name="Text 1"/>
          <p:cNvSpPr/>
          <p:nvPr/>
        </p:nvSpPr>
        <p:spPr>
          <a:xfrm>
            <a:off x="887946" y="1247254"/>
            <a:ext cx="3261979" cy="2098548"/>
          </a:xfrm>
          <a:prstGeom prst="rect">
            <a:avLst/>
          </a:prstGeom>
          <a:noFill/>
          <a:ln/>
        </p:spPr>
        <p:txBody>
          <a:bodyPr wrap="none" lIns="0" tIns="0" rIns="0" bIns="0" rtlCol="0" anchor="t"/>
          <a:lstStyle/>
          <a:p>
            <a:pPr algn="l" indent="0" marL="0">
              <a:lnSpc>
                <a:spcPts val="15300"/>
              </a:lnSpc>
              <a:buNone/>
            </a:pPr>
            <a:r>
              <a:rPr lang="en-US" sz="18000" b="1" spc="-900" kern="0" dirty="0">
                <a:solidFill>
                  <a:srgbClr val="1E4D3B"/>
                </a:solidFill>
                <a:latin typeface="Carlito" pitchFamily="34" charset="0"/>
                <a:ea typeface="Carlito" pitchFamily="34" charset="-122"/>
                <a:cs typeface="Carlito" pitchFamily="34" charset="-120"/>
              </a:rPr>
              <a:t>০৭</a:t>
            </a:r>
            <a:endParaRPr lang="en-US" sz="18000" dirty="0"/>
          </a:p>
        </p:txBody>
      </p:sp>
      <p:sp>
        <p:nvSpPr>
          <p:cNvPr id="4" name="Text 2"/>
          <p:cNvSpPr/>
          <p:nvPr/>
        </p:nvSpPr>
        <p:spPr>
          <a:xfrm>
            <a:off x="1705905" y="3347517"/>
            <a:ext cx="428625" cy="21431"/>
          </a:xfrm>
          <a:prstGeom prst="roundRect">
            <a:avLst>
              <a:gd name="adj" fmla="val 88890"/>
            </a:avLst>
          </a:prstGeom>
          <a:solidFill>
            <a:srgbClr val="C7912C"/>
          </a:solidFill>
          <a:ln/>
        </p:spPr>
        <p:txBody>
          <a:bodyPr wrap="square" rtlCol="0" anchor="ctr"/>
          <a:lstStyle/>
          <a:p>
            <a:pPr indent="0" marL="0">
              <a:buNone/>
            </a:pPr>
            <a:endParaRPr lang="en-US" dirty="0"/>
          </a:p>
        </p:txBody>
      </p:sp>
      <p:sp>
        <p:nvSpPr>
          <p:cNvPr id="5" name="Text 3"/>
          <p:cNvSpPr/>
          <p:nvPr/>
        </p:nvSpPr>
        <p:spPr>
          <a:xfrm>
            <a:off x="1699543" y="3497535"/>
            <a:ext cx="705981" cy="430487"/>
          </a:xfrm>
          <a:prstGeom prst="rect">
            <a:avLst/>
          </a:prstGeom>
          <a:noFill/>
          <a:ln/>
        </p:spPr>
        <p:txBody>
          <a:bodyPr wrap="none" lIns="0" tIns="0" rIns="0" bIns="0" rtlCol="0" anchor="t"/>
          <a:lstStyle/>
          <a:p>
            <a:pPr algn="l" indent="0" marL="0">
              <a:lnSpc>
                <a:spcPts val="3139"/>
              </a:lnSpc>
              <a:buNone/>
            </a:pPr>
            <a:r>
              <a:rPr lang="en-US" sz="2025" spc="81" kern="0" dirty="0">
                <a:solidFill>
                  <a:srgbClr val="9A6E1E"/>
                </a:solidFill>
                <a:latin typeface="Carlito" pitchFamily="34" charset="0"/>
                <a:ea typeface="Carlito" pitchFamily="34" charset="-122"/>
                <a:cs typeface="Carlito" pitchFamily="34" charset="-120"/>
              </a:rPr>
              <a:t>/ ০৭</a:t>
            </a:r>
            <a:endParaRPr lang="en-US" sz="2025" dirty="0"/>
          </a:p>
        </p:txBody>
      </p:sp>
      <p:sp>
        <p:nvSpPr>
          <p:cNvPr id="6" name="Text 4"/>
          <p:cNvSpPr/>
          <p:nvPr/>
        </p:nvSpPr>
        <p:spPr>
          <a:xfrm>
            <a:off x="9136856" y="571500"/>
            <a:ext cx="7144" cy="4000500"/>
          </a:xfrm>
          <a:prstGeom prst="rect">
            <a:avLst/>
          </a:prstGeom>
          <a:solidFill>
            <a:srgbClr val="D9D2BF"/>
          </a:solidFill>
          <a:ln/>
        </p:spPr>
        <p:txBody>
          <a:bodyPr wrap="square" rtlCol="0" anchor="ctr"/>
          <a:lstStyle/>
          <a:p>
            <a:pPr indent="0" marL="0">
              <a:buNone/>
            </a:pPr>
            <a:endParaRPr lang="en-US" dirty="0"/>
          </a:p>
        </p:txBody>
      </p:sp>
      <p:sp>
        <p:nvSpPr>
          <p:cNvPr id="7" name="Text 5"/>
          <p:cNvSpPr/>
          <p:nvPr/>
        </p:nvSpPr>
        <p:spPr>
          <a:xfrm>
            <a:off x="4011885" y="1688604"/>
            <a:ext cx="4925343"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অধ্যায় · সম্মান ও দায়িত্ব</a:t>
            </a:r>
            <a:endParaRPr lang="en-US" sz="1350" dirty="0"/>
          </a:p>
        </p:txBody>
      </p:sp>
      <p:sp>
        <p:nvSpPr>
          <p:cNvPr id="8" name="Text 6"/>
          <p:cNvSpPr/>
          <p:nvPr/>
        </p:nvSpPr>
        <p:spPr>
          <a:xfrm>
            <a:off x="4011885" y="2068562"/>
            <a:ext cx="5016553" cy="518368"/>
          </a:xfrm>
          <a:prstGeom prst="rect">
            <a:avLst/>
          </a:prstGeom>
          <a:noFill/>
          <a:ln/>
        </p:spPr>
        <p:txBody>
          <a:bodyPr wrap="square" lIns="0" tIns="0" rIns="0" bIns="0" rtlCol="0" anchor="t"/>
          <a:lstStyle/>
          <a:p>
            <a:pPr algn="l" indent="0" marL="0">
              <a:lnSpc>
                <a:spcPts val="3780"/>
              </a:lnSpc>
              <a:buNone/>
            </a:pPr>
            <a:r>
              <a:rPr lang="en-US" sz="3375" b="1" spc="-34" kern="0" dirty="0">
                <a:solidFill>
                  <a:srgbClr val="14342A"/>
                </a:solidFill>
                <a:latin typeface="Tinos" pitchFamily="34" charset="0"/>
                <a:ea typeface="Tinos" pitchFamily="34" charset="-122"/>
                <a:cs typeface="Tinos" pitchFamily="34" charset="-120"/>
              </a:rPr>
              <a:t>খুচরা বিক্রেতার সম্মানের পথ</a:t>
            </a:r>
            <a:endParaRPr lang="en-US" sz="3375" dirty="0"/>
          </a:p>
        </p:txBody>
      </p:sp>
      <p:sp>
        <p:nvSpPr>
          <p:cNvPr id="9" name="Shape 7"/>
          <p:cNvSpPr/>
          <p:nvPr/>
        </p:nvSpPr>
        <p:spPr>
          <a:xfrm>
            <a:off x="4011885" y="2644973"/>
            <a:ext cx="400050" cy="0"/>
          </a:xfrm>
          <a:prstGeom prst="line">
            <a:avLst/>
          </a:prstGeom>
          <a:noFill/>
          <a:ln w="7144">
            <a:solidFill>
              <a:srgbClr val="1A1A1A"/>
            </a:solidFill>
            <a:prstDash val="solid"/>
          </a:ln>
        </p:spPr>
        <p:txBody>
          <a:bodyPr/>
          <a:p/>
        </p:txBody>
      </p:sp>
      <p:sp>
        <p:nvSpPr>
          <p:cNvPr id="10" name="Text 8"/>
          <p:cNvSpPr/>
          <p:nvPr/>
        </p:nvSpPr>
        <p:spPr>
          <a:xfrm>
            <a:off x="4011885" y="2798564"/>
            <a:ext cx="4143375" cy="708839"/>
          </a:xfrm>
          <a:prstGeom prst="rect">
            <a:avLst/>
          </a:prstGeom>
          <a:noFill/>
          <a:ln/>
        </p:spPr>
        <p:txBody>
          <a:bodyPr wrap="square" lIns="0" tIns="0" rIns="0" bIns="0" rtlCol="0" anchor="t"/>
          <a:lstStyle/>
          <a:p>
            <a:pPr algn="l" indent="0" marL="0">
              <a:lnSpc>
                <a:spcPts val="1723"/>
              </a:lnSpc>
              <a:buNone/>
            </a:pPr>
            <a:r>
              <a:rPr lang="en-US" sz="984" dirty="0">
                <a:solidFill>
                  <a:srgbClr val="4A4A4A"/>
                </a:solidFill>
                <a:latin typeface="Carlito" pitchFamily="34" charset="0"/>
                <a:ea typeface="Carlito" pitchFamily="34" charset="-122"/>
                <a:cs typeface="Carlito" pitchFamily="34" charset="-120"/>
              </a:rPr>
              <a:t>নৈতিক ব্যবসায়িক অনুশীলন, IRM প্রচার, গ্রাহক শিক্ষা, ও আইনি সম্মান — এই অধ্যায়ে খুচরা বিক্রেতা কীভাবে সমাজে একজন সম্মানিত ও গুরুত্বপূর্ণ ব্যক্তিতে পরিণত হতে পারেন, তার সমন্বিত পথ আলোচিত হবে।</a:t>
            </a:r>
            <a:endParaRPr lang="en-US" sz="984" dirty="0"/>
          </a:p>
        </p:txBody>
      </p:sp>
      <p:sp>
        <p:nvSpPr>
          <p:cNvPr id="11" name="Text 9"/>
          <p:cNvSpPr/>
          <p:nvPr/>
        </p:nvSpPr>
        <p:spPr>
          <a:xfrm>
            <a:off x="8687581" y="4706392"/>
            <a:ext cx="31879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৩৯</a:t>
            </a:r>
            <a:endParaRPr lang="en-US" sz="1350" dirty="0"/>
          </a:p>
        </p:txBody>
      </p:sp>
      <p:pic>
        <p:nvPicPr>
          <p:cNvPr id="12"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14350" y="314325"/>
            <a:ext cx="8629650" cy="286911"/>
          </a:xfrm>
          <a:prstGeom prst="rect">
            <a:avLst/>
          </a:prstGeom>
          <a:noFill/>
          <a:ln/>
        </p:spPr>
        <p:txBody>
          <a:bodyPr wrap="squar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০৭ · খুচরা বিক্রেতার সম্মানের পথ</a:t>
            </a:r>
            <a:endParaRPr lang="en-US" sz="1350" dirty="0"/>
          </a:p>
        </p:txBody>
      </p:sp>
      <p:sp>
        <p:nvSpPr>
          <p:cNvPr id="3" name="Text 1"/>
          <p:cNvSpPr/>
          <p:nvPr/>
        </p:nvSpPr>
        <p:spPr>
          <a:xfrm>
            <a:off x="871538" y="651421"/>
            <a:ext cx="8237280" cy="478346"/>
          </a:xfrm>
          <a:prstGeom prst="rect">
            <a:avLst/>
          </a:prstGeom>
          <a:noFill/>
          <a:ln/>
        </p:spPr>
        <p:txBody>
          <a:bodyPr wrap="square" lIns="0" tIns="0" rIns="0" bIns="0" rtlCol="0" anchor="t"/>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IRM — Insecticide Resistance Management</a:t>
            </a:r>
            <a:endParaRPr lang="en-US" sz="3150" dirty="0"/>
          </a:p>
        </p:txBody>
      </p:sp>
      <p:sp>
        <p:nvSpPr>
          <p:cNvPr id="4" name="Text 2"/>
          <p:cNvSpPr/>
          <p:nvPr/>
        </p:nvSpPr>
        <p:spPr>
          <a:xfrm>
            <a:off x="514350" y="1266341"/>
            <a:ext cx="8115300" cy="861492"/>
          </a:xfrm>
          <a:prstGeom prst="roundRect">
            <a:avLst>
              <a:gd name="adj" fmla="val 17690"/>
            </a:avLst>
          </a:prstGeom>
          <a:solidFill>
            <a:srgbClr val="F2ECDD"/>
          </a:solidFill>
          <a:ln/>
        </p:spPr>
        <p:txBody>
          <a:bodyPr wrap="square" rtlCol="0" anchor="ctr"/>
          <a:lstStyle/>
          <a:p>
            <a:pPr indent="0" marL="0">
              <a:buNone/>
            </a:pPr>
            <a:endParaRPr lang="en-US" dirty="0"/>
          </a:p>
        </p:txBody>
      </p:sp>
      <p:sp>
        <p:nvSpPr>
          <p:cNvPr id="5" name="Shape 3"/>
          <p:cNvSpPr/>
          <p:nvPr/>
        </p:nvSpPr>
        <p:spPr>
          <a:xfrm>
            <a:off x="528638" y="1266341"/>
            <a:ext cx="0" cy="861492"/>
          </a:xfrm>
          <a:prstGeom prst="line">
            <a:avLst/>
          </a:prstGeom>
          <a:noFill/>
          <a:ln w="28575">
            <a:solidFill>
              <a:srgbClr val="C7912C"/>
            </a:solidFill>
            <a:prstDash val="solid"/>
          </a:ln>
        </p:spPr>
        <p:txBody>
          <a:bodyPr/>
          <a:p/>
        </p:txBody>
      </p:sp>
      <p:sp>
        <p:nvSpPr>
          <p:cNvPr id="6" name="Text 4"/>
          <p:cNvSpPr/>
          <p:nvPr/>
        </p:nvSpPr>
        <p:spPr>
          <a:xfrm>
            <a:off x="800100" y="1516484"/>
            <a:ext cx="314325" cy="314325"/>
          </a:xfrm>
          <a:prstGeom prst="rect">
            <a:avLst/>
          </a:prstGeom>
          <a:noFill/>
          <a:ln/>
        </p:spPr>
        <p:txBody>
          <a:bodyPr wrap="none" lIns="0" tIns="0" rIns="0" bIns="0" rtlCol="0" anchor="ctr"/>
          <a:lstStyle/>
          <a:p>
            <a:pPr algn="ctr" indent="0" marL="0">
              <a:buNone/>
            </a:pPr>
            <a:r>
              <a:rPr lang="en-US" sz="3094" dirty="0">
                <a:solidFill>
                  <a:srgbClr val="C7912C"/>
                </a:solidFill>
                <a:latin typeface="Segoe UI Symbol" pitchFamily="34" charset="0"/>
                <a:ea typeface="Segoe UI Symbol" pitchFamily="34" charset="-122"/>
                <a:cs typeface="Segoe UI Symbol" pitchFamily="34" charset="-120"/>
              </a:rPr>
              <a:t>“</a:t>
            </a:r>
            <a:endParaRPr lang="en-US" sz="3094" dirty="0"/>
          </a:p>
        </p:txBody>
      </p:sp>
      <p:sp>
        <p:nvSpPr>
          <p:cNvPr id="7" name="Text 5"/>
          <p:cNvSpPr/>
          <p:nvPr/>
        </p:nvSpPr>
        <p:spPr>
          <a:xfrm>
            <a:off x="1271588" y="1466366"/>
            <a:ext cx="7100888" cy="461442"/>
          </a:xfrm>
          <a:prstGeom prst="rect">
            <a:avLst/>
          </a:prstGeom>
          <a:noFill/>
          <a:ln/>
        </p:spPr>
        <p:txBody>
          <a:bodyPr wrap="square" lIns="0" tIns="0" rIns="0" bIns="0" rtlCol="0" anchor="t"/>
          <a:lstStyle/>
          <a:p>
            <a:pPr algn="l" indent="0" marL="0">
              <a:lnSpc>
                <a:spcPts val="1817"/>
              </a:lnSpc>
              <a:buNone/>
            </a:pPr>
            <a:r>
              <a:rPr lang="en-US" sz="1069" dirty="0">
                <a:solidFill>
                  <a:srgbClr val="1A1A1A"/>
                </a:solidFill>
                <a:latin typeface="Carlito" pitchFamily="34" charset="0"/>
                <a:ea typeface="Carlito" pitchFamily="34" charset="-122"/>
                <a:cs typeface="Carlito" pitchFamily="34" charset="-120"/>
              </a:rPr>
              <a:t>একটি ব্যবস্থাপনা কৌশল যা কীটপতঙ্গের প্রতিরোধ ক্ষমতা তৈরি হওয়া রোধ করে এবং বালাইনাশকের কার্যকারিতা দীর্ঘমেয়াদে বজায় রাখে। </a:t>
            </a:r>
            <a:pPr algn="l" indent="0" marL="0">
              <a:lnSpc>
                <a:spcPts val="1817"/>
              </a:lnSpc>
              <a:buNone/>
            </a:pPr>
            <a:r>
              <a:rPr lang="en-US" sz="1069" dirty="0">
                <a:solidFill>
                  <a:srgbClr val="14342A"/>
                </a:solidFill>
                <a:latin typeface="Carlito" pitchFamily="34" charset="0"/>
                <a:ea typeface="Carlito" pitchFamily="34" charset="-122"/>
                <a:cs typeface="Carlito" pitchFamily="34" charset="-120"/>
              </a:rPr>
              <a:t>IRM এর মূলনীতি</a:t>
            </a:r>
            <a:pPr algn="l" indent="0" marL="0">
              <a:lnSpc>
                <a:spcPts val="1817"/>
              </a:lnSpc>
              <a:buNone/>
            </a:pPr>
            <a:r>
              <a:rPr lang="en-US" sz="1069" dirty="0">
                <a:solidFill>
                  <a:srgbClr val="1A1A1A"/>
                </a:solidFill>
                <a:latin typeface="Carlito" pitchFamily="34" charset="0"/>
                <a:ea typeface="Carlito" pitchFamily="34" charset="-122"/>
                <a:cs typeface="Carlito" pitchFamily="34" charset="-120"/>
              </a:rPr>
              <a:t> — ভিন্ন মোড অফ অ্যাকশনের বালাইনাশকের রোটেশন, সঠিক মাত্রা ও সময়, সমন্বিত কীটপতঙ্গ ব্যবস্থাপনা (IPM), এবং প্রতিরোধী পোকা শনাক্তকরণ।</a:t>
            </a:r>
            <a:endParaRPr lang="en-US" sz="1069" dirty="0"/>
          </a:p>
        </p:txBody>
      </p:sp>
      <p:sp>
        <p:nvSpPr>
          <p:cNvPr id="8" name="Text 6"/>
          <p:cNvSpPr/>
          <p:nvPr/>
        </p:nvSpPr>
        <p:spPr>
          <a:xfrm>
            <a:off x="2946038" y="2272194"/>
            <a:ext cx="647581" cy="309121"/>
          </a:xfrm>
          <a:prstGeom prst="roundRect">
            <a:avLst>
              <a:gd name="adj" fmla="val 3078236"/>
            </a:avLst>
          </a:prstGeom>
          <a:solidFill>
            <a:srgbClr val="1E4D3B"/>
          </a:solidFill>
          <a:ln w="7144">
            <a:solidFill>
              <a:srgbClr val="1E4D3B"/>
            </a:solidFill>
            <a:prstDash val="solid"/>
          </a:ln>
        </p:spPr>
        <p:txBody>
          <a:bodyPr wrap="square" rtlCol="0" anchor="ctr"/>
          <a:lstStyle/>
          <a:p>
            <a:pPr indent="0" marL="0">
              <a:buNone/>
            </a:pPr>
            <a:endParaRPr lang="en-US" dirty="0"/>
          </a:p>
        </p:txBody>
      </p:sp>
      <p:sp>
        <p:nvSpPr>
          <p:cNvPr id="9" name="Text 7"/>
          <p:cNvSpPr/>
          <p:nvPr/>
        </p:nvSpPr>
        <p:spPr>
          <a:xfrm>
            <a:off x="2968898" y="2284995"/>
            <a:ext cx="601861" cy="283518"/>
          </a:xfrm>
          <a:prstGeom prst="rect">
            <a:avLst/>
          </a:prstGeom>
          <a:noFill/>
          <a:ln/>
        </p:spPr>
        <p:txBody>
          <a:bodyPr wrap="none" lIns="0" tIns="0" rIns="0" bIns="0" rtlCol="0" anchor="ctr"/>
          <a:lstStyle/>
          <a:p>
            <a:pPr algn="ctr" indent="0" marL="0">
              <a:lnSpc>
                <a:spcPts val="1221"/>
              </a:lnSpc>
              <a:buNone/>
            </a:pPr>
            <a:r>
              <a:rPr lang="en-US" sz="800" spc="32" kern="0" dirty="0">
                <a:solidFill>
                  <a:srgbClr val="FFFFFF"/>
                </a:solidFill>
                <a:latin typeface="Carlito" pitchFamily="34" charset="0"/>
                <a:ea typeface="Carlito" pitchFamily="34" charset="-122"/>
                <a:cs typeface="Carlito" pitchFamily="34" charset="-120"/>
              </a:rPr>
              <a:t>রোটেশন</a:t>
            </a:r>
            <a:endParaRPr lang="en-US" sz="800" dirty="0"/>
          </a:p>
        </p:txBody>
      </p:sp>
      <p:sp>
        <p:nvSpPr>
          <p:cNvPr id="10" name="Text 8"/>
          <p:cNvSpPr/>
          <p:nvPr/>
        </p:nvSpPr>
        <p:spPr>
          <a:xfrm>
            <a:off x="3662199" y="2272194"/>
            <a:ext cx="787331" cy="309121"/>
          </a:xfrm>
          <a:prstGeom prst="roundRect">
            <a:avLst>
              <a:gd name="adj" fmla="val 3078236"/>
            </a:avLst>
          </a:prstGeom>
          <a:solidFill>
            <a:srgbClr val="1E4D3B"/>
          </a:solidFill>
          <a:ln w="7144">
            <a:solidFill>
              <a:srgbClr val="1E4D3B"/>
            </a:solidFill>
            <a:prstDash val="solid"/>
          </a:ln>
        </p:spPr>
        <p:txBody>
          <a:bodyPr wrap="square" rtlCol="0" anchor="ctr"/>
          <a:lstStyle/>
          <a:p>
            <a:pPr indent="0" marL="0">
              <a:buNone/>
            </a:pPr>
            <a:endParaRPr lang="en-US" dirty="0"/>
          </a:p>
        </p:txBody>
      </p:sp>
      <p:sp>
        <p:nvSpPr>
          <p:cNvPr id="11" name="Text 9"/>
          <p:cNvSpPr/>
          <p:nvPr/>
        </p:nvSpPr>
        <p:spPr>
          <a:xfrm>
            <a:off x="3685059" y="2284995"/>
            <a:ext cx="741611" cy="283518"/>
          </a:xfrm>
          <a:prstGeom prst="rect">
            <a:avLst/>
          </a:prstGeom>
          <a:noFill/>
          <a:ln/>
        </p:spPr>
        <p:txBody>
          <a:bodyPr wrap="none" lIns="0" tIns="0" rIns="0" bIns="0" rtlCol="0" anchor="ctr"/>
          <a:lstStyle/>
          <a:p>
            <a:pPr algn="ctr" indent="0" marL="0">
              <a:lnSpc>
                <a:spcPts val="1221"/>
              </a:lnSpc>
              <a:buNone/>
            </a:pPr>
            <a:r>
              <a:rPr lang="en-US" sz="800" spc="32" kern="0" dirty="0">
                <a:solidFill>
                  <a:srgbClr val="FFFFFF"/>
                </a:solidFill>
                <a:latin typeface="Carlito" pitchFamily="34" charset="0"/>
                <a:ea typeface="Carlito" pitchFamily="34" charset="-122"/>
                <a:cs typeface="Carlito" pitchFamily="34" charset="-120"/>
              </a:rPr>
              <a:t>সঠিক মাত্রা</a:t>
            </a:r>
            <a:endParaRPr lang="en-US" sz="800" dirty="0"/>
          </a:p>
        </p:txBody>
      </p:sp>
      <p:sp>
        <p:nvSpPr>
          <p:cNvPr id="12" name="Text 10"/>
          <p:cNvSpPr/>
          <p:nvPr/>
        </p:nvSpPr>
        <p:spPr>
          <a:xfrm>
            <a:off x="4518109" y="2272194"/>
            <a:ext cx="837448" cy="309121"/>
          </a:xfrm>
          <a:prstGeom prst="roundRect">
            <a:avLst>
              <a:gd name="adj" fmla="val 3078236"/>
            </a:avLst>
          </a:prstGeom>
          <a:solidFill>
            <a:srgbClr val="1E4D3B"/>
          </a:solidFill>
          <a:ln w="7144">
            <a:solidFill>
              <a:srgbClr val="1E4D3B"/>
            </a:solidFill>
            <a:prstDash val="solid"/>
          </a:ln>
        </p:spPr>
        <p:txBody>
          <a:bodyPr wrap="square" rtlCol="0" anchor="ctr"/>
          <a:lstStyle/>
          <a:p>
            <a:pPr indent="0" marL="0">
              <a:buNone/>
            </a:pPr>
            <a:endParaRPr lang="en-US" dirty="0"/>
          </a:p>
        </p:txBody>
      </p:sp>
      <p:sp>
        <p:nvSpPr>
          <p:cNvPr id="13" name="Text 11"/>
          <p:cNvSpPr/>
          <p:nvPr/>
        </p:nvSpPr>
        <p:spPr>
          <a:xfrm>
            <a:off x="4540969" y="2284995"/>
            <a:ext cx="791728" cy="283518"/>
          </a:xfrm>
          <a:prstGeom prst="rect">
            <a:avLst/>
          </a:prstGeom>
          <a:noFill/>
          <a:ln/>
        </p:spPr>
        <p:txBody>
          <a:bodyPr wrap="none" lIns="0" tIns="0" rIns="0" bIns="0" rtlCol="0" anchor="ctr"/>
          <a:lstStyle/>
          <a:p>
            <a:pPr algn="ctr" indent="0" marL="0">
              <a:lnSpc>
                <a:spcPts val="1221"/>
              </a:lnSpc>
              <a:buNone/>
            </a:pPr>
            <a:r>
              <a:rPr lang="en-US" sz="800" spc="32" kern="0" dirty="0">
                <a:solidFill>
                  <a:srgbClr val="FFFFFF"/>
                </a:solidFill>
                <a:latin typeface="Carlito" pitchFamily="34" charset="0"/>
                <a:ea typeface="Carlito" pitchFamily="34" charset="-122"/>
                <a:cs typeface="Carlito" pitchFamily="34" charset="-120"/>
              </a:rPr>
              <a:t>IPM সমন্বয়</a:t>
            </a:r>
            <a:endParaRPr lang="en-US" sz="800" dirty="0"/>
          </a:p>
        </p:txBody>
      </p:sp>
      <p:sp>
        <p:nvSpPr>
          <p:cNvPr id="14" name="Text 12"/>
          <p:cNvSpPr/>
          <p:nvPr/>
        </p:nvSpPr>
        <p:spPr>
          <a:xfrm>
            <a:off x="5424138" y="2272194"/>
            <a:ext cx="773824" cy="309121"/>
          </a:xfrm>
          <a:prstGeom prst="roundRect">
            <a:avLst>
              <a:gd name="adj" fmla="val 3078236"/>
            </a:avLst>
          </a:prstGeom>
          <a:solidFill>
            <a:srgbClr val="1E4D3B"/>
          </a:solidFill>
          <a:ln w="7144">
            <a:solidFill>
              <a:srgbClr val="1E4D3B"/>
            </a:solidFill>
            <a:prstDash val="solid"/>
          </a:ln>
        </p:spPr>
        <p:txBody>
          <a:bodyPr wrap="square" rtlCol="0" anchor="ctr"/>
          <a:lstStyle/>
          <a:p>
            <a:pPr indent="0" marL="0">
              <a:buNone/>
            </a:pPr>
            <a:endParaRPr lang="en-US" dirty="0"/>
          </a:p>
        </p:txBody>
      </p:sp>
      <p:sp>
        <p:nvSpPr>
          <p:cNvPr id="15" name="Text 13"/>
          <p:cNvSpPr/>
          <p:nvPr/>
        </p:nvSpPr>
        <p:spPr>
          <a:xfrm>
            <a:off x="5446998" y="2284995"/>
            <a:ext cx="728104" cy="283518"/>
          </a:xfrm>
          <a:prstGeom prst="rect">
            <a:avLst/>
          </a:prstGeom>
          <a:noFill/>
          <a:ln/>
        </p:spPr>
        <p:txBody>
          <a:bodyPr wrap="none" lIns="0" tIns="0" rIns="0" bIns="0" rtlCol="0" anchor="ctr"/>
          <a:lstStyle/>
          <a:p>
            <a:pPr algn="ctr" indent="0" marL="0">
              <a:lnSpc>
                <a:spcPts val="1221"/>
              </a:lnSpc>
              <a:buNone/>
            </a:pPr>
            <a:r>
              <a:rPr lang="en-US" sz="800" spc="32" kern="0" dirty="0">
                <a:solidFill>
                  <a:srgbClr val="FFFFFF"/>
                </a:solidFill>
                <a:latin typeface="Carlito" pitchFamily="34" charset="0"/>
                <a:ea typeface="Carlito" pitchFamily="34" charset="-122"/>
                <a:cs typeface="Carlito" pitchFamily="34" charset="-120"/>
              </a:rPr>
              <a:t>শনাক্তকরণ</a:t>
            </a:r>
            <a:endParaRPr lang="en-US" sz="800" dirty="0"/>
          </a:p>
        </p:txBody>
      </p:sp>
      <p:sp>
        <p:nvSpPr>
          <p:cNvPr id="16" name="Text 14"/>
          <p:cNvSpPr/>
          <p:nvPr/>
        </p:nvSpPr>
        <p:spPr>
          <a:xfrm>
            <a:off x="517922" y="2714960"/>
            <a:ext cx="8108156" cy="464344"/>
          </a:xfrm>
          <a:prstGeom prst="roundRect">
            <a:avLst>
              <a:gd name="adj" fmla="val 28718"/>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7" name="Text 15"/>
          <p:cNvSpPr/>
          <p:nvPr/>
        </p:nvSpPr>
        <p:spPr>
          <a:xfrm>
            <a:off x="692944" y="2847119"/>
            <a:ext cx="200025" cy="200025"/>
          </a:xfrm>
          <a:prstGeom prst="rect">
            <a:avLst/>
          </a:prstGeom>
          <a:noFill/>
          <a:ln/>
        </p:spPr>
        <p:txBody>
          <a:bodyPr wrap="none" lIns="0" tIns="0" rIns="0" bIns="0" rtlCol="0" anchor="ctr"/>
          <a:lstStyle/>
          <a:p>
            <a:pPr algn="ctr" indent="0" marL="0">
              <a:buNone/>
            </a:pPr>
            <a:r>
              <a:rPr lang="en-US" sz="1969" dirty="0">
                <a:solidFill>
                  <a:srgbClr val="1E4D3B"/>
                </a:solidFill>
                <a:latin typeface="Segoe UI Symbol" pitchFamily="34" charset="0"/>
                <a:ea typeface="Segoe UI Symbol" pitchFamily="34" charset="-122"/>
                <a:cs typeface="Segoe UI Symbol" pitchFamily="34" charset="-120"/>
              </a:rPr>
              <a:t>🏪</a:t>
            </a:r>
            <a:endParaRPr lang="en-US" sz="1969" dirty="0"/>
          </a:p>
        </p:txBody>
      </p:sp>
      <p:sp>
        <p:nvSpPr>
          <p:cNvPr id="18" name="Text 16"/>
          <p:cNvSpPr/>
          <p:nvPr/>
        </p:nvSpPr>
        <p:spPr>
          <a:xfrm>
            <a:off x="1007269" y="2856049"/>
            <a:ext cx="7443788" cy="191095"/>
          </a:xfrm>
          <a:prstGeom prst="rect">
            <a:avLst/>
          </a:prstGeom>
          <a:noFill/>
          <a:ln/>
        </p:spPr>
        <p:txBody>
          <a:bodyPr wrap="square" lIns="0" tIns="0" rIns="0" bIns="0" rtlCol="0" anchor="t"/>
          <a:lstStyle/>
          <a:p>
            <a:pPr algn="l" indent="0" marL="0">
              <a:lnSpc>
                <a:spcPts val="1434"/>
              </a:lnSpc>
              <a:buNone/>
            </a:pPr>
            <a:r>
              <a:rPr lang="en-US" sz="844" dirty="0">
                <a:solidFill>
                  <a:srgbClr val="4A4A4A"/>
                </a:solidFill>
                <a:latin typeface="Carlito" pitchFamily="34" charset="0"/>
                <a:ea typeface="Carlito" pitchFamily="34" charset="-122"/>
                <a:cs typeface="Carlito" pitchFamily="34" charset="-120"/>
              </a:rPr>
              <a:t>খুচরা বিক্রেতা </a:t>
            </a:r>
            <a:pPr algn="l" indent="0" marL="0">
              <a:lnSpc>
                <a:spcPts val="1434"/>
              </a:lnSpc>
              <a:buNone/>
            </a:pPr>
            <a:r>
              <a:rPr lang="en-US" sz="844" dirty="0">
                <a:solidFill>
                  <a:srgbClr val="14342A"/>
                </a:solidFill>
                <a:latin typeface="Carlito" pitchFamily="34" charset="0"/>
                <a:ea typeface="Carlito" pitchFamily="34" charset="-122"/>
                <a:cs typeface="Carlito" pitchFamily="34" charset="-120"/>
              </a:rPr>
              <a:t>IRM প্রচারে গুরুত্বপূর্ণ ভূমিকা</a:t>
            </a:r>
            <a:pPr algn="l" indent="0" marL="0">
              <a:lnSpc>
                <a:spcPts val="1434"/>
              </a:lnSpc>
              <a:buNone/>
            </a:pPr>
            <a:r>
              <a:rPr lang="en-US" sz="844" dirty="0">
                <a:solidFill>
                  <a:srgbClr val="4A4A4A"/>
                </a:solidFill>
                <a:latin typeface="Carlito" pitchFamily="34" charset="0"/>
                <a:ea typeface="Carlito" pitchFamily="34" charset="-122"/>
                <a:cs typeface="Carlito" pitchFamily="34" charset="-120"/>
              </a:rPr>
              <a:t> রাখেন। প্রতিটি কৃষককে সঠিক গ্রুপের বালাইনাশক সুপারিশ এবং একই গ্রুপের পুনরাবৃত্তি পরিহার করতে পরামর্শ দেওয়া — এটিই বিক্রেতার প্রথম দায়িত্ব।</a:t>
            </a:r>
            <a:endParaRPr lang="en-US" sz="844" dirty="0"/>
          </a:p>
        </p:txBody>
      </p:sp>
      <p:sp>
        <p:nvSpPr>
          <p:cNvPr id="19" name="Text 17"/>
          <p:cNvSpPr/>
          <p:nvPr/>
        </p:nvSpPr>
        <p:spPr>
          <a:xfrm>
            <a:off x="8694725" y="4706392"/>
            <a:ext cx="30736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৪০</a:t>
            </a:r>
            <a:endParaRPr lang="en-US" sz="1350" dirty="0"/>
          </a:p>
        </p:txBody>
      </p:sp>
      <p:pic>
        <p:nvPicPr>
          <p:cNvPr id="20"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57200" y="314325"/>
            <a:ext cx="8636000" cy="286911"/>
          </a:xfrm>
          <a:prstGeom prst="rect">
            <a:avLst/>
          </a:prstGeom>
          <a:noFill/>
          <a:ln/>
        </p:spPr>
        <p:txBody>
          <a:bodyPr wrap="squar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০৭ · খুচরা বিক্রেতার সম্মানের পথ</a:t>
            </a:r>
            <a:endParaRPr lang="en-US" sz="1350" dirty="0"/>
          </a:p>
        </p:txBody>
      </p:sp>
      <p:sp>
        <p:nvSpPr>
          <p:cNvPr id="3" name="Text 1"/>
          <p:cNvSpPr/>
          <p:nvPr/>
        </p:nvSpPr>
        <p:spPr>
          <a:xfrm>
            <a:off x="457200" y="637133"/>
            <a:ext cx="8636000" cy="509809"/>
          </a:xfrm>
          <a:prstGeom prst="rect">
            <a:avLst/>
          </a:prstGeom>
          <a:noFill/>
          <a:ln/>
        </p:spPr>
        <p:txBody>
          <a:bodyPr wrap="square" lIns="0" tIns="0" rIns="0" bIns="0" rtlCol="0" anchor="t"/>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খুচরা বিক্রেতার দায়িত্ব ও কর্তব্য</a:t>
            </a:r>
            <a:endParaRPr lang="en-US" sz="3150" dirty="0"/>
          </a:p>
        </p:txBody>
      </p:sp>
      <p:sp>
        <p:nvSpPr>
          <p:cNvPr id="4" name="Text 2"/>
          <p:cNvSpPr/>
          <p:nvPr/>
        </p:nvSpPr>
        <p:spPr>
          <a:xfrm>
            <a:off x="457200" y="1266341"/>
            <a:ext cx="2810284" cy="3505684"/>
          </a:xfrm>
          <a:prstGeom prst="roundRect">
            <a:avLst>
              <a:gd name="adj" fmla="val 5423"/>
            </a:avLst>
          </a:prstGeom>
          <a:solidFill>
            <a:srgbClr val="F2ECDD"/>
          </a:solidFill>
          <a:ln/>
        </p:spPr>
        <p:txBody>
          <a:bodyPr wrap="square" rtlCol="0" anchor="ctr"/>
          <a:lstStyle/>
          <a:p>
            <a:pPr indent="0" marL="0">
              <a:buNone/>
            </a:pPr>
            <a:endParaRPr lang="en-US" dirty="0"/>
          </a:p>
        </p:txBody>
      </p:sp>
      <p:sp>
        <p:nvSpPr>
          <p:cNvPr id="5" name="Text 3"/>
          <p:cNvSpPr/>
          <p:nvPr/>
        </p:nvSpPr>
        <p:spPr>
          <a:xfrm>
            <a:off x="657225" y="2224274"/>
            <a:ext cx="457200" cy="457200"/>
          </a:xfrm>
          <a:prstGeom prst="roundRect">
            <a:avLst>
              <a:gd name="adj" fmla="val 29167"/>
            </a:avLst>
          </a:prstGeom>
          <a:solidFill>
            <a:srgbClr val="1E4D3B"/>
          </a:solidFill>
          <a:ln/>
        </p:spPr>
        <p:txBody>
          <a:bodyPr wrap="square" rtlCol="0" anchor="ctr"/>
          <a:lstStyle/>
          <a:p>
            <a:pPr indent="0" marL="0">
              <a:buNone/>
            </a:pPr>
            <a:endParaRPr lang="en-US" dirty="0"/>
          </a:p>
        </p:txBody>
      </p:sp>
      <p:sp>
        <p:nvSpPr>
          <p:cNvPr id="6" name="Text 4"/>
          <p:cNvSpPr/>
          <p:nvPr/>
        </p:nvSpPr>
        <p:spPr>
          <a:xfrm>
            <a:off x="699373" y="2266422"/>
            <a:ext cx="372904" cy="372904"/>
          </a:xfrm>
          <a:prstGeom prst="rect">
            <a:avLst/>
          </a:prstGeom>
          <a:noFill/>
          <a:ln/>
        </p:spPr>
        <p:txBody>
          <a:bodyPr wrap="none" lIns="0" tIns="0" rIns="0" bIns="0" rtlCol="0" anchor="ctr"/>
          <a:lstStyle/>
          <a:p>
            <a:pPr algn="ctr" indent="0" marL="0">
              <a:buNone/>
            </a:pPr>
            <a:r>
              <a:rPr lang="en-US" sz="2531" dirty="0">
                <a:solidFill>
                  <a:srgbClr val="FFFFFF"/>
                </a:solidFill>
                <a:latin typeface="Segoe UI Symbol" pitchFamily="34" charset="0"/>
                <a:ea typeface="Segoe UI Symbol" pitchFamily="34" charset="-122"/>
                <a:cs typeface="Segoe UI Symbol" pitchFamily="34" charset="-120"/>
              </a:rPr>
              <a:t>⛨</a:t>
            </a:r>
            <a:endParaRPr lang="en-US" sz="2531" dirty="0"/>
          </a:p>
        </p:txBody>
      </p:sp>
      <p:sp>
        <p:nvSpPr>
          <p:cNvPr id="7" name="Text 5"/>
          <p:cNvSpPr/>
          <p:nvPr/>
        </p:nvSpPr>
        <p:spPr>
          <a:xfrm>
            <a:off x="657225" y="2824349"/>
            <a:ext cx="2410234" cy="375154"/>
          </a:xfrm>
          <a:prstGeom prst="rect">
            <a:avLst/>
          </a:prstGeom>
          <a:noFill/>
          <a:ln/>
        </p:spPr>
        <p:txBody>
          <a:bodyPr wrap="none" lIns="0" tIns="0" rIns="0" bIns="0" rtlCol="0" anchor="t"/>
          <a:lstStyle/>
          <a:p>
            <a:pPr algn="l" indent="0" marL="0">
              <a:lnSpc>
                <a:spcPts val="2736"/>
              </a:lnSpc>
              <a:buNone/>
            </a:pPr>
            <a:r>
              <a:rPr lang="en-US" sz="2138" dirty="0">
                <a:solidFill>
                  <a:srgbClr val="1E4D3B"/>
                </a:solidFill>
                <a:latin typeface="Tinos" pitchFamily="34" charset="0"/>
                <a:ea typeface="Tinos" pitchFamily="34" charset="-122"/>
                <a:cs typeface="Tinos" pitchFamily="34" charset="-120"/>
              </a:rPr>
              <a:t>আইনি ও নৈতিক দায়িত্ব</a:t>
            </a:r>
            <a:endParaRPr lang="en-US" sz="2138" dirty="0"/>
          </a:p>
        </p:txBody>
      </p:sp>
      <p:sp>
        <p:nvSpPr>
          <p:cNvPr id="8" name="Text 6"/>
          <p:cNvSpPr/>
          <p:nvPr/>
        </p:nvSpPr>
        <p:spPr>
          <a:xfrm>
            <a:off x="657225" y="3286013"/>
            <a:ext cx="2410234" cy="570326"/>
          </a:xfrm>
          <a:prstGeom prst="rect">
            <a:avLst/>
          </a:prstGeom>
          <a:noFill/>
          <a:ln/>
        </p:spPr>
        <p:txBody>
          <a:bodyPr wrap="square" lIns="0" tIns="0" rIns="0" bIns="0" rtlCol="0" anchor="t"/>
          <a:lstStyle/>
          <a:p>
            <a:pPr algn="l" indent="0" marL="0">
              <a:lnSpc>
                <a:spcPts val="1387"/>
              </a:lnSpc>
              <a:buNone/>
            </a:pPr>
            <a:r>
              <a:rPr lang="en-US" sz="816" dirty="0">
                <a:solidFill>
                  <a:srgbClr val="4A4A4A"/>
                </a:solidFill>
                <a:latin typeface="Carlito" pitchFamily="34" charset="0"/>
                <a:ea typeface="Carlito" pitchFamily="34" charset="-122"/>
                <a:cs typeface="Carlito" pitchFamily="34" charset="-120"/>
              </a:rPr>
              <a:t>বালাইনাশক আইন, ২০১৮-এর অধীনে খুচরা বিক্রেতার দায়িত্ব শুধু বিক্রি নয় — সঠিক পরামর্শ, সংরক্ষণ, ও আইনি সহযোগিতা সমানভাবে গুরুত্বপূর্ণ।</a:t>
            </a:r>
            <a:endParaRPr lang="en-US" sz="816" dirty="0"/>
          </a:p>
        </p:txBody>
      </p:sp>
      <p:sp>
        <p:nvSpPr>
          <p:cNvPr id="9" name="Text 7"/>
          <p:cNvSpPr/>
          <p:nvPr/>
        </p:nvSpPr>
        <p:spPr>
          <a:xfrm>
            <a:off x="3471081" y="1298488"/>
            <a:ext cx="5212147" cy="392906"/>
          </a:xfrm>
          <a:prstGeom prst="roundRect">
            <a:avLst>
              <a:gd name="adj" fmla="val 29091"/>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0" name="Text 8"/>
          <p:cNvSpPr/>
          <p:nvPr/>
        </p:nvSpPr>
        <p:spPr>
          <a:xfrm>
            <a:off x="3588953" y="1402073"/>
            <a:ext cx="200025" cy="200025"/>
          </a:xfrm>
          <a:prstGeom prst="ellipse">
            <a:avLst/>
          </a:prstGeom>
          <a:solidFill>
            <a:srgbClr val="1E4D3B"/>
          </a:solidFill>
          <a:ln/>
        </p:spPr>
        <p:txBody>
          <a:bodyPr wrap="square" rtlCol="0" anchor="ctr"/>
          <a:lstStyle/>
          <a:p>
            <a:pPr indent="0" marL="0">
              <a:buNone/>
            </a:pPr>
            <a:endParaRPr lang="en-US" dirty="0"/>
          </a:p>
        </p:txBody>
      </p:sp>
      <p:sp>
        <p:nvSpPr>
          <p:cNvPr id="11" name="Text 9"/>
          <p:cNvSpPr/>
          <p:nvPr/>
        </p:nvSpPr>
        <p:spPr>
          <a:xfrm>
            <a:off x="3588953" y="1402073"/>
            <a:ext cx="250031" cy="200025"/>
          </a:xfrm>
          <a:prstGeom prst="rect">
            <a:avLst/>
          </a:prstGeom>
          <a:noFill/>
          <a:ln/>
        </p:spPr>
        <p:txBody>
          <a:bodyPr wrap="none" lIns="0" tIns="0" rIns="0" bIns="0" rtlCol="0" anchor="ctr"/>
          <a:lstStyle/>
          <a:p>
            <a:pPr algn="ctr" indent="0" marL="0">
              <a:lnSpc>
                <a:spcPts val="1133"/>
              </a:lnSpc>
              <a:buNone/>
            </a:pPr>
            <a:r>
              <a:rPr lang="en-US" sz="800" b="1" dirty="0">
                <a:solidFill>
                  <a:srgbClr val="FFFFFF"/>
                </a:solidFill>
                <a:latin typeface="Carlito" pitchFamily="34" charset="0"/>
                <a:ea typeface="Carlito" pitchFamily="34" charset="-122"/>
                <a:cs typeface="Carlito" pitchFamily="34" charset="-120"/>
              </a:rPr>
              <a:t>০১</a:t>
            </a:r>
            <a:endParaRPr lang="en-US" sz="800" dirty="0"/>
          </a:p>
        </p:txBody>
      </p:sp>
      <p:sp>
        <p:nvSpPr>
          <p:cNvPr id="12" name="Text 10"/>
          <p:cNvSpPr/>
          <p:nvPr/>
        </p:nvSpPr>
        <p:spPr>
          <a:xfrm>
            <a:off x="3888991" y="1387785"/>
            <a:ext cx="4683509" cy="173352"/>
          </a:xfrm>
          <a:prstGeom prst="rect">
            <a:avLst/>
          </a:prstGeom>
          <a:noFill/>
          <a:ln/>
        </p:spPr>
        <p:txBody>
          <a:bodyPr wrap="square" lIns="0" tIns="0" rIns="0" bIns="0" rtlCol="0" anchor="t"/>
          <a:lstStyle/>
          <a:p>
            <a:pPr algn="l" indent="0" marL="0">
              <a:lnSpc>
                <a:spcPts val="1264"/>
              </a:lnSpc>
              <a:buNone/>
            </a:pPr>
            <a:r>
              <a:rPr lang="en-US" sz="816" dirty="0">
                <a:solidFill>
                  <a:srgbClr val="1A1A1A"/>
                </a:solidFill>
                <a:latin typeface="Carlito" pitchFamily="34" charset="0"/>
                <a:ea typeface="Carlito" pitchFamily="34" charset="-122"/>
                <a:cs typeface="Carlito" pitchFamily="34" charset="-120"/>
              </a:rPr>
              <a:t>শুধুমাত্র </a:t>
            </a:r>
            <a:pPr algn="l" indent="0" marL="0">
              <a:lnSpc>
                <a:spcPts val="1264"/>
              </a:lnSpc>
              <a:buNone/>
            </a:pPr>
            <a:r>
              <a:rPr lang="en-US" sz="816" dirty="0">
                <a:solidFill>
                  <a:srgbClr val="14342A"/>
                </a:solidFill>
                <a:latin typeface="Carlito" pitchFamily="34" charset="0"/>
                <a:ea typeface="Carlito" pitchFamily="34" charset="-122"/>
                <a:cs typeface="Carlito" pitchFamily="34" charset="-120"/>
              </a:rPr>
              <a:t>নিবন্ধিত ও অনুমোদিত</a:t>
            </a:r>
            <a:pPr algn="l" indent="0" marL="0">
              <a:lnSpc>
                <a:spcPts val="1264"/>
              </a:lnSpc>
              <a:buNone/>
            </a:pPr>
            <a:r>
              <a:rPr lang="en-US" sz="816" dirty="0">
                <a:solidFill>
                  <a:srgbClr val="1A1A1A"/>
                </a:solidFill>
                <a:latin typeface="Carlito" pitchFamily="34" charset="0"/>
                <a:ea typeface="Carlito" pitchFamily="34" charset="-122"/>
                <a:cs typeface="Carlito" pitchFamily="34" charset="-120"/>
              </a:rPr>
              <a:t> পণ্য বিক্রি</a:t>
            </a:r>
            <a:endParaRPr lang="en-US" sz="816" dirty="0"/>
          </a:p>
        </p:txBody>
      </p:sp>
      <p:sp>
        <p:nvSpPr>
          <p:cNvPr id="13" name="Text 11"/>
          <p:cNvSpPr/>
          <p:nvPr/>
        </p:nvSpPr>
        <p:spPr>
          <a:xfrm>
            <a:off x="3471081" y="1784263"/>
            <a:ext cx="5212147" cy="392906"/>
          </a:xfrm>
          <a:prstGeom prst="roundRect">
            <a:avLst>
              <a:gd name="adj" fmla="val 29091"/>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4" name="Text 12"/>
          <p:cNvSpPr/>
          <p:nvPr/>
        </p:nvSpPr>
        <p:spPr>
          <a:xfrm>
            <a:off x="3588953" y="1887848"/>
            <a:ext cx="200025" cy="200025"/>
          </a:xfrm>
          <a:prstGeom prst="ellipse">
            <a:avLst/>
          </a:prstGeom>
          <a:solidFill>
            <a:srgbClr val="1E4D3B"/>
          </a:solidFill>
          <a:ln/>
        </p:spPr>
        <p:txBody>
          <a:bodyPr wrap="square" rtlCol="0" anchor="ctr"/>
          <a:lstStyle/>
          <a:p>
            <a:pPr indent="0" marL="0">
              <a:buNone/>
            </a:pPr>
            <a:endParaRPr lang="en-US" dirty="0"/>
          </a:p>
        </p:txBody>
      </p:sp>
      <p:sp>
        <p:nvSpPr>
          <p:cNvPr id="15" name="Text 13"/>
          <p:cNvSpPr/>
          <p:nvPr/>
        </p:nvSpPr>
        <p:spPr>
          <a:xfrm>
            <a:off x="3588953" y="1887848"/>
            <a:ext cx="250031" cy="200025"/>
          </a:xfrm>
          <a:prstGeom prst="rect">
            <a:avLst/>
          </a:prstGeom>
          <a:noFill/>
          <a:ln/>
        </p:spPr>
        <p:txBody>
          <a:bodyPr wrap="none" lIns="0" tIns="0" rIns="0" bIns="0" rtlCol="0" anchor="ctr"/>
          <a:lstStyle/>
          <a:p>
            <a:pPr algn="ctr" indent="0" marL="0">
              <a:lnSpc>
                <a:spcPts val="1133"/>
              </a:lnSpc>
              <a:buNone/>
            </a:pPr>
            <a:r>
              <a:rPr lang="en-US" sz="800" b="1" dirty="0">
                <a:solidFill>
                  <a:srgbClr val="FFFFFF"/>
                </a:solidFill>
                <a:latin typeface="Carlito" pitchFamily="34" charset="0"/>
                <a:ea typeface="Carlito" pitchFamily="34" charset="-122"/>
                <a:cs typeface="Carlito" pitchFamily="34" charset="-120"/>
              </a:rPr>
              <a:t>০২</a:t>
            </a:r>
            <a:endParaRPr lang="en-US" sz="800" dirty="0"/>
          </a:p>
        </p:txBody>
      </p:sp>
      <p:sp>
        <p:nvSpPr>
          <p:cNvPr id="16" name="Text 14"/>
          <p:cNvSpPr/>
          <p:nvPr/>
        </p:nvSpPr>
        <p:spPr>
          <a:xfrm>
            <a:off x="3888991" y="1873560"/>
            <a:ext cx="4676366" cy="173352"/>
          </a:xfrm>
          <a:prstGeom prst="rect">
            <a:avLst/>
          </a:prstGeom>
          <a:noFill/>
          <a:ln/>
        </p:spPr>
        <p:txBody>
          <a:bodyPr wrap="square" lIns="0" tIns="0" rIns="0" bIns="0" rtlCol="0" anchor="t"/>
          <a:lstStyle/>
          <a:p>
            <a:pPr algn="l" indent="0" marL="0">
              <a:lnSpc>
                <a:spcPts val="1264"/>
              </a:lnSpc>
              <a:buNone/>
            </a:pPr>
            <a:r>
              <a:rPr lang="en-US" sz="816" dirty="0">
                <a:solidFill>
                  <a:srgbClr val="1A1A1A"/>
                </a:solidFill>
                <a:latin typeface="Carlito" pitchFamily="34" charset="0"/>
                <a:ea typeface="Carlito" pitchFamily="34" charset="-122"/>
                <a:cs typeface="Carlito" pitchFamily="34" charset="-120"/>
              </a:rPr>
              <a:t>অনুমোদিত ডিস্ট্রিবিউটর থেকে ক্রয়, </a:t>
            </a:r>
            <a:pPr algn="l" indent="0" marL="0">
              <a:lnSpc>
                <a:spcPts val="1264"/>
              </a:lnSpc>
              <a:buNone/>
            </a:pPr>
            <a:r>
              <a:rPr lang="en-US" sz="816" dirty="0">
                <a:solidFill>
                  <a:srgbClr val="14342A"/>
                </a:solidFill>
                <a:latin typeface="Carlito" pitchFamily="34" charset="0"/>
                <a:ea typeface="Carlito" pitchFamily="34" charset="-122"/>
                <a:cs typeface="Carlito" pitchFamily="34" charset="-120"/>
              </a:rPr>
              <a:t>চালান সংরক্ষণ</a:t>
            </a:r>
            <a:endParaRPr lang="en-US" sz="816" dirty="0"/>
          </a:p>
        </p:txBody>
      </p:sp>
      <p:sp>
        <p:nvSpPr>
          <p:cNvPr id="17" name="Text 15"/>
          <p:cNvSpPr/>
          <p:nvPr/>
        </p:nvSpPr>
        <p:spPr>
          <a:xfrm>
            <a:off x="3471081" y="2270038"/>
            <a:ext cx="5212147" cy="392906"/>
          </a:xfrm>
          <a:prstGeom prst="roundRect">
            <a:avLst>
              <a:gd name="adj" fmla="val 29091"/>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8" name="Text 16"/>
          <p:cNvSpPr/>
          <p:nvPr/>
        </p:nvSpPr>
        <p:spPr>
          <a:xfrm>
            <a:off x="3588953" y="2373623"/>
            <a:ext cx="200025" cy="200025"/>
          </a:xfrm>
          <a:prstGeom prst="ellipse">
            <a:avLst/>
          </a:prstGeom>
          <a:solidFill>
            <a:srgbClr val="1E4D3B"/>
          </a:solidFill>
          <a:ln/>
        </p:spPr>
        <p:txBody>
          <a:bodyPr wrap="square" rtlCol="0" anchor="ctr"/>
          <a:lstStyle/>
          <a:p>
            <a:pPr indent="0" marL="0">
              <a:buNone/>
            </a:pPr>
            <a:endParaRPr lang="en-US" dirty="0"/>
          </a:p>
        </p:txBody>
      </p:sp>
      <p:sp>
        <p:nvSpPr>
          <p:cNvPr id="19" name="Text 17"/>
          <p:cNvSpPr/>
          <p:nvPr/>
        </p:nvSpPr>
        <p:spPr>
          <a:xfrm>
            <a:off x="3588953" y="2373623"/>
            <a:ext cx="250031" cy="200025"/>
          </a:xfrm>
          <a:prstGeom prst="rect">
            <a:avLst/>
          </a:prstGeom>
          <a:noFill/>
          <a:ln/>
        </p:spPr>
        <p:txBody>
          <a:bodyPr wrap="none" lIns="0" tIns="0" rIns="0" bIns="0" rtlCol="0" anchor="ctr"/>
          <a:lstStyle/>
          <a:p>
            <a:pPr algn="ctr" indent="0" marL="0">
              <a:lnSpc>
                <a:spcPts val="1133"/>
              </a:lnSpc>
              <a:buNone/>
            </a:pPr>
            <a:r>
              <a:rPr lang="en-US" sz="800" b="1" dirty="0">
                <a:solidFill>
                  <a:srgbClr val="FFFFFF"/>
                </a:solidFill>
                <a:latin typeface="Carlito" pitchFamily="34" charset="0"/>
                <a:ea typeface="Carlito" pitchFamily="34" charset="-122"/>
                <a:cs typeface="Carlito" pitchFamily="34" charset="-120"/>
              </a:rPr>
              <a:t>০৩</a:t>
            </a:r>
            <a:endParaRPr lang="en-US" sz="800" dirty="0"/>
          </a:p>
        </p:txBody>
      </p:sp>
      <p:sp>
        <p:nvSpPr>
          <p:cNvPr id="20" name="Text 18"/>
          <p:cNvSpPr/>
          <p:nvPr/>
        </p:nvSpPr>
        <p:spPr>
          <a:xfrm>
            <a:off x="3888991" y="2359335"/>
            <a:ext cx="4683509" cy="173352"/>
          </a:xfrm>
          <a:prstGeom prst="rect">
            <a:avLst/>
          </a:prstGeom>
          <a:noFill/>
          <a:ln/>
        </p:spPr>
        <p:txBody>
          <a:bodyPr wrap="square" lIns="0" tIns="0" rIns="0" bIns="0" rtlCol="0" anchor="t"/>
          <a:lstStyle/>
          <a:p>
            <a:pPr algn="l" indent="0" marL="0">
              <a:lnSpc>
                <a:spcPts val="1264"/>
              </a:lnSpc>
              <a:buNone/>
            </a:pPr>
            <a:r>
              <a:rPr lang="en-US" sz="816" dirty="0">
                <a:solidFill>
                  <a:srgbClr val="1A1A1A"/>
                </a:solidFill>
                <a:latin typeface="Carlito" pitchFamily="34" charset="0"/>
                <a:ea typeface="Carlito" pitchFamily="34" charset="-122"/>
                <a:cs typeface="Carlito" pitchFamily="34" charset="-120"/>
              </a:rPr>
              <a:t>প্রতিটি বিক্রয়ে </a:t>
            </a:r>
            <a:pPr algn="l" indent="0" marL="0">
              <a:lnSpc>
                <a:spcPts val="1264"/>
              </a:lnSpc>
              <a:buNone/>
            </a:pPr>
            <a:r>
              <a:rPr lang="en-US" sz="816" dirty="0">
                <a:solidFill>
                  <a:srgbClr val="14342A"/>
                </a:solidFill>
                <a:latin typeface="Carlito" pitchFamily="34" charset="0"/>
                <a:ea typeface="Carlito" pitchFamily="34" charset="-122"/>
                <a:cs typeface="Carlito" pitchFamily="34" charset="-120"/>
              </a:rPr>
              <a:t>ক্রয় রসিদ</a:t>
            </a:r>
            <a:pPr algn="l" indent="0" marL="0">
              <a:lnSpc>
                <a:spcPts val="1264"/>
              </a:lnSpc>
              <a:buNone/>
            </a:pPr>
            <a:r>
              <a:rPr lang="en-US" sz="816" dirty="0">
                <a:solidFill>
                  <a:srgbClr val="1A1A1A"/>
                </a:solidFill>
                <a:latin typeface="Carlito" pitchFamily="34" charset="0"/>
                <a:ea typeface="Carlito" pitchFamily="34" charset="-122"/>
                <a:cs typeface="Carlito" pitchFamily="34" charset="-120"/>
              </a:rPr>
              <a:t> প্রদান</a:t>
            </a:r>
            <a:endParaRPr lang="en-US" sz="816" dirty="0"/>
          </a:p>
        </p:txBody>
      </p:sp>
      <p:sp>
        <p:nvSpPr>
          <p:cNvPr id="21" name="Text 19"/>
          <p:cNvSpPr/>
          <p:nvPr/>
        </p:nvSpPr>
        <p:spPr>
          <a:xfrm>
            <a:off x="3471081" y="2755813"/>
            <a:ext cx="5212147" cy="392906"/>
          </a:xfrm>
          <a:prstGeom prst="roundRect">
            <a:avLst>
              <a:gd name="adj" fmla="val 29091"/>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22" name="Text 20"/>
          <p:cNvSpPr/>
          <p:nvPr/>
        </p:nvSpPr>
        <p:spPr>
          <a:xfrm>
            <a:off x="3588953" y="2859398"/>
            <a:ext cx="200025" cy="200025"/>
          </a:xfrm>
          <a:prstGeom prst="ellipse">
            <a:avLst/>
          </a:prstGeom>
          <a:solidFill>
            <a:srgbClr val="1E4D3B"/>
          </a:solidFill>
          <a:ln/>
        </p:spPr>
        <p:txBody>
          <a:bodyPr wrap="square" rtlCol="0" anchor="ctr"/>
          <a:lstStyle/>
          <a:p>
            <a:pPr indent="0" marL="0">
              <a:buNone/>
            </a:pPr>
            <a:endParaRPr lang="en-US" dirty="0"/>
          </a:p>
        </p:txBody>
      </p:sp>
      <p:sp>
        <p:nvSpPr>
          <p:cNvPr id="23" name="Text 21"/>
          <p:cNvSpPr/>
          <p:nvPr/>
        </p:nvSpPr>
        <p:spPr>
          <a:xfrm>
            <a:off x="3588953" y="2859398"/>
            <a:ext cx="250031" cy="200025"/>
          </a:xfrm>
          <a:prstGeom prst="rect">
            <a:avLst/>
          </a:prstGeom>
          <a:noFill/>
          <a:ln/>
        </p:spPr>
        <p:txBody>
          <a:bodyPr wrap="none" lIns="0" tIns="0" rIns="0" bIns="0" rtlCol="0" anchor="ctr"/>
          <a:lstStyle/>
          <a:p>
            <a:pPr algn="ctr" indent="0" marL="0">
              <a:lnSpc>
                <a:spcPts val="1133"/>
              </a:lnSpc>
              <a:buNone/>
            </a:pPr>
            <a:r>
              <a:rPr lang="en-US" sz="800" b="1" dirty="0">
                <a:solidFill>
                  <a:srgbClr val="FFFFFF"/>
                </a:solidFill>
                <a:latin typeface="Carlito" pitchFamily="34" charset="0"/>
                <a:ea typeface="Carlito" pitchFamily="34" charset="-122"/>
                <a:cs typeface="Carlito" pitchFamily="34" charset="-120"/>
              </a:rPr>
              <a:t>০৪</a:t>
            </a:r>
            <a:endParaRPr lang="en-US" sz="800" dirty="0"/>
          </a:p>
        </p:txBody>
      </p:sp>
      <p:sp>
        <p:nvSpPr>
          <p:cNvPr id="24" name="Text 22"/>
          <p:cNvSpPr/>
          <p:nvPr/>
        </p:nvSpPr>
        <p:spPr>
          <a:xfrm>
            <a:off x="3888991" y="2845110"/>
            <a:ext cx="4683509" cy="173352"/>
          </a:xfrm>
          <a:prstGeom prst="rect">
            <a:avLst/>
          </a:prstGeom>
          <a:noFill/>
          <a:ln/>
        </p:spPr>
        <p:txBody>
          <a:bodyPr wrap="square" lIns="0" tIns="0" rIns="0" bIns="0" rtlCol="0" anchor="t"/>
          <a:lstStyle/>
          <a:p>
            <a:pPr algn="l" indent="0" marL="0">
              <a:lnSpc>
                <a:spcPts val="1264"/>
              </a:lnSpc>
              <a:buNone/>
            </a:pPr>
            <a:r>
              <a:rPr lang="en-US" sz="816" dirty="0">
                <a:solidFill>
                  <a:srgbClr val="14342A"/>
                </a:solidFill>
                <a:latin typeface="Carlito" pitchFamily="34" charset="0"/>
                <a:ea typeface="Carlito" pitchFamily="34" charset="-122"/>
                <a:cs typeface="Carlito" pitchFamily="34" charset="-120"/>
              </a:rPr>
              <a:t>মেয়াদোত্তীর্ণ পণ্য</a:t>
            </a:r>
            <a:pPr algn="l" indent="0" marL="0">
              <a:lnSpc>
                <a:spcPts val="1264"/>
              </a:lnSpc>
              <a:buNone/>
            </a:pPr>
            <a:r>
              <a:rPr lang="en-US" sz="816" dirty="0">
                <a:solidFill>
                  <a:srgbClr val="1A1A1A"/>
                </a:solidFill>
                <a:latin typeface="Carlito" pitchFamily="34" charset="0"/>
                <a:ea typeface="Carlito" pitchFamily="34" charset="-122"/>
                <a:cs typeface="Carlito" pitchFamily="34" charset="-120"/>
              </a:rPr>
              <a:t> বিক্রি না করা</a:t>
            </a:r>
            <a:endParaRPr lang="en-US" sz="816" dirty="0"/>
          </a:p>
        </p:txBody>
      </p:sp>
      <p:sp>
        <p:nvSpPr>
          <p:cNvPr id="25" name="Text 23"/>
          <p:cNvSpPr/>
          <p:nvPr/>
        </p:nvSpPr>
        <p:spPr>
          <a:xfrm>
            <a:off x="3471081" y="3241588"/>
            <a:ext cx="5212147" cy="392906"/>
          </a:xfrm>
          <a:prstGeom prst="roundRect">
            <a:avLst>
              <a:gd name="adj" fmla="val 29091"/>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26" name="Text 24"/>
          <p:cNvSpPr/>
          <p:nvPr/>
        </p:nvSpPr>
        <p:spPr>
          <a:xfrm>
            <a:off x="3588953" y="3345173"/>
            <a:ext cx="200025" cy="200025"/>
          </a:xfrm>
          <a:prstGeom prst="ellipse">
            <a:avLst/>
          </a:prstGeom>
          <a:solidFill>
            <a:srgbClr val="1E4D3B"/>
          </a:solidFill>
          <a:ln/>
        </p:spPr>
        <p:txBody>
          <a:bodyPr wrap="square" rtlCol="0" anchor="ctr"/>
          <a:lstStyle/>
          <a:p>
            <a:pPr indent="0" marL="0">
              <a:buNone/>
            </a:pPr>
            <a:endParaRPr lang="en-US" dirty="0"/>
          </a:p>
        </p:txBody>
      </p:sp>
      <p:sp>
        <p:nvSpPr>
          <p:cNvPr id="27" name="Text 25"/>
          <p:cNvSpPr/>
          <p:nvPr/>
        </p:nvSpPr>
        <p:spPr>
          <a:xfrm>
            <a:off x="3588953" y="3345173"/>
            <a:ext cx="250031" cy="200025"/>
          </a:xfrm>
          <a:prstGeom prst="rect">
            <a:avLst/>
          </a:prstGeom>
          <a:noFill/>
          <a:ln/>
        </p:spPr>
        <p:txBody>
          <a:bodyPr wrap="none" lIns="0" tIns="0" rIns="0" bIns="0" rtlCol="0" anchor="ctr"/>
          <a:lstStyle/>
          <a:p>
            <a:pPr algn="ctr" indent="0" marL="0">
              <a:lnSpc>
                <a:spcPts val="1133"/>
              </a:lnSpc>
              <a:buNone/>
            </a:pPr>
            <a:r>
              <a:rPr lang="en-US" sz="800" b="1" dirty="0">
                <a:solidFill>
                  <a:srgbClr val="FFFFFF"/>
                </a:solidFill>
                <a:latin typeface="Carlito" pitchFamily="34" charset="0"/>
                <a:ea typeface="Carlito" pitchFamily="34" charset="-122"/>
                <a:cs typeface="Carlito" pitchFamily="34" charset="-120"/>
              </a:rPr>
              <a:t>০৫</a:t>
            </a:r>
            <a:endParaRPr lang="en-US" sz="800" dirty="0"/>
          </a:p>
        </p:txBody>
      </p:sp>
      <p:sp>
        <p:nvSpPr>
          <p:cNvPr id="28" name="Text 26"/>
          <p:cNvSpPr/>
          <p:nvPr/>
        </p:nvSpPr>
        <p:spPr>
          <a:xfrm>
            <a:off x="3888991" y="3330885"/>
            <a:ext cx="4683509" cy="173352"/>
          </a:xfrm>
          <a:prstGeom prst="rect">
            <a:avLst/>
          </a:prstGeom>
          <a:noFill/>
          <a:ln/>
        </p:spPr>
        <p:txBody>
          <a:bodyPr wrap="square" lIns="0" tIns="0" rIns="0" bIns="0" rtlCol="0" anchor="t"/>
          <a:lstStyle/>
          <a:p>
            <a:pPr algn="l" indent="0" marL="0">
              <a:lnSpc>
                <a:spcPts val="1264"/>
              </a:lnSpc>
              <a:buNone/>
            </a:pPr>
            <a:r>
              <a:rPr lang="en-US" sz="816" dirty="0">
                <a:solidFill>
                  <a:srgbClr val="1A1A1A"/>
                </a:solidFill>
                <a:latin typeface="Carlito" pitchFamily="34" charset="0"/>
                <a:ea typeface="Carlito" pitchFamily="34" charset="-122"/>
                <a:cs typeface="Carlito" pitchFamily="34" charset="-120"/>
              </a:rPr>
              <a:t>সঠিক সংরক্ষণ ও </a:t>
            </a:r>
            <a:pPr algn="l" indent="0" marL="0">
              <a:lnSpc>
                <a:spcPts val="1264"/>
              </a:lnSpc>
              <a:buNone/>
            </a:pPr>
            <a:r>
              <a:rPr lang="en-US" sz="816" dirty="0">
                <a:solidFill>
                  <a:srgbClr val="14342A"/>
                </a:solidFill>
                <a:latin typeface="Carlito" pitchFamily="34" charset="0"/>
                <a:ea typeface="Carlito" pitchFamily="34" charset="-122"/>
                <a:cs typeface="Carlito" pitchFamily="34" charset="-120"/>
              </a:rPr>
              <a:t>স্টক ঘূর্ণন</a:t>
            </a:r>
            <a:pPr algn="l" indent="0" marL="0">
              <a:lnSpc>
                <a:spcPts val="1264"/>
              </a:lnSpc>
              <a:buNone/>
            </a:pPr>
            <a:r>
              <a:rPr lang="en-US" sz="816" dirty="0">
                <a:solidFill>
                  <a:srgbClr val="1A1A1A"/>
                </a:solidFill>
                <a:latin typeface="Carlito" pitchFamily="34" charset="0"/>
                <a:ea typeface="Carlito" pitchFamily="34" charset="-122"/>
                <a:cs typeface="Carlito" pitchFamily="34" charset="-120"/>
              </a:rPr>
              <a:t> নিশ্চিতকরণ</a:t>
            </a:r>
            <a:endParaRPr lang="en-US" sz="816" dirty="0"/>
          </a:p>
        </p:txBody>
      </p:sp>
      <p:sp>
        <p:nvSpPr>
          <p:cNvPr id="29" name="Text 27"/>
          <p:cNvSpPr/>
          <p:nvPr/>
        </p:nvSpPr>
        <p:spPr>
          <a:xfrm>
            <a:off x="3471081" y="3727363"/>
            <a:ext cx="5212147" cy="392906"/>
          </a:xfrm>
          <a:prstGeom prst="roundRect">
            <a:avLst>
              <a:gd name="adj" fmla="val 29091"/>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30" name="Text 28"/>
          <p:cNvSpPr/>
          <p:nvPr/>
        </p:nvSpPr>
        <p:spPr>
          <a:xfrm>
            <a:off x="3588953" y="3830948"/>
            <a:ext cx="200025" cy="200025"/>
          </a:xfrm>
          <a:prstGeom prst="ellipse">
            <a:avLst/>
          </a:prstGeom>
          <a:solidFill>
            <a:srgbClr val="1E4D3B"/>
          </a:solidFill>
          <a:ln/>
        </p:spPr>
        <p:txBody>
          <a:bodyPr wrap="square" rtlCol="0" anchor="ctr"/>
          <a:lstStyle/>
          <a:p>
            <a:pPr indent="0" marL="0">
              <a:buNone/>
            </a:pPr>
            <a:endParaRPr lang="en-US" dirty="0"/>
          </a:p>
        </p:txBody>
      </p:sp>
      <p:sp>
        <p:nvSpPr>
          <p:cNvPr id="31" name="Text 29"/>
          <p:cNvSpPr/>
          <p:nvPr/>
        </p:nvSpPr>
        <p:spPr>
          <a:xfrm>
            <a:off x="3588953" y="3830948"/>
            <a:ext cx="250031" cy="200025"/>
          </a:xfrm>
          <a:prstGeom prst="rect">
            <a:avLst/>
          </a:prstGeom>
          <a:noFill/>
          <a:ln/>
        </p:spPr>
        <p:txBody>
          <a:bodyPr wrap="none" lIns="0" tIns="0" rIns="0" bIns="0" rtlCol="0" anchor="ctr"/>
          <a:lstStyle/>
          <a:p>
            <a:pPr algn="ctr" indent="0" marL="0">
              <a:lnSpc>
                <a:spcPts val="1133"/>
              </a:lnSpc>
              <a:buNone/>
            </a:pPr>
            <a:r>
              <a:rPr lang="en-US" sz="800" b="1" dirty="0">
                <a:solidFill>
                  <a:srgbClr val="FFFFFF"/>
                </a:solidFill>
                <a:latin typeface="Carlito" pitchFamily="34" charset="0"/>
                <a:ea typeface="Carlito" pitchFamily="34" charset="-122"/>
                <a:cs typeface="Carlito" pitchFamily="34" charset="-120"/>
              </a:rPr>
              <a:t>০৬</a:t>
            </a:r>
            <a:endParaRPr lang="en-US" sz="800" dirty="0"/>
          </a:p>
        </p:txBody>
      </p:sp>
      <p:sp>
        <p:nvSpPr>
          <p:cNvPr id="32" name="Text 30"/>
          <p:cNvSpPr/>
          <p:nvPr/>
        </p:nvSpPr>
        <p:spPr>
          <a:xfrm>
            <a:off x="3888991" y="3816660"/>
            <a:ext cx="4683509" cy="173352"/>
          </a:xfrm>
          <a:prstGeom prst="rect">
            <a:avLst/>
          </a:prstGeom>
          <a:noFill/>
          <a:ln/>
        </p:spPr>
        <p:txBody>
          <a:bodyPr wrap="square" lIns="0" tIns="0" rIns="0" bIns="0" rtlCol="0" anchor="t"/>
          <a:lstStyle/>
          <a:p>
            <a:pPr algn="l" indent="0" marL="0">
              <a:lnSpc>
                <a:spcPts val="1264"/>
              </a:lnSpc>
              <a:buNone/>
            </a:pPr>
            <a:r>
              <a:rPr lang="en-US" sz="816" dirty="0">
                <a:solidFill>
                  <a:srgbClr val="1A1A1A"/>
                </a:solidFill>
                <a:latin typeface="Carlito" pitchFamily="34" charset="0"/>
                <a:ea typeface="Carlito" pitchFamily="34" charset="-122"/>
                <a:cs typeface="Carlito" pitchFamily="34" charset="-120"/>
              </a:rPr>
              <a:t>কৃষককে সঠিক পরামর্শ ও </a:t>
            </a:r>
            <a:pPr algn="l" indent="0" marL="0">
              <a:lnSpc>
                <a:spcPts val="1264"/>
              </a:lnSpc>
              <a:buNone/>
            </a:pPr>
            <a:r>
              <a:rPr lang="en-US" sz="816" dirty="0">
                <a:solidFill>
                  <a:srgbClr val="14342A"/>
                </a:solidFill>
                <a:latin typeface="Carlito" pitchFamily="34" charset="0"/>
                <a:ea typeface="Carlito" pitchFamily="34" charset="-122"/>
                <a:cs typeface="Carlito" pitchFamily="34" charset="-120"/>
              </a:rPr>
              <a:t>সতর্কতা</a:t>
            </a:r>
            <a:pPr algn="l" indent="0" marL="0">
              <a:lnSpc>
                <a:spcPts val="1264"/>
              </a:lnSpc>
              <a:buNone/>
            </a:pPr>
            <a:r>
              <a:rPr lang="en-US" sz="816" dirty="0">
                <a:solidFill>
                  <a:srgbClr val="1A1A1A"/>
                </a:solidFill>
                <a:latin typeface="Carlito" pitchFamily="34" charset="0"/>
                <a:ea typeface="Carlito" pitchFamily="34" charset="-122"/>
                <a:cs typeface="Carlito" pitchFamily="34" charset="-120"/>
              </a:rPr>
              <a:t> প্রদান</a:t>
            </a:r>
            <a:endParaRPr lang="en-US" sz="816" dirty="0"/>
          </a:p>
        </p:txBody>
      </p:sp>
      <p:sp>
        <p:nvSpPr>
          <p:cNvPr id="33" name="Text 31"/>
          <p:cNvSpPr/>
          <p:nvPr/>
        </p:nvSpPr>
        <p:spPr>
          <a:xfrm>
            <a:off x="3471081" y="4213138"/>
            <a:ext cx="5212147" cy="392906"/>
          </a:xfrm>
          <a:prstGeom prst="roundRect">
            <a:avLst>
              <a:gd name="adj" fmla="val 29091"/>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34" name="Text 32"/>
          <p:cNvSpPr/>
          <p:nvPr/>
        </p:nvSpPr>
        <p:spPr>
          <a:xfrm>
            <a:off x="3588953" y="4316723"/>
            <a:ext cx="200025" cy="200025"/>
          </a:xfrm>
          <a:prstGeom prst="ellipse">
            <a:avLst/>
          </a:prstGeom>
          <a:solidFill>
            <a:srgbClr val="1E4D3B"/>
          </a:solidFill>
          <a:ln/>
        </p:spPr>
        <p:txBody>
          <a:bodyPr wrap="square" rtlCol="0" anchor="ctr"/>
          <a:lstStyle/>
          <a:p>
            <a:pPr indent="0" marL="0">
              <a:buNone/>
            </a:pPr>
            <a:endParaRPr lang="en-US" dirty="0"/>
          </a:p>
        </p:txBody>
      </p:sp>
      <p:sp>
        <p:nvSpPr>
          <p:cNvPr id="35" name="Text 33"/>
          <p:cNvSpPr/>
          <p:nvPr/>
        </p:nvSpPr>
        <p:spPr>
          <a:xfrm>
            <a:off x="3588953" y="4316723"/>
            <a:ext cx="250031" cy="200025"/>
          </a:xfrm>
          <a:prstGeom prst="rect">
            <a:avLst/>
          </a:prstGeom>
          <a:noFill/>
          <a:ln/>
        </p:spPr>
        <p:txBody>
          <a:bodyPr wrap="none" lIns="0" tIns="0" rIns="0" bIns="0" rtlCol="0" anchor="ctr"/>
          <a:lstStyle/>
          <a:p>
            <a:pPr algn="ctr" indent="0" marL="0">
              <a:lnSpc>
                <a:spcPts val="1133"/>
              </a:lnSpc>
              <a:buNone/>
            </a:pPr>
            <a:r>
              <a:rPr lang="en-US" sz="800" b="1" dirty="0">
                <a:solidFill>
                  <a:srgbClr val="FFFFFF"/>
                </a:solidFill>
                <a:latin typeface="Carlito" pitchFamily="34" charset="0"/>
                <a:ea typeface="Carlito" pitchFamily="34" charset="-122"/>
                <a:cs typeface="Carlito" pitchFamily="34" charset="-120"/>
              </a:rPr>
              <a:t>০৭</a:t>
            </a:r>
            <a:endParaRPr lang="en-US" sz="800" dirty="0"/>
          </a:p>
        </p:txBody>
      </p:sp>
      <p:sp>
        <p:nvSpPr>
          <p:cNvPr id="36" name="Text 34"/>
          <p:cNvSpPr/>
          <p:nvPr/>
        </p:nvSpPr>
        <p:spPr>
          <a:xfrm>
            <a:off x="3888991" y="4302435"/>
            <a:ext cx="4683509" cy="173352"/>
          </a:xfrm>
          <a:prstGeom prst="rect">
            <a:avLst/>
          </a:prstGeom>
          <a:noFill/>
          <a:ln/>
        </p:spPr>
        <p:txBody>
          <a:bodyPr wrap="square" lIns="0" tIns="0" rIns="0" bIns="0" rtlCol="0" anchor="t"/>
          <a:lstStyle/>
          <a:p>
            <a:pPr algn="l" indent="0" marL="0">
              <a:lnSpc>
                <a:spcPts val="1264"/>
              </a:lnSpc>
              <a:buNone/>
            </a:pPr>
            <a:r>
              <a:rPr lang="en-US" sz="816" dirty="0">
                <a:solidFill>
                  <a:srgbClr val="1A1A1A"/>
                </a:solidFill>
                <a:latin typeface="Carlito" pitchFamily="34" charset="0"/>
                <a:ea typeface="Carlito" pitchFamily="34" charset="-122"/>
                <a:cs typeface="Carlito" pitchFamily="34" charset="-120"/>
              </a:rPr>
              <a:t>পরিদর্শককে </a:t>
            </a:r>
            <a:pPr algn="l" indent="0" marL="0">
              <a:lnSpc>
                <a:spcPts val="1264"/>
              </a:lnSpc>
              <a:buNone/>
            </a:pPr>
            <a:r>
              <a:rPr lang="en-US" sz="816" dirty="0">
                <a:solidFill>
                  <a:srgbClr val="14342A"/>
                </a:solidFill>
                <a:latin typeface="Carlito" pitchFamily="34" charset="0"/>
                <a:ea typeface="Carlito" pitchFamily="34" charset="-122"/>
                <a:cs typeface="Carlito" pitchFamily="34" charset="-120"/>
              </a:rPr>
              <a:t>সম্পূর্ণ সহযোগিতা</a:t>
            </a:r>
            <a:pPr algn="l" indent="0" marL="0">
              <a:lnSpc>
                <a:spcPts val="1264"/>
              </a:lnSpc>
              <a:buNone/>
            </a:pPr>
            <a:r>
              <a:rPr lang="en-US" sz="816" dirty="0">
                <a:solidFill>
                  <a:srgbClr val="1A1A1A"/>
                </a:solidFill>
                <a:latin typeface="Carlito" pitchFamily="34" charset="0"/>
                <a:ea typeface="Carlito" pitchFamily="34" charset="-122"/>
                <a:cs typeface="Carlito" pitchFamily="34" charset="-120"/>
              </a:rPr>
              <a:t> প্রদান</a:t>
            </a:r>
            <a:endParaRPr lang="en-US" sz="816" dirty="0"/>
          </a:p>
        </p:txBody>
      </p:sp>
      <p:sp>
        <p:nvSpPr>
          <p:cNvPr id="37" name="Text 35"/>
          <p:cNvSpPr/>
          <p:nvPr/>
        </p:nvSpPr>
        <p:spPr>
          <a:xfrm>
            <a:off x="8709013" y="4706392"/>
            <a:ext cx="28450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৪১</a:t>
            </a:r>
            <a:endParaRPr lang="en-US" sz="1350" dirty="0"/>
          </a:p>
        </p:txBody>
      </p:sp>
      <p:pic>
        <p:nvPicPr>
          <p:cNvPr id="38"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57200" y="1270360"/>
            <a:ext cx="4629150"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০৭ · খুচরা বিক্রেতার সম্মানের পথ</a:t>
            </a:r>
            <a:endParaRPr lang="en-US" sz="1350" dirty="0"/>
          </a:p>
        </p:txBody>
      </p:sp>
      <p:sp>
        <p:nvSpPr>
          <p:cNvPr id="3" name="Text 1"/>
          <p:cNvSpPr/>
          <p:nvPr/>
        </p:nvSpPr>
        <p:spPr>
          <a:xfrm>
            <a:off x="457200" y="1636030"/>
            <a:ext cx="4714875" cy="509809"/>
          </a:xfrm>
          <a:prstGeom prst="rect">
            <a:avLst/>
          </a:prstGeom>
          <a:noFill/>
          <a:ln/>
        </p:spPr>
        <p:txBody>
          <a:bodyPr wrap="square" lIns="0" tIns="0" rIns="0" bIns="0" rtlCol="0" anchor="t"/>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গ্রাহকের সাথে আচরণ ও পরামর্শ</a:t>
            </a:r>
            <a:endParaRPr lang="en-US" sz="3150" dirty="0"/>
          </a:p>
        </p:txBody>
      </p:sp>
      <p:sp>
        <p:nvSpPr>
          <p:cNvPr id="4" name="Shape 2"/>
          <p:cNvSpPr/>
          <p:nvPr/>
        </p:nvSpPr>
        <p:spPr>
          <a:xfrm>
            <a:off x="457200" y="2204517"/>
            <a:ext cx="400050" cy="0"/>
          </a:xfrm>
          <a:prstGeom prst="line">
            <a:avLst/>
          </a:prstGeom>
          <a:noFill/>
          <a:ln w="7144">
            <a:solidFill>
              <a:srgbClr val="1A1A1A"/>
            </a:solidFill>
            <a:prstDash val="solid"/>
          </a:ln>
        </p:spPr>
        <p:txBody>
          <a:bodyPr/>
          <a:p/>
        </p:txBody>
      </p:sp>
      <p:sp>
        <p:nvSpPr>
          <p:cNvPr id="5" name="Text 3"/>
          <p:cNvSpPr/>
          <p:nvPr/>
        </p:nvSpPr>
        <p:spPr>
          <a:xfrm>
            <a:off x="457200" y="2300957"/>
            <a:ext cx="4286250" cy="419517"/>
          </a:xfrm>
          <a:prstGeom prst="rect">
            <a:avLst/>
          </a:prstGeom>
          <a:noFill/>
          <a:ln/>
        </p:spPr>
        <p:txBody>
          <a:bodyPr wrap="square" lIns="0" tIns="0" rIns="0" bIns="0" rtlCol="0" anchor="t"/>
          <a:lstStyle/>
          <a:p>
            <a:pPr algn="l" indent="0" marL="0">
              <a:lnSpc>
                <a:spcPts val="1530"/>
              </a:lnSpc>
              <a:buNone/>
            </a:pPr>
            <a:r>
              <a:rPr lang="en-US" sz="900" dirty="0">
                <a:solidFill>
                  <a:srgbClr val="4A4A4A"/>
                </a:solidFill>
                <a:latin typeface="Carlito" pitchFamily="34" charset="0"/>
                <a:ea typeface="Carlito" pitchFamily="34" charset="-122"/>
                <a:cs typeface="Carlito" pitchFamily="34" charset="-120"/>
              </a:rPr>
              <a:t>খুচরা বিক্রেতা শুধু বিক্রেতা নন, তিনি কৃষকের প্রথম পরামর্শদাতা। গ্রামীণ এলাকায় কৃষক প্রায়ই বিক্রেতার পরামর্শেই বালাইনাশক নির্বাচন করেন। এই পরামর্শ যদি সঠিক ও সৎ হয়, তবে কৃষকের ফসল ও বিশ্বাস — দুটোই বাড়ে।</a:t>
            </a:r>
            <a:endParaRPr lang="en-US" sz="900" dirty="0"/>
          </a:p>
        </p:txBody>
      </p:sp>
      <p:sp>
        <p:nvSpPr>
          <p:cNvPr id="6" name="Text 4"/>
          <p:cNvSpPr/>
          <p:nvPr/>
        </p:nvSpPr>
        <p:spPr>
          <a:xfrm>
            <a:off x="457200" y="2775124"/>
            <a:ext cx="4286250" cy="629275"/>
          </a:xfrm>
          <a:prstGeom prst="rect">
            <a:avLst/>
          </a:prstGeom>
          <a:noFill/>
          <a:ln/>
        </p:spPr>
        <p:txBody>
          <a:bodyPr wrap="square" lIns="0" tIns="0" rIns="0" bIns="0" rtlCol="0" anchor="t"/>
          <a:lstStyle/>
          <a:p>
            <a:pPr algn="l" indent="0" marL="0">
              <a:lnSpc>
                <a:spcPts val="1530"/>
              </a:lnSpc>
              <a:buNone/>
            </a:pPr>
            <a:r>
              <a:rPr lang="en-US" sz="900" dirty="0">
                <a:solidFill>
                  <a:srgbClr val="4A4A4A"/>
                </a:solidFill>
                <a:latin typeface="Carlito" pitchFamily="34" charset="0"/>
                <a:ea typeface="Carlito" pitchFamily="34" charset="-122"/>
                <a:cs typeface="Carlito" pitchFamily="34" charset="-120"/>
              </a:rPr>
              <a:t>তিনটি মূল দায়িত্ব: (১) কৃষকের সমস্যা মন দিয়ে শোনা ও সঠিক বালাইনাশক সুপারিশ, (২) সঠিক মাত্রা, সময়, ও প্রতীক্ষা সময় ব্যাখ্যা করা, (৩) সতর্কতা, সংরক্ষণ, ও বর্জ্য নিষ্পত্তি নির্দেশ প্রদান। এই ত্রিমুখী দায়িত্ব পালন করলে সম্মান ও বিশ্বাস দুটোই বাড়ে।</a:t>
            </a:r>
            <a:endParaRPr lang="en-US" sz="900" dirty="0"/>
          </a:p>
        </p:txBody>
      </p:sp>
      <p:sp>
        <p:nvSpPr>
          <p:cNvPr id="7" name="Text 5"/>
          <p:cNvSpPr/>
          <p:nvPr/>
        </p:nvSpPr>
        <p:spPr>
          <a:xfrm>
            <a:off x="457200" y="3587872"/>
            <a:ext cx="414672" cy="269495"/>
          </a:xfrm>
          <a:prstGeom prst="roundRect">
            <a:avLst>
              <a:gd name="adj" fmla="val 3530854"/>
            </a:avLst>
          </a:prstGeom>
          <a:solidFill>
            <a:srgbClr val="1E4D3B"/>
          </a:solidFill>
          <a:ln w="7144">
            <a:solidFill>
              <a:srgbClr val="1E4D3B"/>
            </a:solidFill>
            <a:prstDash val="solid"/>
          </a:ln>
        </p:spPr>
        <p:txBody>
          <a:bodyPr wrap="square" rtlCol="0" anchor="ctr"/>
          <a:lstStyle/>
          <a:p>
            <a:pPr indent="0" marL="0">
              <a:buNone/>
            </a:pPr>
            <a:endParaRPr lang="en-US" dirty="0"/>
          </a:p>
        </p:txBody>
      </p:sp>
      <p:sp>
        <p:nvSpPr>
          <p:cNvPr id="8" name="Text 6"/>
          <p:cNvSpPr/>
          <p:nvPr/>
        </p:nvSpPr>
        <p:spPr>
          <a:xfrm>
            <a:off x="457200" y="3600673"/>
            <a:ext cx="414672" cy="243892"/>
          </a:xfrm>
          <a:prstGeom prst="rect">
            <a:avLst/>
          </a:prstGeom>
          <a:noFill/>
          <a:ln/>
        </p:spPr>
        <p:txBody>
          <a:bodyPr wrap="none" lIns="0" tIns="0" rIns="0" bIns="0" rtlCol="0" anchor="ctr"/>
          <a:lstStyle/>
          <a:p>
            <a:pPr algn="ctr" indent="0" marL="0">
              <a:lnSpc>
                <a:spcPts val="1133"/>
              </a:lnSpc>
              <a:buNone/>
            </a:pPr>
            <a:r>
              <a:rPr lang="en-US" sz="800" spc="29" kern="0" dirty="0">
                <a:solidFill>
                  <a:srgbClr val="FFFFFF"/>
                </a:solidFill>
                <a:latin typeface="Carlito" pitchFamily="34" charset="0"/>
                <a:ea typeface="Carlito" pitchFamily="34" charset="-122"/>
                <a:cs typeface="Carlito" pitchFamily="34" charset="-120"/>
              </a:rPr>
              <a:t>শোনা</a:t>
            </a:r>
            <a:endParaRPr lang="en-US" sz="800" dirty="0"/>
          </a:p>
        </p:txBody>
      </p:sp>
      <p:sp>
        <p:nvSpPr>
          <p:cNvPr id="9" name="Text 7"/>
          <p:cNvSpPr/>
          <p:nvPr/>
        </p:nvSpPr>
        <p:spPr>
          <a:xfrm>
            <a:off x="943310" y="3587872"/>
            <a:ext cx="472157" cy="269495"/>
          </a:xfrm>
          <a:prstGeom prst="roundRect">
            <a:avLst>
              <a:gd name="adj" fmla="val 3530854"/>
            </a:avLst>
          </a:prstGeom>
          <a:solidFill>
            <a:srgbClr val="1E4D3B"/>
          </a:solidFill>
          <a:ln w="7144">
            <a:solidFill>
              <a:srgbClr val="1E4D3B"/>
            </a:solidFill>
            <a:prstDash val="solid"/>
          </a:ln>
        </p:spPr>
        <p:txBody>
          <a:bodyPr wrap="square" rtlCol="0" anchor="ctr"/>
          <a:lstStyle/>
          <a:p>
            <a:pPr indent="0" marL="0">
              <a:buNone/>
            </a:pPr>
            <a:endParaRPr lang="en-US" dirty="0"/>
          </a:p>
        </p:txBody>
      </p:sp>
      <p:sp>
        <p:nvSpPr>
          <p:cNvPr id="10" name="Text 8"/>
          <p:cNvSpPr/>
          <p:nvPr/>
        </p:nvSpPr>
        <p:spPr>
          <a:xfrm>
            <a:off x="943310" y="3600673"/>
            <a:ext cx="472157" cy="243892"/>
          </a:xfrm>
          <a:prstGeom prst="rect">
            <a:avLst/>
          </a:prstGeom>
          <a:noFill/>
          <a:ln/>
        </p:spPr>
        <p:txBody>
          <a:bodyPr wrap="none" lIns="0" tIns="0" rIns="0" bIns="0" rtlCol="0" anchor="ctr"/>
          <a:lstStyle/>
          <a:p>
            <a:pPr algn="ctr" indent="0" marL="0">
              <a:lnSpc>
                <a:spcPts val="1133"/>
              </a:lnSpc>
              <a:buNone/>
            </a:pPr>
            <a:r>
              <a:rPr lang="en-US" sz="800" spc="29" kern="0" dirty="0">
                <a:solidFill>
                  <a:srgbClr val="FFFFFF"/>
                </a:solidFill>
                <a:latin typeface="Carlito" pitchFamily="34" charset="0"/>
                <a:ea typeface="Carlito" pitchFamily="34" charset="-122"/>
                <a:cs typeface="Carlito" pitchFamily="34" charset="-120"/>
              </a:rPr>
              <a:t>সুপারিশ</a:t>
            </a:r>
            <a:endParaRPr lang="en-US" sz="800" dirty="0"/>
          </a:p>
        </p:txBody>
      </p:sp>
      <p:sp>
        <p:nvSpPr>
          <p:cNvPr id="11" name="Text 9"/>
          <p:cNvSpPr/>
          <p:nvPr/>
        </p:nvSpPr>
        <p:spPr>
          <a:xfrm>
            <a:off x="1486905" y="3587872"/>
            <a:ext cx="479301" cy="269495"/>
          </a:xfrm>
          <a:prstGeom prst="roundRect">
            <a:avLst>
              <a:gd name="adj" fmla="val 3530854"/>
            </a:avLst>
          </a:prstGeom>
          <a:solidFill>
            <a:srgbClr val="1E4D3B"/>
          </a:solidFill>
          <a:ln w="7144">
            <a:solidFill>
              <a:srgbClr val="1E4D3B"/>
            </a:solidFill>
            <a:prstDash val="solid"/>
          </a:ln>
        </p:spPr>
        <p:txBody>
          <a:bodyPr wrap="square" rtlCol="0" anchor="ctr"/>
          <a:lstStyle/>
          <a:p>
            <a:pPr indent="0" marL="0">
              <a:buNone/>
            </a:pPr>
            <a:endParaRPr lang="en-US" dirty="0"/>
          </a:p>
        </p:txBody>
      </p:sp>
      <p:sp>
        <p:nvSpPr>
          <p:cNvPr id="12" name="Text 10"/>
          <p:cNvSpPr/>
          <p:nvPr/>
        </p:nvSpPr>
        <p:spPr>
          <a:xfrm>
            <a:off x="1486905" y="3600673"/>
            <a:ext cx="479301" cy="243892"/>
          </a:xfrm>
          <a:prstGeom prst="rect">
            <a:avLst/>
          </a:prstGeom>
          <a:noFill/>
          <a:ln/>
        </p:spPr>
        <p:txBody>
          <a:bodyPr wrap="none" lIns="0" tIns="0" rIns="0" bIns="0" rtlCol="0" anchor="ctr"/>
          <a:lstStyle/>
          <a:p>
            <a:pPr algn="ctr" indent="0" marL="0">
              <a:lnSpc>
                <a:spcPts val="1133"/>
              </a:lnSpc>
              <a:buNone/>
            </a:pPr>
            <a:r>
              <a:rPr lang="en-US" sz="800" spc="29" kern="0" dirty="0">
                <a:solidFill>
                  <a:srgbClr val="FFFFFF"/>
                </a:solidFill>
                <a:latin typeface="Carlito" pitchFamily="34" charset="0"/>
                <a:ea typeface="Carlito" pitchFamily="34" charset="-122"/>
                <a:cs typeface="Carlito" pitchFamily="34" charset="-120"/>
              </a:rPr>
              <a:t>সতর্কতা</a:t>
            </a:r>
            <a:endParaRPr lang="en-US" sz="800" dirty="0"/>
          </a:p>
        </p:txBody>
      </p:sp>
      <p:pic>
        <p:nvPicPr>
          <p:cNvPr id="13" name="Image 0" descr="/tmp/h2p-fit-1789050445280-8nu3hg.png">    </p:cNvPr>
          <p:cNvPicPr>
            <a:picLocks noChangeAspect="1"/>
          </p:cNvPicPr>
          <p:nvPr/>
        </p:nvPicPr>
        <p:blipFill>
          <a:blip r:embed="rId1"/>
          <a:stretch>
            <a:fillRect/>
          </a:stretch>
        </p:blipFill>
        <p:spPr>
          <a:xfrm>
            <a:off x="5029200" y="449498"/>
            <a:ext cx="3857625" cy="4000500"/>
          </a:xfrm>
          <a:prstGeom prst="rect">
            <a:avLst/>
          </a:prstGeom>
          <a:effectLst>
            <a:outerShdw sx="100000" sy="100000" kx="0" ky="0" algn="bl" rotWithShape="0" blurRad="342900" dist="114300" dir="5400000">
              <a:srgbClr val="14342A">
                <a:alpha val="22000"/>
              </a:srgbClr>
            </a:outerShdw>
          </a:effectLst>
        </p:spPr>
      </p:pic>
      <p:sp>
        <p:nvSpPr>
          <p:cNvPr id="14" name="Text 11"/>
          <p:cNvSpPr/>
          <p:nvPr/>
        </p:nvSpPr>
        <p:spPr>
          <a:xfrm>
            <a:off x="5029200" y="4550011"/>
            <a:ext cx="3857625" cy="169999"/>
          </a:xfrm>
          <a:prstGeom prst="rect">
            <a:avLst/>
          </a:prstGeom>
          <a:noFill/>
          <a:ln/>
        </p:spPr>
        <p:txBody>
          <a:bodyPr wrap="square" lIns="0" tIns="0" rIns="42863" bIns="0" rtlCol="0" anchor="t"/>
          <a:lstStyle/>
          <a:p>
            <a:pPr algn="r" indent="0" marL="0">
              <a:lnSpc>
                <a:spcPts val="1133"/>
              </a:lnSpc>
              <a:buNone/>
            </a:pPr>
            <a:r>
              <a:rPr lang="en-US" sz="800" i="1" dirty="0">
                <a:solidFill>
                  <a:srgbClr val="6B6B6B"/>
                </a:solidFill>
                <a:latin typeface="Carlito" pitchFamily="34" charset="0"/>
                <a:ea typeface="Carlito" pitchFamily="34" charset="-122"/>
                <a:cs typeface="Carlito" pitchFamily="34" charset="-120"/>
              </a:rPr>
              <a:t>বিক্রেতা ও কৃষকের বিশ্বাসের সম্পর্ক</a:t>
            </a:r>
            <a:endParaRPr lang="en-US" sz="800" dirty="0"/>
          </a:p>
        </p:txBody>
      </p:sp>
      <p:sp>
        <p:nvSpPr>
          <p:cNvPr id="15" name="Text 12"/>
          <p:cNvSpPr/>
          <p:nvPr/>
        </p:nvSpPr>
        <p:spPr>
          <a:xfrm>
            <a:off x="8694725" y="4706392"/>
            <a:ext cx="30736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৪২</a:t>
            </a:r>
            <a:endParaRPr lang="en-US" sz="1350" dirty="0"/>
          </a:p>
        </p:txBody>
      </p:sp>
      <p:pic>
        <p:nvPicPr>
          <p:cNvPr id="16" name="Image 1" descr="preencoded.png">    </p:cNvPr>
          <p:cNvPicPr>
            <a:picLocks noChangeAspect="1"/>
          </p:cNvPicPr>
          <p:nvPr/>
        </p:nvPicPr>
        <p:blipFill>
          <a:blip r:embed="rId2"/>
          <a:stretch>
            <a:fillRect/>
          </a:stretch>
        </p:blipFill>
        <p:spPr>
          <a:xfrm>
            <a:off x="0" y="5100638"/>
            <a:ext cx="9144000" cy="42863"/>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57200" y="314325"/>
            <a:ext cx="5016428" cy="286911"/>
          </a:xfrm>
          <a:prstGeom prst="rect">
            <a:avLst/>
          </a:prstGeom>
          <a:noFill/>
          <a:ln/>
        </p:spPr>
        <p:txBody>
          <a:bodyPr wrap="squar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০৭ · খুচরা বিক্রেতার সম্মানের পথ</a:t>
            </a:r>
            <a:endParaRPr lang="en-US" sz="1350" dirty="0"/>
          </a:p>
        </p:txBody>
      </p:sp>
      <p:sp>
        <p:nvSpPr>
          <p:cNvPr id="3" name="Text 1"/>
          <p:cNvSpPr/>
          <p:nvPr/>
        </p:nvSpPr>
        <p:spPr>
          <a:xfrm>
            <a:off x="457200" y="637133"/>
            <a:ext cx="4573429" cy="487476"/>
          </a:xfrm>
          <a:prstGeom prst="rect">
            <a:avLst/>
          </a:prstGeom>
          <a:noFill/>
          <a:ln/>
        </p:spPr>
        <p:txBody>
          <a:bodyPr wrap="square" lIns="0" tIns="0" rIns="0" bIns="0" rtlCol="0" anchor="t">
            <a:normAutofit/>
          </a:bodyPr>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সঠিক সংরক্ষণ ও স্টক ব্যবস্থাপনা</a:t>
            </a:r>
            <a:endParaRPr lang="en-US" sz="3150" dirty="0"/>
          </a:p>
        </p:txBody>
      </p:sp>
      <p:sp>
        <p:nvSpPr>
          <p:cNvPr id="4" name="Text 2"/>
          <p:cNvSpPr/>
          <p:nvPr/>
        </p:nvSpPr>
        <p:spPr>
          <a:xfrm>
            <a:off x="457200" y="1152041"/>
            <a:ext cx="4157663" cy="334770"/>
          </a:xfrm>
          <a:prstGeom prst="rect">
            <a:avLst/>
          </a:prstGeom>
          <a:noFill/>
          <a:ln/>
        </p:spPr>
        <p:txBody>
          <a:bodyPr wrap="square" lIns="0" tIns="0" rIns="0" bIns="0" rtlCol="0" anchor="t"/>
          <a:lstStyle/>
          <a:p>
            <a:pPr algn="l" indent="0" marL="0">
              <a:lnSpc>
                <a:spcPts val="2441"/>
              </a:lnSpc>
              <a:buNone/>
            </a:pPr>
            <a:r>
              <a:rPr lang="en-US" sz="1575" dirty="0">
                <a:solidFill>
                  <a:srgbClr val="4A4A4A"/>
                </a:solidFill>
                <a:latin typeface="Carlito" pitchFamily="34" charset="0"/>
                <a:ea typeface="Carlito" pitchFamily="34" charset="-122"/>
                <a:cs typeface="Carlito" pitchFamily="34" charset="-120"/>
              </a:rPr>
              <a:t>পণ্যের কার্যকারিতা ও নিরাপত্তা বজায় রাখার জন্য বাধ্যতামূলক</a:t>
            </a:r>
            <a:endParaRPr lang="en-US" sz="1575" dirty="0"/>
          </a:p>
        </p:txBody>
      </p:sp>
      <p:sp>
        <p:nvSpPr>
          <p:cNvPr id="5" name="Text 3"/>
          <p:cNvSpPr/>
          <p:nvPr/>
        </p:nvSpPr>
        <p:spPr>
          <a:xfrm>
            <a:off x="8286750" y="1061963"/>
            <a:ext cx="400050" cy="400050"/>
          </a:xfrm>
          <a:prstGeom prst="roundRect">
            <a:avLst>
              <a:gd name="adj" fmla="val 33333"/>
            </a:avLst>
          </a:prstGeom>
          <a:solidFill>
            <a:srgbClr val="1E4D3B"/>
          </a:solidFill>
          <a:ln/>
        </p:spPr>
        <p:txBody>
          <a:bodyPr wrap="square" rtlCol="0" anchor="ctr"/>
          <a:lstStyle/>
          <a:p>
            <a:pPr indent="0" marL="0">
              <a:buNone/>
            </a:pPr>
            <a:endParaRPr lang="en-US" dirty="0"/>
          </a:p>
        </p:txBody>
      </p:sp>
      <p:sp>
        <p:nvSpPr>
          <p:cNvPr id="6" name="Text 4"/>
          <p:cNvSpPr/>
          <p:nvPr/>
        </p:nvSpPr>
        <p:spPr>
          <a:xfrm>
            <a:off x="8321040" y="1096253"/>
            <a:ext cx="331470" cy="331470"/>
          </a:xfrm>
          <a:prstGeom prst="rect">
            <a:avLst/>
          </a:prstGeom>
          <a:noFill/>
          <a:ln/>
        </p:spPr>
        <p:txBody>
          <a:bodyPr wrap="none" lIns="0" tIns="0" rIns="0" bIns="0" rtlCol="0" anchor="ctr"/>
          <a:lstStyle/>
          <a:p>
            <a:pPr algn="ctr" indent="0" marL="0">
              <a:buNone/>
            </a:pPr>
            <a:r>
              <a:rPr lang="en-US" sz="2250" dirty="0">
                <a:solidFill>
                  <a:srgbClr val="FFFFFF"/>
                </a:solidFill>
                <a:latin typeface="Segoe UI Symbol" pitchFamily="34" charset="0"/>
                <a:ea typeface="Segoe UI Symbol" pitchFamily="34" charset="-122"/>
                <a:cs typeface="Segoe UI Symbol" pitchFamily="34" charset="-120"/>
              </a:rPr>
              <a:t>⌂</a:t>
            </a:r>
            <a:endParaRPr lang="en-US" sz="2250" dirty="0"/>
          </a:p>
        </p:txBody>
      </p:sp>
      <p:sp>
        <p:nvSpPr>
          <p:cNvPr id="7" name="Text 5"/>
          <p:cNvSpPr/>
          <p:nvPr/>
        </p:nvSpPr>
        <p:spPr>
          <a:xfrm>
            <a:off x="460772" y="1622747"/>
            <a:ext cx="4021931" cy="2617068"/>
          </a:xfrm>
          <a:prstGeom prst="roundRect">
            <a:avLst>
              <a:gd name="adj" fmla="val 5823"/>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8" name="Shape 6"/>
          <p:cNvSpPr/>
          <p:nvPr/>
        </p:nvSpPr>
        <p:spPr>
          <a:xfrm>
            <a:off x="635794" y="2046684"/>
            <a:ext cx="3671888" cy="0"/>
          </a:xfrm>
          <a:prstGeom prst="line">
            <a:avLst/>
          </a:prstGeom>
          <a:noFill/>
          <a:ln w="7144">
            <a:solidFill>
              <a:srgbClr val="D9D2BF"/>
            </a:solidFill>
            <a:prstDash val="solid"/>
          </a:ln>
        </p:spPr>
        <p:txBody>
          <a:bodyPr/>
          <a:p/>
        </p:txBody>
      </p:sp>
      <p:sp>
        <p:nvSpPr>
          <p:cNvPr id="9" name="Text 7"/>
          <p:cNvSpPr/>
          <p:nvPr/>
        </p:nvSpPr>
        <p:spPr>
          <a:xfrm>
            <a:off x="864394" y="1804913"/>
            <a:ext cx="850553" cy="146590"/>
          </a:xfrm>
          <a:prstGeom prst="rect">
            <a:avLst/>
          </a:prstGeom>
          <a:noFill/>
          <a:ln/>
        </p:spPr>
        <p:txBody>
          <a:bodyPr wrap="none" lIns="0" tIns="0" rIns="0" bIns="71438" rtlCol="0" anchor="t"/>
          <a:lstStyle/>
          <a:p>
            <a:pPr algn="l" indent="0" marL="0">
              <a:lnSpc>
                <a:spcPts val="1482"/>
              </a:lnSpc>
              <a:buNone/>
            </a:pPr>
            <a:r>
              <a:rPr lang="en-US" sz="956" dirty="0">
                <a:solidFill>
                  <a:srgbClr val="14342A"/>
                </a:solidFill>
                <a:latin typeface="Tinos" pitchFamily="34" charset="0"/>
                <a:ea typeface="Tinos" pitchFamily="34" charset="-122"/>
                <a:cs typeface="Tinos" pitchFamily="34" charset="-120"/>
              </a:rPr>
              <a:t>সংরক্ষণের পরিবেশ</a:t>
            </a:r>
            <a:endParaRPr lang="en-US" sz="956" dirty="0"/>
          </a:p>
        </p:txBody>
      </p:sp>
      <p:sp>
        <p:nvSpPr>
          <p:cNvPr id="10" name="Text 8"/>
          <p:cNvSpPr/>
          <p:nvPr/>
        </p:nvSpPr>
        <p:spPr>
          <a:xfrm>
            <a:off x="635794" y="1798997"/>
            <a:ext cx="157163" cy="157163"/>
          </a:xfrm>
          <a:prstGeom prst="rect">
            <a:avLst/>
          </a:prstGeom>
          <a:noFill/>
          <a:ln/>
        </p:spPr>
        <p:txBody>
          <a:bodyPr wrap="none" lIns="0" tIns="0" rIns="0" bIns="0" rtlCol="0" anchor="ctr"/>
          <a:lstStyle/>
          <a:p>
            <a:pPr algn="ctr" indent="0" marL="0">
              <a:buNone/>
            </a:pPr>
            <a:r>
              <a:rPr lang="en-US" sz="1547" dirty="0">
                <a:solidFill>
                  <a:srgbClr val="9A6E1E"/>
                </a:solidFill>
                <a:latin typeface="Segoe UI Symbol" pitchFamily="34" charset="0"/>
                <a:ea typeface="Segoe UI Symbol" pitchFamily="34" charset="-122"/>
                <a:cs typeface="Segoe UI Symbol" pitchFamily="34" charset="-120"/>
              </a:rPr>
              <a:t>▣</a:t>
            </a:r>
            <a:endParaRPr lang="en-US" sz="1547" dirty="0"/>
          </a:p>
        </p:txBody>
      </p:sp>
      <p:sp>
        <p:nvSpPr>
          <p:cNvPr id="11" name="Text 9"/>
          <p:cNvSpPr/>
          <p:nvPr/>
        </p:nvSpPr>
        <p:spPr>
          <a:xfrm>
            <a:off x="635794" y="2164556"/>
            <a:ext cx="3671888" cy="1151537"/>
          </a:xfrm>
          <a:prstGeom prst="rect">
            <a:avLst/>
          </a:prstGeom>
          <a:noFill/>
          <a:ln/>
        </p:spPr>
        <p:txBody>
          <a:bodyPr wrap="square" lIns="0" tIns="0" rIns="0" bIns="0" rtlCol="0" anchor="t"/>
          <a:lstStyle/>
          <a:p>
            <a:pPr algn="l" indent="0" marL="0">
              <a:lnSpc>
                <a:spcPts val="1305"/>
              </a:lnSpc>
              <a:spcAft>
                <a:spcPts val="675"/>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305"/>
              </a:lnSpc>
              <a:spcAft>
                <a:spcPts val="675"/>
              </a:spcAft>
              <a:buNone/>
            </a:pPr>
            <a:r>
              <a:rPr lang="en-US" sz="816" dirty="0">
                <a:solidFill>
                  <a:srgbClr val="14342A"/>
                </a:solidFill>
                <a:latin typeface="Carlito" pitchFamily="34" charset="0"/>
                <a:ea typeface="Carlito" pitchFamily="34" charset="-122"/>
                <a:cs typeface="Carlito" pitchFamily="34" charset="-120"/>
              </a:rPr>
              <a:t>শুকনো, শীতল, বাতাসযুক্ত</a:t>
            </a:r>
            <a:pPr algn="l" indent="0" marL="0">
              <a:lnSpc>
                <a:spcPts val="1305"/>
              </a:lnSpc>
              <a:spcAft>
                <a:spcPts val="675"/>
              </a:spcAft>
              <a:buNone/>
            </a:pPr>
            <a:r>
              <a:rPr lang="en-US" sz="816" dirty="0">
                <a:solidFill>
                  <a:srgbClr val="1A1A1A"/>
                </a:solidFill>
                <a:latin typeface="Carlito" pitchFamily="34" charset="0"/>
                <a:ea typeface="Carlito" pitchFamily="34" charset="-122"/>
                <a:cs typeface="Carlito" pitchFamily="34" charset="-120"/>
              </a:rPr>
              <a:t> স্টোররুম</a:t>
            </a:r>
            <a:endParaRPr lang="en-US" sz="816" dirty="0"/>
          </a:p>
          <a:p>
            <a:pPr algn="l" indent="0" marL="0">
              <a:lnSpc>
                <a:spcPts val="1305"/>
              </a:lnSpc>
              <a:spcAft>
                <a:spcPts val="675"/>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305"/>
              </a:lnSpc>
              <a:spcAft>
                <a:spcPts val="675"/>
              </a:spcAft>
              <a:buNone/>
            </a:pPr>
            <a:r>
              <a:rPr lang="en-US" sz="816" dirty="0">
                <a:solidFill>
                  <a:srgbClr val="1A1A1A"/>
                </a:solidFill>
                <a:latin typeface="Carlito" pitchFamily="34" charset="0"/>
                <a:ea typeface="Carlito" pitchFamily="34" charset="-122"/>
                <a:cs typeface="Carlito" pitchFamily="34" charset="-120"/>
              </a:rPr>
              <a:t>সরাসরি </a:t>
            </a:r>
            <a:pPr algn="l" indent="0" marL="0">
              <a:lnSpc>
                <a:spcPts val="1305"/>
              </a:lnSpc>
              <a:spcAft>
                <a:spcPts val="675"/>
              </a:spcAft>
              <a:buNone/>
            </a:pPr>
            <a:r>
              <a:rPr lang="en-US" sz="816" dirty="0">
                <a:solidFill>
                  <a:srgbClr val="14342A"/>
                </a:solidFill>
                <a:latin typeface="Carlito" pitchFamily="34" charset="0"/>
                <a:ea typeface="Carlito" pitchFamily="34" charset="-122"/>
                <a:cs typeface="Carlito" pitchFamily="34" charset="-120"/>
              </a:rPr>
              <a:t>সূর্যালোক</a:t>
            </a:r>
            <a:pPr algn="l" indent="0" marL="0">
              <a:lnSpc>
                <a:spcPts val="1305"/>
              </a:lnSpc>
              <a:spcAft>
                <a:spcPts val="675"/>
              </a:spcAft>
              <a:buNone/>
            </a:pPr>
            <a:r>
              <a:rPr lang="en-US" sz="816" dirty="0">
                <a:solidFill>
                  <a:srgbClr val="1A1A1A"/>
                </a:solidFill>
                <a:latin typeface="Carlito" pitchFamily="34" charset="0"/>
                <a:ea typeface="Carlito" pitchFamily="34" charset="-122"/>
                <a:cs typeface="Carlito" pitchFamily="34" charset="-120"/>
              </a:rPr>
              <a:t> ও উচ্চ তাপমাত্রা থেকে দূরে</a:t>
            </a:r>
            <a:endParaRPr lang="en-US" sz="816" dirty="0"/>
          </a:p>
          <a:p>
            <a:pPr algn="l" indent="0" marL="0">
              <a:lnSpc>
                <a:spcPts val="1305"/>
              </a:lnSpc>
              <a:spcAft>
                <a:spcPts val="675"/>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305"/>
              </a:lnSpc>
              <a:spcAft>
                <a:spcPts val="675"/>
              </a:spcAft>
              <a:buNone/>
            </a:pPr>
            <a:r>
              <a:rPr lang="en-US" sz="816" dirty="0">
                <a:solidFill>
                  <a:srgbClr val="14342A"/>
                </a:solidFill>
                <a:latin typeface="Carlito" pitchFamily="34" charset="0"/>
                <a:ea typeface="Carlito" pitchFamily="34" charset="-122"/>
                <a:cs typeface="Carlito" pitchFamily="34" charset="-120"/>
              </a:rPr>
              <a:t>খাদ্যদ্রব্য, বীজ, সার</a:t>
            </a:r>
            <a:pPr algn="l" indent="0" marL="0">
              <a:lnSpc>
                <a:spcPts val="1305"/>
              </a:lnSpc>
              <a:spcAft>
                <a:spcPts val="675"/>
              </a:spcAft>
              <a:buNone/>
            </a:pPr>
            <a:r>
              <a:rPr lang="en-US" sz="816" dirty="0">
                <a:solidFill>
                  <a:srgbClr val="1A1A1A"/>
                </a:solidFill>
                <a:latin typeface="Carlito" pitchFamily="34" charset="0"/>
                <a:ea typeface="Carlito" pitchFamily="34" charset="-122"/>
                <a:cs typeface="Carlito" pitchFamily="34" charset="-120"/>
              </a:rPr>
              <a:t> থেকে আলাদা সংরক্ষণ</a:t>
            </a:r>
            <a:endParaRPr lang="en-US" sz="816" dirty="0"/>
          </a:p>
          <a:p>
            <a:pPr algn="l" indent="0" marL="0">
              <a:lnSpc>
                <a:spcPts val="1305"/>
              </a:lnSpc>
              <a:spcAft>
                <a:spcPts val="675"/>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305"/>
              </a:lnSpc>
              <a:spcAft>
                <a:spcPts val="675"/>
              </a:spcAft>
              <a:buNone/>
            </a:pPr>
            <a:r>
              <a:rPr lang="en-US" sz="816" dirty="0">
                <a:solidFill>
                  <a:srgbClr val="14342A"/>
                </a:solidFill>
                <a:latin typeface="Carlito" pitchFamily="34" charset="0"/>
                <a:ea typeface="Carlito" pitchFamily="34" charset="-122"/>
                <a:cs typeface="Carlito" pitchFamily="34" charset="-120"/>
              </a:rPr>
              <a:t>মেয়াদোত্তীর্ণ পণ্য</a:t>
            </a:r>
            <a:pPr algn="l" indent="0" marL="0">
              <a:lnSpc>
                <a:spcPts val="1305"/>
              </a:lnSpc>
              <a:spcAft>
                <a:spcPts val="675"/>
              </a:spcAft>
              <a:buNone/>
            </a:pPr>
            <a:r>
              <a:rPr lang="en-US" sz="816" dirty="0">
                <a:solidFill>
                  <a:srgbClr val="1A1A1A"/>
                </a:solidFill>
                <a:latin typeface="Carlito" pitchFamily="34" charset="0"/>
                <a:ea typeface="Carlito" pitchFamily="34" charset="-122"/>
                <a:cs typeface="Carlito" pitchFamily="34" charset="-120"/>
              </a:rPr>
              <a:t> আলাদা ও লেবেলযুক্ত</a:t>
            </a:r>
            <a:endParaRPr lang="en-US" sz="816" dirty="0"/>
          </a:p>
        </p:txBody>
      </p:sp>
      <p:sp>
        <p:nvSpPr>
          <p:cNvPr id="12" name="Text 10"/>
          <p:cNvSpPr/>
          <p:nvPr/>
        </p:nvSpPr>
        <p:spPr>
          <a:xfrm>
            <a:off x="4661297" y="1622747"/>
            <a:ext cx="4021931" cy="2617068"/>
          </a:xfrm>
          <a:prstGeom prst="roundRect">
            <a:avLst>
              <a:gd name="adj" fmla="val 5823"/>
            </a:avLst>
          </a:prstGeom>
          <a:solidFill>
            <a:srgbClr val="F2ECDD"/>
          </a:solidFill>
          <a:ln w="7144">
            <a:solidFill>
              <a:srgbClr val="FFFFFF"/>
            </a:solidFill>
            <a:prstDash val="solid"/>
          </a:ln>
        </p:spPr>
        <p:txBody>
          <a:bodyPr wrap="square" rtlCol="0" anchor="ctr"/>
          <a:lstStyle/>
          <a:p>
            <a:pPr indent="0" marL="0">
              <a:buNone/>
            </a:pPr>
            <a:endParaRPr lang="en-US" dirty="0"/>
          </a:p>
        </p:txBody>
      </p:sp>
      <p:sp>
        <p:nvSpPr>
          <p:cNvPr id="13" name="Shape 11"/>
          <p:cNvSpPr/>
          <p:nvPr/>
        </p:nvSpPr>
        <p:spPr>
          <a:xfrm>
            <a:off x="4836319" y="2046684"/>
            <a:ext cx="3671888" cy="0"/>
          </a:xfrm>
          <a:prstGeom prst="line">
            <a:avLst/>
          </a:prstGeom>
          <a:noFill/>
          <a:ln w="7144">
            <a:solidFill>
              <a:srgbClr val="D9D2BF"/>
            </a:solidFill>
            <a:prstDash val="solid"/>
          </a:ln>
        </p:spPr>
        <p:txBody>
          <a:bodyPr/>
          <a:p/>
        </p:txBody>
      </p:sp>
      <p:sp>
        <p:nvSpPr>
          <p:cNvPr id="14" name="Text 12"/>
          <p:cNvSpPr/>
          <p:nvPr/>
        </p:nvSpPr>
        <p:spPr>
          <a:xfrm>
            <a:off x="5064919" y="1804913"/>
            <a:ext cx="761256" cy="146590"/>
          </a:xfrm>
          <a:prstGeom prst="rect">
            <a:avLst/>
          </a:prstGeom>
          <a:noFill/>
          <a:ln/>
        </p:spPr>
        <p:txBody>
          <a:bodyPr wrap="none" lIns="0" tIns="0" rIns="0" bIns="71438" rtlCol="0" anchor="t"/>
          <a:lstStyle/>
          <a:p>
            <a:pPr algn="l" indent="0" marL="0">
              <a:lnSpc>
                <a:spcPts val="1482"/>
              </a:lnSpc>
              <a:buNone/>
            </a:pPr>
            <a:r>
              <a:rPr lang="en-US" sz="956" dirty="0">
                <a:solidFill>
                  <a:srgbClr val="14342A"/>
                </a:solidFill>
                <a:latin typeface="Tinos" pitchFamily="34" charset="0"/>
                <a:ea typeface="Tinos" pitchFamily="34" charset="-122"/>
                <a:cs typeface="Tinos" pitchFamily="34" charset="-120"/>
              </a:rPr>
              <a:t>স্টক ব্যবস্থাপনা</a:t>
            </a:r>
            <a:endParaRPr lang="en-US" sz="956" dirty="0"/>
          </a:p>
        </p:txBody>
      </p:sp>
      <p:sp>
        <p:nvSpPr>
          <p:cNvPr id="15" name="Text 13"/>
          <p:cNvSpPr/>
          <p:nvPr/>
        </p:nvSpPr>
        <p:spPr>
          <a:xfrm>
            <a:off x="4836319" y="1798997"/>
            <a:ext cx="157163" cy="157163"/>
          </a:xfrm>
          <a:prstGeom prst="rect">
            <a:avLst/>
          </a:prstGeom>
          <a:noFill/>
          <a:ln/>
        </p:spPr>
        <p:txBody>
          <a:bodyPr wrap="none" lIns="0" tIns="0" rIns="0" bIns="0" rtlCol="0" anchor="ctr"/>
          <a:lstStyle/>
          <a:p>
            <a:pPr algn="ctr" indent="0" marL="0">
              <a:buNone/>
            </a:pPr>
            <a:r>
              <a:rPr lang="en-US" sz="1547" dirty="0">
                <a:solidFill>
                  <a:srgbClr val="9A6E1E"/>
                </a:solidFill>
                <a:latin typeface="Segoe UI Symbol" pitchFamily="34" charset="0"/>
                <a:ea typeface="Segoe UI Symbol" pitchFamily="34" charset="-122"/>
                <a:cs typeface="Segoe UI Symbol" pitchFamily="34" charset="-120"/>
              </a:rPr>
              <a:t>↻</a:t>
            </a:r>
            <a:endParaRPr lang="en-US" sz="1547" dirty="0"/>
          </a:p>
        </p:txBody>
      </p:sp>
      <p:sp>
        <p:nvSpPr>
          <p:cNvPr id="16" name="Text 14"/>
          <p:cNvSpPr/>
          <p:nvPr/>
        </p:nvSpPr>
        <p:spPr>
          <a:xfrm>
            <a:off x="4836319" y="2164556"/>
            <a:ext cx="3671888" cy="885084"/>
          </a:xfrm>
          <a:prstGeom prst="rect">
            <a:avLst/>
          </a:prstGeom>
          <a:noFill/>
          <a:ln/>
        </p:spPr>
        <p:txBody>
          <a:bodyPr wrap="square" lIns="0" tIns="0" rIns="0" bIns="0" rtlCol="0" anchor="t"/>
          <a:lstStyle/>
          <a:p>
            <a:pPr algn="l" indent="0" marL="0">
              <a:lnSpc>
                <a:spcPts val="1305"/>
              </a:lnSpc>
              <a:spcAft>
                <a:spcPts val="675"/>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305"/>
              </a:lnSpc>
              <a:spcAft>
                <a:spcPts val="675"/>
              </a:spcAft>
              <a:buNone/>
            </a:pPr>
            <a:r>
              <a:rPr lang="en-US" sz="816" dirty="0">
                <a:solidFill>
                  <a:srgbClr val="14342A"/>
                </a:solidFill>
                <a:latin typeface="Carlito" pitchFamily="34" charset="0"/>
                <a:ea typeface="Carlito" pitchFamily="34" charset="-122"/>
                <a:cs typeface="Carlito" pitchFamily="34" charset="-120"/>
              </a:rPr>
              <a:t>FIFO পদ্ধতি</a:t>
            </a:r>
            <a:pPr algn="l" indent="0" marL="0">
              <a:lnSpc>
                <a:spcPts val="1305"/>
              </a:lnSpc>
              <a:spcAft>
                <a:spcPts val="675"/>
              </a:spcAft>
              <a:buNone/>
            </a:pPr>
            <a:r>
              <a:rPr lang="en-US" sz="816" dirty="0">
                <a:solidFill>
                  <a:srgbClr val="1A1A1A"/>
                </a:solidFill>
                <a:latin typeface="Carlito" pitchFamily="34" charset="0"/>
                <a:ea typeface="Carlito" pitchFamily="34" charset="-122"/>
                <a:cs typeface="Carlito" pitchFamily="34" charset="-120"/>
              </a:rPr>
              <a:t> — পুরোনো স্টক আগে বিক্রি</a:t>
            </a:r>
            <a:endParaRPr lang="en-US" sz="816" dirty="0"/>
          </a:p>
          <a:p>
            <a:pPr algn="l" indent="0" marL="0">
              <a:lnSpc>
                <a:spcPts val="1305"/>
              </a:lnSpc>
              <a:spcAft>
                <a:spcPts val="675"/>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305"/>
              </a:lnSpc>
              <a:spcAft>
                <a:spcPts val="675"/>
              </a:spcAft>
              <a:buNone/>
            </a:pPr>
            <a:r>
              <a:rPr lang="en-US" sz="816" dirty="0">
                <a:solidFill>
                  <a:srgbClr val="14342A"/>
                </a:solidFill>
                <a:latin typeface="Carlito" pitchFamily="34" charset="0"/>
                <a:ea typeface="Carlito" pitchFamily="34" charset="-122"/>
                <a:cs typeface="Carlito" pitchFamily="34" charset="-120"/>
              </a:rPr>
              <a:t>সাপ্তমাসিক স্টক হিসাব</a:t>
            </a:r>
            <a:pPr algn="l" indent="0" marL="0">
              <a:lnSpc>
                <a:spcPts val="1305"/>
              </a:lnSpc>
              <a:spcAft>
                <a:spcPts val="675"/>
              </a:spcAft>
              <a:buNone/>
            </a:pPr>
            <a:r>
              <a:rPr lang="en-US" sz="816" dirty="0">
                <a:solidFill>
                  <a:srgbClr val="1A1A1A"/>
                </a:solidFill>
                <a:latin typeface="Carlito" pitchFamily="34" charset="0"/>
                <a:ea typeface="Carlito" pitchFamily="34" charset="-122"/>
                <a:cs typeface="Carlito" pitchFamily="34" charset="-120"/>
              </a:rPr>
              <a:t> ও শারীরিক পরিদর্শন</a:t>
            </a:r>
            <a:endParaRPr lang="en-US" sz="816" dirty="0"/>
          </a:p>
          <a:p>
            <a:pPr algn="l" indent="0" marL="0">
              <a:lnSpc>
                <a:spcPts val="1305"/>
              </a:lnSpc>
              <a:spcAft>
                <a:spcPts val="675"/>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305"/>
              </a:lnSpc>
              <a:spcAft>
                <a:spcPts val="675"/>
              </a:spcAft>
              <a:buNone/>
            </a:pPr>
            <a:r>
              <a:rPr lang="en-US" sz="816" dirty="0">
                <a:solidFill>
                  <a:srgbClr val="14342A"/>
                </a:solidFill>
                <a:latin typeface="Carlito" pitchFamily="34" charset="0"/>
                <a:ea typeface="Carlito" pitchFamily="34" charset="-122"/>
                <a:cs typeface="Carlito" pitchFamily="34" charset="-120"/>
              </a:rPr>
              <a:t>সিল বা ক্যাপ নষ্ট</a:t>
            </a:r>
            <a:pPr algn="l" indent="0" marL="0">
              <a:lnSpc>
                <a:spcPts val="1305"/>
              </a:lnSpc>
              <a:spcAft>
                <a:spcPts val="675"/>
              </a:spcAft>
              <a:buNone/>
            </a:pPr>
            <a:r>
              <a:rPr lang="en-US" sz="816" dirty="0">
                <a:solidFill>
                  <a:srgbClr val="1A1A1A"/>
                </a:solidFill>
                <a:latin typeface="Carlito" pitchFamily="34" charset="0"/>
                <a:ea typeface="Carlito" pitchFamily="34" charset="-122"/>
                <a:cs typeface="Carlito" pitchFamily="34" charset="-120"/>
              </a:rPr>
              <a:t> পণ্য আলাদা করে রিপোর্ট</a:t>
            </a:r>
            <a:endParaRPr lang="en-US" sz="816" dirty="0"/>
          </a:p>
        </p:txBody>
      </p:sp>
      <p:sp>
        <p:nvSpPr>
          <p:cNvPr id="17" name="Text 15"/>
          <p:cNvSpPr/>
          <p:nvPr/>
        </p:nvSpPr>
        <p:spPr>
          <a:xfrm>
            <a:off x="457200" y="4371975"/>
            <a:ext cx="8229600" cy="400050"/>
          </a:xfrm>
          <a:prstGeom prst="roundRect">
            <a:avLst>
              <a:gd name="adj" fmla="val 28571"/>
            </a:avLst>
          </a:prstGeom>
          <a:solidFill>
            <a:srgbClr val="FFFFFF"/>
          </a:solidFill>
          <a:ln/>
        </p:spPr>
        <p:txBody>
          <a:bodyPr wrap="square" rtlCol="0" anchor="ctr"/>
          <a:lstStyle/>
          <a:p>
            <a:pPr indent="0" marL="0">
              <a:buNone/>
            </a:pPr>
            <a:endParaRPr lang="en-US" dirty="0"/>
          </a:p>
        </p:txBody>
      </p:sp>
      <p:sp>
        <p:nvSpPr>
          <p:cNvPr id="18" name="Shape 16"/>
          <p:cNvSpPr/>
          <p:nvPr/>
        </p:nvSpPr>
        <p:spPr>
          <a:xfrm>
            <a:off x="457200" y="4375547"/>
            <a:ext cx="8229600" cy="0"/>
          </a:xfrm>
          <a:prstGeom prst="line">
            <a:avLst/>
          </a:prstGeom>
          <a:noFill/>
          <a:ln w="7144">
            <a:solidFill>
              <a:srgbClr val="D9D2BF"/>
            </a:solidFill>
            <a:prstDash val="solid"/>
          </a:ln>
        </p:spPr>
        <p:txBody>
          <a:bodyPr/>
          <a:p/>
        </p:txBody>
      </p:sp>
      <p:sp>
        <p:nvSpPr>
          <p:cNvPr id="19" name="Shape 17"/>
          <p:cNvSpPr/>
          <p:nvPr/>
        </p:nvSpPr>
        <p:spPr>
          <a:xfrm>
            <a:off x="8683228" y="4371975"/>
            <a:ext cx="0" cy="400050"/>
          </a:xfrm>
          <a:prstGeom prst="line">
            <a:avLst/>
          </a:prstGeom>
          <a:noFill/>
          <a:ln w="7144">
            <a:solidFill>
              <a:srgbClr val="D9D2BF"/>
            </a:solidFill>
            <a:prstDash val="solid"/>
          </a:ln>
        </p:spPr>
        <p:txBody>
          <a:bodyPr/>
          <a:p/>
        </p:txBody>
      </p:sp>
      <p:sp>
        <p:nvSpPr>
          <p:cNvPr id="20" name="Shape 18"/>
          <p:cNvSpPr/>
          <p:nvPr/>
        </p:nvSpPr>
        <p:spPr>
          <a:xfrm>
            <a:off x="457200" y="4768453"/>
            <a:ext cx="8229600" cy="0"/>
          </a:xfrm>
          <a:prstGeom prst="line">
            <a:avLst/>
          </a:prstGeom>
          <a:noFill/>
          <a:ln w="7144">
            <a:solidFill>
              <a:srgbClr val="D9D2BF"/>
            </a:solidFill>
            <a:prstDash val="solid"/>
          </a:ln>
        </p:spPr>
        <p:txBody>
          <a:bodyPr/>
          <a:p/>
        </p:txBody>
      </p:sp>
      <p:sp>
        <p:nvSpPr>
          <p:cNvPr id="21" name="Shape 19"/>
          <p:cNvSpPr/>
          <p:nvPr/>
        </p:nvSpPr>
        <p:spPr>
          <a:xfrm>
            <a:off x="471488" y="4371975"/>
            <a:ext cx="0" cy="400050"/>
          </a:xfrm>
          <a:prstGeom prst="line">
            <a:avLst/>
          </a:prstGeom>
          <a:noFill/>
          <a:ln w="28575">
            <a:solidFill>
              <a:srgbClr val="B23A2A"/>
            </a:solidFill>
            <a:prstDash val="solid"/>
          </a:ln>
        </p:spPr>
        <p:txBody>
          <a:bodyPr/>
          <a:p/>
        </p:txBody>
      </p:sp>
      <p:sp>
        <p:nvSpPr>
          <p:cNvPr id="22" name="Text 20"/>
          <p:cNvSpPr/>
          <p:nvPr/>
        </p:nvSpPr>
        <p:spPr>
          <a:xfrm>
            <a:off x="642938" y="4479131"/>
            <a:ext cx="185738" cy="185738"/>
          </a:xfrm>
          <a:prstGeom prst="rect">
            <a:avLst/>
          </a:prstGeom>
          <a:noFill/>
          <a:ln/>
        </p:spPr>
        <p:txBody>
          <a:bodyPr wrap="none" lIns="0" tIns="0" rIns="0" bIns="0" rtlCol="0" anchor="ctr"/>
          <a:lstStyle/>
          <a:p>
            <a:pPr algn="ctr" indent="0" marL="0">
              <a:buNone/>
            </a:pPr>
            <a:r>
              <a:rPr lang="en-US" sz="1828" dirty="0">
                <a:solidFill>
                  <a:srgbClr val="B23A2A"/>
                </a:solidFill>
                <a:latin typeface="Segoe UI Symbol" pitchFamily="34" charset="0"/>
                <a:ea typeface="Segoe UI Symbol" pitchFamily="34" charset="-122"/>
                <a:cs typeface="Segoe UI Symbol" pitchFamily="34" charset="-120"/>
              </a:rPr>
              <a:t>⚠</a:t>
            </a:r>
            <a:endParaRPr lang="en-US" sz="1828" dirty="0"/>
          </a:p>
        </p:txBody>
      </p:sp>
      <p:sp>
        <p:nvSpPr>
          <p:cNvPr id="23" name="Text 21"/>
          <p:cNvSpPr/>
          <p:nvPr/>
        </p:nvSpPr>
        <p:spPr>
          <a:xfrm>
            <a:off x="928688" y="4491744"/>
            <a:ext cx="7593806" cy="173124"/>
          </a:xfrm>
          <a:prstGeom prst="rect">
            <a:avLst/>
          </a:prstGeom>
          <a:noFill/>
          <a:ln/>
        </p:spPr>
        <p:txBody>
          <a:bodyPr wrap="square" lIns="0" tIns="0" rIns="0" bIns="0" rtlCol="0" anchor="t"/>
          <a:lstStyle/>
          <a:p>
            <a:pPr algn="l" indent="0" marL="0">
              <a:lnSpc>
                <a:spcPts val="1264"/>
              </a:lnSpc>
              <a:buNone/>
            </a:pPr>
            <a:r>
              <a:rPr lang="en-US" sz="816" dirty="0">
                <a:solidFill>
                  <a:srgbClr val="B23A2A"/>
                </a:solidFill>
                <a:latin typeface="Carlito" pitchFamily="34" charset="0"/>
                <a:ea typeface="Carlito" pitchFamily="34" charset="-122"/>
                <a:cs typeface="Carlito" pitchFamily="34" charset="-120"/>
              </a:rPr>
              <a:t>⚠ ভুল সংরক্ষণে</a:t>
            </a:r>
            <a:pPr algn="l" indent="0" marL="0">
              <a:lnSpc>
                <a:spcPts val="1264"/>
              </a:lnSpc>
              <a:buNone/>
            </a:pPr>
            <a:r>
              <a:rPr lang="en-US" sz="816" dirty="0">
                <a:solidFill>
                  <a:srgbClr val="4A4A4A"/>
                </a:solidFill>
                <a:latin typeface="Carlito" pitchFamily="34" charset="0"/>
                <a:ea typeface="Carlito" pitchFamily="34" charset="-122"/>
                <a:cs typeface="Carlito" pitchFamily="34" charset="-120"/>
              </a:rPr>
              <a:t> রাসায়নিক পরিবর্তিত হয়ে বিষাক্ত বা নিষ্ক্রিয় হয়ে যেতে পারে — সম্পূর্ণ দায় বিক্রেতার</a:t>
            </a:r>
            <a:endParaRPr lang="en-US" sz="816" dirty="0"/>
          </a:p>
        </p:txBody>
      </p:sp>
      <p:sp>
        <p:nvSpPr>
          <p:cNvPr id="24" name="Text 22"/>
          <p:cNvSpPr/>
          <p:nvPr/>
        </p:nvSpPr>
        <p:spPr>
          <a:xfrm>
            <a:off x="8687581" y="4706392"/>
            <a:ext cx="31879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৪৩</a:t>
            </a:r>
            <a:endParaRPr lang="en-US" sz="1350" dirty="0"/>
          </a:p>
        </p:txBody>
      </p:sp>
      <p:pic>
        <p:nvPicPr>
          <p:cNvPr id="25"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57200" y="342900"/>
            <a:ext cx="4033020" cy="286911"/>
          </a:xfrm>
          <a:prstGeom prst="rect">
            <a:avLst/>
          </a:prstGeom>
          <a:noFill/>
          <a:ln/>
        </p:spPr>
        <p:txBody>
          <a:bodyPr wrap="squar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০৭ · খুচরা বিক্রেতার সম্মানের পথ</a:t>
            </a:r>
            <a:endParaRPr lang="en-US" sz="1350" dirty="0"/>
          </a:p>
        </p:txBody>
      </p:sp>
      <p:sp>
        <p:nvSpPr>
          <p:cNvPr id="3" name="Text 1"/>
          <p:cNvSpPr/>
          <p:nvPr/>
        </p:nvSpPr>
        <p:spPr>
          <a:xfrm>
            <a:off x="457200" y="665708"/>
            <a:ext cx="3509736" cy="501764"/>
          </a:xfrm>
          <a:prstGeom prst="rect">
            <a:avLst/>
          </a:prstGeom>
          <a:noFill/>
          <a:ln/>
        </p:spPr>
        <p:txBody>
          <a:bodyPr wrap="square" lIns="0" tIns="0" rIns="0" bIns="0" rtlCol="0" anchor="t">
            <a:normAutofit/>
          </a:bodyPr>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নিরাপদ ব্যবহারের পরামর্শ</a:t>
            </a:r>
            <a:endParaRPr lang="en-US" sz="3150" dirty="0"/>
          </a:p>
        </p:txBody>
      </p:sp>
      <p:sp>
        <p:nvSpPr>
          <p:cNvPr id="4" name="Text 2"/>
          <p:cNvSpPr/>
          <p:nvPr/>
        </p:nvSpPr>
        <p:spPr>
          <a:xfrm>
            <a:off x="457200" y="1194904"/>
            <a:ext cx="3342605" cy="334770"/>
          </a:xfrm>
          <a:prstGeom prst="rect">
            <a:avLst/>
          </a:prstGeom>
          <a:noFill/>
          <a:ln/>
        </p:spPr>
        <p:txBody>
          <a:bodyPr wrap="square" lIns="0" tIns="0" rIns="0" bIns="0" rtlCol="0" anchor="t"/>
          <a:lstStyle/>
          <a:p>
            <a:pPr algn="l" indent="0" marL="0">
              <a:lnSpc>
                <a:spcPts val="2441"/>
              </a:lnSpc>
              <a:buNone/>
            </a:pPr>
            <a:r>
              <a:rPr lang="en-US" sz="1575" dirty="0">
                <a:solidFill>
                  <a:srgbClr val="4A4A4A"/>
                </a:solidFill>
                <a:latin typeface="Carlito" pitchFamily="34" charset="0"/>
                <a:ea typeface="Carlito" pitchFamily="34" charset="-122"/>
                <a:cs typeface="Carlito" pitchFamily="34" charset="-120"/>
              </a:rPr>
              <a:t>প্রতিটি কৃষককে প্রদানযোগ্য মৌলিক নিরাপত্তা নির্দেশ</a:t>
            </a:r>
            <a:endParaRPr lang="en-US" sz="1575" dirty="0"/>
          </a:p>
        </p:txBody>
      </p:sp>
      <p:sp>
        <p:nvSpPr>
          <p:cNvPr id="5" name="Text 3"/>
          <p:cNvSpPr/>
          <p:nvPr/>
        </p:nvSpPr>
        <p:spPr>
          <a:xfrm>
            <a:off x="8286750" y="1104826"/>
            <a:ext cx="400050" cy="400050"/>
          </a:xfrm>
          <a:prstGeom prst="roundRect">
            <a:avLst>
              <a:gd name="adj" fmla="val 33333"/>
            </a:avLst>
          </a:prstGeom>
          <a:solidFill>
            <a:srgbClr val="C7912C"/>
          </a:solidFill>
          <a:ln/>
        </p:spPr>
        <p:txBody>
          <a:bodyPr wrap="square" rtlCol="0" anchor="ctr"/>
          <a:lstStyle/>
          <a:p>
            <a:pPr indent="0" marL="0">
              <a:buNone/>
            </a:pPr>
            <a:endParaRPr lang="en-US" dirty="0"/>
          </a:p>
        </p:txBody>
      </p:sp>
      <p:sp>
        <p:nvSpPr>
          <p:cNvPr id="6" name="Text 4"/>
          <p:cNvSpPr/>
          <p:nvPr/>
        </p:nvSpPr>
        <p:spPr>
          <a:xfrm>
            <a:off x="8321040" y="1139116"/>
            <a:ext cx="331470" cy="331470"/>
          </a:xfrm>
          <a:prstGeom prst="rect">
            <a:avLst/>
          </a:prstGeom>
          <a:noFill/>
          <a:ln/>
        </p:spPr>
        <p:txBody>
          <a:bodyPr wrap="none" lIns="0" tIns="0" rIns="0" bIns="0" rtlCol="0" anchor="ctr"/>
          <a:lstStyle/>
          <a:p>
            <a:pPr algn="ctr" indent="0" marL="0">
              <a:buNone/>
            </a:pPr>
            <a:r>
              <a:rPr lang="en-US" sz="2250" dirty="0">
                <a:solidFill>
                  <a:srgbClr val="FFFFFF"/>
                </a:solidFill>
                <a:latin typeface="Segoe UI Symbol" pitchFamily="34" charset="0"/>
                <a:ea typeface="Segoe UI Symbol" pitchFamily="34" charset="-122"/>
                <a:cs typeface="Segoe UI Symbol" pitchFamily="34" charset="-120"/>
              </a:rPr>
              <a:t>✚</a:t>
            </a:r>
            <a:endParaRPr lang="en-US" sz="2250" dirty="0"/>
          </a:p>
        </p:txBody>
      </p:sp>
      <p:sp>
        <p:nvSpPr>
          <p:cNvPr id="7" name="Text 5"/>
          <p:cNvSpPr/>
          <p:nvPr/>
        </p:nvSpPr>
        <p:spPr>
          <a:xfrm>
            <a:off x="460772" y="1679897"/>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8" name="Text 6"/>
          <p:cNvSpPr/>
          <p:nvPr/>
        </p:nvSpPr>
        <p:spPr>
          <a:xfrm>
            <a:off x="2896946" y="1769194"/>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০১</a:t>
            </a:r>
            <a:endParaRPr lang="en-US" sz="675" dirty="0"/>
          </a:p>
        </p:txBody>
      </p:sp>
      <p:sp>
        <p:nvSpPr>
          <p:cNvPr id="9" name="Text 7"/>
          <p:cNvSpPr/>
          <p:nvPr/>
        </p:nvSpPr>
        <p:spPr>
          <a:xfrm>
            <a:off x="621506" y="1826344"/>
            <a:ext cx="314325" cy="314325"/>
          </a:xfrm>
          <a:prstGeom prst="roundRect">
            <a:avLst>
              <a:gd name="adj" fmla="val 30303"/>
            </a:avLst>
          </a:prstGeom>
          <a:solidFill>
            <a:srgbClr val="1E4D3B"/>
          </a:solidFill>
          <a:ln/>
        </p:spPr>
        <p:txBody>
          <a:bodyPr wrap="square" rtlCol="0" anchor="ctr"/>
          <a:lstStyle/>
          <a:p>
            <a:pPr indent="0" marL="0">
              <a:buNone/>
            </a:pPr>
            <a:endParaRPr lang="en-US" dirty="0"/>
          </a:p>
        </p:txBody>
      </p:sp>
      <p:sp>
        <p:nvSpPr>
          <p:cNvPr id="10" name="Text 8"/>
          <p:cNvSpPr/>
          <p:nvPr/>
        </p:nvSpPr>
        <p:spPr>
          <a:xfrm>
            <a:off x="654368" y="1859206"/>
            <a:ext cx="248602" cy="248602"/>
          </a:xfrm>
          <a:prstGeom prst="rect">
            <a:avLst/>
          </a:prstGeom>
          <a:noFill/>
          <a:ln/>
        </p:spPr>
        <p:txBody>
          <a:bodyPr wrap="none" lIns="0" tIns="0" rIns="0" bIns="0" rtlCol="0" anchor="ctr"/>
          <a:lstStyle/>
          <a:p>
            <a:pPr algn="ctr" indent="0" marL="0">
              <a:buNone/>
            </a:pPr>
            <a:r>
              <a:rPr lang="en-US" sz="1688" dirty="0">
                <a:solidFill>
                  <a:srgbClr val="FFFFFF"/>
                </a:solidFill>
                <a:latin typeface="Segoe UI Symbol" pitchFamily="34" charset="0"/>
                <a:ea typeface="Segoe UI Symbol" pitchFamily="34" charset="-122"/>
                <a:cs typeface="Segoe UI Symbol" pitchFamily="34" charset="-120"/>
              </a:rPr>
              <a:t>✦</a:t>
            </a:r>
            <a:endParaRPr lang="en-US" sz="1688" dirty="0"/>
          </a:p>
        </p:txBody>
      </p:sp>
      <p:sp>
        <p:nvSpPr>
          <p:cNvPr id="11" name="Text 9"/>
          <p:cNvSpPr/>
          <p:nvPr/>
        </p:nvSpPr>
        <p:spPr>
          <a:xfrm>
            <a:off x="621506" y="2212107"/>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সঠিক মাত্রা</a:t>
            </a:r>
            <a:endParaRPr lang="en-US" sz="1069" dirty="0"/>
          </a:p>
        </p:txBody>
      </p:sp>
      <p:sp>
        <p:nvSpPr>
          <p:cNvPr id="12" name="Text 10"/>
          <p:cNvSpPr/>
          <p:nvPr/>
        </p:nvSpPr>
        <p:spPr>
          <a:xfrm>
            <a:off x="621506" y="2459906"/>
            <a:ext cx="2438591" cy="178897"/>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লেবেল অনুসারে — অনুমান বা অতিরিক্ত মাত্রা নয়</a:t>
            </a:r>
            <a:endParaRPr lang="en-US" sz="816" dirty="0"/>
          </a:p>
        </p:txBody>
      </p:sp>
      <p:sp>
        <p:nvSpPr>
          <p:cNvPr id="13" name="Text 11"/>
          <p:cNvSpPr/>
          <p:nvPr/>
        </p:nvSpPr>
        <p:spPr>
          <a:xfrm>
            <a:off x="3246834" y="1679897"/>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4" name="Text 12"/>
          <p:cNvSpPr/>
          <p:nvPr/>
        </p:nvSpPr>
        <p:spPr>
          <a:xfrm>
            <a:off x="5675865" y="1769194"/>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০২</a:t>
            </a:r>
            <a:endParaRPr lang="en-US" sz="675" dirty="0"/>
          </a:p>
        </p:txBody>
      </p:sp>
      <p:sp>
        <p:nvSpPr>
          <p:cNvPr id="15" name="Text 13"/>
          <p:cNvSpPr/>
          <p:nvPr/>
        </p:nvSpPr>
        <p:spPr>
          <a:xfrm>
            <a:off x="3407569" y="1826344"/>
            <a:ext cx="314325" cy="314325"/>
          </a:xfrm>
          <a:prstGeom prst="roundRect">
            <a:avLst>
              <a:gd name="adj" fmla="val 30303"/>
            </a:avLst>
          </a:prstGeom>
          <a:solidFill>
            <a:srgbClr val="1E4D3B"/>
          </a:solidFill>
          <a:ln/>
        </p:spPr>
        <p:txBody>
          <a:bodyPr wrap="square" rtlCol="0" anchor="ctr"/>
          <a:lstStyle/>
          <a:p>
            <a:pPr indent="0" marL="0">
              <a:buNone/>
            </a:pPr>
            <a:endParaRPr lang="en-US" dirty="0"/>
          </a:p>
        </p:txBody>
      </p:sp>
      <p:sp>
        <p:nvSpPr>
          <p:cNvPr id="16" name="Text 14"/>
          <p:cNvSpPr/>
          <p:nvPr/>
        </p:nvSpPr>
        <p:spPr>
          <a:xfrm>
            <a:off x="3440430" y="1859206"/>
            <a:ext cx="248602" cy="248602"/>
          </a:xfrm>
          <a:prstGeom prst="rect">
            <a:avLst/>
          </a:prstGeom>
          <a:noFill/>
          <a:ln/>
        </p:spPr>
        <p:txBody>
          <a:bodyPr wrap="none" lIns="0" tIns="0" rIns="0" bIns="0" rtlCol="0" anchor="ctr"/>
          <a:lstStyle/>
          <a:p>
            <a:pPr algn="ctr" indent="0" marL="0">
              <a:buNone/>
            </a:pPr>
            <a:r>
              <a:rPr lang="en-US" sz="1688" dirty="0">
                <a:solidFill>
                  <a:srgbClr val="FFFFFF"/>
                </a:solidFill>
                <a:latin typeface="Segoe UI Symbol" pitchFamily="34" charset="0"/>
                <a:ea typeface="Segoe UI Symbol" pitchFamily="34" charset="-122"/>
                <a:cs typeface="Segoe UI Symbol" pitchFamily="34" charset="-120"/>
              </a:rPr>
              <a:t>✦</a:t>
            </a:r>
            <a:endParaRPr lang="en-US" sz="1688" dirty="0"/>
          </a:p>
        </p:txBody>
      </p:sp>
      <p:sp>
        <p:nvSpPr>
          <p:cNvPr id="17" name="Text 15"/>
          <p:cNvSpPr/>
          <p:nvPr/>
        </p:nvSpPr>
        <p:spPr>
          <a:xfrm>
            <a:off x="3407569" y="2212107"/>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সুরক্ষা সরঞ্জাম</a:t>
            </a:r>
            <a:endParaRPr lang="en-US" sz="1069" dirty="0"/>
          </a:p>
        </p:txBody>
      </p:sp>
      <p:sp>
        <p:nvSpPr>
          <p:cNvPr id="18" name="Text 16"/>
          <p:cNvSpPr/>
          <p:nvPr/>
        </p:nvSpPr>
        <p:spPr>
          <a:xfrm>
            <a:off x="3407569" y="2459906"/>
            <a:ext cx="2328863" cy="178897"/>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মাস্ক, গ্লাভস, এপ্রন — প্রয়োগের সময় বাধ্যতামূলক</a:t>
            </a:r>
            <a:endParaRPr lang="en-US" sz="816" dirty="0"/>
          </a:p>
        </p:txBody>
      </p:sp>
      <p:sp>
        <p:nvSpPr>
          <p:cNvPr id="19" name="Text 17"/>
          <p:cNvSpPr/>
          <p:nvPr/>
        </p:nvSpPr>
        <p:spPr>
          <a:xfrm>
            <a:off x="6032897" y="1679897"/>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20" name="Text 18"/>
          <p:cNvSpPr/>
          <p:nvPr/>
        </p:nvSpPr>
        <p:spPr>
          <a:xfrm>
            <a:off x="8461927" y="1769194"/>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০৩</a:t>
            </a:r>
            <a:endParaRPr lang="en-US" sz="675" dirty="0"/>
          </a:p>
        </p:txBody>
      </p:sp>
      <p:sp>
        <p:nvSpPr>
          <p:cNvPr id="21" name="Text 19"/>
          <p:cNvSpPr/>
          <p:nvPr/>
        </p:nvSpPr>
        <p:spPr>
          <a:xfrm>
            <a:off x="6193631" y="1826344"/>
            <a:ext cx="314325" cy="314325"/>
          </a:xfrm>
          <a:prstGeom prst="roundRect">
            <a:avLst>
              <a:gd name="adj" fmla="val 30303"/>
            </a:avLst>
          </a:prstGeom>
          <a:solidFill>
            <a:srgbClr val="1E4D3B"/>
          </a:solidFill>
          <a:ln/>
        </p:spPr>
        <p:txBody>
          <a:bodyPr wrap="square" rtlCol="0" anchor="ctr"/>
          <a:lstStyle/>
          <a:p>
            <a:pPr indent="0" marL="0">
              <a:buNone/>
            </a:pPr>
            <a:endParaRPr lang="en-US" dirty="0"/>
          </a:p>
        </p:txBody>
      </p:sp>
      <p:sp>
        <p:nvSpPr>
          <p:cNvPr id="22" name="Text 20"/>
          <p:cNvSpPr/>
          <p:nvPr/>
        </p:nvSpPr>
        <p:spPr>
          <a:xfrm>
            <a:off x="6226493" y="1859206"/>
            <a:ext cx="248602" cy="248602"/>
          </a:xfrm>
          <a:prstGeom prst="rect">
            <a:avLst/>
          </a:prstGeom>
          <a:noFill/>
          <a:ln/>
        </p:spPr>
        <p:txBody>
          <a:bodyPr wrap="none" lIns="0" tIns="0" rIns="0" bIns="0" rtlCol="0" anchor="ctr"/>
          <a:lstStyle/>
          <a:p>
            <a:pPr algn="ctr" indent="0" marL="0">
              <a:buNone/>
            </a:pPr>
            <a:r>
              <a:rPr lang="en-US" sz="1688" dirty="0">
                <a:solidFill>
                  <a:srgbClr val="FFFFFF"/>
                </a:solidFill>
                <a:latin typeface="Segoe UI Symbol" pitchFamily="34" charset="0"/>
                <a:ea typeface="Segoe UI Symbol" pitchFamily="34" charset="-122"/>
                <a:cs typeface="Segoe UI Symbol" pitchFamily="34" charset="-120"/>
              </a:rPr>
              <a:t>◔</a:t>
            </a:r>
            <a:endParaRPr lang="en-US" sz="1688" dirty="0"/>
          </a:p>
        </p:txBody>
      </p:sp>
      <p:sp>
        <p:nvSpPr>
          <p:cNvPr id="23" name="Text 21"/>
          <p:cNvSpPr/>
          <p:nvPr/>
        </p:nvSpPr>
        <p:spPr>
          <a:xfrm>
            <a:off x="6193631" y="2212107"/>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প্রয়োগের সময়</a:t>
            </a:r>
            <a:endParaRPr lang="en-US" sz="1069" dirty="0"/>
          </a:p>
        </p:txBody>
      </p:sp>
      <p:sp>
        <p:nvSpPr>
          <p:cNvPr id="24" name="Text 22"/>
          <p:cNvSpPr/>
          <p:nvPr/>
        </p:nvSpPr>
        <p:spPr>
          <a:xfrm>
            <a:off x="6193631" y="2459906"/>
            <a:ext cx="2438590" cy="178897"/>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সকাল বা বিকেল, বাতাস কম, বৃষ্টির পূর্বাভাস নয়</a:t>
            </a:r>
            <a:endParaRPr lang="en-US" sz="816" dirty="0"/>
          </a:p>
        </p:txBody>
      </p:sp>
      <p:sp>
        <p:nvSpPr>
          <p:cNvPr id="25" name="Text 23"/>
          <p:cNvSpPr/>
          <p:nvPr/>
        </p:nvSpPr>
        <p:spPr>
          <a:xfrm>
            <a:off x="460772" y="3277753"/>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26" name="Text 24"/>
          <p:cNvSpPr/>
          <p:nvPr/>
        </p:nvSpPr>
        <p:spPr>
          <a:xfrm>
            <a:off x="2889802" y="3367050"/>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০৪</a:t>
            </a:r>
            <a:endParaRPr lang="en-US" sz="675" dirty="0"/>
          </a:p>
        </p:txBody>
      </p:sp>
      <p:sp>
        <p:nvSpPr>
          <p:cNvPr id="27" name="Text 25"/>
          <p:cNvSpPr/>
          <p:nvPr/>
        </p:nvSpPr>
        <p:spPr>
          <a:xfrm>
            <a:off x="621506" y="3424200"/>
            <a:ext cx="314325" cy="314325"/>
          </a:xfrm>
          <a:prstGeom prst="roundRect">
            <a:avLst>
              <a:gd name="adj" fmla="val 30303"/>
            </a:avLst>
          </a:prstGeom>
          <a:solidFill>
            <a:srgbClr val="1E4D3B"/>
          </a:solidFill>
          <a:ln/>
        </p:spPr>
        <p:txBody>
          <a:bodyPr wrap="square" rtlCol="0" anchor="ctr"/>
          <a:lstStyle/>
          <a:p>
            <a:pPr indent="0" marL="0">
              <a:buNone/>
            </a:pPr>
            <a:endParaRPr lang="en-US" dirty="0"/>
          </a:p>
        </p:txBody>
      </p:sp>
      <p:sp>
        <p:nvSpPr>
          <p:cNvPr id="28" name="Text 26"/>
          <p:cNvSpPr/>
          <p:nvPr/>
        </p:nvSpPr>
        <p:spPr>
          <a:xfrm>
            <a:off x="654368" y="3457062"/>
            <a:ext cx="248602" cy="248602"/>
          </a:xfrm>
          <a:prstGeom prst="rect">
            <a:avLst/>
          </a:prstGeom>
          <a:noFill/>
          <a:ln/>
        </p:spPr>
        <p:txBody>
          <a:bodyPr wrap="none" lIns="0" tIns="0" rIns="0" bIns="0" rtlCol="0" anchor="ctr"/>
          <a:lstStyle/>
          <a:p>
            <a:pPr algn="ctr" indent="0" marL="0">
              <a:buNone/>
            </a:pPr>
            <a:r>
              <a:rPr lang="en-US" sz="1688" dirty="0">
                <a:solidFill>
                  <a:srgbClr val="FFFFFF"/>
                </a:solidFill>
                <a:latin typeface="Segoe UI Symbol" pitchFamily="34" charset="0"/>
                <a:ea typeface="Segoe UI Symbol" pitchFamily="34" charset="-122"/>
                <a:cs typeface="Segoe UI Symbol" pitchFamily="34" charset="-120"/>
              </a:rPr>
              <a:t>⧖</a:t>
            </a:r>
            <a:endParaRPr lang="en-US" sz="1688" dirty="0"/>
          </a:p>
        </p:txBody>
      </p:sp>
      <p:sp>
        <p:nvSpPr>
          <p:cNvPr id="29" name="Text 27"/>
          <p:cNvSpPr/>
          <p:nvPr/>
        </p:nvSpPr>
        <p:spPr>
          <a:xfrm>
            <a:off x="621506" y="3809963"/>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প্রতীক্ষা সময়</a:t>
            </a:r>
            <a:endParaRPr lang="en-US" sz="1069" dirty="0"/>
          </a:p>
        </p:txBody>
      </p:sp>
      <p:sp>
        <p:nvSpPr>
          <p:cNvPr id="30" name="Text 28"/>
          <p:cNvSpPr/>
          <p:nvPr/>
        </p:nvSpPr>
        <p:spPr>
          <a:xfrm>
            <a:off x="621506" y="4057762"/>
            <a:ext cx="2328863" cy="178897"/>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ফসল সংগ্রহের আগের নির্দিষ্ট সময় মানা বাধ্যতামূলক</a:t>
            </a:r>
            <a:endParaRPr lang="en-US" sz="816" dirty="0"/>
          </a:p>
        </p:txBody>
      </p:sp>
      <p:sp>
        <p:nvSpPr>
          <p:cNvPr id="31" name="Text 29"/>
          <p:cNvSpPr/>
          <p:nvPr/>
        </p:nvSpPr>
        <p:spPr>
          <a:xfrm>
            <a:off x="3246834" y="3277753"/>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32" name="Text 30"/>
          <p:cNvSpPr/>
          <p:nvPr/>
        </p:nvSpPr>
        <p:spPr>
          <a:xfrm>
            <a:off x="5675865" y="3367050"/>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০৫</a:t>
            </a:r>
            <a:endParaRPr lang="en-US" sz="675" dirty="0"/>
          </a:p>
        </p:txBody>
      </p:sp>
      <p:sp>
        <p:nvSpPr>
          <p:cNvPr id="33" name="Text 31"/>
          <p:cNvSpPr/>
          <p:nvPr/>
        </p:nvSpPr>
        <p:spPr>
          <a:xfrm>
            <a:off x="3407569" y="3424200"/>
            <a:ext cx="314325" cy="314325"/>
          </a:xfrm>
          <a:prstGeom prst="roundRect">
            <a:avLst>
              <a:gd name="adj" fmla="val 30303"/>
            </a:avLst>
          </a:prstGeom>
          <a:solidFill>
            <a:srgbClr val="1E4D3B"/>
          </a:solidFill>
          <a:ln/>
        </p:spPr>
        <p:txBody>
          <a:bodyPr wrap="square" rtlCol="0" anchor="ctr"/>
          <a:lstStyle/>
          <a:p>
            <a:pPr indent="0" marL="0">
              <a:buNone/>
            </a:pPr>
            <a:endParaRPr lang="en-US" dirty="0"/>
          </a:p>
        </p:txBody>
      </p:sp>
      <p:sp>
        <p:nvSpPr>
          <p:cNvPr id="34" name="Text 32"/>
          <p:cNvSpPr/>
          <p:nvPr/>
        </p:nvSpPr>
        <p:spPr>
          <a:xfrm>
            <a:off x="3440430" y="3457062"/>
            <a:ext cx="248602" cy="248602"/>
          </a:xfrm>
          <a:prstGeom prst="rect">
            <a:avLst/>
          </a:prstGeom>
          <a:noFill/>
          <a:ln/>
        </p:spPr>
        <p:txBody>
          <a:bodyPr wrap="none" lIns="0" tIns="0" rIns="0" bIns="0" rtlCol="0" anchor="ctr"/>
          <a:lstStyle/>
          <a:p>
            <a:pPr algn="ctr" indent="0" marL="0">
              <a:buNone/>
            </a:pPr>
            <a:r>
              <a:rPr lang="en-US" sz="1688" dirty="0">
                <a:solidFill>
                  <a:srgbClr val="FFFFFF"/>
                </a:solidFill>
                <a:latin typeface="Segoe UI Symbol" pitchFamily="34" charset="0"/>
                <a:ea typeface="Segoe UI Symbol" pitchFamily="34" charset="-122"/>
                <a:cs typeface="Segoe UI Symbol" pitchFamily="34" charset="-120"/>
              </a:rPr>
              <a:t>⊘</a:t>
            </a:r>
            <a:endParaRPr lang="en-US" sz="1688" dirty="0"/>
          </a:p>
        </p:txBody>
      </p:sp>
      <p:sp>
        <p:nvSpPr>
          <p:cNvPr id="35" name="Text 33"/>
          <p:cNvSpPr/>
          <p:nvPr/>
        </p:nvSpPr>
        <p:spPr>
          <a:xfrm>
            <a:off x="3407569" y="3809963"/>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মিশ্রণ নিষেধ</a:t>
            </a:r>
            <a:endParaRPr lang="en-US" sz="1069" dirty="0"/>
          </a:p>
        </p:txBody>
      </p:sp>
      <p:sp>
        <p:nvSpPr>
          <p:cNvPr id="36" name="Text 34"/>
          <p:cNvSpPr/>
          <p:nvPr/>
        </p:nvSpPr>
        <p:spPr>
          <a:xfrm>
            <a:off x="3407569" y="4057762"/>
            <a:ext cx="2328863" cy="357795"/>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অননুমোদিত মিশ্রণ পরিহার — বিপজ্জনক রাসায়নিক প্রতিক্রিয়া হতে পারে</a:t>
            </a:r>
            <a:endParaRPr lang="en-US" sz="816" dirty="0"/>
          </a:p>
        </p:txBody>
      </p:sp>
      <p:sp>
        <p:nvSpPr>
          <p:cNvPr id="37" name="Text 35"/>
          <p:cNvSpPr/>
          <p:nvPr/>
        </p:nvSpPr>
        <p:spPr>
          <a:xfrm>
            <a:off x="6032897" y="3277753"/>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38" name="Text 36"/>
          <p:cNvSpPr/>
          <p:nvPr/>
        </p:nvSpPr>
        <p:spPr>
          <a:xfrm>
            <a:off x="8461927" y="3367050"/>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০৬</a:t>
            </a:r>
            <a:endParaRPr lang="en-US" sz="675" dirty="0"/>
          </a:p>
        </p:txBody>
      </p:sp>
      <p:sp>
        <p:nvSpPr>
          <p:cNvPr id="39" name="Text 37"/>
          <p:cNvSpPr/>
          <p:nvPr/>
        </p:nvSpPr>
        <p:spPr>
          <a:xfrm>
            <a:off x="6193631" y="3424200"/>
            <a:ext cx="314325" cy="314325"/>
          </a:xfrm>
          <a:prstGeom prst="roundRect">
            <a:avLst>
              <a:gd name="adj" fmla="val 30303"/>
            </a:avLst>
          </a:prstGeom>
          <a:solidFill>
            <a:srgbClr val="1E4D3B"/>
          </a:solidFill>
          <a:ln/>
        </p:spPr>
        <p:txBody>
          <a:bodyPr wrap="square" rtlCol="0" anchor="ctr"/>
          <a:lstStyle/>
          <a:p>
            <a:pPr indent="0" marL="0">
              <a:buNone/>
            </a:pPr>
            <a:endParaRPr lang="en-US" dirty="0"/>
          </a:p>
        </p:txBody>
      </p:sp>
      <p:sp>
        <p:nvSpPr>
          <p:cNvPr id="40" name="Text 38"/>
          <p:cNvSpPr/>
          <p:nvPr/>
        </p:nvSpPr>
        <p:spPr>
          <a:xfrm>
            <a:off x="6226493" y="3457062"/>
            <a:ext cx="248602" cy="248602"/>
          </a:xfrm>
          <a:prstGeom prst="rect">
            <a:avLst/>
          </a:prstGeom>
          <a:noFill/>
          <a:ln/>
        </p:spPr>
        <p:txBody>
          <a:bodyPr wrap="none" lIns="0" tIns="0" rIns="0" bIns="0" rtlCol="0" anchor="ctr"/>
          <a:lstStyle/>
          <a:p>
            <a:pPr algn="ctr" indent="0" marL="0">
              <a:buNone/>
            </a:pPr>
            <a:r>
              <a:rPr lang="en-US" sz="1688" dirty="0">
                <a:solidFill>
                  <a:srgbClr val="FFFFFF"/>
                </a:solidFill>
                <a:latin typeface="Segoe UI Symbol" pitchFamily="34" charset="0"/>
                <a:ea typeface="Segoe UI Symbol" pitchFamily="34" charset="-122"/>
                <a:cs typeface="Segoe UI Symbol" pitchFamily="34" charset="-120"/>
              </a:rPr>
              <a:t>✕</a:t>
            </a:r>
            <a:endParaRPr lang="en-US" sz="1688" dirty="0"/>
          </a:p>
        </p:txBody>
      </p:sp>
      <p:sp>
        <p:nvSpPr>
          <p:cNvPr id="41" name="Text 39"/>
          <p:cNvSpPr/>
          <p:nvPr/>
        </p:nvSpPr>
        <p:spPr>
          <a:xfrm>
            <a:off x="6193631" y="3809963"/>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বর্জ্য নিষ্পত্তি</a:t>
            </a:r>
            <a:endParaRPr lang="en-US" sz="1069" dirty="0"/>
          </a:p>
        </p:txBody>
      </p:sp>
      <p:sp>
        <p:nvSpPr>
          <p:cNvPr id="42" name="Text 40"/>
          <p:cNvSpPr/>
          <p:nvPr/>
        </p:nvSpPr>
        <p:spPr>
          <a:xfrm>
            <a:off x="6193631" y="4057762"/>
            <a:ext cx="2438590" cy="178897"/>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খালি বোতল গর্তে পুঁতে ফেলা বা নিরাপদে পোড়ানো</a:t>
            </a:r>
            <a:endParaRPr lang="en-US" sz="816" dirty="0"/>
          </a:p>
        </p:txBody>
      </p:sp>
      <p:sp>
        <p:nvSpPr>
          <p:cNvPr id="43" name="Text 41"/>
          <p:cNvSpPr/>
          <p:nvPr/>
        </p:nvSpPr>
        <p:spPr>
          <a:xfrm>
            <a:off x="8694725" y="4706392"/>
            <a:ext cx="30736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৪৪</a:t>
            </a:r>
            <a:endParaRPr lang="en-US" sz="1350" dirty="0"/>
          </a:p>
        </p:txBody>
      </p:sp>
      <p:pic>
        <p:nvPicPr>
          <p:cNvPr id="44"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57200" y="314325"/>
            <a:ext cx="5411164" cy="286911"/>
          </a:xfrm>
          <a:prstGeom prst="rect">
            <a:avLst/>
          </a:prstGeom>
          <a:noFill/>
          <a:ln/>
        </p:spPr>
        <p:txBody>
          <a:bodyPr wrap="squar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০৭ · খুচরা বিক্রেতার সম্মানের পথ</a:t>
            </a:r>
            <a:endParaRPr lang="en-US" sz="1350" dirty="0"/>
          </a:p>
        </p:txBody>
      </p:sp>
      <p:sp>
        <p:nvSpPr>
          <p:cNvPr id="3" name="Text 1"/>
          <p:cNvSpPr/>
          <p:nvPr/>
        </p:nvSpPr>
        <p:spPr>
          <a:xfrm>
            <a:off x="457200" y="637133"/>
            <a:ext cx="4709065" cy="487476"/>
          </a:xfrm>
          <a:prstGeom prst="rect">
            <a:avLst/>
          </a:prstGeom>
          <a:noFill/>
          <a:ln/>
        </p:spPr>
        <p:txBody>
          <a:bodyPr wrap="none" lIns="0" tIns="0" rIns="0" bIns="0" rtlCol="0" anchor="t">
            <a:normAutofit/>
          </a:bodyPr>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রেকর্ড ও ডকুমেন্টেশন</a:t>
            </a:r>
            <a:endParaRPr lang="en-US" sz="3150" dirty="0"/>
          </a:p>
        </p:txBody>
      </p:sp>
      <p:sp>
        <p:nvSpPr>
          <p:cNvPr id="4" name="Text 2"/>
          <p:cNvSpPr/>
          <p:nvPr/>
        </p:nvSpPr>
        <p:spPr>
          <a:xfrm>
            <a:off x="457200" y="1152041"/>
            <a:ext cx="4484824" cy="334770"/>
          </a:xfrm>
          <a:prstGeom prst="rect">
            <a:avLst/>
          </a:prstGeom>
          <a:noFill/>
          <a:ln/>
        </p:spPr>
        <p:txBody>
          <a:bodyPr wrap="square" lIns="0" tIns="0" rIns="0" bIns="0" rtlCol="0" anchor="t"/>
          <a:lstStyle/>
          <a:p>
            <a:pPr algn="l" indent="0" marL="0">
              <a:lnSpc>
                <a:spcPts val="2441"/>
              </a:lnSpc>
              <a:buNone/>
            </a:pPr>
            <a:r>
              <a:rPr lang="en-US" sz="1575" dirty="0">
                <a:solidFill>
                  <a:srgbClr val="4A4A4A"/>
                </a:solidFill>
                <a:latin typeface="Carlito" pitchFamily="34" charset="0"/>
                <a:ea typeface="Carlito" pitchFamily="34" charset="-122"/>
                <a:cs typeface="Carlito" pitchFamily="34" charset="-120"/>
              </a:rPr>
              <a:t>আইনি সুরক্ষা ও স্বচ্ছ ব্যবসার ভিত্তি — সংরক্ষণযোগ্য ৭টি মৌলিক নথি</a:t>
            </a:r>
            <a:endParaRPr lang="en-US" sz="1575" dirty="0"/>
          </a:p>
        </p:txBody>
      </p:sp>
      <p:sp>
        <p:nvSpPr>
          <p:cNvPr id="5" name="Text 3"/>
          <p:cNvSpPr/>
          <p:nvPr/>
        </p:nvSpPr>
        <p:spPr>
          <a:xfrm>
            <a:off x="8286750" y="1061963"/>
            <a:ext cx="400050" cy="400050"/>
          </a:xfrm>
          <a:prstGeom prst="roundRect">
            <a:avLst>
              <a:gd name="adj" fmla="val 33333"/>
            </a:avLst>
          </a:prstGeom>
          <a:solidFill>
            <a:srgbClr val="1E4D3B"/>
          </a:solidFill>
          <a:ln/>
        </p:spPr>
        <p:txBody>
          <a:bodyPr wrap="square" rtlCol="0" anchor="ctr"/>
          <a:lstStyle/>
          <a:p>
            <a:pPr indent="0" marL="0">
              <a:buNone/>
            </a:pPr>
            <a:endParaRPr lang="en-US" dirty="0"/>
          </a:p>
        </p:txBody>
      </p:sp>
      <p:sp>
        <p:nvSpPr>
          <p:cNvPr id="6" name="Text 4"/>
          <p:cNvSpPr/>
          <p:nvPr/>
        </p:nvSpPr>
        <p:spPr>
          <a:xfrm>
            <a:off x="8321040" y="1096253"/>
            <a:ext cx="331470" cy="331470"/>
          </a:xfrm>
          <a:prstGeom prst="rect">
            <a:avLst/>
          </a:prstGeom>
          <a:noFill/>
          <a:ln/>
        </p:spPr>
        <p:txBody>
          <a:bodyPr wrap="none" lIns="0" tIns="0" rIns="0" bIns="0" rtlCol="0" anchor="ctr"/>
          <a:lstStyle/>
          <a:p>
            <a:pPr algn="ctr" indent="0" marL="0">
              <a:buNone/>
            </a:pPr>
            <a:r>
              <a:rPr lang="en-US" sz="2250" dirty="0">
                <a:solidFill>
                  <a:srgbClr val="FFFFFF"/>
                </a:solidFill>
                <a:latin typeface="Segoe UI Symbol" pitchFamily="34" charset="0"/>
                <a:ea typeface="Segoe UI Symbol" pitchFamily="34" charset="-122"/>
                <a:cs typeface="Segoe UI Symbol" pitchFamily="34" charset="-120"/>
              </a:rPr>
              <a:t>▣</a:t>
            </a:r>
            <a:endParaRPr lang="en-US" sz="2250" dirty="0"/>
          </a:p>
        </p:txBody>
      </p:sp>
      <p:sp>
        <p:nvSpPr>
          <p:cNvPr id="7" name="Text 5"/>
          <p:cNvSpPr/>
          <p:nvPr/>
        </p:nvSpPr>
        <p:spPr>
          <a:xfrm>
            <a:off x="460772" y="1622747"/>
            <a:ext cx="4021931" cy="1708026"/>
          </a:xfrm>
          <a:prstGeom prst="roundRect">
            <a:avLst>
              <a:gd name="adj" fmla="val 8923"/>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8" name="Shape 6"/>
          <p:cNvSpPr/>
          <p:nvPr/>
        </p:nvSpPr>
        <p:spPr>
          <a:xfrm>
            <a:off x="635794" y="2046684"/>
            <a:ext cx="3671888" cy="0"/>
          </a:xfrm>
          <a:prstGeom prst="line">
            <a:avLst/>
          </a:prstGeom>
          <a:noFill/>
          <a:ln w="7144">
            <a:solidFill>
              <a:srgbClr val="D9D2BF"/>
            </a:solidFill>
            <a:prstDash val="solid"/>
          </a:ln>
        </p:spPr>
        <p:txBody>
          <a:bodyPr/>
          <a:p/>
        </p:txBody>
      </p:sp>
      <p:sp>
        <p:nvSpPr>
          <p:cNvPr id="9" name="Text 7"/>
          <p:cNvSpPr/>
          <p:nvPr/>
        </p:nvSpPr>
        <p:spPr>
          <a:xfrm>
            <a:off x="864394" y="1804913"/>
            <a:ext cx="908596" cy="146590"/>
          </a:xfrm>
          <a:prstGeom prst="rect">
            <a:avLst/>
          </a:prstGeom>
          <a:noFill/>
          <a:ln/>
        </p:spPr>
        <p:txBody>
          <a:bodyPr wrap="none" lIns="0" tIns="0" rIns="0" bIns="71438" rtlCol="0" anchor="t"/>
          <a:lstStyle/>
          <a:p>
            <a:pPr algn="l" indent="0" marL="0">
              <a:lnSpc>
                <a:spcPts val="1482"/>
              </a:lnSpc>
              <a:buNone/>
            </a:pPr>
            <a:r>
              <a:rPr lang="en-US" sz="956" dirty="0">
                <a:solidFill>
                  <a:srgbClr val="14342A"/>
                </a:solidFill>
                <a:latin typeface="Tinos" pitchFamily="34" charset="0"/>
                <a:ea typeface="Tinos" pitchFamily="34" charset="-122"/>
                <a:cs typeface="Tinos" pitchFamily="34" charset="-120"/>
              </a:rPr>
              <a:t>দৈনন্দিন ও ক্রয় নথি</a:t>
            </a:r>
            <a:endParaRPr lang="en-US" sz="956" dirty="0"/>
          </a:p>
        </p:txBody>
      </p:sp>
      <p:sp>
        <p:nvSpPr>
          <p:cNvPr id="10" name="Text 8"/>
          <p:cNvSpPr/>
          <p:nvPr/>
        </p:nvSpPr>
        <p:spPr>
          <a:xfrm>
            <a:off x="635794" y="1798997"/>
            <a:ext cx="157163" cy="157163"/>
          </a:xfrm>
          <a:prstGeom prst="rect">
            <a:avLst/>
          </a:prstGeom>
          <a:noFill/>
          <a:ln/>
        </p:spPr>
        <p:txBody>
          <a:bodyPr wrap="none" lIns="0" tIns="0" rIns="0" bIns="0" rtlCol="0" anchor="ctr"/>
          <a:lstStyle/>
          <a:p>
            <a:pPr algn="ctr" indent="0" marL="0">
              <a:buNone/>
            </a:pPr>
            <a:r>
              <a:rPr lang="en-US" sz="1547" dirty="0">
                <a:solidFill>
                  <a:srgbClr val="9A6E1E"/>
                </a:solidFill>
                <a:latin typeface="Segoe UI Symbol" pitchFamily="34" charset="0"/>
                <a:ea typeface="Segoe UI Symbol" pitchFamily="34" charset="-122"/>
                <a:cs typeface="Segoe UI Symbol" pitchFamily="34" charset="-120"/>
              </a:rPr>
              <a:t>▤</a:t>
            </a:r>
            <a:endParaRPr lang="en-US" sz="1547" dirty="0"/>
          </a:p>
        </p:txBody>
      </p:sp>
      <p:sp>
        <p:nvSpPr>
          <p:cNvPr id="11" name="Text 9"/>
          <p:cNvSpPr/>
          <p:nvPr/>
        </p:nvSpPr>
        <p:spPr>
          <a:xfrm>
            <a:off x="635794" y="2164556"/>
            <a:ext cx="3671888" cy="1151537"/>
          </a:xfrm>
          <a:prstGeom prst="rect">
            <a:avLst/>
          </a:prstGeom>
          <a:noFill/>
          <a:ln/>
        </p:spPr>
        <p:txBody>
          <a:bodyPr wrap="square" lIns="0" tIns="0" rIns="0" bIns="0" rtlCol="0" anchor="t"/>
          <a:lstStyle/>
          <a:p>
            <a:pPr algn="l" indent="0" marL="0">
              <a:lnSpc>
                <a:spcPts val="1305"/>
              </a:lnSpc>
              <a:spcAft>
                <a:spcPts val="675"/>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305"/>
              </a:lnSpc>
              <a:spcAft>
                <a:spcPts val="675"/>
              </a:spcAft>
              <a:buNone/>
            </a:pPr>
            <a:r>
              <a:rPr lang="en-US" sz="816" dirty="0">
                <a:solidFill>
                  <a:srgbClr val="14342A"/>
                </a:solidFill>
                <a:latin typeface="Carlito" pitchFamily="34" charset="0"/>
                <a:ea typeface="Carlito" pitchFamily="34" charset="-122"/>
                <a:cs typeface="Carlito" pitchFamily="34" charset="-120"/>
              </a:rPr>
              <a:t>প্রতিদিনের বিক্রয় রেজিস্টার</a:t>
            </a:r>
            <a:pPr algn="l" indent="0" marL="0">
              <a:lnSpc>
                <a:spcPts val="1305"/>
              </a:lnSpc>
              <a:spcAft>
                <a:spcPts val="675"/>
              </a:spcAft>
              <a:buNone/>
            </a:pPr>
            <a:r>
              <a:rPr lang="en-US" sz="816" dirty="0">
                <a:solidFill>
                  <a:srgbClr val="1A1A1A"/>
                </a:solidFill>
                <a:latin typeface="Carlito" pitchFamily="34" charset="0"/>
                <a:ea typeface="Carlito" pitchFamily="34" charset="-122"/>
                <a:cs typeface="Carlito" pitchFamily="34" charset="-120"/>
              </a:rPr>
              <a:t> — পণ্য, পরিমাণ, ক্রেতা</a:t>
            </a:r>
            <a:endParaRPr lang="en-US" sz="816" dirty="0"/>
          </a:p>
          <a:p>
            <a:pPr algn="l" indent="0" marL="0">
              <a:lnSpc>
                <a:spcPts val="1305"/>
              </a:lnSpc>
              <a:spcAft>
                <a:spcPts val="675"/>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305"/>
              </a:lnSpc>
              <a:spcAft>
                <a:spcPts val="675"/>
              </a:spcAft>
              <a:buNone/>
            </a:pPr>
            <a:r>
              <a:rPr lang="en-US" sz="816" dirty="0">
                <a:solidFill>
                  <a:srgbClr val="14342A"/>
                </a:solidFill>
                <a:latin typeface="Carlito" pitchFamily="34" charset="0"/>
                <a:ea typeface="Carlito" pitchFamily="34" charset="-122"/>
                <a:cs typeface="Carlito" pitchFamily="34" charset="-120"/>
              </a:rPr>
              <a:t>ক্রয় চালান</a:t>
            </a:r>
            <a:pPr algn="l" indent="0" marL="0">
              <a:lnSpc>
                <a:spcPts val="1305"/>
              </a:lnSpc>
              <a:spcAft>
                <a:spcPts val="675"/>
              </a:spcAft>
              <a:buNone/>
            </a:pPr>
            <a:r>
              <a:rPr lang="en-US" sz="816" dirty="0">
                <a:solidFill>
                  <a:srgbClr val="1A1A1A"/>
                </a:solidFill>
                <a:latin typeface="Carlito" pitchFamily="34" charset="0"/>
                <a:ea typeface="Carlito" pitchFamily="34" charset="-122"/>
                <a:cs typeface="Carlito" pitchFamily="34" charset="-120"/>
              </a:rPr>
              <a:t> — সমস্ত পাইকারি ক্রয়ের চালান সংরক্ষণ</a:t>
            </a:r>
            <a:endParaRPr lang="en-US" sz="816" dirty="0"/>
          </a:p>
          <a:p>
            <a:pPr algn="l" indent="0" marL="0">
              <a:lnSpc>
                <a:spcPts val="1305"/>
              </a:lnSpc>
              <a:spcAft>
                <a:spcPts val="675"/>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305"/>
              </a:lnSpc>
              <a:spcAft>
                <a:spcPts val="675"/>
              </a:spcAft>
              <a:buNone/>
            </a:pPr>
            <a:r>
              <a:rPr lang="en-US" sz="816" dirty="0">
                <a:solidFill>
                  <a:srgbClr val="14342A"/>
                </a:solidFill>
                <a:latin typeface="Carlito" pitchFamily="34" charset="0"/>
                <a:ea typeface="Carlito" pitchFamily="34" charset="-122"/>
                <a:cs typeface="Carlito" pitchFamily="34" charset="-120"/>
              </a:rPr>
              <a:t>স্টক বই</a:t>
            </a:r>
            <a:pPr algn="l" indent="0" marL="0">
              <a:lnSpc>
                <a:spcPts val="1305"/>
              </a:lnSpc>
              <a:spcAft>
                <a:spcPts val="675"/>
              </a:spcAft>
              <a:buNone/>
            </a:pPr>
            <a:r>
              <a:rPr lang="en-US" sz="816" dirty="0">
                <a:solidFill>
                  <a:srgbClr val="1A1A1A"/>
                </a:solidFill>
                <a:latin typeface="Carlito" pitchFamily="34" charset="0"/>
                <a:ea typeface="Carlito" pitchFamily="34" charset="-122"/>
                <a:cs typeface="Carlito" pitchFamily="34" charset="-120"/>
              </a:rPr>
              <a:t> — মাসিক উদ্বৃত্ত ও ঘাটতি হিসাব</a:t>
            </a:r>
            <a:endParaRPr lang="en-US" sz="816" dirty="0"/>
          </a:p>
          <a:p>
            <a:pPr algn="l" indent="0" marL="0">
              <a:lnSpc>
                <a:spcPts val="1305"/>
              </a:lnSpc>
              <a:spcAft>
                <a:spcPts val="675"/>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305"/>
              </a:lnSpc>
              <a:spcAft>
                <a:spcPts val="675"/>
              </a:spcAft>
              <a:buNone/>
            </a:pPr>
            <a:r>
              <a:rPr lang="en-US" sz="816" dirty="0">
                <a:solidFill>
                  <a:srgbClr val="14342A"/>
                </a:solidFill>
                <a:latin typeface="Carlito" pitchFamily="34" charset="0"/>
                <a:ea typeface="Carlito" pitchFamily="34" charset="-122"/>
                <a:cs typeface="Carlito" pitchFamily="34" charset="-120"/>
              </a:rPr>
              <a:t>মেয়াদোত্তীর্ণ রেকর্ড</a:t>
            </a:r>
            <a:pPr algn="l" indent="0" marL="0">
              <a:lnSpc>
                <a:spcPts val="1305"/>
              </a:lnSpc>
              <a:spcAft>
                <a:spcPts val="675"/>
              </a:spcAft>
              <a:buNone/>
            </a:pPr>
            <a:r>
              <a:rPr lang="en-US" sz="816" dirty="0">
                <a:solidFill>
                  <a:srgbClr val="1A1A1A"/>
                </a:solidFill>
                <a:latin typeface="Carlito" pitchFamily="34" charset="0"/>
                <a:ea typeface="Carlito" pitchFamily="34" charset="-122"/>
                <a:cs typeface="Carlito" pitchFamily="34" charset="-120"/>
              </a:rPr>
              <a:t> — পৃথক তালিকা ও নিষ্পত্তি</a:t>
            </a:r>
            <a:endParaRPr lang="en-US" sz="816" dirty="0"/>
          </a:p>
        </p:txBody>
      </p:sp>
      <p:sp>
        <p:nvSpPr>
          <p:cNvPr id="12" name="Text 10"/>
          <p:cNvSpPr/>
          <p:nvPr/>
        </p:nvSpPr>
        <p:spPr>
          <a:xfrm>
            <a:off x="4661297" y="1622747"/>
            <a:ext cx="4021931" cy="1708026"/>
          </a:xfrm>
          <a:prstGeom prst="roundRect">
            <a:avLst>
              <a:gd name="adj" fmla="val 8923"/>
            </a:avLst>
          </a:prstGeom>
          <a:solidFill>
            <a:srgbClr val="F2ECDD"/>
          </a:solidFill>
          <a:ln w="7144">
            <a:solidFill>
              <a:srgbClr val="FFFFFF"/>
            </a:solidFill>
            <a:prstDash val="solid"/>
          </a:ln>
        </p:spPr>
        <p:txBody>
          <a:bodyPr wrap="square" rtlCol="0" anchor="ctr"/>
          <a:lstStyle/>
          <a:p>
            <a:pPr indent="0" marL="0">
              <a:buNone/>
            </a:pPr>
            <a:endParaRPr lang="en-US" dirty="0"/>
          </a:p>
        </p:txBody>
      </p:sp>
      <p:sp>
        <p:nvSpPr>
          <p:cNvPr id="13" name="Shape 11"/>
          <p:cNvSpPr/>
          <p:nvPr/>
        </p:nvSpPr>
        <p:spPr>
          <a:xfrm>
            <a:off x="4836319" y="2046684"/>
            <a:ext cx="3671888" cy="0"/>
          </a:xfrm>
          <a:prstGeom prst="line">
            <a:avLst/>
          </a:prstGeom>
          <a:noFill/>
          <a:ln w="7144">
            <a:solidFill>
              <a:srgbClr val="D9D2BF"/>
            </a:solidFill>
            <a:prstDash val="solid"/>
          </a:ln>
        </p:spPr>
        <p:txBody>
          <a:bodyPr/>
          <a:p/>
        </p:txBody>
      </p:sp>
      <p:sp>
        <p:nvSpPr>
          <p:cNvPr id="14" name="Text 12"/>
          <p:cNvSpPr/>
          <p:nvPr/>
        </p:nvSpPr>
        <p:spPr>
          <a:xfrm>
            <a:off x="5064919" y="1804913"/>
            <a:ext cx="1042541" cy="146590"/>
          </a:xfrm>
          <a:prstGeom prst="rect">
            <a:avLst/>
          </a:prstGeom>
          <a:noFill/>
          <a:ln/>
        </p:spPr>
        <p:txBody>
          <a:bodyPr wrap="none" lIns="0" tIns="0" rIns="0" bIns="71438" rtlCol="0" anchor="t"/>
          <a:lstStyle/>
          <a:p>
            <a:pPr algn="l" indent="0" marL="0">
              <a:lnSpc>
                <a:spcPts val="1482"/>
              </a:lnSpc>
              <a:buNone/>
            </a:pPr>
            <a:r>
              <a:rPr lang="en-US" sz="956" dirty="0">
                <a:solidFill>
                  <a:srgbClr val="14342A"/>
                </a:solidFill>
                <a:latin typeface="Tinos" pitchFamily="34" charset="0"/>
                <a:ea typeface="Tinos" pitchFamily="34" charset="-122"/>
                <a:cs typeface="Tinos" pitchFamily="34" charset="-120"/>
              </a:rPr>
              <a:t>আইনি ও পরিদর্শন নথি</a:t>
            </a:r>
            <a:endParaRPr lang="en-US" sz="956" dirty="0"/>
          </a:p>
        </p:txBody>
      </p:sp>
      <p:sp>
        <p:nvSpPr>
          <p:cNvPr id="15" name="Text 13"/>
          <p:cNvSpPr/>
          <p:nvPr/>
        </p:nvSpPr>
        <p:spPr>
          <a:xfrm>
            <a:off x="4836319" y="1798997"/>
            <a:ext cx="157163" cy="157163"/>
          </a:xfrm>
          <a:prstGeom prst="rect">
            <a:avLst/>
          </a:prstGeom>
          <a:noFill/>
          <a:ln/>
        </p:spPr>
        <p:txBody>
          <a:bodyPr wrap="none" lIns="0" tIns="0" rIns="0" bIns="0" rtlCol="0" anchor="ctr"/>
          <a:lstStyle/>
          <a:p>
            <a:pPr algn="ctr" indent="0" marL="0">
              <a:buNone/>
            </a:pPr>
            <a:r>
              <a:rPr lang="en-US" sz="1547" dirty="0">
                <a:solidFill>
                  <a:srgbClr val="9A6E1E"/>
                </a:solidFill>
                <a:latin typeface="Segoe UI Symbol" pitchFamily="34" charset="0"/>
                <a:ea typeface="Segoe UI Symbol" pitchFamily="34" charset="-122"/>
                <a:cs typeface="Segoe UI Symbol" pitchFamily="34" charset="-120"/>
              </a:rPr>
              <a:t>✦</a:t>
            </a:r>
            <a:endParaRPr lang="en-US" sz="1547" dirty="0"/>
          </a:p>
        </p:txBody>
      </p:sp>
      <p:sp>
        <p:nvSpPr>
          <p:cNvPr id="16" name="Text 14"/>
          <p:cNvSpPr/>
          <p:nvPr/>
        </p:nvSpPr>
        <p:spPr>
          <a:xfrm>
            <a:off x="4836319" y="2164556"/>
            <a:ext cx="3671888" cy="885084"/>
          </a:xfrm>
          <a:prstGeom prst="rect">
            <a:avLst/>
          </a:prstGeom>
          <a:noFill/>
          <a:ln/>
        </p:spPr>
        <p:txBody>
          <a:bodyPr wrap="square" lIns="0" tIns="0" rIns="0" bIns="0" rtlCol="0" anchor="t"/>
          <a:lstStyle/>
          <a:p>
            <a:pPr algn="l" indent="0" marL="0">
              <a:lnSpc>
                <a:spcPts val="1305"/>
              </a:lnSpc>
              <a:spcAft>
                <a:spcPts val="675"/>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305"/>
              </a:lnSpc>
              <a:spcAft>
                <a:spcPts val="675"/>
              </a:spcAft>
              <a:buNone/>
            </a:pPr>
            <a:r>
              <a:rPr lang="en-US" sz="816" dirty="0">
                <a:solidFill>
                  <a:srgbClr val="14342A"/>
                </a:solidFill>
                <a:latin typeface="Carlito" pitchFamily="34" charset="0"/>
                <a:ea typeface="Carlito" pitchFamily="34" charset="-122"/>
                <a:cs typeface="Carlito" pitchFamily="34" charset="-120"/>
              </a:rPr>
              <a:t>লাইসেন্স ও নবায়ন নথি</a:t>
            </a:r>
            <a:pPr algn="l" indent="0" marL="0">
              <a:lnSpc>
                <a:spcPts val="1305"/>
              </a:lnSpc>
              <a:spcAft>
                <a:spcPts val="675"/>
              </a:spcAft>
              <a:buNone/>
            </a:pPr>
            <a:r>
              <a:rPr lang="en-US" sz="816" dirty="0">
                <a:solidFill>
                  <a:srgbClr val="1A1A1A"/>
                </a:solidFill>
                <a:latin typeface="Carlito" pitchFamily="34" charset="0"/>
                <a:ea typeface="Carlito" pitchFamily="34" charset="-122"/>
                <a:cs typeface="Carlito" pitchFamily="34" charset="-120"/>
              </a:rPr>
              <a:t> — বর্তমান ও পূর্ববর্তী</a:t>
            </a:r>
            <a:endParaRPr lang="en-US" sz="816" dirty="0"/>
          </a:p>
          <a:p>
            <a:pPr algn="l" indent="0" marL="0">
              <a:lnSpc>
                <a:spcPts val="1305"/>
              </a:lnSpc>
              <a:spcAft>
                <a:spcPts val="675"/>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305"/>
              </a:lnSpc>
              <a:spcAft>
                <a:spcPts val="675"/>
              </a:spcAft>
              <a:buNone/>
            </a:pPr>
            <a:r>
              <a:rPr lang="en-US" sz="816" dirty="0">
                <a:solidFill>
                  <a:srgbClr val="14342A"/>
                </a:solidFill>
                <a:latin typeface="Carlito" pitchFamily="34" charset="0"/>
                <a:ea typeface="Carlito" pitchFamily="34" charset="-122"/>
                <a:cs typeface="Carlito" pitchFamily="34" charset="-120"/>
              </a:rPr>
              <a:t>পরিদর্শন রিপোর্ট</a:t>
            </a:r>
            <a:pPr algn="l" indent="0" marL="0">
              <a:lnSpc>
                <a:spcPts val="1305"/>
              </a:lnSpc>
              <a:spcAft>
                <a:spcPts val="675"/>
              </a:spcAft>
              <a:buNone/>
            </a:pPr>
            <a:r>
              <a:rPr lang="en-US" sz="816" dirty="0">
                <a:solidFill>
                  <a:srgbClr val="1A1A1A"/>
                </a:solidFill>
                <a:latin typeface="Carlito" pitchFamily="34" charset="0"/>
                <a:ea typeface="Carlito" pitchFamily="34" charset="-122"/>
                <a:cs typeface="Carlito" pitchFamily="34" charset="-120"/>
              </a:rPr>
              <a:t> — পরিদর্শকের প্রতিবেদন সংরক্ষণ</a:t>
            </a:r>
            <a:endParaRPr lang="en-US" sz="816" dirty="0"/>
          </a:p>
          <a:p>
            <a:pPr algn="l" indent="0" marL="0">
              <a:lnSpc>
                <a:spcPts val="1305"/>
              </a:lnSpc>
              <a:spcAft>
                <a:spcPts val="675"/>
              </a:spcAft>
              <a:buNone/>
            </a:pPr>
            <a:r>
              <a:rPr lang="en-US" sz="600" dirty="0">
                <a:solidFill>
                  <a:srgbClr val="1E4D3B"/>
                </a:solidFill>
                <a:latin typeface="Carlito" pitchFamily="34" charset="0"/>
                <a:ea typeface="Carlito" pitchFamily="34" charset="-122"/>
                <a:cs typeface="Carlito" pitchFamily="34" charset="-120"/>
              </a:rPr>
              <a:t>●  </a:t>
            </a:r>
            <a:pPr algn="l" indent="0" marL="0">
              <a:lnSpc>
                <a:spcPts val="1305"/>
              </a:lnSpc>
              <a:spcAft>
                <a:spcPts val="675"/>
              </a:spcAft>
              <a:buNone/>
            </a:pPr>
            <a:r>
              <a:rPr lang="en-US" sz="816" dirty="0">
                <a:solidFill>
                  <a:srgbClr val="14342A"/>
                </a:solidFill>
                <a:latin typeface="Carlito" pitchFamily="34" charset="0"/>
                <a:ea typeface="Carlito" pitchFamily="34" charset="-122"/>
                <a:cs typeface="Carlito" pitchFamily="34" charset="-120"/>
              </a:rPr>
              <a:t>নমুনা সংগ্রহ রসিদ</a:t>
            </a:r>
            <a:pPr algn="l" indent="0" marL="0">
              <a:lnSpc>
                <a:spcPts val="1305"/>
              </a:lnSpc>
              <a:spcAft>
                <a:spcPts val="675"/>
              </a:spcAft>
              <a:buNone/>
            </a:pPr>
            <a:r>
              <a:rPr lang="en-US" sz="816" dirty="0">
                <a:solidFill>
                  <a:srgbClr val="1A1A1A"/>
                </a:solidFill>
                <a:latin typeface="Carlito" pitchFamily="34" charset="0"/>
                <a:ea typeface="Carlito" pitchFamily="34" charset="-122"/>
                <a:cs typeface="Carlito" pitchFamily="34" charset="-120"/>
              </a:rPr>
              <a:t> — সংগৃহীত নমুনার চালান</a:t>
            </a:r>
            <a:endParaRPr lang="en-US" sz="816" dirty="0"/>
          </a:p>
        </p:txBody>
      </p:sp>
      <p:sp>
        <p:nvSpPr>
          <p:cNvPr id="17" name="Text 15"/>
          <p:cNvSpPr/>
          <p:nvPr/>
        </p:nvSpPr>
        <p:spPr>
          <a:xfrm>
            <a:off x="457200" y="3462933"/>
            <a:ext cx="8229600" cy="414338"/>
          </a:xfrm>
          <a:prstGeom prst="roundRect">
            <a:avLst>
              <a:gd name="adj" fmla="val 27586"/>
            </a:avLst>
          </a:prstGeom>
          <a:solidFill>
            <a:srgbClr val="F2ECDD"/>
          </a:solidFill>
          <a:ln/>
        </p:spPr>
        <p:txBody>
          <a:bodyPr wrap="square" rtlCol="0" anchor="ctr"/>
          <a:lstStyle/>
          <a:p>
            <a:pPr indent="0" marL="0">
              <a:buNone/>
            </a:pPr>
            <a:endParaRPr lang="en-US" dirty="0"/>
          </a:p>
        </p:txBody>
      </p:sp>
      <p:sp>
        <p:nvSpPr>
          <p:cNvPr id="18" name="Text 16"/>
          <p:cNvSpPr/>
          <p:nvPr/>
        </p:nvSpPr>
        <p:spPr>
          <a:xfrm>
            <a:off x="614363" y="3577233"/>
            <a:ext cx="185738" cy="185738"/>
          </a:xfrm>
          <a:prstGeom prst="rect">
            <a:avLst/>
          </a:prstGeom>
          <a:noFill/>
          <a:ln/>
        </p:spPr>
        <p:txBody>
          <a:bodyPr wrap="none" lIns="0" tIns="0" rIns="0" bIns="0" rtlCol="0" anchor="ctr"/>
          <a:lstStyle/>
          <a:p>
            <a:pPr algn="ctr" indent="0" marL="0">
              <a:buNone/>
            </a:pPr>
            <a:r>
              <a:rPr lang="en-US" sz="1828" dirty="0">
                <a:solidFill>
                  <a:srgbClr val="9A6E1E"/>
                </a:solidFill>
                <a:latin typeface="Segoe UI Symbol" pitchFamily="34" charset="0"/>
                <a:ea typeface="Segoe UI Symbol" pitchFamily="34" charset="-122"/>
                <a:cs typeface="Segoe UI Symbol" pitchFamily="34" charset="-120"/>
              </a:rPr>
              <a:t>◔</a:t>
            </a:r>
            <a:endParaRPr lang="en-US" sz="1828" dirty="0"/>
          </a:p>
        </p:txBody>
      </p:sp>
      <p:sp>
        <p:nvSpPr>
          <p:cNvPr id="19" name="Text 17"/>
          <p:cNvSpPr/>
          <p:nvPr/>
        </p:nvSpPr>
        <p:spPr>
          <a:xfrm>
            <a:off x="900113" y="3589846"/>
            <a:ext cx="7629525" cy="173124"/>
          </a:xfrm>
          <a:prstGeom prst="rect">
            <a:avLst/>
          </a:prstGeom>
          <a:noFill/>
          <a:ln/>
        </p:spPr>
        <p:txBody>
          <a:bodyPr wrap="square" lIns="0" tIns="0" rIns="0" bIns="0" rtlCol="0" anchor="t"/>
          <a:lstStyle/>
          <a:p>
            <a:pPr algn="l" indent="0" marL="0">
              <a:lnSpc>
                <a:spcPts val="1264"/>
              </a:lnSpc>
              <a:buNone/>
            </a:pPr>
            <a:r>
              <a:rPr lang="en-US" sz="816" dirty="0">
                <a:solidFill>
                  <a:srgbClr val="1E4D3B"/>
                </a:solidFill>
                <a:latin typeface="Carlito" pitchFamily="34" charset="0"/>
                <a:ea typeface="Carlito" pitchFamily="34" charset="-122"/>
                <a:cs typeface="Carlito" pitchFamily="34" charset="-120"/>
              </a:rPr>
              <a:t>নথি সংরক্ষণ মেয়াদ — অন্তত ৫ বছর।</a:t>
            </a:r>
            <a:pPr algn="l" indent="0" marL="0">
              <a:lnSpc>
                <a:spcPts val="1264"/>
              </a:lnSpc>
              <a:buNone/>
            </a:pPr>
            <a:r>
              <a:rPr lang="en-US" sz="816" dirty="0">
                <a:solidFill>
                  <a:srgbClr val="6B6B6B"/>
                </a:solidFill>
                <a:latin typeface="Carlito" pitchFamily="34" charset="0"/>
                <a:ea typeface="Carlito" pitchFamily="34" charset="-122"/>
                <a:cs typeface="Carlito" pitchFamily="34" charset="-120"/>
              </a:rPr>
              <a:t> পরিদর্শক যেকোনো সময় দেখতে পারেন। ডিজিটাল কপি রাখলে আরও নিরাপদ।</a:t>
            </a:r>
            <a:endParaRPr lang="en-US" sz="816" dirty="0"/>
          </a:p>
        </p:txBody>
      </p:sp>
      <p:sp>
        <p:nvSpPr>
          <p:cNvPr id="20" name="Text 18"/>
          <p:cNvSpPr/>
          <p:nvPr/>
        </p:nvSpPr>
        <p:spPr>
          <a:xfrm>
            <a:off x="8694725" y="4706392"/>
            <a:ext cx="30736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৪৫</a:t>
            </a:r>
            <a:endParaRPr lang="en-US" sz="1350" dirty="0"/>
          </a:p>
        </p:txBody>
      </p:sp>
      <p:pic>
        <p:nvPicPr>
          <p:cNvPr id="21"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57200" y="342900"/>
            <a:ext cx="4016590" cy="286911"/>
          </a:xfrm>
          <a:prstGeom prst="rect">
            <a:avLst/>
          </a:prstGeom>
          <a:noFill/>
          <a:ln/>
        </p:spPr>
        <p:txBody>
          <a:bodyPr wrap="squar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০৭ · খুচরা বিক্রেতার সম্মানের পথ</a:t>
            </a:r>
            <a:endParaRPr lang="en-US" sz="1350" dirty="0"/>
          </a:p>
        </p:txBody>
      </p:sp>
      <p:sp>
        <p:nvSpPr>
          <p:cNvPr id="3" name="Text 1"/>
          <p:cNvSpPr/>
          <p:nvPr/>
        </p:nvSpPr>
        <p:spPr>
          <a:xfrm>
            <a:off x="457200" y="665708"/>
            <a:ext cx="3495437" cy="501764"/>
          </a:xfrm>
          <a:prstGeom prst="rect">
            <a:avLst/>
          </a:prstGeom>
          <a:noFill/>
          <a:ln/>
        </p:spPr>
        <p:txBody>
          <a:bodyPr wrap="square" lIns="0" tIns="0" rIns="0" bIns="0" rtlCol="0" anchor="t">
            <a:normAutofit/>
          </a:bodyPr>
          <a:lstStyle/>
          <a:p>
            <a:pPr algn="l" indent="0" marL="0">
              <a:lnSpc>
                <a:spcPts val="3717"/>
              </a:lnSpc>
              <a:buNone/>
            </a:pPr>
            <a:r>
              <a:rPr lang="en-US" sz="3150" b="1" dirty="0">
                <a:solidFill>
                  <a:srgbClr val="14342A"/>
                </a:solidFill>
                <a:latin typeface="Tinos" pitchFamily="34" charset="0"/>
                <a:ea typeface="Tinos" pitchFamily="34" charset="-122"/>
                <a:cs typeface="Tinos" pitchFamily="34" charset="-120"/>
              </a:rPr>
              <a:t>নৈতিক ব্যবসায়িক অনুশীলন</a:t>
            </a:r>
            <a:endParaRPr lang="en-US" sz="3150" dirty="0"/>
          </a:p>
        </p:txBody>
      </p:sp>
      <p:sp>
        <p:nvSpPr>
          <p:cNvPr id="4" name="Text 2"/>
          <p:cNvSpPr/>
          <p:nvPr/>
        </p:nvSpPr>
        <p:spPr>
          <a:xfrm>
            <a:off x="457200" y="1194904"/>
            <a:ext cx="3595307" cy="334770"/>
          </a:xfrm>
          <a:prstGeom prst="rect">
            <a:avLst/>
          </a:prstGeom>
          <a:noFill/>
          <a:ln/>
        </p:spPr>
        <p:txBody>
          <a:bodyPr wrap="square" lIns="0" tIns="0" rIns="0" bIns="0" rtlCol="0" anchor="t"/>
          <a:lstStyle/>
          <a:p>
            <a:pPr algn="l" indent="0" marL="0">
              <a:lnSpc>
                <a:spcPts val="2441"/>
              </a:lnSpc>
              <a:buNone/>
            </a:pPr>
            <a:r>
              <a:rPr lang="en-US" sz="1575" dirty="0">
                <a:solidFill>
                  <a:srgbClr val="4A4A4A"/>
                </a:solidFill>
                <a:latin typeface="Carlito" pitchFamily="34" charset="0"/>
                <a:ea typeface="Carlito" pitchFamily="34" charset="-122"/>
                <a:cs typeface="Carlito" pitchFamily="34" charset="-120"/>
              </a:rPr>
              <a:t>সম্মানের পথের ভিত্তি — ছয়টি মৌলিক নীতি</a:t>
            </a:r>
            <a:endParaRPr lang="en-US" sz="1575" dirty="0"/>
          </a:p>
        </p:txBody>
      </p:sp>
      <p:sp>
        <p:nvSpPr>
          <p:cNvPr id="5" name="Text 3"/>
          <p:cNvSpPr/>
          <p:nvPr/>
        </p:nvSpPr>
        <p:spPr>
          <a:xfrm>
            <a:off x="8286750" y="1104826"/>
            <a:ext cx="400050" cy="400050"/>
          </a:xfrm>
          <a:prstGeom prst="roundRect">
            <a:avLst>
              <a:gd name="adj" fmla="val 33333"/>
            </a:avLst>
          </a:prstGeom>
          <a:solidFill>
            <a:srgbClr val="1E4D3B"/>
          </a:solidFill>
          <a:ln/>
        </p:spPr>
        <p:txBody>
          <a:bodyPr wrap="square" rtlCol="0" anchor="ctr"/>
          <a:lstStyle/>
          <a:p>
            <a:pPr indent="0" marL="0">
              <a:buNone/>
            </a:pPr>
            <a:endParaRPr lang="en-US" dirty="0"/>
          </a:p>
        </p:txBody>
      </p:sp>
      <p:sp>
        <p:nvSpPr>
          <p:cNvPr id="6" name="Text 4"/>
          <p:cNvSpPr/>
          <p:nvPr/>
        </p:nvSpPr>
        <p:spPr>
          <a:xfrm>
            <a:off x="8321040" y="1139116"/>
            <a:ext cx="331470" cy="331470"/>
          </a:xfrm>
          <a:prstGeom prst="rect">
            <a:avLst/>
          </a:prstGeom>
          <a:noFill/>
          <a:ln/>
        </p:spPr>
        <p:txBody>
          <a:bodyPr wrap="none" lIns="0" tIns="0" rIns="0" bIns="0" rtlCol="0" anchor="ctr"/>
          <a:lstStyle/>
          <a:p>
            <a:pPr algn="ctr" indent="0" marL="0">
              <a:buNone/>
            </a:pPr>
            <a:r>
              <a:rPr lang="en-US" sz="2250" dirty="0">
                <a:solidFill>
                  <a:srgbClr val="FFFFFF"/>
                </a:solidFill>
                <a:latin typeface="Segoe UI Symbol" pitchFamily="34" charset="0"/>
                <a:ea typeface="Segoe UI Symbol" pitchFamily="34" charset="-122"/>
                <a:cs typeface="Segoe UI Symbol" pitchFamily="34" charset="-120"/>
              </a:rPr>
              <a:t>♛</a:t>
            </a:r>
            <a:endParaRPr lang="en-US" sz="2250" dirty="0"/>
          </a:p>
        </p:txBody>
      </p:sp>
      <p:sp>
        <p:nvSpPr>
          <p:cNvPr id="7" name="Text 5"/>
          <p:cNvSpPr/>
          <p:nvPr/>
        </p:nvSpPr>
        <p:spPr>
          <a:xfrm>
            <a:off x="460772" y="1679897"/>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8" name="Text 6"/>
          <p:cNvSpPr/>
          <p:nvPr/>
        </p:nvSpPr>
        <p:spPr>
          <a:xfrm>
            <a:off x="2896946" y="1769194"/>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০১</a:t>
            </a:r>
            <a:endParaRPr lang="en-US" sz="675" dirty="0"/>
          </a:p>
        </p:txBody>
      </p:sp>
      <p:sp>
        <p:nvSpPr>
          <p:cNvPr id="9" name="Text 7"/>
          <p:cNvSpPr/>
          <p:nvPr/>
        </p:nvSpPr>
        <p:spPr>
          <a:xfrm>
            <a:off x="621506" y="1826344"/>
            <a:ext cx="314325" cy="314325"/>
          </a:xfrm>
          <a:prstGeom prst="roundRect">
            <a:avLst>
              <a:gd name="adj" fmla="val 30303"/>
            </a:avLst>
          </a:prstGeom>
          <a:solidFill>
            <a:srgbClr val="C7912C"/>
          </a:solidFill>
          <a:ln/>
        </p:spPr>
        <p:txBody>
          <a:bodyPr wrap="square" rtlCol="0" anchor="ctr"/>
          <a:lstStyle/>
          <a:p>
            <a:pPr indent="0" marL="0">
              <a:buNone/>
            </a:pPr>
            <a:endParaRPr lang="en-US" dirty="0"/>
          </a:p>
        </p:txBody>
      </p:sp>
      <p:sp>
        <p:nvSpPr>
          <p:cNvPr id="10" name="Text 8"/>
          <p:cNvSpPr/>
          <p:nvPr/>
        </p:nvSpPr>
        <p:spPr>
          <a:xfrm>
            <a:off x="654368" y="1859206"/>
            <a:ext cx="248602" cy="248602"/>
          </a:xfrm>
          <a:prstGeom prst="rect">
            <a:avLst/>
          </a:prstGeom>
          <a:noFill/>
          <a:ln/>
        </p:spPr>
        <p:txBody>
          <a:bodyPr wrap="none" lIns="0" tIns="0" rIns="0" bIns="0" rtlCol="0" anchor="ctr"/>
          <a:lstStyle/>
          <a:p>
            <a:pPr algn="ctr" indent="0" marL="0">
              <a:buNone/>
            </a:pPr>
            <a:r>
              <a:rPr lang="en-US" sz="1688" dirty="0">
                <a:solidFill>
                  <a:srgbClr val="FFFFFF"/>
                </a:solidFill>
                <a:latin typeface="Segoe UI Symbol" pitchFamily="34" charset="0"/>
                <a:ea typeface="Segoe UI Symbol" pitchFamily="34" charset="-122"/>
                <a:cs typeface="Segoe UI Symbol" pitchFamily="34" charset="-120"/>
              </a:rPr>
              <a:t>$</a:t>
            </a:r>
            <a:endParaRPr lang="en-US" sz="1688" dirty="0"/>
          </a:p>
        </p:txBody>
      </p:sp>
      <p:sp>
        <p:nvSpPr>
          <p:cNvPr id="11" name="Text 9"/>
          <p:cNvSpPr/>
          <p:nvPr/>
        </p:nvSpPr>
        <p:spPr>
          <a:xfrm>
            <a:off x="621506" y="2212107"/>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সৎ মূল্য</a:t>
            </a:r>
            <a:endParaRPr lang="en-US" sz="1069" dirty="0"/>
          </a:p>
        </p:txBody>
      </p:sp>
      <p:sp>
        <p:nvSpPr>
          <p:cNvPr id="12" name="Text 10"/>
          <p:cNvSpPr/>
          <p:nvPr/>
        </p:nvSpPr>
        <p:spPr>
          <a:xfrm>
            <a:off x="621506" y="2459906"/>
            <a:ext cx="2328863" cy="178897"/>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MRP মেনে চলা, অতিরিক্ত মুনাফা পরিহার — কৃষকের আস্থা অর্জন</a:t>
            </a:r>
            <a:endParaRPr lang="en-US" sz="816" dirty="0"/>
          </a:p>
        </p:txBody>
      </p:sp>
      <p:sp>
        <p:nvSpPr>
          <p:cNvPr id="13" name="Text 11"/>
          <p:cNvSpPr/>
          <p:nvPr/>
        </p:nvSpPr>
        <p:spPr>
          <a:xfrm>
            <a:off x="3246834" y="1679897"/>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14" name="Text 12"/>
          <p:cNvSpPr/>
          <p:nvPr/>
        </p:nvSpPr>
        <p:spPr>
          <a:xfrm>
            <a:off x="5675865" y="1769194"/>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০২</a:t>
            </a:r>
            <a:endParaRPr lang="en-US" sz="675" dirty="0"/>
          </a:p>
        </p:txBody>
      </p:sp>
      <p:sp>
        <p:nvSpPr>
          <p:cNvPr id="15" name="Text 13"/>
          <p:cNvSpPr/>
          <p:nvPr/>
        </p:nvSpPr>
        <p:spPr>
          <a:xfrm>
            <a:off x="3407569" y="1826344"/>
            <a:ext cx="314325" cy="314325"/>
          </a:xfrm>
          <a:prstGeom prst="roundRect">
            <a:avLst>
              <a:gd name="adj" fmla="val 30303"/>
            </a:avLst>
          </a:prstGeom>
          <a:solidFill>
            <a:srgbClr val="C7912C"/>
          </a:solidFill>
          <a:ln/>
        </p:spPr>
        <p:txBody>
          <a:bodyPr wrap="square" rtlCol="0" anchor="ctr"/>
          <a:lstStyle/>
          <a:p>
            <a:pPr indent="0" marL="0">
              <a:buNone/>
            </a:pPr>
            <a:endParaRPr lang="en-US" dirty="0"/>
          </a:p>
        </p:txBody>
      </p:sp>
      <p:sp>
        <p:nvSpPr>
          <p:cNvPr id="16" name="Text 14"/>
          <p:cNvSpPr/>
          <p:nvPr/>
        </p:nvSpPr>
        <p:spPr>
          <a:xfrm>
            <a:off x="3440430" y="1859206"/>
            <a:ext cx="248602" cy="248602"/>
          </a:xfrm>
          <a:prstGeom prst="rect">
            <a:avLst/>
          </a:prstGeom>
          <a:noFill/>
          <a:ln/>
        </p:spPr>
        <p:txBody>
          <a:bodyPr wrap="none" lIns="0" tIns="0" rIns="0" bIns="0" rtlCol="0" anchor="ctr"/>
          <a:lstStyle/>
          <a:p>
            <a:pPr algn="ctr" indent="0" marL="0">
              <a:buNone/>
            </a:pPr>
            <a:r>
              <a:rPr lang="en-US" sz="1688" dirty="0">
                <a:solidFill>
                  <a:srgbClr val="FFFFFF"/>
                </a:solidFill>
                <a:latin typeface="Segoe UI Symbol" pitchFamily="34" charset="0"/>
                <a:ea typeface="Segoe UI Symbol" pitchFamily="34" charset="-122"/>
                <a:cs typeface="Segoe UI Symbol" pitchFamily="34" charset="-120"/>
              </a:rPr>
              <a:t>◆</a:t>
            </a:r>
            <a:endParaRPr lang="en-US" sz="1688" dirty="0"/>
          </a:p>
        </p:txBody>
      </p:sp>
      <p:sp>
        <p:nvSpPr>
          <p:cNvPr id="17" name="Text 15"/>
          <p:cNvSpPr/>
          <p:nvPr/>
        </p:nvSpPr>
        <p:spPr>
          <a:xfrm>
            <a:off x="3407569" y="2212107"/>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সঠিক পরামর্শ</a:t>
            </a:r>
            <a:endParaRPr lang="en-US" sz="1069" dirty="0"/>
          </a:p>
        </p:txBody>
      </p:sp>
      <p:sp>
        <p:nvSpPr>
          <p:cNvPr id="18" name="Text 16"/>
          <p:cNvSpPr/>
          <p:nvPr/>
        </p:nvSpPr>
        <p:spPr>
          <a:xfrm>
            <a:off x="3407569" y="2459906"/>
            <a:ext cx="2328863" cy="357795"/>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প্রয়োজনীয় পণ্যই সুপারিশ, অতিরিক্ত বিক্রি নয় — দীর্ঘমেয়াদি সম্পর্ক</a:t>
            </a:r>
            <a:endParaRPr lang="en-US" sz="816" dirty="0"/>
          </a:p>
        </p:txBody>
      </p:sp>
      <p:sp>
        <p:nvSpPr>
          <p:cNvPr id="19" name="Text 17"/>
          <p:cNvSpPr/>
          <p:nvPr/>
        </p:nvSpPr>
        <p:spPr>
          <a:xfrm>
            <a:off x="6032897" y="1679897"/>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20" name="Text 18"/>
          <p:cNvSpPr/>
          <p:nvPr/>
        </p:nvSpPr>
        <p:spPr>
          <a:xfrm>
            <a:off x="8461927" y="1769194"/>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০৩</a:t>
            </a:r>
            <a:endParaRPr lang="en-US" sz="675" dirty="0"/>
          </a:p>
        </p:txBody>
      </p:sp>
      <p:sp>
        <p:nvSpPr>
          <p:cNvPr id="21" name="Text 19"/>
          <p:cNvSpPr/>
          <p:nvPr/>
        </p:nvSpPr>
        <p:spPr>
          <a:xfrm>
            <a:off x="6193631" y="1826344"/>
            <a:ext cx="314325" cy="314325"/>
          </a:xfrm>
          <a:prstGeom prst="roundRect">
            <a:avLst>
              <a:gd name="adj" fmla="val 30303"/>
            </a:avLst>
          </a:prstGeom>
          <a:solidFill>
            <a:srgbClr val="C7912C"/>
          </a:solidFill>
          <a:ln/>
        </p:spPr>
        <p:txBody>
          <a:bodyPr wrap="square" rtlCol="0" anchor="ctr"/>
          <a:lstStyle/>
          <a:p>
            <a:pPr indent="0" marL="0">
              <a:buNone/>
            </a:pPr>
            <a:endParaRPr lang="en-US" dirty="0"/>
          </a:p>
        </p:txBody>
      </p:sp>
      <p:sp>
        <p:nvSpPr>
          <p:cNvPr id="22" name="Text 20"/>
          <p:cNvSpPr/>
          <p:nvPr/>
        </p:nvSpPr>
        <p:spPr>
          <a:xfrm>
            <a:off x="6226493" y="1859206"/>
            <a:ext cx="248602" cy="248602"/>
          </a:xfrm>
          <a:prstGeom prst="rect">
            <a:avLst/>
          </a:prstGeom>
          <a:noFill/>
          <a:ln/>
        </p:spPr>
        <p:txBody>
          <a:bodyPr wrap="none" lIns="0" tIns="0" rIns="0" bIns="0" rtlCol="0" anchor="ctr"/>
          <a:lstStyle/>
          <a:p>
            <a:pPr algn="ctr" indent="0" marL="0">
              <a:buNone/>
            </a:pPr>
            <a:r>
              <a:rPr lang="en-US" sz="1688" dirty="0">
                <a:solidFill>
                  <a:srgbClr val="FFFFFF"/>
                </a:solidFill>
                <a:latin typeface="Segoe UI Symbol" pitchFamily="34" charset="0"/>
                <a:ea typeface="Segoe UI Symbol" pitchFamily="34" charset="-122"/>
                <a:cs typeface="Segoe UI Symbol" pitchFamily="34" charset="-120"/>
              </a:rPr>
              <a:t>▿</a:t>
            </a:r>
            <a:endParaRPr lang="en-US" sz="1688" dirty="0"/>
          </a:p>
        </p:txBody>
      </p:sp>
      <p:sp>
        <p:nvSpPr>
          <p:cNvPr id="23" name="Text 21"/>
          <p:cNvSpPr/>
          <p:nvPr/>
        </p:nvSpPr>
        <p:spPr>
          <a:xfrm>
            <a:off x="6193631" y="2212107"/>
            <a:ext cx="2328862"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গ্রাহক শিক্ষা</a:t>
            </a:r>
            <a:endParaRPr lang="en-US" sz="1069" dirty="0"/>
          </a:p>
        </p:txBody>
      </p:sp>
      <p:sp>
        <p:nvSpPr>
          <p:cNvPr id="24" name="Text 22"/>
          <p:cNvSpPr/>
          <p:nvPr/>
        </p:nvSpPr>
        <p:spPr>
          <a:xfrm>
            <a:off x="6193631" y="2459906"/>
            <a:ext cx="2328863" cy="178897"/>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সঠিক ব্যবহার ও সতর্কতা শেখানো — সমাজে সচেতনতা বৃদ্ধি</a:t>
            </a:r>
            <a:endParaRPr lang="en-US" sz="816" dirty="0"/>
          </a:p>
        </p:txBody>
      </p:sp>
      <p:sp>
        <p:nvSpPr>
          <p:cNvPr id="25" name="Text 23"/>
          <p:cNvSpPr/>
          <p:nvPr/>
        </p:nvSpPr>
        <p:spPr>
          <a:xfrm>
            <a:off x="460772" y="3277753"/>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26" name="Text 24"/>
          <p:cNvSpPr/>
          <p:nvPr/>
        </p:nvSpPr>
        <p:spPr>
          <a:xfrm>
            <a:off x="2889802" y="3367050"/>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০৪</a:t>
            </a:r>
            <a:endParaRPr lang="en-US" sz="675" dirty="0"/>
          </a:p>
        </p:txBody>
      </p:sp>
      <p:sp>
        <p:nvSpPr>
          <p:cNvPr id="27" name="Text 25"/>
          <p:cNvSpPr/>
          <p:nvPr/>
        </p:nvSpPr>
        <p:spPr>
          <a:xfrm>
            <a:off x="621506" y="3424200"/>
            <a:ext cx="314325" cy="314325"/>
          </a:xfrm>
          <a:prstGeom prst="roundRect">
            <a:avLst>
              <a:gd name="adj" fmla="val 30303"/>
            </a:avLst>
          </a:prstGeom>
          <a:solidFill>
            <a:srgbClr val="C7912C"/>
          </a:solidFill>
          <a:ln/>
        </p:spPr>
        <p:txBody>
          <a:bodyPr wrap="square" rtlCol="0" anchor="ctr"/>
          <a:lstStyle/>
          <a:p>
            <a:pPr indent="0" marL="0">
              <a:buNone/>
            </a:pPr>
            <a:endParaRPr lang="en-US" dirty="0"/>
          </a:p>
        </p:txBody>
      </p:sp>
      <p:sp>
        <p:nvSpPr>
          <p:cNvPr id="28" name="Text 26"/>
          <p:cNvSpPr/>
          <p:nvPr/>
        </p:nvSpPr>
        <p:spPr>
          <a:xfrm>
            <a:off x="654368" y="3457062"/>
            <a:ext cx="248602" cy="248602"/>
          </a:xfrm>
          <a:prstGeom prst="rect">
            <a:avLst/>
          </a:prstGeom>
          <a:noFill/>
          <a:ln/>
        </p:spPr>
        <p:txBody>
          <a:bodyPr wrap="none" lIns="0" tIns="0" rIns="0" bIns="0" rtlCol="0" anchor="ctr"/>
          <a:lstStyle/>
          <a:p>
            <a:pPr algn="ctr" indent="0" marL="0">
              <a:buNone/>
            </a:pPr>
            <a:r>
              <a:rPr lang="en-US" sz="1688" dirty="0">
                <a:solidFill>
                  <a:srgbClr val="FFFFFF"/>
                </a:solidFill>
                <a:latin typeface="Segoe UI Symbol" pitchFamily="34" charset="0"/>
                <a:ea typeface="Segoe UI Symbol" pitchFamily="34" charset="-122"/>
                <a:cs typeface="Segoe UI Symbol" pitchFamily="34" charset="-120"/>
              </a:rPr>
              <a:t>✓</a:t>
            </a:r>
            <a:endParaRPr lang="en-US" sz="1688" dirty="0"/>
          </a:p>
        </p:txBody>
      </p:sp>
      <p:sp>
        <p:nvSpPr>
          <p:cNvPr id="29" name="Text 27"/>
          <p:cNvSpPr/>
          <p:nvPr/>
        </p:nvSpPr>
        <p:spPr>
          <a:xfrm>
            <a:off x="621506" y="3809963"/>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ভেজাল প্রত্যাখ্যান</a:t>
            </a:r>
            <a:endParaRPr lang="en-US" sz="1069" dirty="0"/>
          </a:p>
        </p:txBody>
      </p:sp>
      <p:sp>
        <p:nvSpPr>
          <p:cNvPr id="30" name="Text 28"/>
          <p:cNvSpPr/>
          <p:nvPr/>
        </p:nvSpPr>
        <p:spPr>
          <a:xfrm>
            <a:off x="621506" y="4057762"/>
            <a:ext cx="2328863" cy="178897"/>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সন্দেহজনক পণ্য ক্রয় বা বিক্রি নয় — দৃঢ় নৈতিক অবস্থান</a:t>
            </a:r>
            <a:endParaRPr lang="en-US" sz="816" dirty="0"/>
          </a:p>
        </p:txBody>
      </p:sp>
      <p:sp>
        <p:nvSpPr>
          <p:cNvPr id="31" name="Text 29"/>
          <p:cNvSpPr/>
          <p:nvPr/>
        </p:nvSpPr>
        <p:spPr>
          <a:xfrm>
            <a:off x="3246834" y="3277753"/>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32" name="Text 30"/>
          <p:cNvSpPr/>
          <p:nvPr/>
        </p:nvSpPr>
        <p:spPr>
          <a:xfrm>
            <a:off x="5675865" y="3367050"/>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০৫</a:t>
            </a:r>
            <a:endParaRPr lang="en-US" sz="675" dirty="0"/>
          </a:p>
        </p:txBody>
      </p:sp>
      <p:sp>
        <p:nvSpPr>
          <p:cNvPr id="33" name="Text 31"/>
          <p:cNvSpPr/>
          <p:nvPr/>
        </p:nvSpPr>
        <p:spPr>
          <a:xfrm>
            <a:off x="3407569" y="3424200"/>
            <a:ext cx="314325" cy="314325"/>
          </a:xfrm>
          <a:prstGeom prst="roundRect">
            <a:avLst>
              <a:gd name="adj" fmla="val 30303"/>
            </a:avLst>
          </a:prstGeom>
          <a:solidFill>
            <a:srgbClr val="C7912C"/>
          </a:solidFill>
          <a:ln/>
        </p:spPr>
        <p:txBody>
          <a:bodyPr wrap="square" rtlCol="0" anchor="ctr"/>
          <a:lstStyle/>
          <a:p>
            <a:pPr indent="0" marL="0">
              <a:buNone/>
            </a:pPr>
            <a:endParaRPr lang="en-US" dirty="0"/>
          </a:p>
        </p:txBody>
      </p:sp>
      <p:sp>
        <p:nvSpPr>
          <p:cNvPr id="34" name="Text 32"/>
          <p:cNvSpPr/>
          <p:nvPr/>
        </p:nvSpPr>
        <p:spPr>
          <a:xfrm>
            <a:off x="3440430" y="3457062"/>
            <a:ext cx="248602" cy="248602"/>
          </a:xfrm>
          <a:prstGeom prst="rect">
            <a:avLst/>
          </a:prstGeom>
          <a:noFill/>
          <a:ln/>
        </p:spPr>
        <p:txBody>
          <a:bodyPr wrap="none" lIns="0" tIns="0" rIns="0" bIns="0" rtlCol="0" anchor="ctr"/>
          <a:lstStyle/>
          <a:p>
            <a:pPr algn="ctr" indent="0" marL="0">
              <a:buNone/>
            </a:pPr>
            <a:r>
              <a:rPr lang="en-US" sz="1688" dirty="0">
                <a:solidFill>
                  <a:srgbClr val="FFFFFF"/>
                </a:solidFill>
                <a:latin typeface="Segoe UI Symbol" pitchFamily="34" charset="0"/>
                <a:ea typeface="Segoe UI Symbol" pitchFamily="34" charset="-122"/>
                <a:cs typeface="Segoe UI Symbol" pitchFamily="34" charset="-120"/>
              </a:rPr>
              <a:t>✻</a:t>
            </a:r>
            <a:endParaRPr lang="en-US" sz="1688" dirty="0"/>
          </a:p>
        </p:txBody>
      </p:sp>
      <p:sp>
        <p:nvSpPr>
          <p:cNvPr id="35" name="Text 33"/>
          <p:cNvSpPr/>
          <p:nvPr/>
        </p:nvSpPr>
        <p:spPr>
          <a:xfrm>
            <a:off x="3407569" y="3809963"/>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কৃষি অফিসের সাথে সম্পর্ক</a:t>
            </a:r>
            <a:endParaRPr lang="en-US" sz="1069" dirty="0"/>
          </a:p>
        </p:txBody>
      </p:sp>
      <p:sp>
        <p:nvSpPr>
          <p:cNvPr id="36" name="Text 34"/>
          <p:cNvSpPr/>
          <p:nvPr/>
        </p:nvSpPr>
        <p:spPr>
          <a:xfrm>
            <a:off x="3407569" y="4057762"/>
            <a:ext cx="2328863" cy="178897"/>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স্থানীয় কৃষি সম্প্রসারণ অফিসের সাথে সহযোগিতামূলক সম্পর্ক</a:t>
            </a:r>
            <a:endParaRPr lang="en-US" sz="816" dirty="0"/>
          </a:p>
        </p:txBody>
      </p:sp>
      <p:sp>
        <p:nvSpPr>
          <p:cNvPr id="37" name="Text 35"/>
          <p:cNvSpPr/>
          <p:nvPr/>
        </p:nvSpPr>
        <p:spPr>
          <a:xfrm>
            <a:off x="6032897" y="3277753"/>
            <a:ext cx="2650331" cy="1462125"/>
          </a:xfrm>
          <a:prstGeom prst="roundRect">
            <a:avLst>
              <a:gd name="adj" fmla="val 9120"/>
            </a:avLst>
          </a:prstGeom>
          <a:solidFill>
            <a:srgbClr val="FFFFFF"/>
          </a:solidFill>
          <a:ln w="7144">
            <a:solidFill>
              <a:srgbClr val="D9D2BF"/>
            </a:solidFill>
            <a:prstDash val="solid"/>
          </a:ln>
        </p:spPr>
        <p:txBody>
          <a:bodyPr wrap="square" rtlCol="0" anchor="ctr"/>
          <a:lstStyle/>
          <a:p>
            <a:pPr indent="0" marL="0">
              <a:buNone/>
            </a:pPr>
            <a:endParaRPr lang="en-US" dirty="0"/>
          </a:p>
        </p:txBody>
      </p:sp>
      <p:sp>
        <p:nvSpPr>
          <p:cNvPr id="38" name="Text 36"/>
          <p:cNvSpPr/>
          <p:nvPr/>
        </p:nvSpPr>
        <p:spPr>
          <a:xfrm>
            <a:off x="8461927" y="3367050"/>
            <a:ext cx="121044" cy="170021"/>
          </a:xfrm>
          <a:prstGeom prst="rect">
            <a:avLst/>
          </a:prstGeom>
          <a:noFill/>
          <a:ln/>
        </p:spPr>
        <p:txBody>
          <a:bodyPr wrap="none" lIns="0" tIns="0" rIns="0" bIns="0" rtlCol="0" anchor="t"/>
          <a:lstStyle/>
          <a:p>
            <a:pPr algn="l" indent="0" marL="0">
              <a:lnSpc>
                <a:spcPts val="1046"/>
              </a:lnSpc>
              <a:buNone/>
            </a:pPr>
            <a:r>
              <a:rPr lang="en-US" sz="675" b="1" spc="68" kern="0" dirty="0">
                <a:solidFill>
                  <a:srgbClr val="9A6E1E"/>
                </a:solidFill>
                <a:latin typeface="Carlito" pitchFamily="34" charset="0"/>
                <a:ea typeface="Carlito" pitchFamily="34" charset="-122"/>
                <a:cs typeface="Carlito" pitchFamily="34" charset="-120"/>
              </a:rPr>
              <a:t>০৬</a:t>
            </a:r>
            <a:endParaRPr lang="en-US" sz="675" dirty="0"/>
          </a:p>
        </p:txBody>
      </p:sp>
      <p:sp>
        <p:nvSpPr>
          <p:cNvPr id="39" name="Text 37"/>
          <p:cNvSpPr/>
          <p:nvPr/>
        </p:nvSpPr>
        <p:spPr>
          <a:xfrm>
            <a:off x="6193631" y="3424200"/>
            <a:ext cx="314325" cy="314325"/>
          </a:xfrm>
          <a:prstGeom prst="roundRect">
            <a:avLst>
              <a:gd name="adj" fmla="val 30303"/>
            </a:avLst>
          </a:prstGeom>
          <a:solidFill>
            <a:srgbClr val="C7912C"/>
          </a:solidFill>
          <a:ln/>
        </p:spPr>
        <p:txBody>
          <a:bodyPr wrap="square" rtlCol="0" anchor="ctr"/>
          <a:lstStyle/>
          <a:p>
            <a:pPr indent="0" marL="0">
              <a:buNone/>
            </a:pPr>
            <a:endParaRPr lang="en-US" dirty="0"/>
          </a:p>
        </p:txBody>
      </p:sp>
      <p:sp>
        <p:nvSpPr>
          <p:cNvPr id="40" name="Text 38"/>
          <p:cNvSpPr/>
          <p:nvPr/>
        </p:nvSpPr>
        <p:spPr>
          <a:xfrm>
            <a:off x="6226493" y="3457062"/>
            <a:ext cx="248602" cy="248602"/>
          </a:xfrm>
          <a:prstGeom prst="rect">
            <a:avLst/>
          </a:prstGeom>
          <a:noFill/>
          <a:ln/>
        </p:spPr>
        <p:txBody>
          <a:bodyPr wrap="none" lIns="0" tIns="0" rIns="0" bIns="0" rtlCol="0" anchor="ctr"/>
          <a:lstStyle/>
          <a:p>
            <a:pPr algn="ctr" indent="0" marL="0">
              <a:buNone/>
            </a:pPr>
            <a:r>
              <a:rPr lang="en-US" sz="1688" dirty="0">
                <a:solidFill>
                  <a:srgbClr val="FFFFFF"/>
                </a:solidFill>
                <a:latin typeface="Segoe UI Symbol" pitchFamily="34" charset="0"/>
                <a:ea typeface="Segoe UI Symbol" pitchFamily="34" charset="-122"/>
                <a:cs typeface="Segoe UI Symbol" pitchFamily="34" charset="-120"/>
              </a:rPr>
              <a:t>✦</a:t>
            </a:r>
            <a:endParaRPr lang="en-US" sz="1688" dirty="0"/>
          </a:p>
        </p:txBody>
      </p:sp>
      <p:sp>
        <p:nvSpPr>
          <p:cNvPr id="41" name="Text 39"/>
          <p:cNvSpPr/>
          <p:nvPr/>
        </p:nvSpPr>
        <p:spPr>
          <a:xfrm>
            <a:off x="6193631" y="3809963"/>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14342A"/>
                </a:solidFill>
                <a:latin typeface="Tinos" pitchFamily="34" charset="0"/>
                <a:ea typeface="Tinos" pitchFamily="34" charset="-122"/>
                <a:cs typeface="Tinos" pitchFamily="34" charset="-120"/>
              </a:rPr>
              <a:t>ক্রেতা অভিযোগ গ্রহণ</a:t>
            </a:r>
            <a:endParaRPr lang="en-US" sz="1069" dirty="0"/>
          </a:p>
        </p:txBody>
      </p:sp>
      <p:sp>
        <p:nvSpPr>
          <p:cNvPr id="42" name="Text 40"/>
          <p:cNvSpPr/>
          <p:nvPr/>
        </p:nvSpPr>
        <p:spPr>
          <a:xfrm>
            <a:off x="6193631" y="4057762"/>
            <a:ext cx="2328863" cy="357795"/>
          </a:xfrm>
          <a:prstGeom prst="rect">
            <a:avLst/>
          </a:prstGeom>
          <a:noFill/>
          <a:ln/>
        </p:spPr>
        <p:txBody>
          <a:bodyPr wrap="square" lIns="0" tIns="0" rIns="0" bIns="0" rtlCol="0" anchor="t"/>
          <a:lstStyle/>
          <a:p>
            <a:pPr algn="l" indent="0" marL="0">
              <a:lnSpc>
                <a:spcPts val="1305"/>
              </a:lnSpc>
              <a:buNone/>
            </a:pPr>
            <a:r>
              <a:rPr lang="en-US" sz="816" dirty="0">
                <a:solidFill>
                  <a:srgbClr val="4A4A4A"/>
                </a:solidFill>
                <a:latin typeface="Carlito" pitchFamily="34" charset="0"/>
                <a:ea typeface="Carlito" pitchFamily="34" charset="-122"/>
                <a:cs typeface="Carlito" pitchFamily="34" charset="-120"/>
              </a:rPr>
              <a:t>স্বচ্ছ প্রতিক্রিয়া ব্যবস্থা — অভিযোগকে উন্নতির সুযোগ হিসেবে দেখা</a:t>
            </a:r>
            <a:endParaRPr lang="en-US" sz="816" dirty="0"/>
          </a:p>
        </p:txBody>
      </p:sp>
      <p:sp>
        <p:nvSpPr>
          <p:cNvPr id="43" name="Text 41"/>
          <p:cNvSpPr/>
          <p:nvPr/>
        </p:nvSpPr>
        <p:spPr>
          <a:xfrm>
            <a:off x="8694725" y="4706392"/>
            <a:ext cx="30736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৪৬</a:t>
            </a:r>
            <a:endParaRPr lang="en-US" sz="1350" dirty="0"/>
          </a:p>
        </p:txBody>
      </p:sp>
      <p:pic>
        <p:nvPicPr>
          <p:cNvPr id="44" name="Image 0" descr="preencoded.png">    </p:cNvPr>
          <p:cNvPicPr>
            <a:picLocks noChangeAspect="1"/>
          </p:cNvPicPr>
          <p:nvPr/>
        </p:nvPicPr>
        <p:blipFill>
          <a:blip r:embed="rId1"/>
          <a:stretch>
            <a:fillRect/>
          </a:stretch>
        </p:blipFill>
        <p:spPr>
          <a:xfrm>
            <a:off x="0" y="5100638"/>
            <a:ext cx="9144000" cy="42863"/>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0" y="0"/>
            <a:ext cx="4572000" cy="5143500"/>
          </a:xfrm>
          <a:prstGeom prst="rect">
            <a:avLst/>
          </a:prstGeom>
          <a:solidFill>
            <a:srgbClr val="FAF6EE"/>
          </a:solidFill>
          <a:ln/>
        </p:spPr>
        <p:txBody>
          <a:bodyPr wrap="square" rtlCol="0" anchor="ctr"/>
          <a:lstStyle/>
          <a:p>
            <a:pPr indent="0" marL="0">
              <a:buNone/>
            </a:pPr>
            <a:endParaRPr lang="en-US" dirty="0"/>
          </a:p>
        </p:txBody>
      </p:sp>
      <p:sp>
        <p:nvSpPr>
          <p:cNvPr id="3" name="Text 1"/>
          <p:cNvSpPr/>
          <p:nvPr/>
        </p:nvSpPr>
        <p:spPr>
          <a:xfrm>
            <a:off x="514350" y="779673"/>
            <a:ext cx="3657600" cy="286911"/>
          </a:xfrm>
          <a:prstGeom prst="rect">
            <a:avLst/>
          </a:prstGeom>
          <a:noFill/>
          <a:ln/>
        </p:spPr>
        <p:txBody>
          <a:bodyPr wrap="none" lIns="0" tIns="0" rIns="0" bIns="0" rtlCol="0" anchor="t"/>
          <a:lstStyle/>
          <a:p>
            <a:pPr algn="l" indent="0" marL="0">
              <a:lnSpc>
                <a:spcPts val="2093"/>
              </a:lnSpc>
              <a:buNone/>
            </a:pPr>
            <a:r>
              <a:rPr lang="en-US" sz="1350" spc="243" kern="0" dirty="0">
                <a:solidFill>
                  <a:srgbClr val="9A6E1E"/>
                </a:solidFill>
                <a:latin typeface="Carlito" pitchFamily="34" charset="0"/>
                <a:ea typeface="Carlito" pitchFamily="34" charset="-122"/>
                <a:cs typeface="Carlito" pitchFamily="34" charset="-120"/>
              </a:rPr>
              <a:t>সমাপ্তি</a:t>
            </a:r>
            <a:endParaRPr lang="en-US" sz="1350" dirty="0"/>
          </a:p>
        </p:txBody>
      </p:sp>
      <p:sp>
        <p:nvSpPr>
          <p:cNvPr id="4" name="Text 2"/>
          <p:cNvSpPr/>
          <p:nvPr/>
        </p:nvSpPr>
        <p:spPr>
          <a:xfrm>
            <a:off x="514350" y="1145344"/>
            <a:ext cx="3657600" cy="495401"/>
          </a:xfrm>
          <a:prstGeom prst="rect">
            <a:avLst/>
          </a:prstGeom>
          <a:noFill/>
          <a:ln/>
        </p:spPr>
        <p:txBody>
          <a:bodyPr wrap="none" lIns="0" tIns="0" rIns="0" bIns="0" rtlCol="0" anchor="t">
            <a:normAutofit/>
          </a:bodyPr>
          <a:lstStyle/>
          <a:p>
            <a:pPr algn="l" indent="0" marL="0">
              <a:lnSpc>
                <a:spcPts val="3780"/>
              </a:lnSpc>
              <a:buNone/>
            </a:pPr>
            <a:r>
              <a:rPr lang="en-US" sz="3375" b="1" spc="-34" kern="0" dirty="0">
                <a:solidFill>
                  <a:srgbClr val="14342A"/>
                </a:solidFill>
                <a:latin typeface="Tinos" pitchFamily="34" charset="0"/>
                <a:ea typeface="Tinos" pitchFamily="34" charset="-122"/>
                <a:cs typeface="Tinos" pitchFamily="34" charset="-120"/>
              </a:rPr>
              <a:t>সম্মানের পথ</a:t>
            </a:r>
            <a:endParaRPr lang="en-US" sz="3375" dirty="0"/>
          </a:p>
        </p:txBody>
      </p:sp>
      <p:sp>
        <p:nvSpPr>
          <p:cNvPr id="5" name="Text 3"/>
          <p:cNvSpPr/>
          <p:nvPr/>
        </p:nvSpPr>
        <p:spPr>
          <a:xfrm>
            <a:off x="514350" y="1668177"/>
            <a:ext cx="3657600" cy="432898"/>
          </a:xfrm>
          <a:prstGeom prst="rect">
            <a:avLst/>
          </a:prstGeom>
          <a:noFill/>
          <a:ln/>
        </p:spPr>
        <p:txBody>
          <a:bodyPr wrap="none" lIns="0" tIns="0" rIns="0" bIns="0" rtlCol="0" anchor="t"/>
          <a:lstStyle/>
          <a:p>
            <a:pPr algn="l" indent="0" marL="0">
              <a:lnSpc>
                <a:spcPts val="3157"/>
              </a:lnSpc>
              <a:buNone/>
            </a:pPr>
            <a:r>
              <a:rPr lang="en-US" sz="2588" dirty="0">
                <a:solidFill>
                  <a:srgbClr val="1E4D3B"/>
                </a:solidFill>
                <a:latin typeface="Tinos" pitchFamily="34" charset="0"/>
                <a:ea typeface="Tinos" pitchFamily="34" charset="-122"/>
                <a:cs typeface="Tinos" pitchFamily="34" charset="-120"/>
              </a:rPr>
              <a:t>প্রতিশ্রুতি ও অগ্রগতি</a:t>
            </a:r>
            <a:endParaRPr lang="en-US" sz="2588" dirty="0"/>
          </a:p>
        </p:txBody>
      </p:sp>
      <p:sp>
        <p:nvSpPr>
          <p:cNvPr id="6" name="Shape 4"/>
          <p:cNvSpPr/>
          <p:nvPr/>
        </p:nvSpPr>
        <p:spPr>
          <a:xfrm>
            <a:off x="514350" y="2165449"/>
            <a:ext cx="400050" cy="0"/>
          </a:xfrm>
          <a:prstGeom prst="line">
            <a:avLst/>
          </a:prstGeom>
          <a:noFill/>
          <a:ln w="7144">
            <a:solidFill>
              <a:srgbClr val="1A1A1A"/>
            </a:solidFill>
            <a:prstDash val="solid"/>
          </a:ln>
        </p:spPr>
        <p:txBody>
          <a:bodyPr/>
          <a:p/>
        </p:txBody>
      </p:sp>
      <p:sp>
        <p:nvSpPr>
          <p:cNvPr id="7" name="Text 5"/>
          <p:cNvSpPr/>
          <p:nvPr/>
        </p:nvSpPr>
        <p:spPr>
          <a:xfrm>
            <a:off x="514350" y="2290465"/>
            <a:ext cx="3657600" cy="837105"/>
          </a:xfrm>
          <a:prstGeom prst="rect">
            <a:avLst/>
          </a:prstGeom>
          <a:noFill/>
          <a:ln/>
        </p:spPr>
        <p:txBody>
          <a:bodyPr wrap="square" lIns="0" tIns="0" rIns="0" bIns="0" rtlCol="0" anchor="t"/>
          <a:lstStyle/>
          <a:p>
            <a:pPr algn="l" indent="0" marL="0">
              <a:lnSpc>
                <a:spcPts val="1526"/>
              </a:lnSpc>
              <a:buNone/>
            </a:pPr>
            <a:r>
              <a:rPr lang="en-US" sz="872" dirty="0">
                <a:solidFill>
                  <a:srgbClr val="4A4A4A"/>
                </a:solidFill>
                <a:latin typeface="Carlito" pitchFamily="34" charset="0"/>
                <a:ea typeface="Carlito" pitchFamily="34" charset="-122"/>
                <a:cs typeface="Carlito" pitchFamily="34" charset="-120"/>
              </a:rPr>
              <a:t>খুচরা বিক্রেতা শুধু ব্যবসায়ী নন, তিনি কৃষকের সুরক্ষা, পরিবেশের সংরক্ষণ, এবং জাতির খাদ্যনিরাপত্তার প্রথম সারির রক্ষক। সঠিক জ্ঞান, আইন মেনে চলা, এবং নৈতিক অনুশীলন — এই ত্রিমুখী পথেই সম্মানের বৃদ্ধি। প্রতিটি সঠিক সিদ্ধান্ত আগামী প্রজন্মের জন্য একটি সুরক্ষিত কৃষি ব্যবস্থা গড়ে তোলে।</a:t>
            </a:r>
            <a:endParaRPr lang="en-US" sz="872" dirty="0"/>
          </a:p>
        </p:txBody>
      </p:sp>
      <p:sp>
        <p:nvSpPr>
          <p:cNvPr id="8" name="Shape 6"/>
          <p:cNvSpPr/>
          <p:nvPr/>
        </p:nvSpPr>
        <p:spPr>
          <a:xfrm>
            <a:off x="525066" y="3222724"/>
            <a:ext cx="0" cy="621506"/>
          </a:xfrm>
          <a:prstGeom prst="line">
            <a:avLst/>
          </a:prstGeom>
          <a:noFill/>
          <a:ln w="21431">
            <a:solidFill>
              <a:srgbClr val="C7912C"/>
            </a:solidFill>
            <a:prstDash val="solid"/>
          </a:ln>
        </p:spPr>
        <p:txBody>
          <a:bodyPr/>
          <a:p/>
        </p:txBody>
      </p:sp>
      <p:sp>
        <p:nvSpPr>
          <p:cNvPr id="9" name="Text 7"/>
          <p:cNvSpPr/>
          <p:nvPr/>
        </p:nvSpPr>
        <p:spPr>
          <a:xfrm>
            <a:off x="514350" y="3222724"/>
            <a:ext cx="3657600" cy="651224"/>
          </a:xfrm>
          <a:prstGeom prst="rect">
            <a:avLst/>
          </a:prstGeom>
          <a:noFill/>
          <a:ln/>
        </p:spPr>
        <p:txBody>
          <a:bodyPr wrap="square" lIns="128588" tIns="114300" rIns="0" bIns="100013" rtlCol="0" anchor="t">
            <a:normAutofit/>
          </a:bodyPr>
          <a:lstStyle/>
          <a:p>
            <a:pPr algn="l" indent="0" marL="0">
              <a:lnSpc>
                <a:spcPts val="1603"/>
              </a:lnSpc>
              <a:buNone/>
            </a:pPr>
            <a:r>
              <a:rPr lang="en-US" sz="1069" i="1" dirty="0">
                <a:solidFill>
                  <a:srgbClr val="9A6E1E"/>
                </a:solidFill>
                <a:latin typeface="Tinos" pitchFamily="34" charset="0"/>
                <a:ea typeface="Tinos" pitchFamily="34" charset="-122"/>
                <a:cs typeface="Tinos" pitchFamily="34" charset="-120"/>
              </a:rPr>
              <a:t>"ভেজালের বিরুদ্ধে দাঁড়ানো শুধু আইনি দায়িত্ব নয় — এটি সামাজিক ও নৈতিক দায়বদ্ধতা।"</a:t>
            </a:r>
            <a:endParaRPr lang="en-US" sz="1069" dirty="0"/>
          </a:p>
        </p:txBody>
      </p:sp>
      <p:sp>
        <p:nvSpPr>
          <p:cNvPr id="10" name="Text 8"/>
          <p:cNvSpPr/>
          <p:nvPr/>
        </p:nvSpPr>
        <p:spPr>
          <a:xfrm>
            <a:off x="514350" y="3901380"/>
            <a:ext cx="3657600" cy="169999"/>
          </a:xfrm>
          <a:prstGeom prst="rect">
            <a:avLst/>
          </a:prstGeom>
          <a:noFill/>
          <a:ln/>
        </p:spPr>
        <p:txBody>
          <a:bodyPr wrap="none" lIns="0" tIns="0" rIns="0" bIns="0" rtlCol="0" anchor="t"/>
          <a:lstStyle/>
          <a:p>
            <a:pPr algn="l" indent="0" marL="0">
              <a:lnSpc>
                <a:spcPts val="1133"/>
              </a:lnSpc>
              <a:buNone/>
            </a:pPr>
            <a:r>
              <a:rPr lang="en-US" sz="800" spc="29" kern="0" dirty="0">
                <a:solidFill>
                  <a:srgbClr val="6B6B6B"/>
                </a:solidFill>
                <a:latin typeface="Carlito" pitchFamily="34" charset="0"/>
                <a:ea typeface="Carlito" pitchFamily="34" charset="-122"/>
                <a:cs typeface="Carlito" pitchFamily="34" charset="-120"/>
              </a:rPr>
              <a:t>— খুচরা বিক্রেতার শপথ</a:t>
            </a:r>
            <a:endParaRPr lang="en-US" sz="800" dirty="0"/>
          </a:p>
        </p:txBody>
      </p:sp>
      <p:sp>
        <p:nvSpPr>
          <p:cNvPr id="11" name="Text 9"/>
          <p:cNvSpPr/>
          <p:nvPr/>
        </p:nvSpPr>
        <p:spPr>
          <a:xfrm>
            <a:off x="514350" y="4202423"/>
            <a:ext cx="3767328" cy="170021"/>
          </a:xfrm>
          <a:prstGeom prst="rect">
            <a:avLst/>
          </a:prstGeom>
          <a:noFill/>
          <a:ln/>
        </p:spPr>
        <p:txBody>
          <a:bodyPr wrap="square" lIns="0" tIns="0" rIns="0" bIns="0" rtlCol="0" anchor="t"/>
          <a:lstStyle/>
          <a:p>
            <a:pPr algn="l" indent="0" marL="0">
              <a:lnSpc>
                <a:spcPts val="1046"/>
              </a:lnSpc>
              <a:buNone/>
            </a:pPr>
            <a:r>
              <a:rPr lang="en-US" sz="800" spc="135" kern="0" dirty="0">
                <a:solidFill>
                  <a:srgbClr val="9A6E1E"/>
                </a:solidFill>
                <a:latin typeface="Carlito" pitchFamily="34" charset="0"/>
                <a:ea typeface="Carlito" pitchFamily="34" charset="-122"/>
                <a:cs typeface="Carlito" pitchFamily="34" charset="-120"/>
              </a:rPr>
              <a:t>প্রশিক্ষণ সম্পন্ন · ধন্যবাদ</a:t>
            </a:r>
            <a:endParaRPr lang="en-US" sz="800" dirty="0"/>
          </a:p>
        </p:txBody>
      </p:sp>
      <p:pic>
        <p:nvPicPr>
          <p:cNvPr id="12" name="Image 0" descr="/tmp/h2p-fit-1789050451115-g8fkap.png">    </p:cNvPr>
          <p:cNvPicPr>
            <a:picLocks noChangeAspect="1"/>
          </p:cNvPicPr>
          <p:nvPr/>
        </p:nvPicPr>
        <p:blipFill>
          <a:blip r:embed="rId1"/>
          <a:stretch>
            <a:fillRect/>
          </a:stretch>
        </p:blipFill>
        <p:spPr>
          <a:xfrm>
            <a:off x="4572000" y="0"/>
            <a:ext cx="4572000" cy="5143500"/>
          </a:xfrm>
          <a:prstGeom prst="rect">
            <a:avLst/>
          </a:prstGeom>
        </p:spPr>
      </p:pic>
      <p:pic>
        <p:nvPicPr>
          <p:cNvPr id="13" name="Image 1" descr="preencoded.png">    </p:cNvPr>
          <p:cNvPicPr>
            <a:picLocks noChangeAspect="1"/>
          </p:cNvPicPr>
          <p:nvPr/>
        </p:nvPicPr>
        <p:blipFill>
          <a:blip r:embed="rId2"/>
          <a:stretch>
            <a:fillRect/>
          </a:stretch>
        </p:blipFill>
        <p:spPr>
          <a:xfrm>
            <a:off x="6400800" y="3086100"/>
            <a:ext cx="2743200" cy="2057400"/>
          </a:xfrm>
          <a:prstGeom prst="rect">
            <a:avLst/>
          </a:prstGeom>
        </p:spPr>
      </p:pic>
      <p:sp>
        <p:nvSpPr>
          <p:cNvPr id="14" name="Text 10"/>
          <p:cNvSpPr/>
          <p:nvPr/>
        </p:nvSpPr>
        <p:spPr>
          <a:xfrm>
            <a:off x="8694725" y="4706392"/>
            <a:ext cx="307360" cy="286911"/>
          </a:xfrm>
          <a:prstGeom prst="rect">
            <a:avLst/>
          </a:prstGeom>
          <a:noFill/>
          <a:ln/>
        </p:spPr>
        <p:txBody>
          <a:bodyPr wrap="none" lIns="0" tIns="0" rIns="0" bIns="0" rtlCol="0" anchor="t"/>
          <a:lstStyle/>
          <a:p>
            <a:pPr algn="l" indent="0" marL="0">
              <a:lnSpc>
                <a:spcPts val="2093"/>
              </a:lnSpc>
              <a:buNone/>
            </a:pPr>
            <a:r>
              <a:rPr lang="en-US" sz="1350" spc="81" kern="0" dirty="0">
                <a:solidFill>
                  <a:srgbClr val="6B6B6B"/>
                </a:solidFill>
                <a:latin typeface="Carlito" pitchFamily="34" charset="0"/>
                <a:ea typeface="Carlito" pitchFamily="34" charset="-122"/>
                <a:cs typeface="Carlito" pitchFamily="34" charset="-120"/>
              </a:rPr>
              <a:t>৪৭</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2026-09-10T14:27:36Z</dcterms:created>
  <dcterms:modified xsi:type="dcterms:W3CDTF">2026-09-10T14:27:36Z</dcterms:modified>
</cp:coreProperties>
</file>