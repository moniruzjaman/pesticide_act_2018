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Thumbs1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03" r:id="rId54"/>
    <p:sldId id="257" r:id="rId8"/>
    <p:sldId id="258" r:id="rId9"/>
    <p:sldId id="259" r:id="rId10"/>
    <p:sldId id="260" r:id="rId11"/>
    <p:sldId id="304" r:id="rId55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305" r:id="rId56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306" r:id="rId57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07" r:id="rId58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308" r:id="rId59"/>
    <p:sldId id="289" r:id="rId40"/>
    <p:sldId id="290" r:id="rId41"/>
    <p:sldId id="291" r:id="rId42"/>
    <p:sldId id="292" r:id="rId43"/>
    <p:sldId id="293" r:id="rId44"/>
    <p:sldId id="309" r:id="rId60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ilent-cri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estructive-imp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rav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hy-crisis-gro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art1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hat-is-fake-wh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hat-defines-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cience-of-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ypes-of-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real-vs-fake-mat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multi-directional-da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part2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ct-2018-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registration-licen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mrp-com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valid-label-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external-def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fake-label-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part3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detection-check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red-flags-sa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nativo-field-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ase-name-distor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ase-weight-lab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real-vs-fake-qui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part4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what-is-resist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resistance-ev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hidden-danger-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resistance-ques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resistance-visualiz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overdose-tr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part5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inspector-pow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sample-proto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crimes-penal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confis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part6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honorable-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why-irm-mat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four-benef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smart-farmer-too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solution-in-our-h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guardians-food-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inspectors-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12C"/>
                </a:solidFill>
                <a:latin typeface="Noto Sans Bengali"/>
              </a:rPr>
              <a:t>সূচি · নেভিগেশন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342A"/>
                </a:solidFill>
                <a:latin typeface="Noto Serif Bengali"/>
              </a:rPr>
              <a:t>সূচি — সহজ নেভিগেশন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Noto Sans Bengali"/>
              </a:rPr>
              <a:t>৫৬টি স্লাইড · ৭টি অধ্যায় · একটি সমন্বিত ফিল্ড গাইড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সংকটের প্রেক্ষাপট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৩–৬ · আর্থিক ক্ষতি, ধ্বংসাত্মক প্রভাব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91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ভেজাল চেনার বিজ্ঞান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657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৭–১৩ · WHO সংজ্ঞা, শ্রেণি, আসল বনাম ভেজাল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519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বালাইনাশক আইন, ২০১৮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617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১৪–২০ · নিবন্ধন, লাইসেন্সিং, MRP, লেবেলিং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120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মাঠ পর্যায়ে শনাক্তকরণ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577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২১–২৭ · চেকলিস্ট, রেড ফ্ল্যাগ, কেসস্টাডি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28600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31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প্রতিরোধ ক্ষমতা ও দীর্ঘমেয়াদি ক্ষতি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97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২৮–৩৪ · রেজিস্ট্যান্স, পরিবেশ, স্বাস্থ্য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24612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91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আইন প্রয়োগ ও দণ্ডবিধি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57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৩৫–৩৯ · পরিদর্শক, নমুনা, শাস্তি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4206240"/>
            <a:ext cx="502920" cy="50292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০৭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519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42A"/>
                </a:solidFill>
                <a:latin typeface="Noto Serif Bengali"/>
              </a:rPr>
              <a:t>খুচরা বিক্রেতার সম্মানের পথ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617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Noto Sans Bengali"/>
              </a:rPr>
              <a:t>স্লাইড ৪০–৪৮ · IRM, দায়িত্ব, নৈতিক অনুশীলন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166360"/>
            <a:ext cx="5166360" cy="868680"/>
          </a:xfrm>
          <a:prstGeom prst="roundRect">
            <a:avLst/>
          </a:prstGeom>
          <a:solidFill>
            <a:srgbClr val="F7EED6"/>
          </a:solidFill>
          <a:ln w="12700">
            <a:solidFill>
              <a:srgbClr val="C79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3309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C7912C"/>
                </a:solidFill>
                <a:latin typeface="Noto Sans Bengali"/>
              </a:rPr>
              <a:t>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39512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6E1E"/>
                </a:solidFill>
                <a:latin typeface="Noto Serif Bengali"/>
              </a:rPr>
              <a:t>পূর্ণ আইনি রেফারেন্স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550408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Noto Sans Bengali"/>
              </a:rPr>
              <a:t>৩৬টি ধারার ইন্টারঅ্যাকটিভ HTML · TTS সহ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989320"/>
            <a:ext cx="10927080" cy="59436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0350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Bengali"/>
              </a:rPr>
              <a:t>ℹ  এই ডেকটি পিপিটিএক্স ও একটি স্ট্যান্ডঅ্যালোন HTML রেফারেন্স সহ ডেলিভারি করা হয়েছে।  পিপিটি — প্রশিক্ষণ ও উপস্থাপনার জন্য;  HTML — সরাসরি শেয়ারিং ও অডিও শোনার জন্য।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০২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০১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সংকটের প্রেক্ষাপট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বৈশ্বিক ভেজালের হার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উন্নয়নশীল দেশে বাজারের প্রায় ৩০% ভেজাল — বাংলাদেশে আনুমানিক ১৫-২০%।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৪৮০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বার্ষিক বাজার (কোটি 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বাংলাদেশের বালাইনাশক বাজার বিশাল — ভেজালের আর্থিক প্রভাব সরাসরি কৃষকের ওপর।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সীমান্ত জেলা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পার্শ্ববর্তী দেশ থেকে পাচার প্রধান চ্যানেল — চট্টগ্রাম, যশোর, রাজশাহী, দিনাজপুর।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ক্ষতিগ্রস্ত পক্ষ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কৃষক, ভোক্তা, পরিবেশ ও অর্থনীতি — চারটি স্তরে ধ্বংসাত্মক প্রভাব ছড়ায়।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ভেজাল বালাইনাশক কেবল একজন কৃষকের সমস্যা নয় — এটি জাতীয় কৃষি ব্যবস্থা ও খাদ্যনিরাপত্তার জন্য হুমকি।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০৭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০২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ভেজাল চেনার বিজ্ঞান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সংজ্ঞা ও ৫ শ্রেণি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সম্পূর্ণ নকল, ভুল উপাদান, কম ঘনমাত্রা, মেয়াদোত্তীর্ণ পুনঃপ্যাকেজিং, অননুমোদিত মিশ্রণ।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চাক্ষুষ পর্যবেক্ষণ স্তর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প্যাকেজিং, লেবেল, ও রাসায়নিক বৈশিষ্ট্য — এই তিন স্তরে আসল বনাম ভেজাল তুলনা।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HPLC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পরীক্ষাগার নিশ্চিতকরণ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চাক্ষুষ শনাক্তকরণ প্রথম ধাপ মাত্র — নিশ্চিতকরণে HPLC/GC পরীক্ষা অপরিহার্য।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দিনে ফলাফল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কেন্দ্রীয় বালাইনাশক পরীক্ষাগার, ঢাকা-তে নমুনা পাঠালে ৩০ দিনে ফলাফল পাওয়া যায়।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একাধিক লক্ষণ একসাথে থাকলেই সন্দেহ দৃঢ় হয় — নিশ্চিত হতে পরীক্ষাগারে নমুনা পাঠান।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১৪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০৩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বালাইনাশক আইন, ২০১৮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অধ্যায় · ৬৮ ধারা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১৯৭৬ অধ্যাদেশের স্থলাভিষিক্ত সমন্বিত আইনি কাঠামো — আমদানি থেকে ব্যবহার পর্যন্ত।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৩+২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বছর মেয়াদ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নিবন্ধন ৩ বছর, লাইসেন্স ২ বছর — উভয়ের নবায়ন বাধ্যতামূলক, মেয়াদোত্তীর্ণ পণ্য বিক্রি নিষিদ্ধ।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MRP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সরকার নির্ধারিত মূল্য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প্রতি ৬ মাসে সরকার মূল্য তালিকা প্রকাশ — অতিরিক্ত মূল্য আদায় আইনত দণ্ডনীয়।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বাধ্যতামূলক লেবেল তথ্য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নাম, উপাদান, নিবন্ধন নম্বর, ব্যাচ, মেয়াদ, সতর্কতা, প্রথম সহায়তা — সব থাকা বাধ্যতামূলক।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খুচরা বিক্রেতার দায়িত্ব — শুধু নিবন্ধিত পণ্যই বিক্রি করা এবং প্রতিটি লেবেল যাচাই করা।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২১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০৪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মাঠ পর্যায়ে শনাক্তকরণ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ধাপ প্রাথমিক চেকলিস্ট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প্যাকেজিং, লেবেল, উৎস, রসিদ, পরীক্ষা — ১০ মিনিটে সম্পন্ন ন্যূনতম যাচাই।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রেড ফ্ল্যাগ শ্রেণি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প্যাকেজিং, লেবেল, সিল/হোলোগ্রাম — যেকোনো একটি লক্ষণ সন্দেহের যথেষ্ট কারণ।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২+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রেড ফ্ল্যাগ = বিক্রি বন্ধ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দুই বা ততোধিক লক্ষণ দেখা দিলে সাথে সাথে সরবরাহকারীকে জানান, বিক্রি স্থগিত রাখুন।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বাস্তব কেসস্টাডি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চাঁদপুর (২০২৩) ও যশোর (২০২৪) — উপেক্ষার পরিণতি জরিমানা ও লাইসেন্স স্থগিত।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সন্দেহ হলে বিক্রি বন্ধ রাখুন এবং অধিদপ্তরে নমুনা পাঠান — সম্মান ও আইনি সুরক্ষা দুটোই নিশ্চিত।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২৮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০৫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প্রতিরোধ ক্ষমতা ও দীর্ঘমেয়াদি ক্ষতি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৬০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% BPH প্রতিরোধী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বাংলাদেশে ব্রাউন প্ল্যান্টহপার প্রথম প্রজন্মের কীটনাশকের বিরুদ্ধে প্রতিরোধী — ফসল বিনষ্ট।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প্রতিরোধের কারণ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অতিরিক্ত ব্যবহার, একই মোড অফ অ্যাকশন, ভুল সময় প্রয়োগ — এবং ভেজাল বালাইনাশক।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৫-১০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বছর মাটিতে সক্রিয়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ক্লোরপাইরিফস, কার্বোফিউরান — উপকারী অণুজীব ধ্বংস করে মাটির উর্বরতা কমায়।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 লাখ+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বার্ষিক বিষক্রিয়া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বিশ্বে বালাইনাশক বিষক্রিয়ার ঘটনা — তীব্র ও দীর্ঘমেয়াদি স্বাস্থ্য প্রভাব উভয়।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আজকের সস্তা ভেজাল আগামী প্রজন্মের জন্য স্থায়ী পরিবেশ ও স্বাস্থ্য ক্ষতি — দীর্ঘমেয়াদি চিন্তা করুন।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৩৫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০৬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আইন প্রয়োগ ও দণ্ডবিধি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পরিদর্শকের ক্ষমতা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যেকোনো সময় প্রবেশ, নথি পরিদর্শন, নমুনা সংগ্রহ, বাজেয়াপ্ত, লাইসেন্স স্থগিত, মামলা।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নমুনা সংগ্রহ প্রক্রিয়া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৩টি সমান অংশে বিভাজন, সিলমোহর, সাক্ষী স্বাক্ষর — বিক্রেতা একটি অংশ নিজের কাছে রাখতে পারেন।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১-৫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বছর কারাদণ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নিবন্ধনহীন বিক্রিতে ১-৫ বছর কারাদণ ও ১-৩ লক্ষ টাকা জরিমানা — পুনরাবৃত্তিতে দ্বিগুণ।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যাবজ্জীবন কারাদণ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ভেজালের কারণে মৃত্যু হলে যাবজ্জীবন কারাদণ — সম্পূর্ণ স্টক ও যন্ত্রপাতি বাজেয়াপ্ত।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আইন কঠোর — তবে স্বচ্ছ রেকর্ড ও সহযোগিতামূলক মানসিকতা রাখলে বিক্রেতা সুরক্ষিত।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৪০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2377440" cy="365760"/>
          </a:xfrm>
          <a:prstGeom prst="round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937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অধ্যায় ০৭ ·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342A"/>
                </a:solidFill>
                <a:latin typeface="Noto Serif Bengali"/>
              </a:rPr>
              <a:t>খুচরা বিক্রেতার সম্মানের পথ — মূল পয়েন্ট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Noto Sans Bengali"/>
              </a:rPr>
              <a:t>এই অধ্যায়ের মূল শিক্ষাগুলো এক নজরে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প্রতিরোধ ব্যবস্থাপনা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রোটেশন, সঠিক মাত্রা, IPM সমন্বয় — বিক্রেতা প্রথম পরামর্শদাতা হিসেবে গুরুত্বপূর্ণ ভূমিকা।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78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মৌলিক দায়িত্ব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নিবন্ধিত পণ্য, চালান সংরক্ষণ, রসিদ, সঠিক পরামর্শ, সংরক্ষণ, সহযোগিতা, আইনি সম্মান।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গ্রাহক সম্পর্ক নীতি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মন দিয়ে শোনা, সঠিক সুপারিশ, সতর্কতা প্রদান — বিশ্বাস ও সম্মান একসাথে বাড়ে।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6"/>
            <a:ext cx="53492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14216"/>
            <a:ext cx="45720" cy="1472184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4178808"/>
            <a:ext cx="411480" cy="41148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342A"/>
                </a:solidFill>
                <a:latin typeface="Noto Serif Bengali"/>
              </a:rPr>
              <a:t>বছর রেকর্ড সংরক্ষণ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8172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বিক্রয় রেজিস্টার, চালান, স্টক, লাইসেন্স, পরিদর্শন রিপোর্ট — পরিদর্শক যেকোনো সময় দেখতে পারেন।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927080" cy="86868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33872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মূল শিক্ষা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0167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Noto Serif Bengali"/>
              </a:rPr>
              <a:t>খুচরা বিক্রেতা শুধু ব্যবসায়ী নন — তিনি কৃষকের সুরক্ষা ও জাতির খাদ্যনিরাপত্তার প্রথম সারির রক্ষক।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৪৯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36576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Bengali"/>
              </a:rPr>
              <a:t>Executive Summary · সমাপনী সারাংশ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342A"/>
                </a:solidFill>
                <a:latin typeface="Noto Serif Bengali"/>
              </a:rPr>
              <a:t>সমগ্র ডেকের এক-পৃষ্ঠা সারাংশ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0" cy="38100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Noto Sans Bengali"/>
              </a:rPr>
              <a:t>৫টি স্তম্ভে সমগ্র ডেকের মূল বার্তা — প্রশিক্ষণ শেষে দ্রুত রিক্যাপের জন্য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73152" cy="713232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31136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Noto Serif Bengali"/>
              </a:rPr>
              <a:t>সমস্যা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Inter"/>
              </a:rPr>
              <a:t>Pillar 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176272"/>
            <a:ext cx="83941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ভেজাল বালাইনাশক বাংলাদেশের বাজারের ১৫-২০% — কৃষক, ভোক্তা, পরিবেশ ও অর্থনীতির বহুমুখী ক্ষতি করে। সীমান্ত জেলায় পাচার প্রধান চ্যানেল।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07792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73152" cy="713232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809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4D3B"/>
                </a:solidFill>
                <a:latin typeface="Noto Serif Bengali"/>
              </a:rPr>
              <a:t>সমাধান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91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Inter"/>
              </a:rPr>
              <a:t>Pillar 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980944"/>
            <a:ext cx="83941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বালাইনাশক আইন, ২০১৮ — নিবন্ধন, লাইসেন্সিং, MRP ও লেবেলিং-এর সমন্বিত কাঠামো। মাঠ পর্যায়ে ৫-ধাপ চেকলিস্ট ও ৩-শ্রেণির রেড ফ্ল্যাগ দিয়ে শনাক্তকরণ।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12464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12464"/>
            <a:ext cx="73152" cy="713232"/>
          </a:xfrm>
          <a:prstGeom prst="rect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9A6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8561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9A6E1E"/>
                </a:solidFill>
                <a:latin typeface="Noto Serif Bengali"/>
              </a:rPr>
              <a:t>দায়িত্ব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96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Inter"/>
              </a:rPr>
              <a:t>Pillar 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785616"/>
            <a:ext cx="83941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খুচরা বিক্রেতার ৭টি মৌলিক কর্তব্য — নিবন্ধিত পণ্য, চালান সংরক্ষণ, সঠিক পরামর্শ, সংরক্ষণ, রেকর্ড ও সহযোগিতা।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17136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517136"/>
            <a:ext cx="73152" cy="713232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902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Noto Serif Bengali"/>
              </a:rPr>
              <a:t>পরিণতি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9011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Inter"/>
              </a:rPr>
              <a:t>Pillar 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590288"/>
            <a:ext cx="83941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লঙ্ঘনে ১-৫ বছর কারাদণ, ১-৩ লক্ষ টাকা জরিমানা, সম্পূর্ণ স্টক বাজেয়াপ্ত, লাইসেন্স স্থগিত বা স্থায়ী বাতিল। মৃত্যু হলে যাবজ্জীবন।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21808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321808"/>
            <a:ext cx="73152" cy="713232"/>
          </a:xfrm>
          <a:prstGeom prst="rect">
            <a:avLst/>
          </a:prstGeom>
          <a:solidFill>
            <a:srgbClr val="2E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2E7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394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7D44"/>
                </a:solidFill>
                <a:latin typeface="Noto Serif Bengali"/>
              </a:rPr>
              <a:t>পথ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7058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Inter"/>
              </a:rPr>
              <a:t>Pillar 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394960"/>
            <a:ext cx="83941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A4A4A"/>
                </a:solidFill>
                <a:latin typeface="Noto Sans Bengali"/>
              </a:rPr>
              <a:t>IRM প্রচার, নৈতিক অনুশীলন, গ্রাহক শিক্ষা ও আইনি সম্মান — এই চার স্তম্ভে খুচরা বিক্রেতা সমাজে সম্মানিত রক্ষক হিসেবে প্রতিষ্ঠিত।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52160"/>
            <a:ext cx="11091672" cy="777240"/>
          </a:xfrm>
          <a:prstGeom prst="round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9984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E0B659"/>
                </a:solidFill>
                <a:latin typeface="Inter"/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25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0B659"/>
                </a:solidFill>
                <a:latin typeface="Noto Sans Bengali"/>
              </a:rPr>
              <a:t>শপথ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172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Noto Serif Bengali"/>
              </a:rPr>
              <a:t>ভেজালের বিরুদ্ধে দাঁড়ানো শুধু আইনি দায়িত্ব নয় — এটি সামাজিক ও নৈতিক দায়বদ্ধতা। খুচরা বিক্রেতা কৃষক সুরক্ষা ও জাতির খাদ্যনিরাপত্তার প্রথম সারির রক্ষক।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8531352" cy="36576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1352" y="6821424"/>
            <a:ext cx="3657600" cy="36576"/>
          </a:xfrm>
          <a:prstGeom prst="rect">
            <a:avLst/>
          </a:prstGeom>
          <a:solidFill>
            <a:srgbClr val="C7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Inter"/>
              </a:rPr>
              <a:t>৫৬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বালাইনাশক আইন, ২০১৮ — খুচরা বিক্রেতার সমন্বিত নির্দেশিকা</dc:title>
  <dc:subject>Pesticide Act 2018 (Bangladesh) — Comprehensive Guide for Pesticide Retailers</dc:subject>
  <dc:creator>Genspark deck export</dc:creator>
  <cp:keywords>বালাইনাশক আইন ২০১৮; Pesticide Act 2018; Bangladesh; pesticide retailer guide</cp:keywords>
  <dc:description>47-slide Bengali guide on the Pesticide Act 2018 for retail dealers.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Training / Regulatory Guide</cp:category>
  <dc:language>bn-BD</dc:language>
</cp:coreProperties>
</file>